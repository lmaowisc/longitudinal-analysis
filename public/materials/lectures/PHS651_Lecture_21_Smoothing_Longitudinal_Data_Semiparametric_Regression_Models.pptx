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6" r:id="rId13"/>
    <p:sldId id="268" r:id="rId14"/>
    <p:sldId id="270" r:id="rId15"/>
    <p:sldId id="271" r:id="rId16"/>
    <p:sldId id="269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68BB4-D429-4D9F-9A88-1E15C9ECB8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67"/>
            <p14:sldId id="266"/>
            <p14:sldId id="268"/>
            <p14:sldId id="270"/>
            <p14:sldId id="271"/>
            <p14:sldId id="269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90C8B-FE97-4ACB-8C01-D70FB862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F91E9-F98B-47CC-8FF7-ADFF31CF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Smoothing Longitudinal Data: Semiparametric Regression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FE25D-8F68-40C2-A0A2-D0DD394A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AEFC8-C04A-4361-B2D3-75316B1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72551-68D7-45F5-957D-98ABAA8D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B2488-3E79-482E-B8BD-6D9C651A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28206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Rationale for semiparametric modeling of longitudinal data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Penalized splines and their mixed-model representation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Implementing penalized splines in PROC MIXED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 study of </a:t>
            </a:r>
            <a:r>
              <a:rPr lang="en-US" sz="2800" smtClean="0"/>
              <a:t>early pregnancy loss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23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Semiparametric Models for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longitudinal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 far we have focused on </a:t>
            </a:r>
            <a:r>
              <a:rPr lang="en-US" u="sng" dirty="0" smtClean="0"/>
              <a:t>parametric models</a:t>
            </a:r>
            <a:r>
              <a:rPr lang="en-US" dirty="0" smtClean="0"/>
              <a:t> for longitudinal data.</a:t>
            </a:r>
          </a:p>
          <a:p>
            <a:r>
              <a:rPr lang="en-US" dirty="0" smtClean="0"/>
              <a:t>These models pre-specify the functional relationship between the mean response and covariates (e.g., treatment, time, etc.) and contain a </a:t>
            </a:r>
            <a:r>
              <a:rPr lang="en-US" u="sng" dirty="0" smtClean="0"/>
              <a:t>relatively small</a:t>
            </a:r>
            <a:r>
              <a:rPr lang="en-US" dirty="0" smtClean="0"/>
              <a:t> number of unknown parameters.</a:t>
            </a:r>
          </a:p>
          <a:p>
            <a:r>
              <a:rPr lang="en-US" dirty="0" smtClean="0"/>
              <a:t>Advantages: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Interpretability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Efficiency under correct modeling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Prevention of overfitting</a:t>
            </a:r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23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Semiparametric Models for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longitudinal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some cases, the relationship between a covariate and the response may be too complex to be described in terms of a few regression parameters.</a:t>
            </a:r>
          </a:p>
          <a:p>
            <a:r>
              <a:rPr lang="en-US" dirty="0" smtClean="0"/>
              <a:t>Non-/Semi-parametric models afford greater flexibility by allowing this relationship to be largely determined by the data at hand.</a:t>
            </a:r>
          </a:p>
          <a:p>
            <a:r>
              <a:rPr lang="en-US" dirty="0" smtClean="0"/>
              <a:t>In general, we would like to model the effect of the exposure/treatment parametrically, for better interpretability, while leaving the “nuisance” factors (i.e., those not of primary scientific interest, say, time trend) nonparametric.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23</a:t>
            </a:r>
          </a:p>
        </p:txBody>
      </p:sp>
    </p:spTree>
    <p:extLst>
      <p:ext uri="{BB962C8B-B14F-4D97-AF65-F5344CB8AC3E}">
        <p14:creationId xmlns:p14="http://schemas.microsoft.com/office/powerpoint/2010/main" val="281655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Semiparametric Models for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longitudinal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addition to greater flexibility, semiparametric methods can be useful in preliminary analysis, often guiding the choice of a parametric model that may fit the data well.</a:t>
            </a:r>
          </a:p>
          <a:p>
            <a:r>
              <a:rPr lang="en-US" dirty="0" smtClean="0"/>
              <a:t>We will study semiparametric methods for longitudinal data that do not pre-specify the shape the covariate-response relationship apart from a qualitative “</a:t>
            </a:r>
            <a:r>
              <a:rPr lang="en-US" u="sng" dirty="0" smtClean="0"/>
              <a:t>smoothness</a:t>
            </a:r>
            <a:r>
              <a:rPr lang="en-US" dirty="0" smtClean="0"/>
              <a:t>” assumption.</a:t>
            </a:r>
          </a:p>
          <a:p>
            <a:r>
              <a:rPr lang="en-US" dirty="0" smtClean="0"/>
              <a:t>In particular, we will focus on a class of methods referred to as </a:t>
            </a:r>
            <a:r>
              <a:rPr lang="en-US" u="sng" dirty="0" smtClean="0"/>
              <a:t>penalized splines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23</a:t>
            </a:r>
          </a:p>
        </p:txBody>
      </p:sp>
    </p:spTree>
    <p:extLst>
      <p:ext uri="{BB962C8B-B14F-4D97-AF65-F5344CB8AC3E}">
        <p14:creationId xmlns:p14="http://schemas.microsoft.com/office/powerpoint/2010/main" val="275753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To fix ideas, we first introduce penalized splines under the setting of a univariate response.</a:t>
                </a:r>
              </a:p>
              <a:p>
                <a:r>
                  <a:rPr lang="en-US" dirty="0" smtClean="0"/>
                  <a:t>Consider the following nonparametric regression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457200" lvl="1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 smtClean="0"/>
                  <a:t> is an unknown smooth function.</a:t>
                </a:r>
              </a:p>
              <a:p>
                <a:pPr/>
                <a:r>
                  <a:rPr lang="en-US" dirty="0" smtClean="0"/>
                  <a:t>The goal is to estimate the nonparametric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dirty="0" smtClean="0"/>
                  <a:t> from the data at hand.</a:t>
                </a:r>
              </a:p>
              <a:p>
                <a:pPr/>
                <a:r>
                  <a:rPr lang="en-US" dirty="0" smtClean="0"/>
                  <a:t>It is clear that any non-linear, smooth function can be approximated by a linear spline (piecewise linear) model with a sufficiently dense set of “knots”.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507" b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23</a:t>
            </a:r>
          </a:p>
        </p:txBody>
      </p:sp>
    </p:spTree>
    <p:extLst>
      <p:ext uri="{BB962C8B-B14F-4D97-AF65-F5344CB8AC3E}">
        <p14:creationId xmlns:p14="http://schemas.microsoft.com/office/powerpoint/2010/main" val="926970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007" y="1509741"/>
            <a:ext cx="5823351" cy="4351338"/>
          </a:xfr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23</a:t>
            </a:r>
          </a:p>
        </p:txBody>
      </p:sp>
    </p:spTree>
    <p:extLst>
      <p:ext uri="{BB962C8B-B14F-4D97-AF65-F5344CB8AC3E}">
        <p14:creationId xmlns:p14="http://schemas.microsoft.com/office/powerpoint/2010/main" val="320189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Consider the following piece-wise linear approximation to the nonparametric regression model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 smtClean="0"/>
                  <a:t> is the positive part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dirty="0" smtClean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 are knots.</a:t>
                </a:r>
              </a:p>
              <a:p>
                <a:r>
                  <a:rPr lang="en-US" dirty="0" smtClean="0"/>
                  <a:t>The more knots included in the model, the greater is the flexibility of the fitted curve.</a:t>
                </a:r>
              </a:p>
              <a:p>
                <a:r>
                  <a:rPr lang="en-US" dirty="0" smtClean="0"/>
                  <a:t>However, if </a:t>
                </a:r>
                <a:r>
                  <a:rPr lang="en-US" dirty="0"/>
                  <a:t>we choose too many knots, i.e.,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big, we may overfit the </a:t>
                </a:r>
                <a:r>
                  <a:rPr lang="en-US" dirty="0" smtClean="0"/>
                  <a:t>data.</a:t>
                </a: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23</a:t>
            </a:r>
          </a:p>
        </p:txBody>
      </p:sp>
    </p:spTree>
    <p:extLst>
      <p:ext uri="{BB962C8B-B14F-4D97-AF65-F5344CB8AC3E}">
        <p14:creationId xmlns:p14="http://schemas.microsoft.com/office/powerpoint/2010/main" val="203753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9056" y="2102906"/>
            <a:ext cx="6352309" cy="2454301"/>
          </a:xfrm>
          <a:prstGeom prst="rect">
            <a:avLst/>
          </a:prstGeom>
        </p:spPr>
      </p:pic>
      <p:sp>
        <p:nvSpPr>
          <p:cNvPr id="4" name="Content Placeholder 6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We thus face the challenge of striking a balance between the degree of flexibility and “model fit”. </a:t>
            </a:r>
            <a:endParaRPr lang="en-US" dirty="0"/>
          </a:p>
          <a:p>
            <a:endParaRPr lang="en-US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23</a:t>
            </a:r>
          </a:p>
        </p:txBody>
      </p:sp>
    </p:spTree>
    <p:extLst>
      <p:ext uri="{BB962C8B-B14F-4D97-AF65-F5344CB8AC3E}">
        <p14:creationId xmlns:p14="http://schemas.microsoft.com/office/powerpoint/2010/main" val="280438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Fortunately, penalized spline regression provides a clever solution to this dilemma.</a:t>
                </a:r>
              </a:p>
              <a:p>
                <a:r>
                  <a:rPr lang="en-US" dirty="0" smtClean="0"/>
                  <a:t>Instead of limiting the number of knots, we constrain the changes of slope between neighboring intervals, that is, constrain the magnitudes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. (Note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 is change in slope after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 smtClean="0"/>
                  <a:t>’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knot.)</a:t>
                </a:r>
              </a:p>
              <a:p>
                <a:r>
                  <a:rPr lang="en-US" dirty="0" smtClean="0"/>
                  <a:t>Specifically, we want to constrain the magnitude of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  <m:sub/>
                      </m:sSub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23</a:t>
            </a:r>
          </a:p>
        </p:txBody>
      </p:sp>
    </p:spTree>
    <p:extLst>
      <p:ext uri="{BB962C8B-B14F-4D97-AF65-F5344CB8AC3E}">
        <p14:creationId xmlns:p14="http://schemas.microsoft.com/office/powerpoint/2010/main" val="120042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That is, regression parameters with </a:t>
                </a:r>
                <a:r>
                  <a:rPr lang="en-US" u="sng" dirty="0" smtClean="0"/>
                  <a:t>smaller</a:t>
                </a:r>
                <a:r>
                  <a:rPr lang="en-US" dirty="0" smtClean="0"/>
                  <a:t> values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dirty="0" smtClean="0"/>
                  <a:t> are </a:t>
                </a:r>
                <a:r>
                  <a:rPr lang="en-US" u="sng" dirty="0" smtClean="0"/>
                  <a:t>favored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We thus use the following minimization criterion to find the parameters: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w</a:t>
                </a:r>
                <a:r>
                  <a:rPr lang="en-US" dirty="0" smtClean="0"/>
                  <a:t>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 smtClean="0"/>
                  <a:t> is an unknown “smoothing” parameter.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23</a:t>
            </a:r>
          </a:p>
        </p:txBody>
      </p:sp>
    </p:spTree>
    <p:extLst>
      <p:ext uri="{BB962C8B-B14F-4D97-AF65-F5344CB8AC3E}">
        <p14:creationId xmlns:p14="http://schemas.microsoft.com/office/powerpoint/2010/main" val="47306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, this is an ordinary least squares with unconstrained slope parameters, and thus has maximal flexibility.</a:t>
                </a:r>
              </a:p>
              <a:p>
                <a:r>
                  <a:rPr lang="en-US" dirty="0" smtClean="0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 smtClean="0"/>
                  <a:t>, it basically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, reducing to the linear model fitted by minimizing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The appropriate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 smtClean="0"/>
                  <a:t> needs to be estimated from the data.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23</a:t>
            </a:r>
          </a:p>
        </p:txBody>
      </p:sp>
    </p:spTree>
    <p:extLst>
      <p:ext uri="{BB962C8B-B14F-4D97-AF65-F5344CB8AC3E}">
        <p14:creationId xmlns:p14="http://schemas.microsoft.com/office/powerpoint/2010/main" val="282543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Model Representation of 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It turns out that this penalized least square problem can be re-expressed in terms of the following mixed effects model: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’s are independent and identically distributed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Note that, unlike the subject-level random effects for longitudinal data,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’s are </a:t>
                </a:r>
                <a:r>
                  <a:rPr lang="en-US" u="sng" dirty="0" smtClean="0"/>
                  <a:t>shared by all subjects</a:t>
                </a:r>
                <a:r>
                  <a:rPr lang="en-US" dirty="0" smtClean="0"/>
                  <a:t>. </a:t>
                </a:r>
              </a:p>
              <a:p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, then it can be shown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23</a:t>
            </a:r>
          </a:p>
        </p:txBody>
      </p:sp>
    </p:spTree>
    <p:extLst>
      <p:ext uri="{BB962C8B-B14F-4D97-AF65-F5344CB8AC3E}">
        <p14:creationId xmlns:p14="http://schemas.microsoft.com/office/powerpoint/2010/main" val="800878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Model Representation of 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All parameters can be estimated by the maximum likelihood (or REML) based on the mixed effects model. </a:t>
                </a:r>
              </a:p>
              <a:p>
                <a:r>
                  <a:rPr lang="en-US" dirty="0" smtClean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 can be estimated by the BLUP.</a:t>
                </a:r>
              </a:p>
              <a:p>
                <a:r>
                  <a:rPr lang="en-US" dirty="0" smtClean="0"/>
                  <a:t>For longitudinal data with a complex time trend, we typically want to estimate the time trend </a:t>
                </a:r>
                <a:r>
                  <a:rPr lang="en-US" dirty="0" err="1" smtClean="0"/>
                  <a:t>nonparametrically</a:t>
                </a:r>
                <a:r>
                  <a:rPr lang="en-US" dirty="0" smtClean="0"/>
                  <a:t>, but model the treatment effect (and its interaction with time) parametrically for better interpretability.</a:t>
                </a:r>
              </a:p>
              <a:p>
                <a:r>
                  <a:rPr lang="en-US" dirty="0" smtClean="0"/>
                  <a:t>This can be done by including the random effects for the coefficients of linear splines of time in addition to the subject-level random effects.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4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23</a:t>
            </a:r>
          </a:p>
        </p:txBody>
      </p:sp>
    </p:spTree>
    <p:extLst>
      <p:ext uri="{BB962C8B-B14F-4D97-AF65-F5344CB8AC3E}">
        <p14:creationId xmlns:p14="http://schemas.microsoft.com/office/powerpoint/2010/main" val="1753744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Mixed Model Representation of 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For example,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23</a:t>
            </a:r>
          </a:p>
        </p:txBody>
      </p:sp>
    </p:spTree>
    <p:extLst>
      <p:ext uri="{BB962C8B-B14F-4D97-AF65-F5344CB8AC3E}">
        <p14:creationId xmlns:p14="http://schemas.microsoft.com/office/powerpoint/2010/main" val="3617119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SAS Implementation of 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/*first create the linear spline terms of times*/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bf1=max(0,time - 1);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lang="en-US" dirty="0" smtClean="0"/>
                  <a:t/>
                </a:r>
              </a:p>
              <a:p>
                <a:pPr marL="0" indent="0">
                  <a:buNone/>
                </a:pPr>
                <a:r>
                  <a:rPr lang="en-US" dirty="0" smtClean="0"/>
                  <a:t>bf8=max(0,time </a:t>
                </a:r>
                <a:r>
                  <a:rPr lang="en-US" dirty="0"/>
                  <a:t>- </a:t>
                </a:r>
                <a:r>
                  <a:rPr lang="en-US" dirty="0" smtClean="0"/>
                  <a:t>8);</a:t>
                </a:r>
              </a:p>
              <a:p>
                <a:pPr marL="0" indent="0">
                  <a:buNone/>
                </a:pPr>
                <a:r>
                  <a:rPr lang="en-US" dirty="0" smtClean="0"/>
                  <a:t>PROC MIXED;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CLASS id;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Model y= time group time*group/SOLUTION;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>
                    <a:solidFill>
                      <a:srgbClr val="C00000"/>
                    </a:solidFill>
                  </a:rPr>
                  <a:t>RANDOM</a:t>
                </a:r>
                <a:r>
                  <a:rPr lang="en-US" dirty="0" smtClean="0"/>
                  <a:t> bf1-bf8/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TYPE=TOEP(1) </a:t>
                </a:r>
                <a:r>
                  <a:rPr lang="en-US" dirty="0" smtClean="0"/>
                  <a:t>SOLUTION; </a:t>
                </a:r>
                <a:r>
                  <a:rPr lang="en-US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/*random effects for 			linear spline coefficients*/</a:t>
                </a:r>
              </a:p>
              <a:p>
                <a:pPr marL="0" indent="0">
                  <a:buNone/>
                </a:pPr>
                <a:r>
                  <a:rPr lang="en-US" dirty="0"/>
                  <a:t/>
                </a:r>
                <a:r>
                  <a:rPr lang="en-US" dirty="0" smtClean="0"/>
                  <a:t>RANDOM intercept time/SUBJECT=id TYPE=UN; </a:t>
                </a:r>
                <a:r>
                  <a:rPr lang="en-US" dirty="0" smtClean="0">
                    <a:solidFill>
                      <a:schemeClr val="accent6">
                        <a:lumMod val="75000"/>
                      </a:schemeClr>
                    </a:solidFill>
                  </a:rPr>
                  <a:t>/*random effects for 		the longitudinal model*/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23</a:t>
            </a:r>
          </a:p>
        </p:txBody>
      </p:sp>
    </p:spTree>
    <p:extLst>
      <p:ext uri="{BB962C8B-B14F-4D97-AF65-F5344CB8AC3E}">
        <p14:creationId xmlns:p14="http://schemas.microsoft.com/office/powerpoint/2010/main" val="1976500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SAS Implementation of Penalized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Two important notes for the RANDOM statement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 smtClean="0"/>
                  <a:t>No “SUBJECT=id” option: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’s are the same for all subjects (not subject-specific)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TYPE=TOEP(1</a:t>
                </a:r>
                <a:r>
                  <a:rPr lang="en-US" dirty="0" smtClean="0"/>
                  <a:t>): Specifies covariance structure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 is in the form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 (Toeplitz with band size 1; cf. Lecture 9).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 are independently and identically distributed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 smtClean="0"/>
                  <a:t>.</a:t>
                </a:r>
                <a:endParaRPr lang="en-US" i="1" dirty="0"/>
              </a:p>
              <a:p>
                <a:pPr marL="971550" lvl="1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23</a:t>
            </a:r>
          </a:p>
        </p:txBody>
      </p:sp>
    </p:spTree>
    <p:extLst>
      <p:ext uri="{BB962C8B-B14F-4D97-AF65-F5344CB8AC3E}">
        <p14:creationId xmlns:p14="http://schemas.microsoft.com/office/powerpoint/2010/main" val="371230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Study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of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Early Pregnancy Loss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study </a:t>
            </a:r>
            <a:r>
              <a:rPr lang="en-US" dirty="0"/>
              <a:t>of early pregnancy loss conducted by the Institute for Toxicology and Environmental Health at </a:t>
            </a:r>
            <a:r>
              <a:rPr lang="en-US" dirty="0" smtClean="0"/>
              <a:t>the Reproductive </a:t>
            </a:r>
            <a:r>
              <a:rPr lang="en-US" dirty="0"/>
              <a:t>Epidemiology Section of the California Department of Health </a:t>
            </a:r>
            <a:r>
              <a:rPr lang="en-US" dirty="0" smtClean="0"/>
              <a:t>Services. </a:t>
            </a:r>
          </a:p>
          <a:p>
            <a:r>
              <a:rPr lang="en-US" dirty="0" smtClean="0"/>
              <a:t>The </a:t>
            </a:r>
            <a:r>
              <a:rPr lang="en-US" dirty="0"/>
              <a:t>data consist of </a:t>
            </a:r>
            <a:r>
              <a:rPr lang="en-US" dirty="0" smtClean="0"/>
              <a:t>repeated progesterone </a:t>
            </a:r>
            <a:r>
              <a:rPr lang="en-US" dirty="0"/>
              <a:t>metabolite (pregnanediol-3-glucuronide, </a:t>
            </a:r>
            <a:r>
              <a:rPr lang="en-US" u="sng" dirty="0" err="1"/>
              <a:t>PdG</a:t>
            </a:r>
            <a:r>
              <a:rPr lang="en-US" dirty="0"/>
              <a:t>) measures from day -8 to day 15 in the menstrual cycle (day 0 denotes ovulation day</a:t>
            </a:r>
            <a:r>
              <a:rPr lang="en-US" dirty="0" smtClean="0"/>
              <a:t>) on </a:t>
            </a:r>
            <a:r>
              <a:rPr lang="en-US" dirty="0"/>
              <a:t>a sample of 22 conceptive cycles from 22 women and 29 non-conceptive cycles from another </a:t>
            </a:r>
            <a:r>
              <a:rPr lang="en-US" dirty="0" smtClean="0"/>
              <a:t>29 women.</a:t>
            </a:r>
          </a:p>
          <a:p>
            <a:r>
              <a:rPr lang="en-US" dirty="0"/>
              <a:t>Variable List</a:t>
            </a:r>
            <a:r>
              <a:rPr lang="en-US" dirty="0" smtClean="0"/>
              <a:t>: ID</a:t>
            </a:r>
            <a:r>
              <a:rPr lang="en-US" dirty="0"/>
              <a:t>, Group (0=non-conceptive, 1=conceptive), Time (in days),  Log </a:t>
            </a:r>
            <a:r>
              <a:rPr lang="en-US" dirty="0" err="1"/>
              <a:t>PdG</a:t>
            </a: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23</a:t>
            </a:r>
          </a:p>
        </p:txBody>
      </p:sp>
    </p:spTree>
    <p:extLst>
      <p:ext uri="{BB962C8B-B14F-4D97-AF65-F5344CB8AC3E}">
        <p14:creationId xmlns:p14="http://schemas.microsoft.com/office/powerpoint/2010/main" val="3427261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 Study of Early Pregnancy Loss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81" y="1690687"/>
            <a:ext cx="6339590" cy="4754693"/>
          </a:xfr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23</a:t>
            </a:r>
          </a:p>
        </p:txBody>
      </p:sp>
    </p:spTree>
    <p:extLst>
      <p:ext uri="{BB962C8B-B14F-4D97-AF65-F5344CB8AC3E}">
        <p14:creationId xmlns:p14="http://schemas.microsoft.com/office/powerpoint/2010/main" val="3464953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 Study of Early Pregnancy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distinctive features: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time trends in both groups are highly nonlinear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The group difference comparing conceptive versus non-conceptive cycles diminishes before around day 7 and widens after.</a:t>
            </a:r>
          </a:p>
          <a:p>
            <a:r>
              <a:rPr lang="en-US" dirty="0" smtClean="0"/>
              <a:t>Modeling solution: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Include 22 time knots from day -7 through day 14;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Include a group-time interaction for the main term of time and also for the spline term at day 7.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23</a:t>
            </a:r>
          </a:p>
        </p:txBody>
      </p:sp>
    </p:spTree>
    <p:extLst>
      <p:ext uri="{BB962C8B-B14F-4D97-AF65-F5344CB8AC3E}">
        <p14:creationId xmlns:p14="http://schemas.microsoft.com/office/powerpoint/2010/main" val="1104422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 Study of Early Pregnancy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564" y="1690688"/>
            <a:ext cx="8088890" cy="2290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268" y="3797289"/>
            <a:ext cx="4656687" cy="25146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00895" y="5619404"/>
            <a:ext cx="1762298" cy="55755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23</a:t>
            </a:r>
          </a:p>
        </p:txBody>
      </p:sp>
    </p:spTree>
    <p:extLst>
      <p:ext uri="{BB962C8B-B14F-4D97-AF65-F5344CB8AC3E}">
        <p14:creationId xmlns:p14="http://schemas.microsoft.com/office/powerpoint/2010/main" val="133919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A Study of Early Pregnancy Loss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Before day 7, the </a:t>
                </a:r>
                <a:r>
                  <a:rPr lang="en-US" dirty="0"/>
                  <a:t>difference </a:t>
                </a:r>
                <a:r>
                  <a:rPr lang="en-US" dirty="0" smtClean="0"/>
                  <a:t>in log </a:t>
                </a:r>
                <a:r>
                  <a:rPr lang="en-US" dirty="0" err="1" smtClean="0"/>
                  <a:t>PdG</a:t>
                </a:r>
                <a:r>
                  <a:rPr lang="en-US" dirty="0" smtClean="0"/>
                  <a:t> between conceptive and non-conceptive groups diminishes by </a:t>
                </a:r>
                <a:r>
                  <a:rPr lang="en-US" u="sng" dirty="0" smtClean="0"/>
                  <a:t>0.0479</a:t>
                </a:r>
                <a:r>
                  <a:rPr lang="en-US" dirty="0" smtClean="0"/>
                  <a:t> per day.</a:t>
                </a:r>
              </a:p>
              <a:p>
                <a:r>
                  <a:rPr lang="en-US" dirty="0"/>
                  <a:t>After day 7, the difference in log </a:t>
                </a:r>
                <a:r>
                  <a:rPr lang="en-US" dirty="0" err="1"/>
                  <a:t>PdG</a:t>
                </a:r>
                <a:r>
                  <a:rPr lang="en-US" dirty="0"/>
                  <a:t> between </a:t>
                </a:r>
                <a:r>
                  <a:rPr lang="en-US" dirty="0" smtClean="0"/>
                  <a:t>conceptive </a:t>
                </a:r>
                <a:r>
                  <a:rPr lang="en-US" dirty="0"/>
                  <a:t>and </a:t>
                </a:r>
                <a:r>
                  <a:rPr lang="en-US" dirty="0" smtClean="0"/>
                  <a:t>non-conceptive </a:t>
                </a:r>
                <a:r>
                  <a:rPr lang="en-US" dirty="0"/>
                  <a:t>groups </a:t>
                </a:r>
                <a:r>
                  <a:rPr lang="en-US" dirty="0" smtClean="0"/>
                  <a:t>increases </a:t>
                </a:r>
                <a:r>
                  <a:rPr lang="en-US" dirty="0"/>
                  <a:t>by </a:t>
                </a:r>
                <a:r>
                  <a:rPr lang="en-US" u="sng" dirty="0" smtClean="0"/>
                  <a:t>0.2962-0.0479=0.248</a:t>
                </a:r>
                <a:r>
                  <a:rPr lang="en-US" dirty="0" smtClean="0"/>
                  <a:t/>
                </a:r>
                <a:r>
                  <a:rPr lang="en-US" dirty="0"/>
                  <a:t> per day.</a:t>
                </a:r>
              </a:p>
              <a:p>
                <a:r>
                  <a:rPr lang="en-US" dirty="0" smtClean="0"/>
                  <a:t>Using the estimated regression coefficients and the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 smtClean="0"/>
                  <a:t>’s, one can plot the time trend for each group.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Before day 7, the </a:t>
                </a:r>
                <a:r>
                  <a:rPr lang="en-US" dirty="0"/>
                  <a:t>difference </a:t>
                </a:r>
                <a:r>
                  <a:rPr lang="en-US" dirty="0" smtClean="0"/>
                  <a:t>in log </a:t>
                </a:r>
                <a:r>
                  <a:rPr lang="en-US" dirty="0" err="1" smtClean="0"/>
                  <a:t>PdG</a:t>
                </a:r>
                <a:r>
                  <a:rPr lang="en-US" dirty="0" smtClean="0"/>
                  <a:t> between conceptive and non-conceptive groups diminishes by </a:t>
                </a:r>
                <a:r>
                  <a:rPr lang="en-US" u="sng" dirty="0" smtClean="0"/>
                  <a:t>0.0479</a:t>
                </a:r>
                <a:r>
                  <a:rPr lang="en-US" dirty="0" smtClean="0"/>
                  <a:t> per day.</a:t>
                </a:r>
              </a:p>
              <a:p>
                <a:r>
                  <a:rPr lang="en-US" dirty="0"/>
                  <a:t>After day 7, the difference in log </a:t>
                </a:r>
                <a:r>
                  <a:rPr lang="en-US" dirty="0" err="1"/>
                  <a:t>PdG</a:t>
                </a:r>
                <a:r>
                  <a:rPr lang="en-US" dirty="0"/>
                  <a:t> between </a:t>
                </a:r>
                <a:r>
                  <a:rPr lang="en-US" dirty="0" smtClean="0"/>
                  <a:t>conceptive </a:t>
                </a:r>
                <a:r>
                  <a:rPr lang="en-US" dirty="0"/>
                  <a:t>and </a:t>
                </a:r>
                <a:r>
                  <a:rPr lang="en-US" dirty="0" smtClean="0"/>
                  <a:t>non-conceptive </a:t>
                </a:r>
                <a:r>
                  <a:rPr lang="en-US" dirty="0"/>
                  <a:t>groups </a:t>
                </a:r>
                <a:r>
                  <a:rPr lang="en-US" dirty="0" smtClean="0"/>
                  <a:t>increases </a:t>
                </a:r>
                <a:r>
                  <a:rPr lang="en-US" dirty="0"/>
                  <a:t>by </a:t>
                </a:r>
                <a:r>
                  <a:rPr lang="en-US" u="sng" dirty="0" smtClean="0"/>
                  <a:t>0.2962-0.0479=0.248</a:t>
                </a:r>
                <a:r>
                  <a:rPr lang="en-US" dirty="0" smtClean="0"/>
                  <a:t/>
                </a:r>
                <a:r>
                  <a:rPr lang="en-US" dirty="0"/>
                  <a:t> per day.</a:t>
                </a:r>
              </a:p>
              <a:p>
                <a:r>
                  <a:rPr lang="en-US" dirty="0" smtClean="0"/>
                  <a:t>Using the estimated regression coefficients and the predicted </a:t>
                </a:r>
                <a:r>
                  <a:rPr lang="en-US" i="1">
                    <a:latin typeface="Cambria Math"/>
                  </a:rPr>
                  <a:t>aₖ</a:t>
                </a:r>
                <a:r>
                  <a:rPr lang="en-US" dirty="0" smtClean="0"/>
                  <a:t>’s, one can plot the time trend for each group.</a:t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23</a:t>
            </a:r>
          </a:p>
        </p:txBody>
      </p:sp>
    </p:spTree>
    <p:extLst>
      <p:ext uri="{BB962C8B-B14F-4D97-AF65-F5344CB8AC3E}">
        <p14:creationId xmlns:p14="http://schemas.microsoft.com/office/powerpoint/2010/main" val="1420887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Fitting semiparametric penalized spline model for longitudinal data: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Choose the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 smtClean="0"/>
                  <a:t> and locations of the knots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 smtClean="0"/>
                  <a:t>.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Create spline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In PROC MIXED, specify the parametric part of the model (including the MODEL statement for fixed effects and RANDOM statement for random effects)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smtClean="0"/>
                  <a:t>Include another RANDOM statement for the </a:t>
                </a:r>
                <a:r>
                  <a:rPr lang="en-US" dirty="0"/>
                  <a:t>spline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dirty="0" smtClean="0"/>
                  <a:t> with TYPE=TOEP(1) (and without SUBJECT=id).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21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23</a:t>
            </a:r>
          </a:p>
        </p:txBody>
      </p:sp>
    </p:spTree>
    <p:extLst>
      <p:ext uri="{BB962C8B-B14F-4D97-AF65-F5344CB8AC3E}">
        <p14:creationId xmlns:p14="http://schemas.microsoft.com/office/powerpoint/2010/main" val="68886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61155</TotalTime>
  <Words>794</Words>
  <Application>Microsoft Office PowerPoint</Application>
  <PresentationFormat>Widescreen</PresentationFormat>
  <Paragraphs>116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Semiparametric Models for longitudinal Data</vt:lpstr>
      <vt:lpstr>Semiparametric Models for longitudinal Data</vt:lpstr>
      <vt:lpstr>Semiparametric Models for longitudinal Data</vt:lpstr>
      <vt:lpstr>Penalized Splines</vt:lpstr>
      <vt:lpstr>Penalized Splines</vt:lpstr>
      <vt:lpstr>Penalized Splines</vt:lpstr>
      <vt:lpstr>Penalized Splines</vt:lpstr>
      <vt:lpstr>Penalized Splines</vt:lpstr>
      <vt:lpstr>Penalized Splines</vt:lpstr>
      <vt:lpstr>Penalized Splines</vt:lpstr>
      <vt:lpstr>Mixed Model Representation of Penalized Splines</vt:lpstr>
      <vt:lpstr>Mixed Model Representation of Penalized Splines</vt:lpstr>
      <vt:lpstr>Mixed Model Representation of Penalized Splines</vt:lpstr>
      <vt:lpstr>SAS Implementation of Penalized Splines</vt:lpstr>
      <vt:lpstr>SAS Implementation of Penalized Splines</vt:lpstr>
      <vt:lpstr>A Study of Early Pregnancy Loss</vt:lpstr>
      <vt:lpstr>A Study of Early Pregnancy Loss</vt:lpstr>
      <vt:lpstr>A Study of Early Pregnancy Loss</vt:lpstr>
      <vt:lpstr>A Study of Early Pregnancy Loss</vt:lpstr>
      <vt:lpstr>A Study of Early Pregnancy Loss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1699</cp:revision>
  <dcterms:created xsi:type="dcterms:W3CDTF">2019-01-16T21:45:55Z</dcterms:created>
  <dcterms:modified xsi:type="dcterms:W3CDTF">2019-04-22T07:33:54Z</dcterms:modified>
</cp:coreProperties>
</file>