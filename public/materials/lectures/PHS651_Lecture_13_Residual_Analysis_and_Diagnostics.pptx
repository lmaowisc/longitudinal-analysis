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6" r:id="rId11"/>
    <p:sldId id="264" r:id="rId12"/>
    <p:sldId id="267" r:id="rId13"/>
    <p:sldId id="280" r:id="rId14"/>
    <p:sldId id="270" r:id="rId15"/>
    <p:sldId id="271" r:id="rId16"/>
    <p:sldId id="272" r:id="rId17"/>
    <p:sldId id="268" r:id="rId18"/>
    <p:sldId id="269" r:id="rId19"/>
    <p:sldId id="281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91243-6734-42E3-B2FC-4C05F9BB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37EDE-E193-4253-90B4-BC1871FC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Residual Analysis and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62A21-3460-40E5-841D-3F572DE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6F643-C869-4BE3-8EBA-E66D513F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5C87E-4A9A-4EE7-818E-2A5EAD9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7F9C2-0D38-45F3-BEE0-788BA060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615524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The idea of residual analysis to assess model adequacy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err="1" smtClean="0"/>
              <a:t>Cholesky</a:t>
            </a:r>
            <a:r>
              <a:rPr lang="en-US" sz="2800" dirty="0" smtClean="0"/>
              <a:t> transformation of the residuals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An </a:t>
            </a:r>
            <a:r>
              <a:rPr lang="en-US" sz="2800" dirty="0" smtClean="0"/>
              <a:t>Example </a:t>
            </a:r>
            <a:r>
              <a:rPr lang="en-US" sz="2800" dirty="0"/>
              <a:t>with the MIT Growth Study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26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Residual Analysis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analysis of longitudinal data is not complete without examination of the </a:t>
            </a:r>
            <a:r>
              <a:rPr lang="en-US" u="sng" dirty="0" smtClean="0"/>
              <a:t>residuals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residuals are defined as the difference between the </a:t>
            </a:r>
            <a:r>
              <a:rPr lang="en-US" u="sng" dirty="0" smtClean="0"/>
              <a:t>observed</a:t>
            </a:r>
            <a:r>
              <a:rPr lang="en-US" dirty="0" smtClean="0"/>
              <a:t> responses and the </a:t>
            </a:r>
            <a:r>
              <a:rPr lang="en-US" u="sng" dirty="0" smtClean="0"/>
              <a:t>estimated</a:t>
            </a:r>
            <a:r>
              <a:rPr lang="en-US" dirty="0" smtClean="0"/>
              <a:t> ones based on the model.</a:t>
            </a:r>
          </a:p>
          <a:p>
            <a:r>
              <a:rPr lang="en-US" u="sng" dirty="0" smtClean="0"/>
              <a:t>Basic idea</a:t>
            </a:r>
            <a:r>
              <a:rPr lang="en-US" dirty="0" smtClean="0"/>
              <a:t>: if the model adequately captures the systematic trend of the response, then the residuals should exhibit </a:t>
            </a:r>
            <a:r>
              <a:rPr lang="en-US" u="sng" dirty="0" smtClean="0"/>
              <a:t>no systematic pattern</a:t>
            </a:r>
            <a:r>
              <a:rPr lang="en-US" dirty="0" smtClean="0"/>
              <a:t>, i.e., they should be scattered fairly </a:t>
            </a:r>
            <a:r>
              <a:rPr lang="en-US" u="sng" dirty="0" smtClean="0"/>
              <a:t>randomly around zero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26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Residual Analysis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longitudinal data, recall that the vector of errors for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subject in a general linear model is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As an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the vector of residuals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acc>
                    </m:oMath>
                  </m:oMathPara>
                </a14:m>
                <a:endParaRPr lang="en-US" dirty="0" smtClean="0"/>
              </a:p>
              <a:p>
                <a:pPr/>
                <a:r>
                  <a:rPr lang="en-US" dirty="0" smtClean="0"/>
                  <a:t>The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can be used to check for systematic departures from the model for the mean response.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26</a:t>
            </a:r>
          </a:p>
        </p:txBody>
      </p:sp>
    </p:spTree>
    <p:extLst>
      <p:ext uri="{BB962C8B-B14F-4D97-AF65-F5344CB8AC3E}">
        <p14:creationId xmlns:p14="http://schemas.microsoft.com/office/powerpoint/2010/main" val="54628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Residual vs Predicted Response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For example, a scatter plot of the residuals</a:t>
                </a:r>
              </a:p>
              <a:p>
                <a:pPr marL="0" indent="0" algn="ctr">
                  <a:buNone/>
                </a:pP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acc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against the predicted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acc>
                  </m:oMath>
                </a14:m>
                <a:r>
                  <a:rPr lang="en-US" dirty="0" smtClean="0"/>
                  <a:t>can be examined for the appearance of any systematic trend.</a:t>
                </a:r>
              </a:p>
              <a:p>
                <a:r>
                  <a:rPr lang="en-US" dirty="0" smtClean="0"/>
                  <a:t>Fitting a smoothed curve (e.g., </a:t>
                </a:r>
                <a:r>
                  <a:rPr lang="en-US" dirty="0" err="1" smtClean="0"/>
                  <a:t>lowess</a:t>
                </a:r>
                <a:r>
                  <a:rPr lang="en-US" dirty="0" smtClean="0"/>
                  <a:t>, implementable in SAS) through the scatter plot is helpful in this respect.</a:t>
                </a:r>
              </a:p>
              <a:p>
                <a:r>
                  <a:rPr lang="en-US" dirty="0" smtClean="0"/>
                  <a:t>Any systematic pattern in the residual indicates inadequacy of the model. </a:t>
                </a:r>
                <a:r>
                  <a:rPr lang="en-US" u="sng" dirty="0" smtClean="0"/>
                  <a:t>Solution</a:t>
                </a:r>
                <a:r>
                  <a:rPr lang="en-US" dirty="0" smtClean="0"/>
                  <a:t>: re-fit the data with a </a:t>
                </a:r>
                <a:r>
                  <a:rPr lang="en-US" u="sng" dirty="0" smtClean="0"/>
                  <a:t>more flexible model </a:t>
                </a:r>
                <a:r>
                  <a:rPr lang="en-US" dirty="0" smtClean="0"/>
                  <a:t>(including interactions, quadratic terms, and perhaps more covariates)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26</a:t>
            </a:r>
          </a:p>
        </p:txBody>
      </p:sp>
    </p:spTree>
    <p:extLst>
      <p:ext uri="{BB962C8B-B14F-4D97-AF65-F5344CB8AC3E}">
        <p14:creationId xmlns:p14="http://schemas.microsoft.com/office/powerpoint/2010/main" val="110666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Residual vs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Predicted Response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0025" y="1795563"/>
            <a:ext cx="4171950" cy="402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57808" y="2480345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Good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15140" y="4508268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good</a:t>
            </a:r>
            <a:endParaRPr lang="en-US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26</a:t>
            </a:r>
          </a:p>
        </p:txBody>
      </p:sp>
    </p:spTree>
    <p:extLst>
      <p:ext uri="{BB962C8B-B14F-4D97-AF65-F5344CB8AC3E}">
        <p14:creationId xmlns:p14="http://schemas.microsoft.com/office/powerpoint/2010/main" val="300035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Residual vs Predictor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Similar scatter plots of the residuals against a particular covariate (e.g., time) can be examined for systematic trend. </a:t>
            </a:r>
          </a:p>
          <a:p>
            <a:r>
              <a:rPr lang="en-US" dirty="0" smtClean="0"/>
              <a:t>Such a trend may indicate omission of a quadratic term or need for transformation of the covariate.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120" y="3608284"/>
            <a:ext cx="2914563" cy="2744274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971011" y="4588626"/>
            <a:ext cx="889462" cy="49876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50678" y="4611089"/>
            <a:ext cx="2247988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Add a quadratic term!</a:t>
            </a:r>
            <a:endParaRPr lang="en-US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26</a:t>
            </a:r>
          </a:p>
        </p:txBody>
      </p:sp>
    </p:spTree>
    <p:extLst>
      <p:ext uri="{BB962C8B-B14F-4D97-AF65-F5344CB8AC3E}">
        <p14:creationId xmlns:p14="http://schemas.microsoft.com/office/powerpoint/2010/main" val="111402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Issues with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So far, the residual analyses we suggested follow the same logic as in the </a:t>
                </a:r>
                <a:r>
                  <a:rPr lang="en-US" u="sng" dirty="0" smtClean="0"/>
                  <a:t>ordinary linear regression</a:t>
                </a:r>
                <a:r>
                  <a:rPr lang="en-US" dirty="0" smtClean="0"/>
                  <a:t> with univariate response.</a:t>
                </a:r>
              </a:p>
              <a:p>
                <a:r>
                  <a:rPr lang="en-US" dirty="0" smtClean="0"/>
                  <a:t>There are special features of longitudinal data that present challenges for this “naive” version of residual analysi</a:t>
                </a:r>
                <a:r>
                  <a:rPr lang="en-US" dirty="0" smtClean="0"/>
                  <a:t>s.</a:t>
                </a:r>
              </a:p>
              <a:p>
                <a:r>
                  <a:rPr lang="en-US" dirty="0" smtClean="0"/>
                  <a:t>Recall that the errors from the same individual are correlated and do not necessarily have the same variance: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26</a:t>
            </a:r>
          </a:p>
        </p:txBody>
      </p:sp>
    </p:spTree>
    <p:extLst>
      <p:ext uri="{BB962C8B-B14F-4D97-AF65-F5344CB8AC3E}">
        <p14:creationId xmlns:p14="http://schemas.microsoft.com/office/powerpoint/2010/main" val="2375391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Issues with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implications: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Residual vs predicted response/covariate may not have a constant range (homoscedasticity may not hold)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30" y="3079980"/>
            <a:ext cx="3301230" cy="3221068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5444836" y="4296992"/>
            <a:ext cx="889462" cy="49876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554496" y="4223207"/>
            <a:ext cx="4335176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Bad in OLR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Need not be bad in longitudinal analysis</a:t>
            </a:r>
            <a:endParaRPr lang="en-US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26</a:t>
            </a:r>
          </a:p>
        </p:txBody>
      </p:sp>
    </p:spTree>
    <p:extLst>
      <p:ext uri="{BB962C8B-B14F-4D97-AF65-F5344CB8AC3E}">
        <p14:creationId xmlns:p14="http://schemas.microsoft.com/office/powerpoint/2010/main" val="2127298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Issues with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1" indent="-457200">
              <a:buFont typeface="+mj-lt"/>
              <a:buAutoNum type="arabicPeriod" startAt="2"/>
            </a:pPr>
            <a:r>
              <a:rPr lang="en-US" dirty="0" smtClean="0"/>
              <a:t>Because of correlation among residuals, residuals may be correlated with covariates so that a pattern in residual vs predictor plot will show even when the model is adequate.</a:t>
            </a:r>
          </a:p>
          <a:p>
            <a:endParaRPr lang="en-US" dirty="0" smtClean="0"/>
          </a:p>
          <a:p>
            <a:r>
              <a:rPr lang="en-US" dirty="0" smtClean="0"/>
              <a:t>Solution: “De-correlate” the residuals so that they mimic those from an OLR.</a:t>
            </a:r>
          </a:p>
          <a:p>
            <a:r>
              <a:rPr lang="en-US" dirty="0" smtClean="0"/>
              <a:t>This is done </a:t>
            </a:r>
            <a:r>
              <a:rPr lang="en-US" dirty="0" smtClean="0"/>
              <a:t>by transforming the residuals via </a:t>
            </a:r>
            <a:r>
              <a:rPr lang="en-US" i="1" u="sng" dirty="0" err="1" smtClean="0"/>
              <a:t>Cholesky</a:t>
            </a:r>
            <a:r>
              <a:rPr lang="en-US" i="1" u="sng" dirty="0" smtClean="0"/>
              <a:t> decomposition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4009723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Transformed Residuals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Given an estimate of the error covariance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, the </a:t>
                </a:r>
                <a:r>
                  <a:rPr lang="en-US" dirty="0" err="1" smtClean="0"/>
                  <a:t>Cholesky</a:t>
                </a:r>
                <a:r>
                  <a:rPr lang="en-US" dirty="0" smtClean="0"/>
                  <a:t> decomposition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a lower triangular matrix.</a:t>
                </a:r>
              </a:p>
              <a:p>
                <a:r>
                  <a:rPr lang="en-US" dirty="0" smtClean="0"/>
                  <a:t>Then, the transformed residuals are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 components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are </a:t>
                </a:r>
                <a:r>
                  <a:rPr lang="en-US" u="sng" dirty="0" smtClean="0"/>
                  <a:t>uncorrelated</a:t>
                </a:r>
                <a:r>
                  <a:rPr lang="en-US" dirty="0" smtClean="0"/>
                  <a:t> with </a:t>
                </a:r>
                <a:r>
                  <a:rPr lang="en-US" u="sng" dirty="0" smtClean="0"/>
                  <a:t>constant variance</a:t>
                </a:r>
                <a:r>
                  <a:rPr lang="en-US" dirty="0" smtClean="0"/>
                  <a:t> 1: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Cov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Cov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Cov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144175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Transformed Residuals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transformed residuals</a:t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can be plotted against the similarly transformed predicted responses: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acc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 (components of)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should be approximately distributed as standard normal. Histogram and Q-Q plot (producible in SAS) can be generated to check for normality.</a:t>
                </a:r>
              </a:p>
              <a:p>
                <a:pPr lvl="1"/>
                <a:r>
                  <a:rPr lang="en-US" dirty="0" smtClean="0"/>
                  <a:t>If the residuals are right skewed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log-transform the response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423300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Transformed Residuals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vector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can also be used to detect outlying individuals.</a:t>
                </a:r>
              </a:p>
              <a:p>
                <a:r>
                  <a:rPr lang="en-US" i="1" dirty="0" err="1" smtClean="0"/>
                  <a:t>Mahalanobis</a:t>
                </a:r>
                <a:r>
                  <a:rPr lang="en-US" dirty="0" smtClean="0"/>
                  <a:t> distance (sum of squares of the components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′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, but formal test on each individual is not recommended because of the multiplicity issue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smtClean="0"/>
                  <a:t> is large).</a:t>
                </a:r>
              </a:p>
              <a:p>
                <a:r>
                  <a:rPr lang="en-US" dirty="0" smtClean="0"/>
                  <a:t>Informally, extreme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indicating possible outliers, which can be double checked for possible errors, e.g., data entry.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2729737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u="sng" dirty="0"/>
              <a:t>Prospective study</a:t>
            </a:r>
            <a:r>
              <a:rPr lang="en-US" dirty="0"/>
              <a:t> on body fat accretion in a cohort of 162 girls from the</a:t>
            </a:r>
            <a:br>
              <a:rPr lang="en-US" dirty="0"/>
            </a:br>
            <a:r>
              <a:rPr lang="en-US" dirty="0"/>
              <a:t>MIT Growth and Development </a:t>
            </a:r>
            <a:r>
              <a:rPr lang="en-US" dirty="0" smtClean="0"/>
              <a:t>Study.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start of study, all the girls were </a:t>
            </a:r>
            <a:r>
              <a:rPr lang="en-US" u="sng" dirty="0"/>
              <a:t>pre-</a:t>
            </a:r>
            <a:r>
              <a:rPr lang="en-US" u="sng" dirty="0" err="1"/>
              <a:t>menarcheal</a:t>
            </a:r>
            <a:r>
              <a:rPr lang="en-US" dirty="0"/>
              <a:t> and </a:t>
            </a:r>
            <a:r>
              <a:rPr lang="en-US" u="sng" dirty="0" smtClean="0"/>
              <a:t>non-obese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They were </a:t>
            </a:r>
            <a:r>
              <a:rPr lang="en-US" dirty="0"/>
              <a:t>followed over time according to a schedule of </a:t>
            </a:r>
            <a:r>
              <a:rPr lang="en-US" u="sng" dirty="0"/>
              <a:t>annual</a:t>
            </a:r>
            <a:br>
              <a:rPr lang="en-US" u="sng" dirty="0"/>
            </a:br>
            <a:r>
              <a:rPr lang="en-US" u="sng" dirty="0"/>
              <a:t>measurements</a:t>
            </a:r>
            <a:r>
              <a:rPr lang="en-US" dirty="0"/>
              <a:t> until four years after </a:t>
            </a:r>
            <a:r>
              <a:rPr lang="en-US" dirty="0" smtClean="0"/>
              <a:t>menarche.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final measurement was scheduled on the fourth anniversary of their</a:t>
            </a:r>
            <a:br>
              <a:rPr lang="en-US" dirty="0"/>
            </a:br>
            <a:r>
              <a:rPr lang="en-US" dirty="0"/>
              <a:t>reported date of </a:t>
            </a:r>
            <a:r>
              <a:rPr lang="en-US" dirty="0" smtClean="0"/>
              <a:t>menarche.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each examination, a measure of </a:t>
            </a:r>
            <a:r>
              <a:rPr lang="en-US" u="sng" dirty="0"/>
              <a:t>body fatness</a:t>
            </a:r>
            <a:r>
              <a:rPr lang="en-US" dirty="0"/>
              <a:t> was obtained based on</a:t>
            </a:r>
            <a:br>
              <a:rPr lang="en-US" dirty="0"/>
            </a:br>
            <a:r>
              <a:rPr lang="en-US" dirty="0"/>
              <a:t>bioelectric impedance </a:t>
            </a:r>
            <a:r>
              <a:rPr lang="en-US" dirty="0" smtClean="0"/>
              <a:t>analysis.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254080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u="sng" dirty="0"/>
              <a:t>Prospective study</a:t>
            </a:r>
            <a:r>
              <a:rPr lang="en-US" dirty="0"/>
              <a:t> on body fat accretion in a cohort of 162 girls from the</a:t>
            </a:r>
            <a:br>
              <a:rPr lang="en-US" dirty="0"/>
            </a:br>
            <a:r>
              <a:rPr lang="en-US" dirty="0"/>
              <a:t>MIT Growth and Development </a:t>
            </a:r>
            <a:r>
              <a:rPr lang="en-US" dirty="0" smtClean="0"/>
              <a:t>Study.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start of study, all the girls were </a:t>
            </a:r>
            <a:r>
              <a:rPr lang="en-US" u="sng" dirty="0"/>
              <a:t>pre-</a:t>
            </a:r>
            <a:r>
              <a:rPr lang="en-US" u="sng" dirty="0" err="1"/>
              <a:t>menarcheal</a:t>
            </a:r>
            <a:r>
              <a:rPr lang="en-US" dirty="0"/>
              <a:t> and </a:t>
            </a:r>
            <a:r>
              <a:rPr lang="en-US" u="sng" dirty="0" smtClean="0"/>
              <a:t>non-obese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They were </a:t>
            </a:r>
            <a:r>
              <a:rPr lang="en-US" dirty="0"/>
              <a:t>followed over time according to a schedule of </a:t>
            </a:r>
            <a:r>
              <a:rPr lang="en-US" u="sng" dirty="0"/>
              <a:t>annual</a:t>
            </a:r>
            <a:br>
              <a:rPr lang="en-US" u="sng" dirty="0"/>
            </a:br>
            <a:r>
              <a:rPr lang="en-US" u="sng" dirty="0"/>
              <a:t>measurements</a:t>
            </a:r>
            <a:r>
              <a:rPr lang="en-US" dirty="0"/>
              <a:t> until four years after </a:t>
            </a:r>
            <a:r>
              <a:rPr lang="en-US" dirty="0" smtClean="0"/>
              <a:t>menarche.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final measurement was scheduled on the fourth anniversary of their</a:t>
            </a:r>
            <a:br>
              <a:rPr lang="en-US" dirty="0"/>
            </a:br>
            <a:r>
              <a:rPr lang="en-US" dirty="0"/>
              <a:t>reported date of </a:t>
            </a:r>
            <a:r>
              <a:rPr lang="en-US" dirty="0" smtClean="0"/>
              <a:t>menarche.</a:t>
            </a:r>
            <a:endParaRPr lang="en-US" dirty="0"/>
          </a:p>
          <a:p>
            <a:r>
              <a:rPr lang="en-US" dirty="0" smtClean="0"/>
              <a:t>At </a:t>
            </a:r>
            <a:r>
              <a:rPr lang="en-US" dirty="0"/>
              <a:t>each examination, a measure of </a:t>
            </a:r>
            <a:r>
              <a:rPr lang="en-US" u="sng" dirty="0"/>
              <a:t>body fatness</a:t>
            </a:r>
            <a:r>
              <a:rPr lang="en-US" dirty="0"/>
              <a:t> was obtained based on</a:t>
            </a:r>
            <a:br>
              <a:rPr lang="en-US" dirty="0"/>
            </a:br>
            <a:r>
              <a:rPr lang="en-US" dirty="0"/>
              <a:t>bioelectric impedance </a:t>
            </a:r>
            <a:r>
              <a:rPr lang="en-US" dirty="0" smtClean="0"/>
              <a:t>analysis.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2314130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In Lecture 11, we used the following linear mixed effects model to analyzed the data: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The hypothesis of no difference in the pattern of change reduces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796" y="2786234"/>
            <a:ext cx="7572375" cy="115252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920336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Body 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71" y="1536763"/>
            <a:ext cx="8438804" cy="4862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5702" y="2776451"/>
            <a:ext cx="698269" cy="2660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93971" y="2776451"/>
            <a:ext cx="1729047" cy="2660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3447313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Body 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101" y="1602760"/>
            <a:ext cx="5743451" cy="4307589"/>
          </a:xfr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840161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Body 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SAS dataset </a:t>
            </a:r>
            <a:r>
              <a:rPr lang="en-US" i="1" dirty="0" smtClean="0"/>
              <a:t>mitpred1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87765"/>
          <a:stretch/>
        </p:blipFill>
        <p:spPr>
          <a:xfrm>
            <a:off x="2069496" y="3226167"/>
            <a:ext cx="1791228" cy="2190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79378" r="438"/>
          <a:stretch/>
        </p:blipFill>
        <p:spPr>
          <a:xfrm>
            <a:off x="5338311" y="3226167"/>
            <a:ext cx="2954866" cy="2190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53149" y="2702690"/>
                <a:ext cx="2648611" cy="52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149" y="2702690"/>
                <a:ext cx="2648611" cy="523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3643187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Body 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610" y="1533698"/>
            <a:ext cx="4677295" cy="3507971"/>
          </a:xfrm>
        </p:spPr>
      </p:pic>
      <p:sp>
        <p:nvSpPr>
          <p:cNvPr id="6" name="TextBox 5"/>
          <p:cNvSpPr txBox="1"/>
          <p:nvPr/>
        </p:nvSpPr>
        <p:spPr>
          <a:xfrm>
            <a:off x="3261610" y="5303520"/>
            <a:ext cx="426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Quite some curvature post-menarche…</a:t>
            </a:r>
            <a:endParaRPr lang="en-US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808338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72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Body 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9" y="1722394"/>
            <a:ext cx="10515600" cy="4351338"/>
          </a:xfrm>
        </p:spPr>
        <p:txBody>
          <a:bodyPr/>
          <a:lstStyle/>
          <a:p>
            <a:r>
              <a:rPr lang="en-US" dirty="0" smtClean="0"/>
              <a:t>Refit the data with a quadratic term for post-event time.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83886"/>
            <a:ext cx="10976731" cy="2435024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1351018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80" y="1770610"/>
            <a:ext cx="4545100" cy="340882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255" y="1770609"/>
            <a:ext cx="4545100" cy="3408825"/>
          </a:xfrm>
        </p:spPr>
      </p:pic>
      <p:sp>
        <p:nvSpPr>
          <p:cNvPr id="9" name="TextBox 8"/>
          <p:cNvSpPr txBox="1"/>
          <p:nvPr/>
        </p:nvSpPr>
        <p:spPr>
          <a:xfrm>
            <a:off x="8263756" y="5389174"/>
            <a:ext cx="112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Better?</a:t>
            </a:r>
            <a:endParaRPr lang="en-US" sz="2400" dirty="0"/>
          </a:p>
        </p:txBody>
      </p:sp>
      <p:sp>
        <p:nvSpPr>
          <p:cNvPr id="10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11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115066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Does adding post-event quadratic term significantly improve the fit?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An LRT should yield similar results.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955" y="2229023"/>
            <a:ext cx="5504152" cy="31873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59084" y="4979324"/>
            <a:ext cx="5220392" cy="2909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3503288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Example: Influence of Menarche 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Body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Fat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 smtClean="0"/>
              <a:t>Test on the null hypothesis of no difference in the pattern of change between pre- and post-menarche times: 2-df test on the linear and quadratic post-menarche terms.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77" y="3935817"/>
            <a:ext cx="9647406" cy="1450831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2514715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simplified procedure for (transformed) residual analysis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Plot histogram (or Q-Q plot) to check for normality (transform the response so that the residuals are approximately normal)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Plot residual vs predicted to see if there is a systematic pattern; if yes, include additional terms in the model and re-fit the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lot residual vs time/other covariates to see which covariates should be transformed or need additional terms; include additional terms if necessary.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Conduct a formal test to compare the original model and the model with additional terms.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1790276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Residual analysis for model diagnostics is more of </a:t>
            </a:r>
            <a:r>
              <a:rPr lang="en-US" u="sng" dirty="0" smtClean="0"/>
              <a:t>an art</a:t>
            </a:r>
            <a:r>
              <a:rPr lang="en-US" dirty="0" smtClean="0"/>
              <a:t> than a science.</a:t>
            </a:r>
          </a:p>
          <a:p>
            <a:r>
              <a:rPr lang="en-US" dirty="0" smtClean="0"/>
              <a:t>For more discussion, refer to Chapter 10 of FLW.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13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26</a:t>
            </a:r>
          </a:p>
        </p:txBody>
      </p:sp>
    </p:spTree>
    <p:extLst>
      <p:ext uri="{BB962C8B-B14F-4D97-AF65-F5344CB8AC3E}">
        <p14:creationId xmlns:p14="http://schemas.microsoft.com/office/powerpoint/2010/main" val="8183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49480</TotalTime>
  <Words>725</Words>
  <Application>Microsoft Office PowerPoint</Application>
  <PresentationFormat>Widescreen</PresentationFormat>
  <Paragraphs>127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Residual Analysis</vt:lpstr>
      <vt:lpstr>Residual Analysis</vt:lpstr>
      <vt:lpstr>Residual vs Predicted Response</vt:lpstr>
      <vt:lpstr>Residual vs Predicted Response</vt:lpstr>
      <vt:lpstr>Residual vs Predictor</vt:lpstr>
      <vt:lpstr>Issues with Longitudinal Data</vt:lpstr>
      <vt:lpstr>Issues with Longitudinal Data</vt:lpstr>
      <vt:lpstr>Issues with Longitudinal Data</vt:lpstr>
      <vt:lpstr>Transformed Residuals</vt:lpstr>
      <vt:lpstr>Transformed Residuals</vt:lpstr>
      <vt:lpstr>Transformed Residuals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Example: Influence of Menarche on Body Fat </vt:lpstr>
      <vt:lpstr>Summary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967</cp:revision>
  <dcterms:created xsi:type="dcterms:W3CDTF">2019-01-16T21:45:55Z</dcterms:created>
  <dcterms:modified xsi:type="dcterms:W3CDTF">2019-04-02T19:20:42Z</dcterms:modified>
</cp:coreProperties>
</file>