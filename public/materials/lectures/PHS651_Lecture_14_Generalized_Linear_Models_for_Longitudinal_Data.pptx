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3/26/2019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75638-D475-4993-9714-879D4BC5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56B78-32AA-404F-9DCD-B5D9E427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Generalized Linear Models for Longitudinal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AE9AE-D4F8-4533-BE43-0836F55B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BBD4A-55CC-4D54-8877-858EED7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85820-2CC5-4465-9AC5-2893E79A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56A3C-F873-49DC-91A9-66CDB74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133742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Longitudinal binary and count outcomes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The toenail and epilepsy trials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Review of logistic regression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Review of Poisson regression</a:t>
            </a:r>
            <a:r>
              <a:rPr lang="en-US" sz="2800" dirty="0" smtClean="0"/>
              <a:t/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Randomized, double-blind, parallel-group, multicenter study of 294 </a:t>
            </a:r>
            <a:r>
              <a:rPr lang="en-US" dirty="0" smtClean="0"/>
              <a:t>patients comparing </a:t>
            </a:r>
            <a:r>
              <a:rPr lang="en-US" dirty="0"/>
              <a:t>2 oral treatments (denoted A and B) for toe-nail </a:t>
            </a:r>
            <a:r>
              <a:rPr lang="en-US" dirty="0" smtClean="0"/>
              <a:t>infection.</a:t>
            </a:r>
          </a:p>
          <a:p>
            <a:r>
              <a:rPr lang="en-US" dirty="0" smtClean="0"/>
              <a:t>Outcome </a:t>
            </a:r>
            <a:r>
              <a:rPr lang="en-US" dirty="0"/>
              <a:t>variable: </a:t>
            </a:r>
            <a:r>
              <a:rPr lang="en-US" u="sng" dirty="0"/>
              <a:t>Binary variable</a:t>
            </a:r>
            <a:r>
              <a:rPr lang="en-US" dirty="0"/>
              <a:t> indicating presence of </a:t>
            </a:r>
            <a:r>
              <a:rPr lang="en-US" u="sng" dirty="0" err="1"/>
              <a:t>onycholysis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(separation of the nail plate from the nail bed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Patients </a:t>
            </a:r>
            <a:r>
              <a:rPr lang="en-US" dirty="0"/>
              <a:t>evaluated for </a:t>
            </a:r>
            <a:r>
              <a:rPr lang="en-US" dirty="0" err="1" smtClean="0"/>
              <a:t>onycholysis</a:t>
            </a:r>
            <a:r>
              <a:rPr lang="en-US" dirty="0" smtClean="0"/>
              <a:t/>
            </a:r>
            <a:r>
              <a:rPr lang="en-US" dirty="0"/>
              <a:t>(separation of the nail plate</a:t>
            </a:r>
            <a:br>
              <a:rPr lang="en-US" dirty="0"/>
            </a:br>
            <a:r>
              <a:rPr lang="en-US" dirty="0"/>
              <a:t>from the nail-bed) at baseline (week 0) and at weeks 4, 8, 12, 24, 36, </a:t>
            </a:r>
            <a:r>
              <a:rPr lang="en-US" dirty="0" smtClean="0"/>
              <a:t>and 48.</a:t>
            </a:r>
          </a:p>
          <a:p>
            <a:r>
              <a:rPr lang="en-US" dirty="0" smtClean="0"/>
              <a:t>Interested </a:t>
            </a:r>
            <a:r>
              <a:rPr lang="en-US" dirty="0"/>
              <a:t>in the rate of decline of </a:t>
            </a:r>
            <a:r>
              <a:rPr lang="en-US" u="sng" dirty="0"/>
              <a:t>the proportion of patients</a:t>
            </a:r>
            <a:r>
              <a:rPr lang="en-US" dirty="0"/>
              <a:t> with</a:t>
            </a:r>
            <a:br>
              <a:rPr lang="en-US" dirty="0"/>
            </a:br>
            <a:r>
              <a:rPr lang="en-US" dirty="0" err="1"/>
              <a:t>onycholysis</a:t>
            </a:r>
            <a:r>
              <a:rPr lang="en-US" dirty="0"/>
              <a:t> over time and the effects of treatment on that rate.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Oral Treatment of Toenail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Infection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883" y="1782127"/>
            <a:ext cx="5408443" cy="372089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405423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anti-epileptic drug </a:t>
            </a:r>
            <a:r>
              <a:rPr lang="en-US" dirty="0" err="1" sz="3400" b="1">
                <a:solidFill>
                  <a:srgbClr val="0D5F62"/>
                </a:solidFill>
                <a:latin typeface="Calibri"/>
              </a:rPr>
              <a:t>progabide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Randomized, placebo-controlled study of treatment of epileptic </a:t>
            </a:r>
            <a:r>
              <a:rPr lang="en-US" dirty="0" smtClean="0"/>
              <a:t>seizures with </a:t>
            </a:r>
            <a:r>
              <a:rPr lang="en-US" dirty="0" err="1" smtClean="0"/>
              <a:t>progabide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Patients </a:t>
            </a:r>
            <a:r>
              <a:rPr lang="en-US" dirty="0"/>
              <a:t>were randomized to treatment with </a:t>
            </a:r>
            <a:r>
              <a:rPr lang="en-US" dirty="0" err="1"/>
              <a:t>progabide</a:t>
            </a:r>
            <a:r>
              <a:rPr lang="en-US" dirty="0"/>
              <a:t>, or to placebo </a:t>
            </a:r>
            <a:r>
              <a:rPr lang="en-US" dirty="0" smtClean="0"/>
              <a:t>in addition </a:t>
            </a:r>
            <a:r>
              <a:rPr lang="en-US" dirty="0"/>
              <a:t>to standard </a:t>
            </a:r>
            <a:r>
              <a:rPr lang="en-US" dirty="0" smtClean="0"/>
              <a:t>therapy.</a:t>
            </a:r>
          </a:p>
          <a:p>
            <a:r>
              <a:rPr lang="en-US" dirty="0" smtClean="0"/>
              <a:t>Outcome </a:t>
            </a:r>
            <a:r>
              <a:rPr lang="en-US" dirty="0"/>
              <a:t>variable: </a:t>
            </a:r>
            <a:r>
              <a:rPr lang="en-US" u="sng" dirty="0"/>
              <a:t>Count of number of </a:t>
            </a:r>
            <a:r>
              <a:rPr lang="en-US" u="sng" dirty="0" smtClean="0"/>
              <a:t>seizures</a:t>
            </a:r>
            <a:endParaRPr lang="en-US" dirty="0"/>
          </a:p>
          <a:p>
            <a:r>
              <a:rPr lang="en-US" dirty="0" smtClean="0"/>
              <a:t>Measurement </a:t>
            </a:r>
            <a:r>
              <a:rPr lang="en-US" dirty="0"/>
              <a:t>schedule: Baseline measurement during 8 weeks prior </a:t>
            </a:r>
            <a:r>
              <a:rPr lang="en-US" dirty="0" smtClean="0"/>
              <a:t>to randomization</a:t>
            </a:r>
            <a:r>
              <a:rPr lang="en-US" dirty="0"/>
              <a:t>. Four measurements </a:t>
            </a:r>
            <a:r>
              <a:rPr lang="en-US" dirty="0" smtClean="0"/>
              <a:t>at two-week intervals during follow-up.</a:t>
            </a:r>
          </a:p>
          <a:p>
            <a:r>
              <a:rPr lang="en-US" dirty="0" smtClean="0"/>
              <a:t>Sample </a:t>
            </a:r>
            <a:r>
              <a:rPr lang="en-US" dirty="0"/>
              <a:t>size: 28 epileptics on placebo; 31 epileptics on </a:t>
            </a:r>
            <a:r>
              <a:rPr lang="en-US" dirty="0" err="1"/>
              <a:t>progabide</a:t>
            </a:r>
            <a:r>
              <a:rPr lang="en-US" dirty="0"/>
              <a:t/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48723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Clinical trial of anti-epileptic drug </a:t>
            </a:r>
            <a:r>
              <a:rPr lang="en-US" dirty="0" err="1" sz="3400" b="1">
                <a:solidFill>
                  <a:srgbClr val="0D5F62"/>
                </a:solidFill>
                <a:latin typeface="Calibri"/>
              </a:rPr>
              <a:t>progabide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222980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Generalized Linear Models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Generalized linear </a:t>
            </a:r>
            <a:r>
              <a:rPr lang="en-US" u="sng" dirty="0" smtClean="0"/>
              <a:t>models (GLM)</a:t>
            </a:r>
            <a:r>
              <a:rPr lang="en-US" dirty="0" smtClean="0"/>
              <a:t/>
            </a:r>
            <a:r>
              <a:rPr lang="en-US" dirty="0"/>
              <a:t>are a class of regression </a:t>
            </a:r>
            <a:r>
              <a:rPr lang="en-US" dirty="0" smtClean="0"/>
              <a:t>models that extend the standard </a:t>
            </a:r>
            <a:r>
              <a:rPr lang="en-US" dirty="0"/>
              <a:t>linear regression </a:t>
            </a:r>
            <a:r>
              <a:rPr lang="en-US" dirty="0" smtClean="0"/>
              <a:t>model to accommodate non-continuous outcomes: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u="sng" dirty="0" smtClean="0"/>
              <a:t>Linear regression</a:t>
            </a:r>
            <a:r>
              <a:rPr lang="en-US" dirty="0" smtClean="0"/>
              <a:t> for continuous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u="sng" dirty="0" smtClean="0"/>
              <a:t>Logistic regression </a:t>
            </a:r>
            <a:r>
              <a:rPr lang="en-US" dirty="0" smtClean="0"/>
              <a:t>for binary 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Log-linear/</a:t>
            </a:r>
            <a:r>
              <a:rPr lang="en-US" u="sng" dirty="0" smtClean="0"/>
              <a:t>Poisson regression</a:t>
            </a:r>
            <a:r>
              <a:rPr lang="en-US" dirty="0" smtClean="0"/>
              <a:t> models for count data</a:t>
            </a:r>
          </a:p>
          <a:p>
            <a:r>
              <a:rPr lang="en-US" dirty="0" smtClean="0"/>
              <a:t>We consider application </a:t>
            </a:r>
            <a:r>
              <a:rPr lang="en-US" dirty="0"/>
              <a:t>of </a:t>
            </a:r>
            <a:r>
              <a:rPr lang="en-US" dirty="0" smtClean="0"/>
              <a:t>GLM </a:t>
            </a:r>
            <a:r>
              <a:rPr lang="en-US" dirty="0"/>
              <a:t>to longitudinal data</a:t>
            </a:r>
            <a:r>
              <a:rPr lang="en-US" dirty="0" smtClean="0"/>
              <a:t>.</a:t>
            </a:r>
          </a:p>
          <a:p>
            <a:r>
              <a:rPr lang="en-US" dirty="0"/>
              <a:t>First, we review logistic and Poisson regression models for a single response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94223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Logistic Regression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In linear regression, the response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is assumed to be normally distributed with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and mean</a:t>
                </a:r>
              </a:p>
              <a:p>
                <a:endParaRPr lang="en-US" dirty="0"/>
              </a:p>
              <a:p>
                <a:r>
                  <a:rPr lang="en-US" dirty="0" smtClean="0"/>
                  <a:t>Now, suppose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is binary/dichotomous, e.g.,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: diseased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 </a:t>
                </a:r>
                <a:r>
                  <a:rPr lang="en-US" dirty="0" smtClean="0"/>
                  <a:t>non-diseased</a:t>
                </a:r>
              </a:p>
              <a:p>
                <a:r>
                  <a:rPr lang="en-US" dirty="0" smtClean="0"/>
                  <a:t>That is,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𝐵𝑒𝑟𝑛𝑜𝑢𝑙𝑙𝑖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with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Disease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We are interested </a:t>
                </a:r>
                <a:r>
                  <a:rPr lang="en-US" dirty="0"/>
                  <a:t>in estimating </a:t>
                </a:r>
                <a:r>
                  <a:rPr lang="en-US" dirty="0" smtClean="0"/>
                  <a:t>the probability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and relating it to a set of covariates.</a:t>
                </a:r>
                <a:r>
                  <a:rPr lang="en-US" dirty="0"/>
                  <a:t/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575" y="2733674"/>
            <a:ext cx="4219575" cy="476250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85221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Logistic Regression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There are two issues with the standard linear regression framework if used for binary response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The linear </a:t>
                </a:r>
                <a:r>
                  <a:rPr lang="en-US" dirty="0"/>
                  <a:t>model is not feasible since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a probability </a:t>
                </a:r>
                <a:r>
                  <a:rPr lang="en-US" dirty="0" smtClean="0"/>
                  <a:t>and is </a:t>
                </a:r>
                <a:r>
                  <a:rPr lang="en-US" dirty="0"/>
                  <a:t>restricted to </a:t>
                </a:r>
                <a:r>
                  <a:rPr lang="en-US" dirty="0" smtClean="0"/>
                  <a:t>[0, 1].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The </a:t>
                </a:r>
                <a:r>
                  <a:rPr lang="en-US" dirty="0"/>
                  <a:t>usual assumption of homogeneity of variance would be </a:t>
                </a:r>
                <a:r>
                  <a:rPr lang="en-US" dirty="0" smtClean="0"/>
                  <a:t>violated</a:t>
                </a:r>
                <a:r>
                  <a:rPr lang="en-US" dirty="0"/>
                  <a:t/>
                </a:r>
                <a:r>
                  <a:rPr lang="en-US" dirty="0" smtClean="0"/>
                  <a:t>as </a:t>
                </a:r>
                <a:r>
                  <a:rPr lang="en-US" dirty="0"/>
                  <a:t>the variance of a binary response depends on the mean, i.e.</a:t>
                </a:r>
                <a:r>
                  <a:rPr lang="en-US" dirty="0"/>
                  <a:t/>
                </a:r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517" y="3332190"/>
            <a:ext cx="4219575" cy="476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921" y="4699116"/>
            <a:ext cx="2295525" cy="41910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34166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Logistic Regression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Instead, we consider a </a:t>
                </a:r>
                <a:r>
                  <a:rPr lang="en-US" u="sng" dirty="0" smtClean="0"/>
                  <a:t>logistic regression</a:t>
                </a:r>
                <a:r>
                  <a:rPr lang="en-US" dirty="0" smtClean="0"/>
                  <a:t>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That is, the log-odds (not probability!) of disease is modeled as a linear function of covariates.</a:t>
                </a:r>
              </a:p>
              <a:p>
                <a:r>
                  <a:rPr lang="en-US" dirty="0"/>
                  <a:t>This accommodates the constraint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endParaRPr lang="en-US" dirty="0" smtClean="0"/>
              </a:p>
              <a:p>
                <a:r>
                  <a:rPr lang="en-US" u="sng" dirty="0"/>
                  <a:t>Exercise</a:t>
                </a:r>
                <a:r>
                  <a:rPr lang="en-US" dirty="0"/>
                  <a:t>: Express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in terms of the linear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235801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Logistic Regression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263" y="1656743"/>
            <a:ext cx="559117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1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Logistic Regression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/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u="sng" dirty="0" smtClean="0"/>
                  <a:t>Estimation</a:t>
                </a:r>
                <a:r>
                  <a:rPr lang="en-US" dirty="0" smtClean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 smtClean="0"/>
                  <a:t>: Maximum likelihood (ML) </a:t>
                </a:r>
              </a:p>
              <a:p>
                <a:r>
                  <a:rPr lang="en-US" u="sng" dirty="0" smtClean="0"/>
                  <a:t>Interpretation</a:t>
                </a:r>
                <a:r>
                  <a:rPr lang="en-US" dirty="0" smtClean="0"/>
                  <a:t/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 smtClean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0" dirty="0" smtClean="0"/>
                  <a:t>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: </a:t>
                </a:r>
                <a:r>
                  <a:rPr lang="en-US" u="sng" dirty="0" smtClean="0"/>
                  <a:t>baseline log odds</a:t>
                </a:r>
                <a:r>
                  <a:rPr lang="en-US" dirty="0" smtClean="0"/>
                  <a:t> (easily transformed to baseline probability);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 smtClean="0"/>
                  <a:t>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: difference in log odds (or log odds ratio)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is increased by one unit;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 smtClean="0"/>
                  <a:t> odds ratio associated with one unit increase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2493165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Review: Poisson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Regression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Poisson regression, the response variable is a </a:t>
            </a:r>
            <a:r>
              <a:rPr lang="en-US" u="sng" dirty="0"/>
              <a:t>count</a:t>
            </a:r>
            <a:r>
              <a:rPr lang="en-US" dirty="0"/>
              <a:t> (e.g. number of </a:t>
            </a:r>
            <a:r>
              <a:rPr lang="en-US" dirty="0" smtClean="0"/>
              <a:t>cases of </a:t>
            </a:r>
            <a:r>
              <a:rPr lang="en-US" dirty="0"/>
              <a:t>a disease in a given period of time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 </a:t>
            </a:r>
            <a:r>
              <a:rPr lang="en-US" u="sng" dirty="0"/>
              <a:t>Poisson distribution</a:t>
            </a:r>
            <a:r>
              <a:rPr lang="en-US" dirty="0"/>
              <a:t> provides the basis of likelihood-based </a:t>
            </a:r>
            <a:r>
              <a:rPr lang="en-US" dirty="0" smtClean="0"/>
              <a:t>inference.</a:t>
            </a:r>
          </a:p>
          <a:p>
            <a:r>
              <a:rPr lang="en-US" dirty="0" smtClean="0"/>
              <a:t>Often </a:t>
            </a:r>
            <a:r>
              <a:rPr lang="en-US" dirty="0"/>
              <a:t>the counts may be expressed as </a:t>
            </a:r>
            <a:r>
              <a:rPr lang="en-US" i="1" dirty="0" smtClean="0"/>
              <a:t>rates</a:t>
            </a:r>
            <a:r>
              <a:rPr lang="en-US" dirty="0" smtClean="0"/>
              <a:t>. That </a:t>
            </a:r>
            <a:r>
              <a:rPr lang="en-US" dirty="0"/>
              <a:t>is, the count or absolute number of events is </a:t>
            </a:r>
            <a:r>
              <a:rPr lang="en-US" u="sng" dirty="0" smtClean="0"/>
              <a:t>normalized</a:t>
            </a:r>
            <a:r>
              <a:rPr lang="en-US" dirty="0" smtClean="0"/>
              <a:t> by the underlying size of population or length of follow-up for </a:t>
            </a:r>
            <a:r>
              <a:rPr lang="en-US" smtClean="0"/>
              <a:t>better comparison.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14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280054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36872</TotalTime>
  <Words>428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Wingdings</vt:lpstr>
      <vt:lpstr>Office Theme</vt:lpstr>
      <vt:lpstr>Advanced Regression Methods for Population Health</vt:lpstr>
      <vt:lpstr>Outline</vt:lpstr>
      <vt:lpstr>Oral Treatment of Toenail Infection</vt:lpstr>
      <vt:lpstr>Oral Treatment of Toenail Infection</vt:lpstr>
      <vt:lpstr>Clinical trial of anti-epileptic drug progabide </vt:lpstr>
      <vt:lpstr>Clinical trial of anti-epileptic drug progabide </vt:lpstr>
      <vt:lpstr>Generalized Linear Models </vt:lpstr>
      <vt:lpstr>Review: Logistic Regression </vt:lpstr>
      <vt:lpstr>Review: Logistic Regression </vt:lpstr>
      <vt:lpstr>Review: Logistic Regression </vt:lpstr>
      <vt:lpstr>Review: Logistic Regression </vt:lpstr>
      <vt:lpstr>Review: Logistic Regression </vt:lpstr>
      <vt:lpstr>Review: Poisson Regression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909</cp:revision>
  <dcterms:created xsi:type="dcterms:W3CDTF">2019-01-16T21:45:55Z</dcterms:created>
  <dcterms:modified xsi:type="dcterms:W3CDTF">2019-03-27T02:10:31Z</dcterms:modified>
</cp:coreProperties>
</file>