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90" r:id="rId5"/>
    <p:sldId id="291" r:id="rId6"/>
    <p:sldId id="292" r:id="rId7"/>
    <p:sldId id="293" r:id="rId8"/>
    <p:sldId id="294" r:id="rId9"/>
    <p:sldId id="295" r:id="rId10"/>
    <p:sldId id="296" r:id="rId11"/>
    <p:sldId id="297" r:id="rId12"/>
    <p:sldId id="298" r:id="rId13"/>
    <p:sldId id="299" r:id="rId14"/>
    <p:sldId id="300" r:id="rId15"/>
    <p:sldId id="302" r:id="rId16"/>
    <p:sldId id="303" r:id="rId17"/>
    <p:sldId id="301" r:id="rId18"/>
    <p:sldId id="304" r:id="rId19"/>
    <p:sldId id="305" r:id="rId20"/>
    <p:sldId id="306" r:id="rId21"/>
    <p:sldId id="307" r:id="rId22"/>
    <p:sldId id="308" r:id="rId23"/>
    <p:sldId id="289" r:id="rId24"/>
    <p:sldId id="309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FED68BB4-D429-4D9F-9A88-1E15C9ECB80D}">
          <p14:sldIdLst>
            <p14:sldId id="256"/>
            <p14:sldId id="257"/>
            <p14:sldId id="258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  <p14:sldId id="302"/>
            <p14:sldId id="303"/>
            <p14:sldId id="301"/>
            <p14:sldId id="304"/>
            <p14:sldId id="305"/>
            <p14:sldId id="306"/>
            <p14:sldId id="307"/>
            <p14:sldId id="308"/>
            <p14:sldId id="289"/>
            <p14:sldId id="30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4FDA3A-CD22-4026-84C1-034A7EF76A98}" type="datetimeFigureOut">
              <a:rPr lang="en-US" smtClean="0"/>
              <a:t>4/23/2019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D7C35D-060E-435E-9BFC-11636728C5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3088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4/23/2019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3078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4/23/2019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9197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4/23/2019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6727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4/23/2019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7118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4/23/2019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4606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4/23/2019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836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4/23/2019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4011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4/23/2019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5776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4/23/2019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0206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4/23/2019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398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4/23/2019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7122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67D58-E64F-42FB-A354-3FB5C93E4E64}" type="datetimeFigureOut">
              <a:rPr lang="en-US" smtClean="0"/>
              <a:t>4/23/2019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952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 xmlns:a="http://schemas.openxmlformats.org/drawingml/2006/main">
          <a:srgbClr val="102A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7BFF0F-82EF-4832-9AED-D1AAB3469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7AD1C8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7AD1C8"/>
                </a:solidFill>
                <a:latin typeface="Calibri"/>
                <a:ea typeface="Calibri"/>
                <a:cs typeface="Calibri"/>
              </a:rPr>
              <a:t>PHS 651     /     LECTURE 20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AE1B24-84A1-46CE-8099-14507ECDB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71625"/>
            <a:ext cx="10191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46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Inverse Probability Weighting for Missing Data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587B16-E587-4B84-8CE8-890A85A9F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10025"/>
            <a:ext cx="10515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B7CBCE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B7CBCE"/>
                </a:solidFill>
                <a:latin typeface="Calibri"/>
                <a:ea typeface="Calibri"/>
                <a:cs typeface="Calibri"/>
              </a:rPr>
              <a:t>Advanced Regression Methods for Population Health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0A3329-3F4C-4FA3-B57C-F2CF117D7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19700"/>
            <a:ext cx="714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Lu Mao, PhD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C18291-FE70-43EE-8F21-13DF520B8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9750"/>
            <a:ext cx="8858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B7CBCE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B7CBCE"/>
                </a:solidFill>
                <a:latin typeface="Calibri"/>
                <a:ea typeface="Calibri"/>
                <a:cs typeface="Calibri"/>
              </a:rPr>
              <a:t>Department of Biostatistics and Medical Informatics</a:t>
            </a:r>
          </a:p>
          <a:p xmlns:a="http://schemas.openxmlformats.org/drawingml/2006/main">
            <a:pPr>
              <a:defRPr sz="1575" b="0">
                <a:solidFill>
                  <a:srgbClr val="B7CBCE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B7CBCE"/>
                </a:solidFill>
                <a:latin typeface="Calibri"/>
                <a:ea typeface="Calibri"/>
                <a:cs typeface="Calibri"/>
              </a:rPr>
              <a:t>University of Wisconsin-Madison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9F55D3-EC88-4FA6-AC8A-2A471C4DD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972175"/>
            <a:ext cx="1666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AD1C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7AD1C8"/>
                </a:solidFill>
                <a:latin typeface="Calibri"/>
                <a:ea typeface="Calibri"/>
                <a:cs typeface="Calibri"/>
              </a:rPr>
              <a:t>SPRING 2019</a:t>
            </a:r>
          </a:p>
        </p:txBody>
      </p:sp>
    </p:spTree>
    <p:extLst>
      <p:ext uri="{BB962C8B-B14F-4D97-AF65-F5344CB8AC3E}">
        <p14:creationId xmlns:p14="http://schemas.microsoft.com/office/powerpoint/2010/main" val="5769345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Outline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53986"/>
            <a:ext cx="10515600" cy="4015047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 smtClean="0"/>
          </a:p>
          <a:p>
            <a:pPr marL="971550" lvl="1" indent="-514350">
              <a:buFont typeface="+mj-lt"/>
              <a:buAutoNum type="arabicPeriod"/>
            </a:pPr>
            <a:r>
              <a:rPr lang="en-US" sz="2800" dirty="0" smtClean="0"/>
              <a:t>Inverse weighting and correction of selection bias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800" dirty="0" smtClean="0"/>
              <a:t>Selection models for monotone missing data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800" dirty="0" smtClean="0"/>
              <a:t>An Example with the </a:t>
            </a:r>
            <a:r>
              <a:rPr lang="en-US" sz="2800" dirty="0" smtClean="0"/>
              <a:t>contraceptive </a:t>
            </a:r>
            <a:r>
              <a:rPr lang="en-US" sz="2800" dirty="0" smtClean="0"/>
              <a:t>trial</a:t>
            </a:r>
            <a:r>
              <a:rPr lang="en-US" sz="2800" dirty="0"/>
              <a:t/>
            </a:r>
            <a:br>
              <a:rPr lang="en-US" sz="2800" dirty="0"/>
            </a:br>
            <a:r>
              <a:rPr lang="en-US" sz="2800" dirty="0"/>
              <a:t/>
            </a:r>
            <a:br>
              <a:rPr lang="en-US" sz="2800" dirty="0"/>
            </a:br>
            <a:r>
              <a:rPr lang="en-US" sz="2800" dirty="0"/>
              <a:t/>
            </a:r>
            <a:br>
              <a:rPr lang="en-US" sz="2800" dirty="0"/>
            </a:br>
            <a:endParaRPr lang="en-US" sz="2600" dirty="0" smtClean="0"/>
          </a:p>
          <a:p>
            <a:pPr marL="457200" lvl="1" indent="0">
              <a:buNone/>
            </a:pPr>
            <a:endParaRPr lang="en-US" sz="2600" dirty="0" smtClean="0"/>
          </a:p>
        </p:txBody>
      </p:sp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20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2 / 24</a:t>
            </a:r>
          </a:p>
        </p:txBody>
      </p:sp>
    </p:spTree>
    <p:extLst>
      <p:ext uri="{BB962C8B-B14F-4D97-AF65-F5344CB8AC3E}">
        <p14:creationId xmlns:p14="http://schemas.microsoft.com/office/powerpoint/2010/main" val="454367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28544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Inverse Probability Weighting for </a:t>
            </a:r>
            <a:r>
              <a:rPr lang="en-US" smtClean="0" sz="3400" b="1">
                <a:solidFill>
                  <a:srgbClr val="0D5F62"/>
                </a:solidFill>
                <a:latin typeface="Calibri"/>
              </a:rPr>
              <a:t>Missing Data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 smtClean="0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,…,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)′</m:t>
                    </m:r>
                  </m:oMath>
                </a14:m>
                <a:r>
                  <a:rPr lang="en-US" dirty="0"/>
                  <a:t> be the response vector,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𝑂</m:t>
                        </m:r>
                      </m:sup>
                    </m:sSubSup>
                  </m:oMath>
                </a14:m>
                <a:r>
                  <a:rPr lang="en-US" dirty="0"/>
                  <a:t>the always observed part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, and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</m:sSubSup>
                  </m:oMath>
                </a14:m>
                <a:r>
                  <a:rPr lang="en-US" dirty="0"/>
                  <a:t> the possibly missing part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(missing on some subjects but observed on others</a:t>
                </a:r>
                <a:r>
                  <a:rPr lang="en-US" dirty="0" smtClean="0"/>
                  <a:t>).</a:t>
                </a:r>
              </a:p>
              <a:p>
                <a:r>
                  <a:rPr lang="en-US" dirty="0" smtClean="0"/>
                  <a:t>Multiple imputations involve replacing the missing values in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</m:sSubSup>
                  </m:oMath>
                </a14:m>
                <a:r>
                  <a:rPr lang="en-US" dirty="0" smtClean="0"/>
                  <a:t> with randomly drawn values from the conditional distribution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[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∣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 smtClean="0"/>
                  <a:t> (or perhaps more appropriately,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[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∣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𝑜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 smtClean="0"/>
                  <a:t>, where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US" dirty="0" smtClean="0"/>
                  <a:t> is a vector of baseline covariates).</a:t>
                </a:r>
              </a:p>
              <a:p>
                <a:r>
                  <a:rPr lang="en-US" dirty="0" smtClean="0"/>
                  <a:t>Alternatively, an adjustment can be made to the analysis by weighting the observed data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</m:sSubSup>
                  </m:oMath>
                </a14:m>
                <a:r>
                  <a:rPr lang="en-US" dirty="0" smtClean="0"/>
                  <a:t> in an appropriate way.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1821" r="-17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20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3 / 24</a:t>
            </a:r>
          </a:p>
        </p:txBody>
      </p:sp>
    </p:spTree>
    <p:extLst>
      <p:ext uri="{BB962C8B-B14F-4D97-AF65-F5344CB8AC3E}">
        <p14:creationId xmlns:p14="http://schemas.microsoft.com/office/powerpoint/2010/main" val="41231967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28544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Inverse Probability Weighting for </a:t>
            </a:r>
            <a:r>
              <a:rPr lang="en-US" smtClean="0" sz="3400" b="1">
                <a:solidFill>
                  <a:srgbClr val="0D5F62"/>
                </a:solidFill>
                <a:latin typeface="Calibri"/>
              </a:rPr>
              <a:t>Missing Data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 smtClean="0"/>
                  <a:t>The weighting is employed to correct for possible </a:t>
                </a:r>
                <a:r>
                  <a:rPr lang="en-US" u="sng" dirty="0" smtClean="0"/>
                  <a:t>non-representativeness</a:t>
                </a:r>
                <a:r>
                  <a:rPr lang="en-US" dirty="0"/>
                  <a:t>, i.e., selection bias, </a:t>
                </a:r>
                <a:r>
                  <a:rPr lang="en-US" dirty="0" smtClean="0"/>
                  <a:t>in the observed data due to “informative” </a:t>
                </a:r>
                <a:r>
                  <a:rPr lang="en-US" dirty="0" err="1" smtClean="0"/>
                  <a:t>missingness</a:t>
                </a:r>
                <a:r>
                  <a:rPr lang="en-US" dirty="0" smtClean="0"/>
                  <a:t>/dropout.</a:t>
                </a:r>
              </a:p>
              <a:p>
                <a:r>
                  <a:rPr lang="en-US" dirty="0" smtClean="0"/>
                  <a:t>Specifically, one weights each observation by the inverse of the (estimated) probability of being observed, and then proceeds with a weighted version of available-data analysis.</a:t>
                </a:r>
              </a:p>
              <a:p>
                <a:r>
                  <a:rPr lang="en-US" dirty="0" smtClean="0"/>
                  <a:t>For instance,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dirty="0" smtClean="0"/>
                  <a:t> (if observed) will be weighted by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Pr</m:t>
                            </m:r>
                          </m:fName>
                          <m:e>
                            <m:d>
                              <m:dPr>
                                <m:sepChr m:val="∣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𝑖𝑗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e>
                              <m:e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𝑂</m:t>
                                    </m:r>
                                  </m:sup>
                                </m:sSub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Sup>
                                  <m:sSub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bSup>
                              </m:e>
                            </m:d>
                          </m:e>
                        </m:func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dirty="0" smtClean="0"/>
                  <a:t/>
                </a:r>
              </a:p>
              <a:p>
                <a:r>
                  <a:rPr lang="en-US" dirty="0" smtClean="0"/>
                  <a:t>This is usually called </a:t>
                </a:r>
                <a:r>
                  <a:rPr lang="en-US" u="sng" dirty="0" smtClean="0"/>
                  <a:t>inverse probability weighting (IPW)</a:t>
                </a:r>
                <a:r>
                  <a:rPr lang="en-US" dirty="0" smtClean="0"/>
                  <a:t> method.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b="-9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20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4 / 24</a:t>
            </a:r>
          </a:p>
        </p:txBody>
      </p:sp>
    </p:spTree>
    <p:extLst>
      <p:ext uri="{BB962C8B-B14F-4D97-AF65-F5344CB8AC3E}">
        <p14:creationId xmlns:p14="http://schemas.microsoft.com/office/powerpoint/2010/main" val="5521061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28544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Inverse Probability Weighting for </a:t>
            </a:r>
            <a:r>
              <a:rPr lang="en-US" smtClean="0" sz="3400" b="1">
                <a:solidFill>
                  <a:srgbClr val="0D5F62"/>
                </a:solidFill>
                <a:latin typeface="Calibri"/>
              </a:rPr>
              <a:t>Missing Data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 smtClean="0"/>
                  <a:t>The model we use to estimate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sepChr m:val="∣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𝑖𝑗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e>
                          <m:e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</m:sup>
                            </m:sSub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bSup>
                          </m:e>
                        </m:d>
                      </m:e>
                    </m:func>
                  </m:oMath>
                </a14:m>
                <a:r>
                  <a:rPr lang="en-US" dirty="0" smtClean="0"/>
                  <a:t>, usually binary regression models such as the logistic regression, is called a </a:t>
                </a:r>
                <a:r>
                  <a:rPr lang="en-US" u="sng" dirty="0" smtClean="0"/>
                  <a:t>selection model</a:t>
                </a:r>
                <a:r>
                  <a:rPr lang="en-US" dirty="0" smtClean="0"/>
                  <a:t>.</a:t>
                </a:r>
              </a:p>
              <a:p>
                <a:r>
                  <a:rPr lang="en-US" u="sng" dirty="0" smtClean="0"/>
                  <a:t>How does IPW correct for selection bias</a:t>
                </a:r>
                <a:r>
                  <a:rPr lang="en-US" dirty="0" smtClean="0"/>
                  <a:t>?</a:t>
                </a:r>
              </a:p>
              <a:p>
                <a:r>
                  <a:rPr lang="en-US" dirty="0" smtClean="0"/>
                  <a:t>Example: </a:t>
                </a:r>
              </a:p>
              <a:p>
                <a:pPr lvl="1"/>
                <a:r>
                  <a:rPr lang="en-US" dirty="0" smtClean="0"/>
                  <a:t>In the (hypothetical) full data, there are 4 observations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 smtClean="0"/>
                  <a:t> for some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;</m:t>
                    </m:r>
                  </m:oMath>
                </a14:m>
                <a:endParaRPr lang="en-US" dirty="0" smtClean="0"/>
              </a:p>
              <a:p>
                <a:pPr lvl="1"/>
                <a:r>
                  <a:rPr lang="en-US" dirty="0" smtClean="0"/>
                  <a:t>The </a:t>
                </a:r>
                <a:r>
                  <a:rPr lang="en-US" u="sng" dirty="0" smtClean="0"/>
                  <a:t>selection probability</a:t>
                </a:r>
                <a:r>
                  <a:rPr lang="en-US" dirty="0" smtClean="0"/>
                  <a:t> is 0.25, and thus only one is expected to be non-missing;</a:t>
                </a:r>
              </a:p>
              <a:p>
                <a:pPr lvl="1"/>
                <a:r>
                  <a:rPr lang="en-US" dirty="0" smtClean="0"/>
                  <a:t>Weighting this singly non-missing observation by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0.25</m:t>
                        </m:r>
                      </m:e>
                      <m:sup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en-US" dirty="0" smtClean="0"/>
                  <a:t> restores its proper representation in the </a:t>
                </a:r>
                <a:r>
                  <a:rPr lang="en-US" dirty="0"/>
                  <a:t>(hypothetical) </a:t>
                </a:r>
                <a:r>
                  <a:rPr lang="en-US" dirty="0" smtClean="0"/>
                  <a:t>full data.  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r="-2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20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5 / 24</a:t>
            </a:r>
          </a:p>
        </p:txBody>
      </p:sp>
    </p:spTree>
    <p:extLst>
      <p:ext uri="{BB962C8B-B14F-4D97-AF65-F5344CB8AC3E}">
        <p14:creationId xmlns:p14="http://schemas.microsoft.com/office/powerpoint/2010/main" val="31264847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28544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Inverse Probability Weighting for </a:t>
            </a:r>
            <a:r>
              <a:rPr lang="en-US" smtClean="0" sz="3400" b="1">
                <a:solidFill>
                  <a:srgbClr val="0D5F62"/>
                </a:solidFill>
                <a:latin typeface="Calibri"/>
              </a:rPr>
              <a:t>Missing Data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When the joint distribution of the response is specified, a commonly used approach to missing data is the maximum likelihood based on the observed-data likelihood (cf. Lecture 19). </a:t>
            </a:r>
          </a:p>
          <a:p>
            <a:r>
              <a:rPr lang="en-US" dirty="0" smtClean="0"/>
              <a:t>IPW methods are thus most useful when a likelihood-based analysis is not possible due to lack of a specified joint likelihood, e.g., </a:t>
            </a:r>
            <a:r>
              <a:rPr lang="en-US" u="sng" dirty="0" smtClean="0"/>
              <a:t>marginal models with GEE</a:t>
            </a:r>
            <a:r>
              <a:rPr lang="en-US" dirty="0" smtClean="0"/>
              <a:t>.</a:t>
            </a:r>
          </a:p>
          <a:p>
            <a:r>
              <a:rPr lang="en-US" dirty="0" smtClean="0"/>
              <a:t>IPW are more straightforward to implement when missing data are </a:t>
            </a:r>
            <a:r>
              <a:rPr lang="en-US" u="sng" dirty="0" smtClean="0"/>
              <a:t>monotone</a:t>
            </a:r>
            <a:r>
              <a:rPr lang="en-US" dirty="0" smtClean="0"/>
              <a:t>, e.g., due to drop-out/loss to follow-up.</a:t>
            </a:r>
          </a:p>
          <a:p>
            <a:r>
              <a:rPr lang="en-US" dirty="0" smtClean="0"/>
              <a:t>We thus focus on </a:t>
            </a:r>
            <a:r>
              <a:rPr lang="en-US" u="sng" dirty="0" smtClean="0"/>
              <a:t>IPW-GEE</a:t>
            </a:r>
            <a:r>
              <a:rPr lang="en-US" dirty="0" smtClean="0"/>
              <a:t> with </a:t>
            </a:r>
            <a:r>
              <a:rPr lang="en-US" u="sng" dirty="0" smtClean="0"/>
              <a:t>monotone missing data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20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6 / 24</a:t>
            </a:r>
          </a:p>
        </p:txBody>
      </p:sp>
    </p:spTree>
    <p:extLst>
      <p:ext uri="{BB962C8B-B14F-4D97-AF65-F5344CB8AC3E}">
        <p14:creationId xmlns:p14="http://schemas.microsoft.com/office/powerpoint/2010/main" val="23556808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28544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Selection Model for Monotone Missing Data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 smtClean="0"/>
                  <a:t>The first step is to build a selection model to estimate the selection probabilities.</a:t>
                </a:r>
              </a:p>
              <a:p>
                <a:r>
                  <a:rPr lang="en-US" dirty="0" smtClean="0"/>
                  <a:t>Recall that we have defined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dirty="0" smtClean="0"/>
                  <a:t> to be 1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dirty="0" smtClean="0"/>
                  <a:t> is observed and 0 if otherwise. So we have a vector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)′</m:t>
                    </m:r>
                  </m:oMath>
                </a14:m>
                <a:r>
                  <a:rPr lang="en-US" dirty="0" smtClean="0"/>
                  <a:t> of missing data indicators.</a:t>
                </a:r>
              </a:p>
              <a:p>
                <a:r>
                  <a:rPr lang="en-US" dirty="0" smtClean="0"/>
                  <a:t>For monotone missing data, this notation can be simplified, because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 smtClean="0"/>
                  <a:t> is always in the form of 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1,…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1,0,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…,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dirty="0" smtClean="0"/>
              </a:p>
              <a:p>
                <a:r>
                  <a:rPr lang="en-US" dirty="0" smtClean="0"/>
                  <a:t>So, instead, we use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 smtClean="0"/>
                  <a:t> to indicate that the subject drops out at the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 smtClean="0"/>
                  <a:t>’</a:t>
                </a:r>
                <a:r>
                  <a:rPr lang="en-US" dirty="0" err="1" smtClean="0"/>
                  <a:t>th</a:t>
                </a:r>
                <a:r>
                  <a:rPr lang="en-US" dirty="0" smtClean="0"/>
                  <a:t> occasion.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0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20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7 / 24</a:t>
            </a:r>
          </a:p>
        </p:txBody>
      </p:sp>
    </p:spTree>
    <p:extLst>
      <p:ext uri="{BB962C8B-B14F-4D97-AF65-F5344CB8AC3E}">
        <p14:creationId xmlns:p14="http://schemas.microsoft.com/office/powerpoint/2010/main" val="38435322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28544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Selection Model for Monotone Missing Data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 smtClean="0"/>
                  <a:t>That is,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/>
                  <a:t/>
                </a:r>
                <a:r>
                  <a:rPr lang="en-US" dirty="0" smtClean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 smtClean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=0,</m:t>
                    </m:r>
                  </m:oMath>
                </a14:m>
                <a:r>
                  <a:rPr lang="en-US" dirty="0" smtClean="0"/>
                  <a:t> or 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1,…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1,0,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…,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dirty="0" smtClean="0"/>
              </a:p>
              <a:p>
                <a:pPr marL="0" indent="0" algn="ctr">
                  <a:buNone/>
                </a:pPr>
                <a:endParaRPr lang="en-US" dirty="0"/>
              </a:p>
              <a:p>
                <a:r>
                  <a:rPr lang="en-US" dirty="0" smtClean="0"/>
                  <a:t>Possible scenarios are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=2,…,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 smtClean="0"/>
                  <a:t>. We write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dirty="0" smtClean="0"/>
                  <a:t>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 smtClean="0"/>
                  <a:t> is fully observed.</a:t>
                </a:r>
              </a:p>
              <a:p>
                <a:r>
                  <a:rPr lang="en-US" dirty="0" smtClean="0"/>
                  <a:t>Here is how we build a coherent and intuitive model for the selection probabilities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sepChr m:val="∣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𝑖𝑗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e>
                          <m:e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</m:sup>
                            </m:sSub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bSup>
                          </m:e>
                        </m:d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sepChr m:val="∣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𝑖𝑗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,…,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bSup>
                          </m:e>
                        </m:d>
                      </m:e>
                    </m:func>
                  </m:oMath>
                </a14:m>
                <a:r>
                  <a:rPr lang="en-US" dirty="0" smtClean="0"/>
                  <a:t>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1961" r="-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cxnSp>
        <p:nvCxnSpPr>
          <p:cNvPr id="7" name="Straight Arrow Connector 6"/>
          <p:cNvCxnSpPr/>
          <p:nvPr/>
        </p:nvCxnSpPr>
        <p:spPr>
          <a:xfrm flipV="1">
            <a:off x="6533803" y="2626822"/>
            <a:ext cx="0" cy="27432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5777344" y="2862248"/>
                <a:ext cx="182048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The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/>
                  <a:t>’</a:t>
                </a:r>
                <a:r>
                  <a:rPr lang="en-US" dirty="0" err="1"/>
                  <a:t>th</a:t>
                </a:r>
                <a:r>
                  <a:rPr lang="en-US" dirty="0"/>
                  <a:t> occasion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7344" y="2862248"/>
                <a:ext cx="1820488" cy="369332"/>
              </a:xfrm>
              <a:prstGeom prst="rect">
                <a:avLst/>
              </a:prstGeom>
              <a:blipFill>
                <a:blip r:embed="rId3"/>
                <a:stretch>
                  <a:fillRect l="-3020" t="-10000" r="-1342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sp>
        <p:nvSpPr>
          <p:cNvPr id="9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20</a:t>
            </a:r>
          </a:p>
        </p:txBody>
      </p:sp>
      <p:sp>
        <p:nvSpPr>
          <p:cNvPr id="10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8 / 24</a:t>
            </a:r>
          </a:p>
        </p:txBody>
      </p:sp>
    </p:spTree>
    <p:extLst>
      <p:ext uri="{BB962C8B-B14F-4D97-AF65-F5344CB8AC3E}">
        <p14:creationId xmlns:p14="http://schemas.microsoft.com/office/powerpoint/2010/main" val="664479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28544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Selection Model for Monotone Missing Data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b="0" dirty="0" smtClean="0"/>
                  <a:t>Suppose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dirty="0" smtClean="0"/>
                  <a:t> are observed, or simply,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dirty="0" smtClean="0"/>
                  <a:t> is observed. So the subject has remained on study at the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−1)</m:t>
                    </m:r>
                  </m:oMath>
                </a14:m>
                <a:r>
                  <a:rPr lang="en-US" dirty="0" smtClean="0"/>
                  <a:t>’</a:t>
                </a:r>
                <a:r>
                  <a:rPr lang="en-US" dirty="0" err="1" smtClean="0"/>
                  <a:t>th</a:t>
                </a:r>
                <a:r>
                  <a:rPr lang="en-US" dirty="0" smtClean="0"/>
                  <a:t> occasion.</a:t>
                </a:r>
              </a:p>
              <a:p>
                <a:r>
                  <a:rPr lang="en-US" dirty="0" smtClean="0"/>
                  <a:t>Consider the probability of subjects remaining on study at the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/>
                  <a:t>’</a:t>
                </a:r>
                <a:r>
                  <a:rPr lang="en-US" dirty="0" err="1"/>
                  <a:t>th</a:t>
                </a:r>
                <a:r>
                  <a:rPr lang="en-US" dirty="0"/>
                  <a:t/>
                </a:r>
                <a:r>
                  <a:rPr lang="en-US" dirty="0" smtClean="0"/>
                  <a:t>occasion, given what we have observed on the subject thus far. </a:t>
                </a:r>
              </a:p>
              <a:p>
                <a:r>
                  <a:rPr lang="en-US" dirty="0" smtClean="0"/>
                  <a:t>This (conditional) probability is 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sepChr m:val="∣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&gt;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≥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,…,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bSup>
                          </m:e>
                        </m:d>
                      </m:e>
                    </m:func>
                  </m:oMath>
                </a14:m>
                <a:r>
                  <a:rPr lang="en-US" dirty="0" smtClean="0"/>
                  <a:t>.</a:t>
                </a:r>
              </a:p>
              <a:p>
                <a:r>
                  <a:rPr lang="en-US" dirty="0" smtClean="0"/>
                  <a:t>To estimate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dirty="0" smtClean="0"/>
                  <a:t>, we can use a logistic regression on the event of “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 smtClean="0"/>
                  <a:t>” based on all subjects under follow-up at the </a:t>
                </a:r>
                <a:r>
                  <a:rPr lang="en-US" dirty="0"/>
                  <a:t>at the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−1)</m:t>
                    </m:r>
                  </m:oMath>
                </a14:m>
                <a:r>
                  <a:rPr lang="en-US" dirty="0"/>
                  <a:t>’</a:t>
                </a:r>
                <a:r>
                  <a:rPr lang="en-US" dirty="0" err="1"/>
                  <a:t>th</a:t>
                </a:r>
                <a:r>
                  <a:rPr lang="en-US" dirty="0"/>
                  <a:t/>
                </a:r>
                <a:r>
                  <a:rPr lang="en-US" dirty="0" smtClean="0"/>
                  <a:t>occasion.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1961" r="-8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20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9 / 24</a:t>
            </a:r>
          </a:p>
        </p:txBody>
      </p:sp>
    </p:spTree>
    <p:extLst>
      <p:ext uri="{BB962C8B-B14F-4D97-AF65-F5344CB8AC3E}">
        <p14:creationId xmlns:p14="http://schemas.microsoft.com/office/powerpoint/2010/main" val="37514715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28544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Selection Model for Monotone Missing Data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b="0" dirty="0" smtClean="0"/>
                  <a:t>That is,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logit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+⋯+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dirty="0" smtClean="0"/>
              </a:p>
              <a:p>
                <a:r>
                  <a:rPr lang="en-US" dirty="0" smtClean="0"/>
                  <a:t>Denote the estimated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dirty="0" smtClean="0"/>
                  <a:t> from the above model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dirty="0" smtClean="0"/>
                  <a:t>.</a:t>
                </a:r>
              </a:p>
              <a:p>
                <a:r>
                  <a:rPr lang="en-US" dirty="0" smtClean="0"/>
                  <a:t>How to compute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sepChr m:val="∣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𝑖𝑗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,…,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bSup>
                          </m:e>
                        </m:d>
                      </m:e>
                    </m:func>
                  </m:oMath>
                </a14:m>
                <a:r>
                  <a:rPr lang="en-US" dirty="0" smtClean="0"/>
                  <a:t> from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dirty="0" smtClean="0"/>
                  <a:t>’s.</a:t>
                </a:r>
              </a:p>
              <a:p>
                <a:r>
                  <a:rPr lang="en-US" dirty="0" smtClean="0"/>
                  <a:t>Since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sepChr m:val="∣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𝑖𝑗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,…,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bSup>
                          </m:e>
                        </m:d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sepChr m:val="∣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&gt;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,…,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bSup>
                          </m:e>
                        </m:d>
                      </m:e>
                    </m:func>
                  </m:oMath>
                </a14:m>
                <a:r>
                  <a:rPr lang="en-US" dirty="0" smtClean="0"/>
                  <a:t>, the latter can be expressed as a product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×⋯×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dirty="0" smtClean="0"/>
                  <a:t>.</a:t>
                </a:r>
              </a:p>
              <a:p>
                <a:r>
                  <a:rPr lang="en-US" dirty="0" smtClean="0"/>
                  <a:t>Therefore, the weight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 smtClean="0"/>
                  <a:t> can be computed by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×⋯×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en-US" dirty="0" smtClean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0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20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10 / 24</a:t>
            </a:r>
          </a:p>
        </p:txBody>
      </p:sp>
    </p:spTree>
    <p:extLst>
      <p:ext uri="{BB962C8B-B14F-4D97-AF65-F5344CB8AC3E}">
        <p14:creationId xmlns:p14="http://schemas.microsoft.com/office/powerpoint/2010/main" val="13483021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28544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Selection Model for Monotone Missing Data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 smtClean="0"/>
                  <a:t>Note that in the model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1">
                          <a:latin typeface="Cambria Math" panose="02040503050406030204" pitchFamily="18" charset="0"/>
                        </a:rPr>
                        <m:t>logit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+⋯+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dirty="0" smtClean="0"/>
              </a:p>
              <a:p>
                <a:pPr marL="457200" lvl="1" indent="0">
                  <a:buNone/>
                </a:pPr>
                <a:r>
                  <a:rPr lang="en-US" dirty="0" smtClean="0"/>
                  <a:t>we can include on the right hand side any variable believed to be predictive of loss to follow-up, e.g., quality of life measures.</a:t>
                </a:r>
              </a:p>
              <a:p>
                <a:r>
                  <a:rPr lang="en-US" dirty="0" smtClean="0"/>
                  <a:t>If it is reasonable to assume that loss to follow-up at the next occasion depends on the previous responses only through the current one, we can simplify the model to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1">
                          <a:latin typeface="Cambria Math" panose="02040503050406030204" pitchFamily="18" charset="0"/>
                        </a:rPr>
                        <m:t>logit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dirty="0" smtClean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r="-17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20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11 / 24</a:t>
            </a:r>
          </a:p>
        </p:txBody>
      </p:sp>
    </p:spTree>
    <p:extLst>
      <p:ext uri="{BB962C8B-B14F-4D97-AF65-F5344CB8AC3E}">
        <p14:creationId xmlns:p14="http://schemas.microsoft.com/office/powerpoint/2010/main" val="33563617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28544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Selection Model for Monotone Missing Data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 smtClean="0"/>
                  <a:t>An even more parsimonious model is to assume that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US" dirty="0" smtClean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dirty="0" smtClean="0"/>
                  <a:t> have the same effects on loss to follow-up across occasions:</a:t>
                </a:r>
              </a:p>
              <a:p>
                <a:pPr marL="0" indent="0" algn="ctr">
                  <a:buNone/>
                </a:pPr>
                <a:r>
                  <a:rPr lang="en-US" dirty="0" smtClean="0"/>
                  <a:t/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>
                        <a:latin typeface="Cambria Math" panose="02040503050406030204" pitchFamily="18" charset="0"/>
                      </a:rPr>
                      <m:t>logit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endParaRPr lang="en-US" dirty="0" smtClean="0"/>
              </a:p>
              <a:p>
                <a:r>
                  <a:rPr lang="en-US" dirty="0" smtClean="0"/>
                  <a:t>This model can be fit at once by modeling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dirty="0" smtClean="0"/>
                  <a:t> against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b="0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 smtClean="0"/>
                  <a:t/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dirty="0" smtClean="0"/>
                  <a:t>, and an indicator variable for the occasion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 smtClean="0"/>
                  <a:t> (based on subjects for which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dirty="0" smtClean="0"/>
                  <a:t> is observed).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20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12 / 24</a:t>
            </a:r>
          </a:p>
        </p:txBody>
      </p:sp>
    </p:spTree>
    <p:extLst>
      <p:ext uri="{BB962C8B-B14F-4D97-AF65-F5344CB8AC3E}">
        <p14:creationId xmlns:p14="http://schemas.microsoft.com/office/powerpoint/2010/main" val="37185922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28544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Selection Model for Monotone Missing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In SAS, here are the typical steps in fitting IPW-GEE with monotone missing data: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 smtClean="0"/>
              <a:t>Use a binary regression procedure (e.g., GENMOD) to fit the selection model and output the estimated selection probability to a dataset;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 smtClean="0"/>
              <a:t>Merge the output dataset with the original dataset by subject ID and occasion.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 smtClean="0"/>
              <a:t>Run PROC GENMOD for the GEE analysis with an additional WEIGHT statement to specify the weight.</a:t>
            </a:r>
          </a:p>
          <a:p>
            <a:pPr marL="914400" lvl="1" indent="-457200">
              <a:buFont typeface="+mj-lt"/>
              <a:buAutoNum type="arabicPeriod"/>
            </a:pPr>
            <a:endParaRPr lang="en-US" dirty="0" smtClean="0"/>
          </a:p>
        </p:txBody>
      </p:sp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20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13 / 24</a:t>
            </a:r>
          </a:p>
        </p:txBody>
      </p:sp>
    </p:spTree>
    <p:extLst>
      <p:ext uri="{BB962C8B-B14F-4D97-AF65-F5344CB8AC3E}">
        <p14:creationId xmlns:p14="http://schemas.microsoft.com/office/powerpoint/2010/main" val="34016306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28544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Example: A Clinical Trial of Contracepting Women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total of </a:t>
            </a:r>
            <a:r>
              <a:rPr lang="en-US" dirty="0" smtClean="0"/>
              <a:t>1151 women received </a:t>
            </a:r>
            <a:r>
              <a:rPr lang="en-US" dirty="0"/>
              <a:t>an injection of either 100 mg or 150 </a:t>
            </a:r>
            <a:r>
              <a:rPr lang="en-US" dirty="0" smtClean="0"/>
              <a:t>mg of depot-medroxyprogesterone </a:t>
            </a:r>
            <a:r>
              <a:rPr lang="en-US" dirty="0"/>
              <a:t>acetate (DMPA) </a:t>
            </a:r>
            <a:r>
              <a:rPr lang="en-US" dirty="0" smtClean="0"/>
              <a:t>as contraceptives on </a:t>
            </a:r>
            <a:r>
              <a:rPr lang="en-US" dirty="0"/>
              <a:t>the day of </a:t>
            </a:r>
            <a:r>
              <a:rPr lang="en-US" dirty="0" smtClean="0"/>
              <a:t>randomization and </a:t>
            </a:r>
            <a:r>
              <a:rPr lang="en-US" dirty="0"/>
              <a:t>three additional injections at 90-day </a:t>
            </a:r>
            <a:r>
              <a:rPr lang="en-US" dirty="0" smtClean="0"/>
              <a:t>intervals.</a:t>
            </a:r>
          </a:p>
          <a:p>
            <a:r>
              <a:rPr lang="en-US" dirty="0" smtClean="0"/>
              <a:t>In clinical </a:t>
            </a:r>
            <a:r>
              <a:rPr lang="en-US" dirty="0"/>
              <a:t>trials of modern hormonal contraceptives, pregnancy </a:t>
            </a:r>
            <a:r>
              <a:rPr lang="en-US" dirty="0" smtClean="0"/>
              <a:t>is exceedingly rare.</a:t>
            </a:r>
          </a:p>
          <a:p>
            <a:r>
              <a:rPr lang="en-US" dirty="0" smtClean="0"/>
              <a:t>Instead, amenorrhea, </a:t>
            </a:r>
            <a:r>
              <a:rPr lang="en-US" dirty="0"/>
              <a:t>the absence of menstrual </a:t>
            </a:r>
            <a:r>
              <a:rPr lang="en-US" dirty="0" smtClean="0"/>
              <a:t>bleeding, is used as the outcome.</a:t>
            </a:r>
          </a:p>
          <a:p>
            <a:r>
              <a:rPr lang="en-US" u="sng" dirty="0" smtClean="0"/>
              <a:t>Binary response</a:t>
            </a:r>
            <a:r>
              <a:rPr lang="en-US" dirty="0" smtClean="0"/>
              <a:t>: amenorrhea </a:t>
            </a:r>
            <a:r>
              <a:rPr lang="en-US" dirty="0"/>
              <a:t>in </a:t>
            </a:r>
            <a:r>
              <a:rPr lang="en-US" dirty="0" smtClean="0"/>
              <a:t>the four </a:t>
            </a:r>
            <a:r>
              <a:rPr lang="en-US" dirty="0"/>
              <a:t>successive three month intervals.</a:t>
            </a:r>
            <a:endParaRPr lang="en-US" dirty="0" smtClean="0"/>
          </a:p>
        </p:txBody>
      </p:sp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20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14 / 24</a:t>
            </a:r>
          </a:p>
        </p:txBody>
      </p:sp>
    </p:spTree>
    <p:extLst>
      <p:ext uri="{BB962C8B-B14F-4D97-AF65-F5344CB8AC3E}">
        <p14:creationId xmlns:p14="http://schemas.microsoft.com/office/powerpoint/2010/main" val="8209356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28544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Example: A Clinical Trial of Contracepting Women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More </a:t>
            </a:r>
            <a:r>
              <a:rPr lang="en-US" dirty="0"/>
              <a:t>than one third of the women dropped out before the completion of the trial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sz="2200" dirty="0" smtClean="0"/>
              <a:t>Dose: 0=Low,1=High; time: quarter=0,1,2,3; y: Amenorrhea status; </a:t>
            </a:r>
            <a:r>
              <a:rPr lang="en-US" sz="2200" dirty="0" err="1" smtClean="0"/>
              <a:t>prevy</a:t>
            </a:r>
            <a:r>
              <a:rPr lang="en-US" sz="2200" dirty="0" smtClean="0"/>
              <a:t>= y at previous occasion; r: non-missing indicator.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4912" y="2621539"/>
            <a:ext cx="6072232" cy="2415973"/>
          </a:xfrm>
          <a:prstGeom prst="rect">
            <a:avLst/>
          </a:prstGeom>
        </p:spPr>
      </p:pic>
      <p:sp>
        <p:nvSpPr>
          <p:cNvPr id="6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20</a:t>
            </a:r>
          </a:p>
        </p:txBody>
      </p:sp>
      <p:sp>
        <p:nvSpPr>
          <p:cNvPr id="7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15 / 24</a:t>
            </a:r>
          </a:p>
        </p:txBody>
      </p:sp>
    </p:spTree>
    <p:extLst>
      <p:ext uri="{BB962C8B-B14F-4D97-AF65-F5344CB8AC3E}">
        <p14:creationId xmlns:p14="http://schemas.microsoft.com/office/powerpoint/2010/main" val="25541365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28544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Example: A Clinical Trial of Contracepting Women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2607" y="1593670"/>
            <a:ext cx="6017939" cy="4513454"/>
          </a:xfrm>
          <a:prstGeom prst="rect">
            <a:avLst/>
          </a:prstGeom>
        </p:spPr>
      </p:pic>
      <p:sp>
        <p:nvSpPr>
          <p:cNvPr id="7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20</a:t>
            </a:r>
          </a:p>
        </p:txBody>
      </p:sp>
      <p:sp>
        <p:nvSpPr>
          <p:cNvPr id="8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16 / 24</a:t>
            </a:r>
          </a:p>
        </p:txBody>
      </p:sp>
    </p:spTree>
    <p:extLst>
      <p:ext uri="{BB962C8B-B14F-4D97-AF65-F5344CB8AC3E}">
        <p14:creationId xmlns:p14="http://schemas.microsoft.com/office/powerpoint/2010/main" val="927996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28544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Example: A Clinical Trial of Contracepting Women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9231" y="1493918"/>
            <a:ext cx="6433575" cy="4825181"/>
          </a:xfrm>
          <a:prstGeom prst="rect">
            <a:avLst/>
          </a:prstGeom>
        </p:spPr>
      </p:pic>
      <p:sp>
        <p:nvSpPr>
          <p:cNvPr id="8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20</a:t>
            </a:r>
          </a:p>
        </p:txBody>
      </p:sp>
      <p:sp>
        <p:nvSpPr>
          <p:cNvPr id="9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17 / 24</a:t>
            </a:r>
          </a:p>
        </p:txBody>
      </p:sp>
    </p:spTree>
    <p:extLst>
      <p:ext uri="{BB962C8B-B14F-4D97-AF65-F5344CB8AC3E}">
        <p14:creationId xmlns:p14="http://schemas.microsoft.com/office/powerpoint/2010/main" val="3856156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28544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Example: A Clinical Trial of Contracepting Women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First step (1.1): Compute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dirty="0"/>
                  <a:t>’s.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4398" y="2373959"/>
            <a:ext cx="7415733" cy="3946460"/>
          </a:xfrm>
          <a:prstGeom prst="rect">
            <a:avLst/>
          </a:prstGeom>
        </p:spPr>
      </p:pic>
      <p:sp>
        <p:nvSpPr>
          <p:cNvPr id="5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20</a:t>
            </a:r>
          </a:p>
        </p:txBody>
      </p:sp>
      <p:sp>
        <p:nvSpPr>
          <p:cNvPr id="6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18 / 24</a:t>
            </a:r>
          </a:p>
        </p:txBody>
      </p:sp>
    </p:spTree>
    <p:extLst>
      <p:ext uri="{BB962C8B-B14F-4D97-AF65-F5344CB8AC3E}">
        <p14:creationId xmlns:p14="http://schemas.microsoft.com/office/powerpoint/2010/main" val="4154116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28544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Example: A Clinical Trial of Contracepting Women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 smtClean="0"/>
                  <a:t>First step (1.2): Compute the selection probabilities as cumulative product of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dirty="0" smtClean="0"/>
                  <a:t>’s.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4711" y="2839835"/>
            <a:ext cx="4128542" cy="333712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3155718"/>
            <a:ext cx="6022006" cy="1948296"/>
          </a:xfrm>
          <a:prstGeom prst="rect">
            <a:avLst/>
          </a:prstGeom>
        </p:spPr>
      </p:pic>
      <p:sp>
        <p:nvSpPr>
          <p:cNvPr id="7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20</a:t>
            </a:r>
          </a:p>
        </p:txBody>
      </p:sp>
      <p:sp>
        <p:nvSpPr>
          <p:cNvPr id="8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19 / 24</a:t>
            </a:r>
          </a:p>
        </p:txBody>
      </p:sp>
    </p:spTree>
    <p:extLst>
      <p:ext uri="{BB962C8B-B14F-4D97-AF65-F5344CB8AC3E}">
        <p14:creationId xmlns:p14="http://schemas.microsoft.com/office/powerpoint/2010/main" val="4106473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28544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Example: A Clinical Trial of Contracepting Women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Second step (2): Merge the original dataset and the weight dataset by subject id and measurement occasion.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4615" y="2695154"/>
            <a:ext cx="8942770" cy="2350671"/>
          </a:xfrm>
          <a:prstGeom prst="rect">
            <a:avLst/>
          </a:prstGeom>
        </p:spPr>
      </p:pic>
      <p:sp>
        <p:nvSpPr>
          <p:cNvPr id="5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20</a:t>
            </a:r>
          </a:p>
        </p:txBody>
      </p:sp>
      <p:sp>
        <p:nvSpPr>
          <p:cNvPr id="6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20 / 24</a:t>
            </a:r>
          </a:p>
        </p:txBody>
      </p:sp>
    </p:spTree>
    <p:extLst>
      <p:ext uri="{BB962C8B-B14F-4D97-AF65-F5344CB8AC3E}">
        <p14:creationId xmlns:p14="http://schemas.microsoft.com/office/powerpoint/2010/main" val="15501307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28544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Example: A Clinical Trial of Contracepting Women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Third step (3): Weighted analysis by including the WEIGHT statement in PROC GENMOD.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/>
          <a:srcRect l="406"/>
          <a:stretch/>
        </p:blipFill>
        <p:spPr>
          <a:xfrm>
            <a:off x="1030085" y="2781994"/>
            <a:ext cx="10577963" cy="2662842"/>
          </a:xfrm>
          <a:prstGeom prst="rect">
            <a:avLst/>
          </a:prstGeom>
        </p:spPr>
      </p:pic>
      <p:sp>
        <p:nvSpPr>
          <p:cNvPr id="9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20</a:t>
            </a:r>
          </a:p>
        </p:txBody>
      </p:sp>
      <p:sp>
        <p:nvSpPr>
          <p:cNvPr id="10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21 / 24</a:t>
            </a:r>
          </a:p>
        </p:txBody>
      </p:sp>
    </p:spTree>
    <p:extLst>
      <p:ext uri="{BB962C8B-B14F-4D97-AF65-F5344CB8AC3E}">
        <p14:creationId xmlns:p14="http://schemas.microsoft.com/office/powerpoint/2010/main" val="1916845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28544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Example: A Clinical Trial of Contracepting Women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3110345" cy="520382"/>
          </a:xfrm>
        </p:spPr>
        <p:txBody>
          <a:bodyPr>
            <a:normAutofit/>
          </a:bodyPr>
          <a:lstStyle/>
          <a:p>
            <a:r>
              <a:rPr lang="en-US" dirty="0" smtClean="0"/>
              <a:t>IPW-GEE		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581" y="2753331"/>
            <a:ext cx="5370650" cy="2225993"/>
          </a:xfrm>
          <a:prstGeom prst="rect">
            <a:avLst/>
          </a:prstGeom>
        </p:spPr>
      </p:pic>
      <p:sp>
        <p:nvSpPr>
          <p:cNvPr id="6" name="Content Placeholder 2"/>
          <p:cNvSpPr txBox="1">
            <a:spLocks/>
          </p:cNvSpPr>
          <p:nvPr/>
        </p:nvSpPr>
        <p:spPr>
          <a:xfrm>
            <a:off x="6892636" y="1825625"/>
            <a:ext cx="3110345" cy="5203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Unweighted-GEE	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0230" y="2753330"/>
            <a:ext cx="5343763" cy="215625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571105" y="4405745"/>
            <a:ext cx="540328" cy="224444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6941755" y="4360025"/>
            <a:ext cx="540328" cy="224444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692410" y="5220393"/>
            <a:ext cx="106613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If subjects with a higher risk of amenorrhea are more likely to drop-out, the available-data analysis (unweighted GEE) will underestimate the increase in risk over time.</a:t>
            </a:r>
            <a:endParaRPr lang="en-US" dirty="0"/>
          </a:p>
        </p:txBody>
      </p:sp>
      <p:sp>
        <p:nvSpPr>
          <p:cNvPr id="11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20</a:t>
            </a:r>
          </a:p>
        </p:txBody>
      </p:sp>
      <p:sp>
        <p:nvSpPr>
          <p:cNvPr id="12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22 / 24</a:t>
            </a:r>
          </a:p>
        </p:txBody>
      </p:sp>
    </p:spTree>
    <p:extLst>
      <p:ext uri="{BB962C8B-B14F-4D97-AF65-F5344CB8AC3E}">
        <p14:creationId xmlns:p14="http://schemas.microsoft.com/office/powerpoint/2010/main" val="3528568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28544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Summary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 smtClean="0"/>
                  <a:t>Three steps in IPW-GEE for monotone missing data: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 smtClean="0"/>
                  <a:t>Estimate selection probabilities</a:t>
                </a:r>
              </a:p>
              <a:p>
                <a:pPr marL="1428750" lvl="2" indent="-514350">
                  <a:buFont typeface="+mj-lt"/>
                  <a:buAutoNum type="romanLcPeriod"/>
                </a:pPr>
                <a:r>
                  <a:rPr lang="en-US" dirty="0" smtClean="0"/>
                  <a:t>Estimate the conditional probabilities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endParaRPr lang="en-US" dirty="0" smtClean="0"/>
              </a:p>
              <a:p>
                <a:pPr marL="1428750" lvl="2" indent="-514350">
                  <a:buFont typeface="+mj-lt"/>
                  <a:buAutoNum type="romanLcPeriod"/>
                </a:pPr>
                <a:r>
                  <a:rPr lang="en-US" dirty="0" smtClean="0"/>
                  <a:t>Compute the selection probabilities by taking cumulative product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endParaRPr lang="en-US" dirty="0" smtClean="0"/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 smtClean="0"/>
                  <a:t>Incorporate the estimated weights (inverse of selection probabilities) into the analysis datasets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 smtClean="0"/>
                  <a:t>Run </a:t>
                </a:r>
                <a:r>
                  <a:rPr lang="en-US" dirty="0"/>
                  <a:t>PROC GENMOD for the GEE analysis with an additional WEIGHT statement to specify the weight.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20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23 / 24</a:t>
            </a:r>
          </a:p>
        </p:txBody>
      </p:sp>
    </p:spTree>
    <p:extLst>
      <p:ext uri="{BB962C8B-B14F-4D97-AF65-F5344CB8AC3E}">
        <p14:creationId xmlns:p14="http://schemas.microsoft.com/office/powerpoint/2010/main" val="2678215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28544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Summary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95291818"/>
              </p:ext>
            </p:extLst>
          </p:nvPr>
        </p:nvGraphicFramePr>
        <p:xfrm>
          <a:off x="1667494" y="1517262"/>
          <a:ext cx="7886700" cy="467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419630356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09587616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6668230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Missing Data Mechanism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Method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SAS</a:t>
                      </a:r>
                      <a:r>
                        <a:rPr lang="en-US" baseline="0" dirty="0" smtClean="0"/>
                        <a:t> Implementation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08907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MCAR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Complete-case/Available</a:t>
                      </a:r>
                      <a:r>
                        <a:rPr lang="en-US" baseline="0" dirty="0" smtClean="0"/>
                        <a:t>-data analysis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GEE by</a:t>
                      </a:r>
                      <a:r>
                        <a:rPr lang="en-US" baseline="0" dirty="0" smtClean="0"/>
                        <a:t> PROC GEMOD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21976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MAR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MLE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Default in PROC MIXED/GLIMMIX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83335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MI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PROC MI combined with standard procedure (e.g., GENMOD)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07962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IPW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Standard</a:t>
                      </a:r>
                      <a:r>
                        <a:rPr lang="en-US" baseline="0" dirty="0" smtClean="0"/>
                        <a:t> procedure </a:t>
                      </a:r>
                      <a:r>
                        <a:rPr lang="en-US" dirty="0" smtClean="0"/>
                        <a:t>(e.g., GENMOD)</a:t>
                      </a:r>
                      <a:r>
                        <a:rPr lang="en-US" baseline="0" dirty="0" smtClean="0"/>
                        <a:t> with WEIGHT statement to incorporate selection probabilities computed by binary regressions.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01398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NMAR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2316320"/>
                  </a:ext>
                </a:extLst>
              </a:tr>
            </a:tbl>
          </a:graphicData>
        </a:graphic>
      </p:graphicFrame>
      <p:sp>
        <p:nvSpPr>
          <p:cNvPr id="7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20</a:t>
            </a:r>
          </a:p>
        </p:txBody>
      </p:sp>
      <p:sp>
        <p:nvSpPr>
          <p:cNvPr id="8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24 / 24</a:t>
            </a:r>
          </a:p>
        </p:txBody>
      </p:sp>
    </p:spTree>
    <p:extLst>
      <p:ext uri="{BB962C8B-B14F-4D97-AF65-F5344CB8AC3E}">
        <p14:creationId xmlns:p14="http://schemas.microsoft.com/office/powerpoint/2010/main" val="4449799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172D38"/>
      </a:dk1>
      <a:lt1>
        <a:srgbClr val="FFFFFF"/>
      </a:lt1>
      <a:dk2>
        <a:srgbClr val="102A35"/>
      </a:dk2>
      <a:lt2>
        <a:srgbClr val="F2F7F6"/>
      </a:lt2>
      <a:accent1>
        <a:srgbClr val="0D5F62"/>
      </a:accent1>
      <a:accent2>
        <a:srgbClr val="BD781B"/>
      </a:accent2>
      <a:accent3>
        <a:srgbClr val="426B8A"/>
      </a:accent3>
      <a:accent4>
        <a:srgbClr val="795E8B"/>
      </a:accent4>
      <a:accent5>
        <a:srgbClr val="538070"/>
      </a:accent5>
      <a:accent6>
        <a:srgbClr val="8A4E4E"/>
      </a:accent6>
      <a:hlink>
        <a:srgbClr val="0D5F62"/>
      </a:hlink>
      <a:folHlink>
        <a:srgbClr val="795E8B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172D38"/>
      </a:dk1>
      <a:lt1>
        <a:srgbClr val="FFFFFF"/>
      </a:lt1>
      <a:dk2>
        <a:srgbClr val="102A35"/>
      </a:dk2>
      <a:lt2>
        <a:srgbClr val="F2F7F6"/>
      </a:lt2>
      <a:accent1>
        <a:srgbClr val="0D5F62"/>
      </a:accent1>
      <a:accent2>
        <a:srgbClr val="BD781B"/>
      </a:accent2>
      <a:accent3>
        <a:srgbClr val="426B8A"/>
      </a:accent3>
      <a:accent4>
        <a:srgbClr val="795E8B"/>
      </a:accent4>
      <a:accent5>
        <a:srgbClr val="538070"/>
      </a:accent5>
      <a:accent6>
        <a:srgbClr val="8A4E4E"/>
      </a:accent6>
      <a:hlink>
        <a:srgbClr val="0D5F62"/>
      </a:hlink>
      <a:folHlink>
        <a:srgbClr val="795E8B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54767</TotalTime>
  <Words>741</Words>
  <Application>Microsoft Office PowerPoint</Application>
  <PresentationFormat>Widescreen</PresentationFormat>
  <Paragraphs>129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Calibri</vt:lpstr>
      <vt:lpstr>Calibri Light</vt:lpstr>
      <vt:lpstr>Cambria Math</vt:lpstr>
      <vt:lpstr>Office Theme</vt:lpstr>
      <vt:lpstr>Advanced Regression Methods for Population Health</vt:lpstr>
      <vt:lpstr>Outline</vt:lpstr>
      <vt:lpstr>Inverse Probability Weighting for Missing Data</vt:lpstr>
      <vt:lpstr>Inverse Probability Weighting for Missing Data</vt:lpstr>
      <vt:lpstr>Inverse Probability Weighting for Missing Data</vt:lpstr>
      <vt:lpstr>Inverse Probability Weighting for Missing Data</vt:lpstr>
      <vt:lpstr>Selection Model for Monotone Missing Data</vt:lpstr>
      <vt:lpstr>Selection Model for Monotone Missing Data</vt:lpstr>
      <vt:lpstr>Selection Model for Monotone Missing Data</vt:lpstr>
      <vt:lpstr>Selection Model for Monotone Missing Data</vt:lpstr>
      <vt:lpstr>Selection Model for Monotone Missing Data</vt:lpstr>
      <vt:lpstr>Selection Model for Monotone Missing Data</vt:lpstr>
      <vt:lpstr>Selection Model for Monotone Missing Data</vt:lpstr>
      <vt:lpstr>Example: A Clinical Trial of Contracepting Women</vt:lpstr>
      <vt:lpstr>Example: A Clinical Trial of Contracepting Women</vt:lpstr>
      <vt:lpstr>Example: A Clinical Trial of Contracepting Women</vt:lpstr>
      <vt:lpstr>Example: A Clinical Trial of Contracepting Women</vt:lpstr>
      <vt:lpstr>Example: A Clinical Trial of Contracepting Women</vt:lpstr>
      <vt:lpstr>Example: A Clinical Trial of Contracepting Women</vt:lpstr>
      <vt:lpstr>Example: A Clinical Trial of Contracepting Women</vt:lpstr>
      <vt:lpstr>Example: A Clinical Trial of Contracepting Women</vt:lpstr>
      <vt:lpstr>Example: A Clinical Trial of Contracepting Women</vt:lpstr>
      <vt:lpstr>Summary</vt:lpstr>
      <vt:lpstr>Summary</vt:lpstr>
    </vt:vector>
  </TitlesOfParts>
  <Company>University of Wisconsin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Regression Methods for Population Health</dc:title>
  <dc:creator>Lu Mao</dc:creator>
  <cp:lastModifiedBy>Lu Mao</cp:lastModifiedBy>
  <cp:revision>1595</cp:revision>
  <dcterms:created xsi:type="dcterms:W3CDTF">2019-01-16T21:45:55Z</dcterms:created>
  <dcterms:modified xsi:type="dcterms:W3CDTF">2019-04-23T06:41:03Z</dcterms:modified>
</cp:coreProperties>
</file>