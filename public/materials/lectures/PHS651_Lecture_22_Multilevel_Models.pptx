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68BB4-D429-4D9F-9A88-1E15C9ECB8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3"/>
            <p14:sldId id="270"/>
            <p14:sldId id="271"/>
            <p14:sldId id="272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0CBCC-2694-4078-9B6F-232384B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43185-C2EF-471F-A190-14B1BD26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Multilevel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337F2-E55E-4618-95C6-0A46F988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F20F4-2722-411A-A12A-78355075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FAD70-EE62-44A1-8B6E-5B4F396B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6BDDF-5A31-4C5E-A92D-283A349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2966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Different types of hierarchical/multilevel data</a:t>
            </a:r>
            <a:endParaRPr lang="en-US" sz="2800" dirty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Mixed effects models for multilevel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SAS implementation of multilevel modeling by PROC MIXED/GLIMMIX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An example with a behavioral intervention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23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Multilevel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So far we have been focusing on </a:t>
            </a:r>
            <a:r>
              <a:rPr lang="en-US" dirty="0"/>
              <a:t>the analysis of longitudinal </a:t>
            </a:r>
            <a:r>
              <a:rPr lang="en-US" dirty="0" smtClean="0"/>
              <a:t>data.</a:t>
            </a:r>
          </a:p>
          <a:p>
            <a:r>
              <a:rPr lang="en-US" dirty="0" smtClean="0"/>
              <a:t>Mixed </a:t>
            </a:r>
            <a:r>
              <a:rPr lang="en-US" dirty="0"/>
              <a:t>models can also be used to analyze </a:t>
            </a:r>
            <a:r>
              <a:rPr lang="en-US" u="sng" dirty="0"/>
              <a:t>multilevel </a:t>
            </a:r>
            <a:r>
              <a:rPr lang="en-US" u="sng" dirty="0" smtClean="0"/>
              <a:t>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Hierarchical </a:t>
            </a:r>
            <a:r>
              <a:rPr lang="en-US" dirty="0"/>
              <a:t>or multilevel data arise when there is a </a:t>
            </a:r>
            <a:r>
              <a:rPr lang="en-US" i="1" dirty="0"/>
              <a:t>clustered/grouped</a:t>
            </a:r>
            <a:br>
              <a:rPr lang="en-US" i="1" dirty="0"/>
            </a:br>
            <a:r>
              <a:rPr lang="en-US" dirty="0"/>
              <a:t>structure to the </a:t>
            </a:r>
            <a:r>
              <a:rPr lang="en-US" dirty="0" smtClean="0"/>
              <a:t>data.</a:t>
            </a:r>
          </a:p>
          <a:p>
            <a:r>
              <a:rPr lang="en-US" dirty="0" smtClean="0"/>
              <a:t>Data </a:t>
            </a:r>
            <a:r>
              <a:rPr lang="en-US" dirty="0"/>
              <a:t>of this kind frequently arise in the social, behavioral, and health</a:t>
            </a:r>
            <a:br>
              <a:rPr lang="en-US" dirty="0"/>
            </a:br>
            <a:r>
              <a:rPr lang="en-US" dirty="0"/>
              <a:t>sciences since individuals can be grouped in so many different </a:t>
            </a:r>
            <a:r>
              <a:rPr lang="en-US" dirty="0" smtClean="0"/>
              <a:t>ways.</a:t>
            </a:r>
          </a:p>
          <a:p>
            <a:r>
              <a:rPr lang="en-US" dirty="0" smtClean="0"/>
              <a:t>For </a:t>
            </a:r>
            <a:r>
              <a:rPr lang="en-US" dirty="0"/>
              <a:t>example, in studies of health services and outcomes, assessments of</a:t>
            </a:r>
            <a:br>
              <a:rPr lang="en-US" dirty="0"/>
            </a:br>
            <a:r>
              <a:rPr lang="en-US" dirty="0"/>
              <a:t>quality of care are often obtained from patients who are </a:t>
            </a:r>
            <a:r>
              <a:rPr lang="en-US" i="1" u="sng" dirty="0"/>
              <a:t>nested </a:t>
            </a:r>
            <a:r>
              <a:rPr lang="en-US" u="sng" dirty="0"/>
              <a:t>within</a:t>
            </a:r>
            <a:br>
              <a:rPr lang="en-US" u="sng" dirty="0"/>
            </a:br>
            <a:r>
              <a:rPr lang="en-US" u="sng" dirty="0"/>
              <a:t>different clinics</a:t>
            </a:r>
            <a:r>
              <a:rPr lang="en-US" dirty="0"/>
              <a:t>.</a:t>
            </a:r>
            <a:r>
              <a:rPr lang="en-US" sz="3200" dirty="0"/>
              <a:t/>
            </a:r>
            <a:endParaRPr lang="en-US" sz="30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23</a:t>
            </a:r>
          </a:p>
        </p:txBody>
      </p:sp>
    </p:spTree>
    <p:extLst>
      <p:ext uri="{BB962C8B-B14F-4D97-AF65-F5344CB8AC3E}">
        <p14:creationId xmlns:p14="http://schemas.microsoft.com/office/powerpoint/2010/main" val="23475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Multilevel Models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fontScale="92500"/>
          </a:bodyPr>
          <a:lstStyle/>
          <a:p>
            <a:r>
              <a:rPr lang="en-US" dirty="0"/>
              <a:t>Such data can be regarded as </a:t>
            </a:r>
            <a:r>
              <a:rPr lang="en-US" u="sng" dirty="0"/>
              <a:t>hierarchical/multileve</a:t>
            </a:r>
            <a:r>
              <a:rPr lang="en-US" dirty="0"/>
              <a:t>l, with patients referred</a:t>
            </a:r>
            <a:br>
              <a:rPr lang="en-US" dirty="0"/>
            </a:br>
            <a:r>
              <a:rPr lang="en-US" dirty="0"/>
              <a:t>to as the level 1 units and clinics the level 2 </a:t>
            </a:r>
            <a:r>
              <a:rPr lang="en-US" dirty="0" smtClean="0"/>
              <a:t>units.</a:t>
            </a:r>
          </a:p>
          <a:p>
            <a:r>
              <a:rPr lang="en-US" dirty="0" smtClean="0"/>
              <a:t>In </a:t>
            </a:r>
            <a:r>
              <a:rPr lang="en-US" dirty="0"/>
              <a:t>this example there are two levels in the data hierarchy and, by </a:t>
            </a:r>
            <a:r>
              <a:rPr lang="en-US" dirty="0" smtClean="0"/>
              <a:t>convention, the </a:t>
            </a:r>
            <a:r>
              <a:rPr lang="en-US" dirty="0"/>
              <a:t>lowest level of the hierarchy is referred to as level </a:t>
            </a:r>
            <a:r>
              <a:rPr lang="en-US" dirty="0" smtClean="0"/>
              <a:t>1.</a:t>
            </a:r>
          </a:p>
          <a:p>
            <a:r>
              <a:rPr lang="en-US" dirty="0" smtClean="0"/>
              <a:t>The </a:t>
            </a:r>
            <a:r>
              <a:rPr lang="en-US" dirty="0"/>
              <a:t>term </a:t>
            </a:r>
            <a:r>
              <a:rPr lang="en-US" dirty="0" smtClean="0"/>
              <a:t>“level</a:t>
            </a:r>
            <a:r>
              <a:rPr lang="en-US" dirty="0"/>
              <a:t>", as used in this context, signifies the position of a unit of</a:t>
            </a:r>
            <a:br>
              <a:rPr lang="en-US" dirty="0"/>
            </a:br>
            <a:r>
              <a:rPr lang="en-US" dirty="0"/>
              <a:t>observation within a </a:t>
            </a:r>
            <a:r>
              <a:rPr lang="en-US" dirty="0" smtClean="0"/>
              <a:t>hierarchy.</a:t>
            </a:r>
          </a:p>
          <a:p>
            <a:r>
              <a:rPr lang="en-US" dirty="0" smtClean="0"/>
              <a:t>Clustering </a:t>
            </a:r>
            <a:r>
              <a:rPr lang="en-US" dirty="0"/>
              <a:t>in multilevel data can be due to a </a:t>
            </a:r>
            <a:r>
              <a:rPr lang="en-US" u="sng" dirty="0"/>
              <a:t>naturally occurring hierarchy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 the target population or a consequence of </a:t>
            </a:r>
            <a:r>
              <a:rPr lang="en-US" u="sng" dirty="0"/>
              <a:t>study design</a:t>
            </a:r>
            <a:r>
              <a:rPr lang="en-US" dirty="0"/>
              <a:t> (or sometimes</a:t>
            </a:r>
            <a:br>
              <a:rPr lang="en-US" dirty="0"/>
            </a:br>
            <a:r>
              <a:rPr lang="en-US" dirty="0"/>
              <a:t>both).</a:t>
            </a:r>
            <a:r>
              <a:rPr lang="en-US" sz="3200" dirty="0"/>
              <a:t/>
            </a:r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23</a:t>
            </a:r>
          </a:p>
        </p:txBody>
      </p:sp>
    </p:spTree>
    <p:extLst>
      <p:ext uri="{BB962C8B-B14F-4D97-AF65-F5344CB8AC3E}">
        <p14:creationId xmlns:p14="http://schemas.microsoft.com/office/powerpoint/2010/main" val="225086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Naturally Occurring Data Hierarchies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fontScale="92500"/>
          </a:bodyPr>
          <a:lstStyle/>
          <a:p>
            <a:r>
              <a:rPr lang="en-US" dirty="0"/>
              <a:t>Studies of nuclear families: observations on the mother, father, and </a:t>
            </a:r>
            <a:r>
              <a:rPr lang="en-US" dirty="0" smtClean="0"/>
              <a:t>children (level </a:t>
            </a:r>
            <a:r>
              <a:rPr lang="en-US" dirty="0"/>
              <a:t>1 units) nested within families (level 2 units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Studies </a:t>
            </a:r>
            <a:r>
              <a:rPr lang="en-US" dirty="0"/>
              <a:t>of health services/outcomes: observations on patients (level 1 </a:t>
            </a:r>
            <a:r>
              <a:rPr lang="en-US" dirty="0" smtClean="0"/>
              <a:t>units) nested </a:t>
            </a:r>
            <a:r>
              <a:rPr lang="en-US" dirty="0"/>
              <a:t>within clinics (level 2 units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Studies </a:t>
            </a:r>
            <a:r>
              <a:rPr lang="en-US" dirty="0"/>
              <a:t>of education: observations on children (level 1 units) nested within</a:t>
            </a:r>
            <a:br>
              <a:rPr lang="en-US" dirty="0"/>
            </a:br>
            <a:r>
              <a:rPr lang="en-US" dirty="0"/>
              <a:t>classrooms (level 2 units</a:t>
            </a:r>
            <a:r>
              <a:rPr lang="en-US" dirty="0" smtClean="0"/>
              <a:t>).</a:t>
            </a:r>
          </a:p>
          <a:p>
            <a:r>
              <a:rPr lang="en-US" u="sng" dirty="0" smtClean="0"/>
              <a:t>Note</a:t>
            </a:r>
            <a:r>
              <a:rPr lang="en-US" b="1" dirty="0"/>
              <a:t>: </a:t>
            </a:r>
            <a:r>
              <a:rPr lang="en-US" dirty="0"/>
              <a:t>Naturally occurring hierarchical data structures can have more than</a:t>
            </a:r>
            <a:br>
              <a:rPr lang="en-US" dirty="0"/>
            </a:br>
            <a:r>
              <a:rPr lang="en-US" dirty="0"/>
              <a:t>two levels, e.g., children (level 1 units) nested within classrooms (level 2</a:t>
            </a:r>
            <a:br>
              <a:rPr lang="en-US" dirty="0"/>
            </a:br>
            <a:r>
              <a:rPr lang="en-US" dirty="0"/>
              <a:t>units), nested within schools (level 3 units)</a:t>
            </a:r>
            <a:r>
              <a:rPr lang="en-US" dirty="0"/>
              <a:t/>
            </a:r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23</a:t>
            </a:r>
          </a:p>
        </p:txBody>
      </p:sp>
    </p:spTree>
    <p:extLst>
      <p:ext uri="{BB962C8B-B14F-4D97-AF65-F5344CB8AC3E}">
        <p14:creationId xmlns:p14="http://schemas.microsoft.com/office/powerpoint/2010/main" val="193235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Clustering as Consequence of Study Design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/>
              <a:t>Longitudinal Studies</a:t>
            </a:r>
            <a:r>
              <a:rPr lang="en-US" dirty="0"/>
              <a:t>: the clusters are composed of the repeated</a:t>
            </a:r>
            <a:br>
              <a:rPr lang="en-US" dirty="0"/>
            </a:br>
            <a:r>
              <a:rPr lang="en-US" dirty="0"/>
              <a:t>measurements obtained from a single individual at different </a:t>
            </a:r>
            <a:r>
              <a:rPr lang="en-US" dirty="0" smtClean="0"/>
              <a:t>occasions.</a:t>
            </a:r>
            <a:r>
              <a:rPr lang="en-US" dirty="0"/>
              <a:t/>
            </a:r>
            <a:r>
              <a:rPr lang="en-US" dirty="0" smtClean="0"/>
              <a:t>The level </a:t>
            </a:r>
            <a:r>
              <a:rPr lang="en-US" dirty="0"/>
              <a:t>1 units are the repeated occasions of</a:t>
            </a:r>
            <a:br>
              <a:rPr lang="en-US" dirty="0"/>
            </a:br>
            <a:r>
              <a:rPr lang="en-US" dirty="0"/>
              <a:t>measurement and the level 2 units are the </a:t>
            </a:r>
            <a:r>
              <a:rPr lang="en-US" dirty="0" smtClean="0"/>
              <a:t>subjects.</a:t>
            </a:r>
          </a:p>
          <a:p>
            <a:r>
              <a:rPr lang="en-US" u="sng" dirty="0" smtClean="0"/>
              <a:t>Cluster-Randomized </a:t>
            </a:r>
            <a:r>
              <a:rPr lang="en-US" u="sng" dirty="0"/>
              <a:t>Clinical Trials</a:t>
            </a:r>
            <a:r>
              <a:rPr lang="en-US" dirty="0"/>
              <a:t>: Groups (level 2 units) of </a:t>
            </a:r>
            <a:r>
              <a:rPr lang="en-US" dirty="0" smtClean="0"/>
              <a:t>individuals (level </a:t>
            </a:r>
            <a:r>
              <a:rPr lang="en-US" dirty="0"/>
              <a:t>1 units), rather than the individuals themselves, are </a:t>
            </a:r>
            <a:r>
              <a:rPr lang="en-US" dirty="0" smtClean="0"/>
              <a:t>randomly assigned </a:t>
            </a:r>
            <a:r>
              <a:rPr lang="en-US" dirty="0"/>
              <a:t>to different treatments or interventions.</a:t>
            </a:r>
            <a:r>
              <a:rPr lang="en-US" sz="3200" dirty="0"/>
              <a:t/>
            </a:r>
            <a:endParaRPr lang="en-US" sz="3200" dirty="0" smtClean="0"/>
          </a:p>
          <a:p>
            <a:r>
              <a:rPr lang="en-US" u="sng" dirty="0"/>
              <a:t>Complex Sample Surveys</a:t>
            </a:r>
            <a:r>
              <a:rPr lang="en-US" dirty="0"/>
              <a:t>: Many national surveys use multi-stage</a:t>
            </a:r>
            <a:br>
              <a:rPr lang="en-US" dirty="0"/>
            </a:br>
            <a:r>
              <a:rPr lang="en-US" dirty="0"/>
              <a:t>sampling, e.g., NHANES.</a:t>
            </a:r>
            <a:r>
              <a:rPr lang="en-US" sz="3200" dirty="0"/>
              <a:t/>
            </a:r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23</a:t>
            </a:r>
          </a:p>
        </p:txBody>
      </p:sp>
    </p:spTree>
    <p:extLst>
      <p:ext uri="{BB962C8B-B14F-4D97-AF65-F5344CB8AC3E}">
        <p14:creationId xmlns:p14="http://schemas.microsoft.com/office/powerpoint/2010/main" val="337727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Multilevel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Clustering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Clustering </a:t>
            </a:r>
            <a:r>
              <a:rPr lang="en-US" dirty="0"/>
              <a:t>can be due to both study design and naturally occurring</a:t>
            </a:r>
            <a:br>
              <a:rPr lang="en-US" dirty="0"/>
            </a:br>
            <a:r>
              <a:rPr lang="en-US" dirty="0"/>
              <a:t>hierarchies in the target population.</a:t>
            </a:r>
            <a:r>
              <a:rPr lang="en-US" sz="3200" dirty="0"/>
              <a:t/>
            </a:r>
            <a:endParaRPr lang="en-US" sz="3200" dirty="0" smtClean="0"/>
          </a:p>
          <a:p>
            <a:r>
              <a:rPr lang="en-US" dirty="0"/>
              <a:t>Example: Clinical trials </a:t>
            </a:r>
            <a:r>
              <a:rPr lang="en-US" dirty="0" smtClean="0"/>
              <a:t>conducted </a:t>
            </a:r>
            <a:r>
              <a:rPr lang="en-US" dirty="0"/>
              <a:t>in many different centers </a:t>
            </a:r>
            <a:r>
              <a:rPr lang="en-US" dirty="0" smtClean="0"/>
              <a:t>to ensure </a:t>
            </a:r>
            <a:r>
              <a:rPr lang="en-US" dirty="0"/>
              <a:t>sufficient numbers of patients and/or to assess the effectiveness of</a:t>
            </a:r>
            <a:br>
              <a:rPr lang="en-US" dirty="0"/>
            </a:br>
            <a:r>
              <a:rPr lang="en-US" dirty="0"/>
              <a:t>the treatment in different settings.</a:t>
            </a:r>
            <a:r>
              <a:rPr lang="en-US" sz="3200" dirty="0"/>
              <a:t/>
            </a:r>
            <a:endParaRPr lang="en-US" sz="32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Level 1: Longitudinal measurements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Level 2: Patients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Level 3: Centers</a:t>
            </a: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23</a:t>
            </a:r>
          </a:p>
        </p:txBody>
      </p:sp>
    </p:spTree>
    <p:extLst>
      <p:ext uri="{BB962C8B-B14F-4D97-AF65-F5344CB8AC3E}">
        <p14:creationId xmlns:p14="http://schemas.microsoft.com/office/powerpoint/2010/main" val="297477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Feature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of Multilevel Data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281055"/>
          </a:xfrm>
        </p:spPr>
        <p:txBody>
          <a:bodyPr>
            <a:normAutofit fontScale="92500"/>
          </a:bodyPr>
          <a:lstStyle/>
          <a:p>
            <a:r>
              <a:rPr lang="en-US" dirty="0"/>
              <a:t>A consequence of </a:t>
            </a:r>
            <a:r>
              <a:rPr lang="en-US" dirty="0" smtClean="0"/>
              <a:t>the </a:t>
            </a:r>
            <a:r>
              <a:rPr lang="en-US" dirty="0"/>
              <a:t>clustering is that </a:t>
            </a:r>
            <a:r>
              <a:rPr lang="en-US" dirty="0" smtClean="0"/>
              <a:t>responses within a cluster </a:t>
            </a:r>
            <a:r>
              <a:rPr lang="en-US" dirty="0"/>
              <a:t>are </a:t>
            </a:r>
            <a:r>
              <a:rPr lang="en-US" u="sng" dirty="0"/>
              <a:t>more similar</a:t>
            </a:r>
            <a:r>
              <a:rPr lang="en-US" dirty="0"/>
              <a:t> than </a:t>
            </a:r>
            <a:r>
              <a:rPr lang="en-US" dirty="0" smtClean="0"/>
              <a:t>those in </a:t>
            </a:r>
            <a:r>
              <a:rPr lang="en-US" dirty="0"/>
              <a:t>different </a:t>
            </a:r>
            <a:r>
              <a:rPr lang="en-US" dirty="0" smtClean="0"/>
              <a:t>clusters.</a:t>
            </a:r>
          </a:p>
          <a:p>
            <a:r>
              <a:rPr lang="en-US" dirty="0" smtClean="0"/>
              <a:t>For </a:t>
            </a:r>
            <a:r>
              <a:rPr lang="en-US" dirty="0"/>
              <a:t>example, two children selected at random from the same family are</a:t>
            </a:r>
            <a:br>
              <a:rPr lang="en-US" dirty="0"/>
            </a:br>
            <a:r>
              <a:rPr lang="en-US" dirty="0"/>
              <a:t>expected to respond more similarly than two children randomly selected</a:t>
            </a:r>
            <a:br>
              <a:rPr lang="en-US" dirty="0"/>
            </a:br>
            <a:r>
              <a:rPr lang="en-US" dirty="0"/>
              <a:t>from different </a:t>
            </a:r>
            <a:r>
              <a:rPr lang="en-US" dirty="0" smtClean="0"/>
              <a:t>families.</a:t>
            </a:r>
          </a:p>
          <a:p>
            <a:r>
              <a:rPr lang="en-US" dirty="0" smtClean="0"/>
              <a:t>The </a:t>
            </a:r>
            <a:r>
              <a:rPr lang="en-US" dirty="0"/>
              <a:t>clustering can be expressed in terms of </a:t>
            </a:r>
            <a:r>
              <a:rPr lang="en-US" u="sng" dirty="0"/>
              <a:t>correlation</a:t>
            </a:r>
            <a:r>
              <a:rPr lang="en-US" dirty="0"/>
              <a:t> among the</a:t>
            </a:r>
            <a:br>
              <a:rPr lang="en-US" dirty="0"/>
            </a:br>
            <a:r>
              <a:rPr lang="en-US" dirty="0"/>
              <a:t>measurements on units within the same </a:t>
            </a:r>
            <a:r>
              <a:rPr lang="en-US" dirty="0" smtClean="0"/>
              <a:t>cluster.</a:t>
            </a:r>
          </a:p>
          <a:p>
            <a:r>
              <a:rPr lang="en-US" dirty="0" smtClean="0"/>
              <a:t>Statistical </a:t>
            </a:r>
            <a:r>
              <a:rPr lang="en-US" dirty="0"/>
              <a:t>models for </a:t>
            </a:r>
            <a:r>
              <a:rPr lang="en-US" dirty="0" smtClean="0"/>
              <a:t>hierarchical (i.e., multilevel) </a:t>
            </a:r>
            <a:r>
              <a:rPr lang="en-US" dirty="0"/>
              <a:t>data must account for the </a:t>
            </a:r>
            <a:r>
              <a:rPr lang="en-US" u="sng" dirty="0" smtClean="0"/>
              <a:t>intra-cluster correlation</a:t>
            </a:r>
            <a:r>
              <a:rPr lang="en-US" dirty="0" smtClean="0"/>
              <a:t/>
            </a:r>
            <a:r>
              <a:rPr lang="en-US" dirty="0"/>
              <a:t>at each level; failure to do so can result in </a:t>
            </a:r>
            <a:r>
              <a:rPr lang="en-US" dirty="0" smtClean="0"/>
              <a:t>misleading inferences</a:t>
            </a:r>
            <a:r>
              <a:rPr lang="en-US" dirty="0"/>
              <a:t>.</a:t>
            </a:r>
            <a:r>
              <a:rPr lang="en-US" sz="3200" dirty="0"/>
              <a:t/>
            </a:r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23</a:t>
            </a:r>
          </a:p>
        </p:txBody>
      </p:sp>
    </p:spTree>
    <p:extLst>
      <p:ext uri="{BB962C8B-B14F-4D97-AF65-F5344CB8AC3E}">
        <p14:creationId xmlns:p14="http://schemas.microsoft.com/office/powerpoint/2010/main" val="404917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Feature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of Multilevel Data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28105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dominant approach to analysis of multilevel data </a:t>
            </a:r>
            <a:r>
              <a:rPr lang="en-US" dirty="0" smtClean="0"/>
              <a:t>is the </a:t>
            </a:r>
            <a:r>
              <a:rPr lang="en-US" u="sng" dirty="0" smtClean="0"/>
              <a:t>hierarchical </a:t>
            </a:r>
            <a:r>
              <a:rPr lang="en-US" u="sng" dirty="0"/>
              <a:t>linear </a:t>
            </a:r>
            <a:r>
              <a:rPr lang="en-US" u="sng" dirty="0" smtClean="0"/>
              <a:t>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correlation induced by clustering is described by </a:t>
            </a:r>
            <a:r>
              <a:rPr lang="en-US" u="sng" dirty="0"/>
              <a:t>random effects</a:t>
            </a:r>
            <a:r>
              <a:rPr lang="en-US" dirty="0"/>
              <a:t> at </a:t>
            </a:r>
            <a:r>
              <a:rPr lang="en-US" dirty="0" smtClean="0"/>
              <a:t>each level </a:t>
            </a:r>
            <a:r>
              <a:rPr lang="en-US" dirty="0"/>
              <a:t>of the </a:t>
            </a:r>
            <a:r>
              <a:rPr lang="en-US" dirty="0" smtClean="0"/>
              <a:t>hierarchy.</a:t>
            </a:r>
          </a:p>
          <a:p>
            <a:r>
              <a:rPr lang="en-US" dirty="0" smtClean="0"/>
              <a:t>Note</a:t>
            </a:r>
            <a:r>
              <a:rPr lang="en-US" dirty="0"/>
              <a:t>: In a multilevel model, the </a:t>
            </a:r>
            <a:r>
              <a:rPr lang="en-US" u="sng" dirty="0"/>
              <a:t>response</a:t>
            </a:r>
            <a:r>
              <a:rPr lang="en-US" dirty="0"/>
              <a:t> is obtained at </a:t>
            </a:r>
            <a:r>
              <a:rPr lang="en-US" u="sng" dirty="0"/>
              <a:t>the first level</a:t>
            </a:r>
            <a:r>
              <a:rPr lang="en-US" dirty="0"/>
              <a:t>, </a:t>
            </a:r>
            <a:r>
              <a:rPr lang="en-US" dirty="0" smtClean="0"/>
              <a:t>but </a:t>
            </a:r>
            <a:r>
              <a:rPr lang="en-US" u="sng" dirty="0" smtClean="0"/>
              <a:t>covariates</a:t>
            </a:r>
            <a:r>
              <a:rPr lang="en-US" dirty="0" smtClean="0"/>
              <a:t/>
            </a:r>
            <a:r>
              <a:rPr lang="en-US" dirty="0"/>
              <a:t>can be measured at </a:t>
            </a:r>
            <a:r>
              <a:rPr lang="en-US" u="sng" dirty="0"/>
              <a:t>any </a:t>
            </a:r>
            <a:r>
              <a:rPr lang="en-US" u="sng" dirty="0" smtClean="0"/>
              <a:t>level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</a:t>
            </a:r>
            <a:r>
              <a:rPr lang="en-US" dirty="0"/>
              <a:t>example, if we are studying </a:t>
            </a:r>
            <a:r>
              <a:rPr lang="en-US" dirty="0" smtClean="0"/>
              <a:t>BMI for the individual, </a:t>
            </a:r>
            <a:r>
              <a:rPr lang="en-US" dirty="0"/>
              <a:t>we can measure individual </a:t>
            </a:r>
            <a:r>
              <a:rPr lang="en-US" dirty="0" smtClean="0"/>
              <a:t>diets, family </a:t>
            </a:r>
            <a:r>
              <a:rPr lang="en-US" dirty="0"/>
              <a:t>attitudes about food and purchasing habits, and </a:t>
            </a:r>
            <a:r>
              <a:rPr lang="en-US" dirty="0" smtClean="0"/>
              <a:t>community attributes </a:t>
            </a:r>
            <a:r>
              <a:rPr lang="en-US" dirty="0"/>
              <a:t>such as the density of fast-food restaurants.</a:t>
            </a:r>
            <a:r>
              <a:rPr lang="en-US" dirty="0"/>
              <a:t/>
            </a:r>
            <a:br>
              <a:rPr lang="en-US" dirty="0"/>
            </a:br>
            <a:endParaRPr lang="en-US" sz="30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23</a:t>
            </a:r>
          </a:p>
        </p:txBody>
      </p:sp>
    </p:spTree>
    <p:extLst>
      <p:ext uri="{BB962C8B-B14F-4D97-AF65-F5344CB8AC3E}">
        <p14:creationId xmlns:p14="http://schemas.microsoft.com/office/powerpoint/2010/main" val="248916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Notation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For a </a:t>
                </a:r>
                <a:r>
                  <a:rPr lang="en-US" u="sng" dirty="0"/>
                  <a:t>two-level</a:t>
                </a:r>
                <a:r>
                  <a:rPr lang="en-US" dirty="0"/>
                  <a:t> hierarchical model,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denote the response on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th level-1 unit in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level-2 cluster 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=the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longitudinal measurement </a:t>
                </a:r>
                <a:r>
                  <a:rPr lang="en-US" dirty="0"/>
                  <a:t>on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patient.</a:t>
                </a:r>
              </a:p>
              <a:p>
                <a:r>
                  <a:rPr lang="en-US" dirty="0" smtClean="0"/>
                  <a:t>For a </a:t>
                </a:r>
                <a:r>
                  <a:rPr lang="en-US" u="sng" dirty="0" smtClean="0"/>
                  <a:t>three-level</a:t>
                </a:r>
                <a:r>
                  <a:rPr lang="en-US" dirty="0" smtClean="0"/>
                  <a:t> hierarchical model,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dirty="0" smtClean="0"/>
                  <a:t> denote the response on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th level-1 unit in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level-2 cluster in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level-3 cluster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dirty="0" smtClean="0"/>
                  <a:t>=the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measurement on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patient in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center.</a:t>
                </a:r>
              </a:p>
              <a:p>
                <a:r>
                  <a:rPr lang="en-US" dirty="0" smtClean="0"/>
                  <a:t>Use similar subscript style to denote covariates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).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endParaRPr lang="en-US" sz="3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043" t="-299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392628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Two-Level 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For two-level hierarchical models, if the level-1 units within the same level-2 cluster </a:t>
                </a:r>
                <a:r>
                  <a:rPr lang="en-US" dirty="0"/>
                  <a:t>are </a:t>
                </a:r>
                <a:r>
                  <a:rPr lang="en-US" dirty="0" smtClean="0"/>
                  <a:t>exchangeable, e.g., patients within a center, then the within-cluster correlation can be described by a (cluster-specific) random intercept: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Or, more generally,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is a subject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, which usually includes only level-1-specific characteristics for better interpretability.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sz="3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217" t="-3276" r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65289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Two-Level 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is response from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patient in the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hospital. Then, patients within the same hospital can be assumed as exchangeable. We can thus use the random intercept model.</a:t>
                </a:r>
              </a:p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is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/>
                  <a:t>longitudinal measurement </a:t>
                </a:r>
                <a:r>
                  <a:rPr lang="en-US" dirty="0"/>
                  <a:t>on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patient, then the measurements within the same patient are usually not exchangeable. We can account for that by including random slopes of time (a level-1 variable).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sz="3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043" t="-2137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188423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Two-Level 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For a given </a:t>
                </a:r>
                <a:r>
                  <a:rPr lang="en-US" dirty="0"/>
                  <a:t>level-2 cluster, </a:t>
                </a:r>
                <a:r>
                  <a:rPr lang="en-US" dirty="0"/>
                  <a:t>random effects are assumed </a:t>
                </a:r>
                <a:r>
                  <a:rPr lang="en-US" dirty="0"/>
                  <a:t>constant across </a:t>
                </a:r>
                <a:r>
                  <a:rPr lang="en-US" dirty="0" smtClean="0"/>
                  <a:t>all level-1 units within it. </a:t>
                </a:r>
                <a:endParaRPr lang="en-US" dirty="0"/>
              </a:p>
              <a:p>
                <a:r>
                  <a:rPr lang="en-US" dirty="0"/>
                  <a:t>Given the level-2-specific random effects, </a:t>
                </a:r>
                <a:r>
                  <a:rPr lang="en-US" dirty="0" smtClean="0"/>
                  <a:t>all level-1 units are assumed to be independent. </a:t>
                </a:r>
              </a:p>
              <a:p>
                <a:r>
                  <a:rPr lang="en-US" dirty="0"/>
                  <a:t>For the random intercept model,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𝑌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</m:sub>
                      </m:sSub>
                      <m:r>
                        <a:rPr lang="en-US"/>
                        <m:t>=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𝑋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</m:sub>
                      </m:sSub>
                      <m:r>
                        <a:rPr lang="en-US"/>
                        <m:t>𝛽</m:t>
                      </m:r>
                      <m:r>
                        <a:rPr lang="en-US"/>
                        <m:t>+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𝑏</m:t>
                          </m:r>
                        </m:e>
                        <m:sub>
                          <m:r>
                            <a:rPr lang="en-US"/>
                            <m:t>𝑖</m:t>
                          </m:r>
                        </m:sub>
                      </m:sSub>
                      <m:r>
                        <a:rPr lang="en-US"/>
                        <m:t>+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𝜖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, then the </a:t>
                </a:r>
                <a:r>
                  <a:rPr lang="en-US" dirty="0"/>
                  <a:t>within cluster correlation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/>
                      <m:t>𝐺</m:t>
                    </m:r>
                    <m:r>
                      <a:rPr lang="en-US"/>
                      <m:t>/(</m:t>
                    </m:r>
                    <m:r>
                      <a:rPr lang="en-US"/>
                      <m:t>𝐺</m:t>
                    </m:r>
                    <m:r>
                      <a:rPr lang="en-US"/>
                      <m:t>+</m:t>
                    </m:r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)</m:t>
                    </m:r>
                  </m:oMath>
                </a14:m>
                <a:r>
                  <a:rPr lang="en-US" dirty="0"/>
                  <a:t> (cf. </a:t>
                </a:r>
                <a:r>
                  <a:rPr lang="en-US" dirty="0"/>
                  <a:t>Lecture </a:t>
                </a:r>
                <a:r>
                  <a:rPr lang="en-US" dirty="0" smtClean="0"/>
                  <a:t>10).</a:t>
                </a:r>
                <a:r>
                  <a:rPr lang="en-US" sz="3200" dirty="0"/>
                  <a:t/>
                </a:r>
                <a:br>
                  <a:rPr lang="en-US" sz="3200" dirty="0"/>
                </a:br>
                <a:endParaRPr lang="en-US" sz="3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217" t="-2422" r="-4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37954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Three-Level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The general </a:t>
                </a:r>
                <a:r>
                  <a:rPr lang="en-US" u="sng" dirty="0"/>
                  <a:t>three-level</a:t>
                </a:r>
                <a:r>
                  <a:rPr lang="en-US" dirty="0"/>
                  <a:t> linear model </a:t>
                </a:r>
                <a:r>
                  <a:rPr lang="en-US" dirty="0" smtClean="0"/>
                  <a:t>can be written </a:t>
                </a:r>
                <a:r>
                  <a:rPr lang="en-US" dirty="0"/>
                  <a:t>as follows:</a:t>
                </a:r>
                <a:r>
                  <a:rPr lang="en-US" dirty="0"/>
                  <a:t/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𝑏</m:t>
                        </m:r>
                      </m:e>
                      <m:sub>
                        <m:r>
                          <a:rPr lang="en-US"/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: level-3 random </a:t>
                </a:r>
                <a:r>
                  <a:rPr lang="en-US" dirty="0"/>
                  <a:t>effects;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/>
                          <m:t>𝑏</m:t>
                        </m:r>
                      </m:e>
                      <m:sub>
                        <m:r>
                          <a:rPr lang="en-US"/>
                          <m:t>𝑖</m:t>
                        </m:r>
                        <m:r>
                          <a:rPr lang="en-US"/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: level-2 random </a:t>
                </a:r>
                <a:r>
                  <a:rPr lang="en-US" dirty="0"/>
                  <a:t>effects;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contains level-2-specific characteristics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dirty="0" smtClean="0"/>
                  <a:t> contains level-1-specific characteristics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217" t="-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2947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Three-Level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For </a:t>
                </a:r>
                <a:r>
                  <a:rPr lang="en-US" dirty="0"/>
                  <a:t>the random intercept model,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𝑌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</m:sub>
                      </m:sSub>
                      <m:r>
                        <a:rPr lang="en-US"/>
                        <m:t>=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𝑋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</m:sub>
                      </m:sSub>
                      <m:r>
                        <a:rPr lang="en-US"/>
                        <m:t>𝛽</m:t>
                      </m:r>
                      <m:r>
                        <a:rPr lang="en-US"/>
                        <m:t>+</m:t>
                      </m:r>
                      <m:sSubSup>
                        <m:sSubSupPr>
                          <m:ctrlPr>
                            <a:rPr lang="en-US"/>
                          </m:ctrlPr>
                        </m:sSubSupPr>
                        <m:e>
                          <m:r>
                            <a:rPr lang="en-US"/>
                            <m:t>𝑏</m:t>
                          </m:r>
                        </m:e>
                        <m:sub>
                          <m:r>
                            <a:rPr lang="en-US"/>
                            <m:t>𝑖</m:t>
                          </m:r>
                        </m:sub>
                        <m:sup>
                          <m:r>
                            <a:rPr lang="en-US"/>
                            <m:t>(3)</m:t>
                          </m:r>
                        </m:sup>
                      </m:sSubSup>
                      <m:r>
                        <a:rPr lang="en-US"/>
                        <m:t>+</m:t>
                      </m:r>
                      <m:sSubSup>
                        <m:sSubSupPr>
                          <m:ctrlPr>
                            <a:rPr lang="en-US"/>
                          </m:ctrlPr>
                        </m:sSubSupPr>
                        <m:e>
                          <m:r>
                            <a:rPr lang="en-US"/>
                            <m:t>𝑏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</m:sub>
                        <m:sup>
                          <m:r>
                            <a:rPr lang="en-US"/>
                            <m:t>(2)</m:t>
                          </m:r>
                        </m:sup>
                      </m:sSubSup>
                      <m:r>
                        <a:rPr lang="en-US"/>
                        <m:t>+</m:t>
                      </m:r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𝜖</m:t>
                          </m:r>
                        </m:e>
                        <m:sub>
                          <m:r>
                            <a:rPr lang="en-US"/>
                            <m:t>𝑖𝑗</m:t>
                          </m:r>
                          <m:r>
                            <m:rPr>
                              <m:sty m:val="p"/>
                            </m:rPr>
                            <a:rPr lang="en-US"/>
                            <m:t>k</m:t>
                          </m:r>
                        </m:sub>
                      </m:sSub>
                      <m:r>
                        <a:rPr lang="en-US"/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var</m:t>
                    </m:r>
                    <m:d>
                      <m:dPr>
                        <m:ctrlPr>
                          <a:rPr lang="en-US"/>
                        </m:ctrlPr>
                      </m:dPr>
                      <m:e>
                        <m:sSubSup>
                          <m:sSubSupPr>
                            <m:ctrlPr>
                              <a:rPr lang="en-US"/>
                            </m:ctrlPr>
                          </m:sSubSupPr>
                          <m:e>
                            <m:r>
                              <a:rPr lang="en-US"/>
                              <m:t>𝑏</m:t>
                            </m:r>
                          </m:e>
                          <m:sub>
                            <m:r>
                              <a:rPr lang="en-US"/>
                              <m:t>𝑖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(3)</m:t>
                            </m:r>
                          </m:sup>
                        </m:sSubSup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/>
                          <m:t>𝐺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p>
                    <m:r>
                      <a:rPr lang="en-US"/>
                      <m:t>,</m:t>
                    </m:r>
                  </m:oMath>
                </a14:m>
                <a:r>
                  <a:rPr lang="en-US" dirty="0"/>
                  <a:t/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var</m:t>
                    </m:r>
                    <m:d>
                      <m:dPr>
                        <m:ctrlPr>
                          <a:rPr lang="en-US"/>
                        </m:ctrlPr>
                      </m:dPr>
                      <m:e>
                        <m:sSubSup>
                          <m:sSubSupPr>
                            <m:ctrlPr>
                              <a:rPr lang="en-US"/>
                            </m:ctrlPr>
                          </m:sSubSupPr>
                          <m:e>
                            <m:r>
                              <a:rPr lang="en-US"/>
                              <m:t>𝑏</m:t>
                            </m:r>
                          </m:e>
                          <m:sub>
                            <m:r>
                              <a:rPr lang="en-US"/>
                              <m:t>𝑖</m:t>
                            </m:r>
                          </m:sub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/>
                          <m:t>𝐺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p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var</m:t>
                    </m:r>
                    <m:d>
                      <m:dPr>
                        <m:ctrlPr>
                          <a:rPr lang="en-US"/>
                        </m:ctrlPr>
                      </m:dPr>
                      <m:e>
                        <m:sSub>
                          <m:sSubPr>
                            <m:ctrlPr>
                              <a:rPr lang="en-US"/>
                            </m:ctrlPr>
                          </m:sSubPr>
                          <m:e>
                            <m:r>
                              <a:rPr lang="en-US"/>
                              <m:t>𝜖</m:t>
                            </m:r>
                          </m:e>
                          <m:sub>
                            <m:r>
                              <a:rPr lang="en-US"/>
                              <m:t>𝑖𝑗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/>
                          <m:t> </m:t>
                        </m:r>
                      </m:e>
                    </m:d>
                    <m:r>
                      <a:rPr lang="en-US"/>
                      <m:t>=</m:t>
                    </m:r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/>
                          <m:t>𝜎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 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then</a:t>
                </a:r>
              </a:p>
              <a:p>
                <a:pPr lvl="1"/>
                <a:r>
                  <a:rPr lang="en-US" sz="2800" dirty="0" smtClean="0"/>
                  <a:t>The correlation within a level-3 cluster is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(3)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(3)</m:t>
                              </m:r>
                            </m:sup>
                          </m:sSup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 smtClean="0"/>
              </a:p>
              <a:p>
                <a:pPr lvl="1"/>
                <a:r>
                  <a:rPr lang="en-US" sz="2800" dirty="0"/>
                  <a:t>The correlation within </a:t>
                </a:r>
                <a:r>
                  <a:rPr lang="en-US" sz="2800" dirty="0" smtClean="0"/>
                  <a:t>a level-2 </a:t>
                </a:r>
                <a:r>
                  <a:rPr lang="en-US" sz="2800" dirty="0"/>
                  <a:t>cluster is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(3)</m:t>
                              </m:r>
                            </m:sup>
                          </m:s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(3)</m:t>
                              </m:r>
                            </m:sup>
                          </m:s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r>
                  <a:rPr lang="en-US" sz="2800" dirty="0"/>
                  <a:t/>
                </a:r>
                <a:br>
                  <a:rPr lang="en-US" sz="2800" dirty="0"/>
                </a:br>
                <a:endParaRPr lang="en-US" sz="26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217" t="-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61837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Three-Level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Example: multilevel longitudinal study.</a:t>
                </a:r>
              </a:p>
              <a:p>
                <a:pPr lvl="1"/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denote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/>
                  <a:t>measurement on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/>
                  <a:t>patient in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center (or, the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err="1" smtClean="0"/>
                  <a:t>th</a:t>
                </a:r>
                <a:r>
                  <a:rPr lang="en-US" dirty="0" smtClean="0"/>
                  <a:t> patient).</a:t>
                </a:r>
              </a:p>
              <a:p>
                <a:pPr lvl="1"/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the time from baseline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</a:t>
                </a:r>
                <a:r>
                  <a:rPr lang="en-US" dirty="0" smtClean="0"/>
                  <a:t>obtained.</a:t>
                </a:r>
              </a:p>
              <a:p>
                <a:pPr lvl="1"/>
                <a:r>
                  <a:rPr lang="en-US" dirty="0" smtClean="0"/>
                  <a:t>Also</a:t>
                </a:r>
                <a:r>
                  <a:rPr lang="en-US" dirty="0"/>
                  <a:t>,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𝑇𝑟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denote the treatment given to </a:t>
                </a:r>
                <a:r>
                  <a:rPr lang="en-US" dirty="0" smtClean="0"/>
                  <a:t>the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/>
                </a:r>
                <a:r>
                  <a:rPr lang="en-US" dirty="0" smtClean="0"/>
                  <a:t>patient.</a:t>
                </a:r>
              </a:p>
              <a:p>
                <a:r>
                  <a:rPr lang="en-US" sz="2600" dirty="0" smtClean="0"/>
                  <a:t>If we ignore the clusterin</a:t>
                </a:r>
                <a:r>
                  <a:rPr lang="en-US" sz="2600" dirty="0" smtClean="0"/>
                  <a:t>g of patients by center, we might use the following mixed effects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𝑇𝑟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𝑇𝑟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en-US" sz="2600" i="1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1043" t="-2422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127479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Three-Level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 smtClean="0"/>
                  <a:t>To account for within-center correlation of patients, assuming that patients within the same center are exchangeable, we can add to the model a center-specific random intercept </a:t>
                </a:r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𝑇𝑟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𝑇𝑟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en-US" sz="2600" i="1" dirty="0" smtClean="0"/>
              </a:p>
              <a:p>
                <a:r>
                  <a:rPr lang="en-US" sz="2600" dirty="0" smtClean="0"/>
                  <a:t>Multilevel (generalized) linear models can be fit by PROC MIXED (GLIMMIX) in SAS.</a:t>
                </a:r>
              </a:p>
              <a:p>
                <a:pPr lvl="1"/>
                <a:r>
                  <a:rPr lang="en-US" sz="2200" dirty="0" smtClean="0"/>
                  <a:t>Include a RANDOM statement for each level with a SUBJECT=</a:t>
                </a:r>
                <a:r>
                  <a:rPr lang="en-US" sz="2200" dirty="0" err="1" smtClean="0"/>
                  <a:t>level_variable</a:t>
                </a:r>
                <a:r>
                  <a:rPr lang="en-US" sz="2200" dirty="0" smtClean="0"/>
                  <a:t> option.</a:t>
                </a:r>
                <a:endParaRPr lang="en-US" sz="22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281055"/>
              </a:xfrm>
              <a:blipFill>
                <a:blip r:embed="rId2"/>
                <a:stretch>
                  <a:fillRect l="-928" t="-2279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299767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44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z="3000" b="1">
                <a:solidFill>
                  <a:srgbClr val="0D5F62"/>
                </a:solidFill>
                <a:latin typeface="Calibri"/>
              </a:rPr>
              <a:t>The Television, School, and 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Family Smoking Prevention 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>and Cessation Program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/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281055"/>
          </a:xfrm>
        </p:spPr>
        <p:txBody>
          <a:bodyPr>
            <a:normAutofit fontScale="92500"/>
          </a:bodyPr>
          <a:lstStyle/>
          <a:p>
            <a:r>
              <a:rPr lang="en-US" dirty="0"/>
              <a:t>A randomized study with a 2 by 2 factorial </a:t>
            </a:r>
            <a:r>
              <a:rPr lang="en-US" dirty="0" smtClean="0"/>
              <a:t>design (4 treatments in total):</a:t>
            </a:r>
          </a:p>
          <a:p>
            <a:pPr lvl="1"/>
            <a:r>
              <a:rPr lang="en-US" dirty="0" smtClean="0"/>
              <a:t>Factor </a:t>
            </a:r>
            <a:r>
              <a:rPr lang="en-US" dirty="0"/>
              <a:t>1: A school-based social-resistance curriculum (</a:t>
            </a:r>
            <a:r>
              <a:rPr lang="en-US" dirty="0" smtClean="0"/>
              <a:t>CC)</a:t>
            </a:r>
          </a:p>
          <a:p>
            <a:pPr lvl="1"/>
            <a:r>
              <a:rPr lang="en-US" dirty="0" smtClean="0"/>
              <a:t>Factor </a:t>
            </a:r>
            <a:r>
              <a:rPr lang="en-US" dirty="0"/>
              <a:t>2: A television-based prevention program (</a:t>
            </a:r>
            <a:r>
              <a:rPr lang="en-US" dirty="0" smtClean="0"/>
              <a:t>TV)</a:t>
            </a:r>
          </a:p>
          <a:p>
            <a:r>
              <a:rPr lang="en-US" dirty="0" smtClean="0"/>
              <a:t>We </a:t>
            </a:r>
            <a:r>
              <a:rPr lang="en-US" dirty="0"/>
              <a:t>report results for 1,600 seventh graders from 135 classes in 28 schools</a:t>
            </a:r>
            <a:br>
              <a:rPr lang="en-US" dirty="0"/>
            </a:br>
            <a:r>
              <a:rPr lang="en-US" dirty="0"/>
              <a:t>in Los </a:t>
            </a:r>
            <a:r>
              <a:rPr lang="en-US" dirty="0" smtClean="0"/>
              <a:t>Angeles</a:t>
            </a:r>
          </a:p>
          <a:p>
            <a:r>
              <a:rPr lang="en-US" dirty="0" smtClean="0"/>
              <a:t>The </a:t>
            </a:r>
            <a:r>
              <a:rPr lang="en-US" dirty="0"/>
              <a:t>response variable, the tobacco and health knowledge scale (THKS),</a:t>
            </a:r>
            <a:br>
              <a:rPr lang="en-US" dirty="0"/>
            </a:br>
            <a:r>
              <a:rPr lang="en-US" dirty="0"/>
              <a:t>was administered before and after the </a:t>
            </a:r>
            <a:r>
              <a:rPr lang="en-US" dirty="0" smtClean="0"/>
              <a:t>intervention.</a:t>
            </a:r>
          </a:p>
          <a:p>
            <a:r>
              <a:rPr lang="en-US" dirty="0" smtClean="0"/>
              <a:t>We </a:t>
            </a:r>
            <a:r>
              <a:rPr lang="en-US" dirty="0"/>
              <a:t>consider a linear model for post-intervention THKS, with baseline</a:t>
            </a:r>
            <a:br>
              <a:rPr lang="en-US" dirty="0"/>
            </a:br>
            <a:r>
              <a:rPr lang="en-US" dirty="0"/>
              <a:t>THKS as a covariate.</a:t>
            </a:r>
            <a:r>
              <a:rPr lang="en-US" sz="2400" dirty="0"/>
              <a:t/>
            </a:r>
            <a:br>
              <a:rPr lang="en-US" sz="2400" dirty="0"/>
            </a:br>
            <a:endParaRPr lang="en-US" sz="22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22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237460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44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z="3000" b="1">
                <a:solidFill>
                  <a:srgbClr val="0D5F62"/>
                </a:solidFill>
                <a:latin typeface="Calibri"/>
              </a:rPr>
              <a:t>The Television, School, and 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Family Smoking Prevention 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>and Cessation Program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/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829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r>
              <a:rPr lang="en-US" dirty="0"/>
              <a:t>Variable List: </a:t>
            </a:r>
            <a:r>
              <a:rPr lang="en-US" dirty="0" smtClean="0"/>
              <a:t>School </a:t>
            </a:r>
            <a:r>
              <a:rPr lang="en-US" dirty="0"/>
              <a:t>ID, Class ID, School-based Resistance Curriculum (</a:t>
            </a:r>
            <a:r>
              <a:rPr lang="en-US" dirty="0" smtClean="0"/>
              <a:t>1=yes,0=no), Television-based </a:t>
            </a:r>
            <a:r>
              <a:rPr lang="en-US" dirty="0"/>
              <a:t>Prevention Program (1=yes,0=no</a:t>
            </a:r>
            <a:r>
              <a:rPr lang="en-US" dirty="0" smtClean="0"/>
              <a:t>), Pre-interventions </a:t>
            </a:r>
            <a:r>
              <a:rPr lang="en-US" dirty="0"/>
              <a:t>THKS score, Post-interventions THKS score.</a:t>
            </a:r>
            <a:endParaRPr lang="en-US" sz="22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52" y="1704108"/>
            <a:ext cx="5030853" cy="330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72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44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z="3000" b="1">
                <a:solidFill>
                  <a:srgbClr val="0D5F62"/>
                </a:solidFill>
                <a:latin typeface="Calibri"/>
              </a:rPr>
              <a:t>The Television, School, and 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Family Smoking Prevention 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>and Cessation Program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/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829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071" y="1983018"/>
            <a:ext cx="8898225" cy="24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44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z="3000" b="1">
                <a:solidFill>
                  <a:srgbClr val="0D5F62"/>
                </a:solidFill>
                <a:latin typeface="Calibri"/>
              </a:rPr>
              <a:t>The Television, School, and 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Family Smoking Prevention 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>and Cessation Program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/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829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(</a:t>
            </a:r>
            <a:r>
              <a:rPr lang="en-US" sz="2400" dirty="0" err="1" smtClean="0"/>
              <a:t>CC&amp;non-TV</a:t>
            </a:r>
            <a:r>
              <a:rPr lang="en-US" sz="2400" dirty="0" smtClean="0"/>
              <a:t>) vs (</a:t>
            </a:r>
            <a:r>
              <a:rPr lang="en-US" sz="2400" dirty="0" err="1" smtClean="0"/>
              <a:t>non-CC&amp;non-TV</a:t>
            </a:r>
            <a:r>
              <a:rPr lang="en-US" sz="2400" dirty="0" smtClean="0"/>
              <a:t>): 0.6413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(</a:t>
            </a:r>
            <a:r>
              <a:rPr lang="en-US" sz="2400" dirty="0" err="1" smtClean="0"/>
              <a:t>TV&amp;non-CC</a:t>
            </a:r>
            <a:r>
              <a:rPr lang="en-US" sz="2400" dirty="0" smtClean="0"/>
              <a:t>) </a:t>
            </a:r>
            <a:r>
              <a:rPr lang="en-US" sz="2400" dirty="0"/>
              <a:t>vs (</a:t>
            </a:r>
            <a:r>
              <a:rPr lang="en-US" sz="2400" dirty="0" err="1" smtClean="0"/>
              <a:t>non-TV&amp;non-CC</a:t>
            </a:r>
            <a:r>
              <a:rPr lang="en-US" sz="2400" dirty="0" smtClean="0"/>
              <a:t>): 0.1821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(</a:t>
            </a:r>
            <a:r>
              <a:rPr lang="en-US" sz="2400" dirty="0" smtClean="0"/>
              <a:t>TV&amp;CC</a:t>
            </a:r>
            <a:r>
              <a:rPr lang="en-US" sz="2400" dirty="0"/>
              <a:t>) vs (</a:t>
            </a:r>
            <a:r>
              <a:rPr lang="en-US" sz="2400" dirty="0" smtClean="0"/>
              <a:t>non-TV&amp;CC</a:t>
            </a:r>
            <a:r>
              <a:rPr lang="en-US" sz="2400" dirty="0"/>
              <a:t>): </a:t>
            </a:r>
            <a:r>
              <a:rPr lang="en-US" sz="2400" dirty="0" smtClean="0"/>
              <a:t>0.1821-0.3309=-0.1488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21" y="1924483"/>
            <a:ext cx="4315604" cy="242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7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44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D5F62"/>
                </a:solidFill>
                <a:latin typeface="Calibri"/>
              </a:defRPr>
            </a:pPr>
            <a:r>
              <a:rPr lang="en-US" dirty="0" sz="3000" b="1">
                <a:solidFill>
                  <a:srgbClr val="0D5F62"/>
                </a:solidFill>
                <a:latin typeface="Calibri"/>
              </a:rPr>
              <a:t>The Television, School, and </a:t>
            </a:r>
            <a:r>
              <a:rPr lang="en-US" dirty="0" smtClean="0" sz="3000" b="1">
                <a:solidFill>
                  <a:srgbClr val="0D5F62"/>
                </a:solidFill>
                <a:latin typeface="Calibri"/>
              </a:rPr>
              <a:t>Family Smoking Prevention 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>and Cessation Program</a:t>
            </a:r>
            <a:r>
              <a:rPr lang="en-US" dirty="0" sz="3000" b="1">
                <a:solidFill>
                  <a:srgbClr val="0D5F62"/>
                </a:solidFill>
                <a:latin typeface="Calibri"/>
              </a:rPr>
              <a:t/>
            </a:r>
            <a:endParaRPr lang="en-US" dirty="0" sz="30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4108"/>
            <a:ext cx="10515600" cy="4829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Within-school correlation: 0.03861/(0.03861+0.06466+1.6023)=0.023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Within-class </a:t>
            </a:r>
            <a:r>
              <a:rPr lang="en-US" sz="2400" dirty="0"/>
              <a:t>correlation: </a:t>
            </a:r>
            <a:r>
              <a:rPr lang="en-US" sz="2400" dirty="0" smtClean="0"/>
              <a:t>(0.03861+0.06466)/(</a:t>
            </a:r>
            <a:r>
              <a:rPr lang="en-US" sz="2400" dirty="0"/>
              <a:t>0.03861+0.06466+1.6023</a:t>
            </a:r>
            <a:r>
              <a:rPr lang="en-US" sz="2400" dirty="0" smtClean="0"/>
              <a:t>)=0.061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158" y="1859713"/>
            <a:ext cx="6083860" cy="236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2944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4108"/>
                <a:ext cx="10515600" cy="482969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Multilevel models can be formulated in terms of mixed effects models with random effects for each level.</a:t>
                </a:r>
              </a:p>
              <a:p>
                <a:r>
                  <a:rPr lang="en-US" dirty="0" smtClean="0"/>
                  <a:t>SAS Syntax:</a:t>
                </a:r>
              </a:p>
              <a:p>
                <a:pPr marL="0" indent="0">
                  <a:buNone/>
                </a:pPr>
                <a:r>
                  <a:rPr lang="en-US" dirty="0" smtClean="0"/>
                  <a:t>PROC MIXED/GLIMMIX;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CLASS level_2_id level_3_id … </a:t>
                </a:r>
                <a:r>
                  <a:rPr lang="en-US" dirty="0" err="1" smtClean="0"/>
                  <a:t>level_k_id</a:t>
                </a:r>
                <a:r>
                  <a:rPr lang="en-US" dirty="0" smtClean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Model y=</a:t>
                </a:r>
                <a:r>
                  <a:rPr lang="en-US" dirty="0" err="1" smtClean="0"/>
                  <a:t>trt</a:t>
                </a:r>
                <a:r>
                  <a:rPr lang="en-US" dirty="0" smtClean="0"/>
                  <a:t> time </a:t>
                </a:r>
                <a:r>
                  <a:rPr lang="en-US" dirty="0" err="1" smtClean="0"/>
                  <a:t>trt</a:t>
                </a:r>
                <a:r>
                  <a:rPr lang="en-US" dirty="0" smtClean="0"/>
                  <a:t>*time;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RANDOM intercept level_1_variables/SUBJECT=</a:t>
                </a:r>
                <a:r>
                  <a:rPr lang="en-US" dirty="0"/>
                  <a:t/>
                </a:r>
                <a:r>
                  <a:rPr lang="en-US" dirty="0" smtClean="0"/>
                  <a:t>level_2_id;</a:t>
                </a:r>
              </a:p>
              <a:p>
                <a:pPr marL="0" indent="0">
                  <a:buNone/>
                </a:pPr>
                <a:r>
                  <a:rPr lang="en-US" dirty="0"/>
                  <a:t>	RANDOM intercept </a:t>
                </a:r>
                <a:r>
                  <a:rPr lang="en-US" dirty="0" smtClean="0"/>
                  <a:t>level_2_variables/SUBJECT</a:t>
                </a:r>
                <a:r>
                  <a:rPr lang="en-US" dirty="0"/>
                  <a:t>= </a:t>
                </a:r>
                <a:r>
                  <a:rPr lang="en-US" dirty="0" smtClean="0"/>
                  <a:t>level_3_id;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/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/>
                </a:r>
                <a:r>
                  <a:rPr lang="en-US" dirty="0"/>
                  <a:t>RANDOM intercept </a:t>
                </a:r>
                <a:r>
                  <a:rPr lang="en-US" dirty="0" smtClean="0"/>
                  <a:t>level_k-1_variables/SUBJECT</a:t>
                </a:r>
                <a:r>
                  <a:rPr lang="en-US" dirty="0"/>
                  <a:t>= </a:t>
                </a:r>
                <a:r>
                  <a:rPr lang="en-US" dirty="0" err="1" smtClean="0"/>
                  <a:t>level_k_id</a:t>
                </a:r>
                <a:r>
                  <a:rPr lang="en-US" dirty="0" smtClean="0"/>
                  <a:t>;</a:t>
                </a:r>
              </a:p>
              <a:p>
                <a:pPr marL="0" indent="0">
                  <a:buNone/>
                </a:pPr>
                <a:r>
                  <a:rPr lang="en-US" dirty="0" smtClean="0"/>
                  <a:t>RUN;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4108"/>
                <a:ext cx="10515600" cy="4829696"/>
              </a:xfrm>
              <a:blipFill>
                <a:blip r:embed="rId2"/>
                <a:stretch>
                  <a:fillRect l="-1043" t="-2652" r="-986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08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64695</TotalTime>
  <Words>623</Words>
  <Application>Microsoft Office PowerPoint</Application>
  <PresentationFormat>Widescreen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Multilevel Models</vt:lpstr>
      <vt:lpstr>Multilevel Models</vt:lpstr>
      <vt:lpstr>Naturally Occurring Data Hierarchies </vt:lpstr>
      <vt:lpstr>Clustering as Consequence of Study Design</vt:lpstr>
      <vt:lpstr>Multilevel Clustering</vt:lpstr>
      <vt:lpstr>Feature of Multilevel Data </vt:lpstr>
      <vt:lpstr>Feature of Multilevel Data </vt:lpstr>
      <vt:lpstr>Notation</vt:lpstr>
      <vt:lpstr>Two-Level Linear Models </vt:lpstr>
      <vt:lpstr>Two-Level Linear Models </vt:lpstr>
      <vt:lpstr>Two-Level Linear Models </vt:lpstr>
      <vt:lpstr>Three-Level Linear Models </vt:lpstr>
      <vt:lpstr>Three-Level Linear Models </vt:lpstr>
      <vt:lpstr>Three-Level Linear Models </vt:lpstr>
      <vt:lpstr>Three-Level Linear Models </vt:lpstr>
      <vt:lpstr>The Television, School, and Family Smoking Prevention and Cessation Program </vt:lpstr>
      <vt:lpstr>The Television, School, and Family Smoking Prevention and Cessation Program </vt:lpstr>
      <vt:lpstr>The Television, School, and Family Smoking Prevention and Cessation Program </vt:lpstr>
      <vt:lpstr>The Television, School, and Family Smoking Prevention and Cessation Program </vt:lpstr>
      <vt:lpstr>The Television, School, and Family Smoking Prevention and Cessation Program 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1797</cp:revision>
  <dcterms:created xsi:type="dcterms:W3CDTF">2019-01-16T21:45:55Z</dcterms:created>
  <dcterms:modified xsi:type="dcterms:W3CDTF">2019-04-24T18:33:32Z</dcterms:modified>
</cp:coreProperties>
</file>