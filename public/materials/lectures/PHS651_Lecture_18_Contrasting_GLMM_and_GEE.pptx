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10"/>
    <p:sldId id="281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2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D68BB4-D429-4D9F-9A88-1E15C9ECB8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80"/>
            <p14:sldId id="281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3"/>
            <p14:sldId id="272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F9EA4-F4D7-4AA0-AD15-FD9CF14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3E06E-BB52-4B63-840F-94AEF801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Contrasting GLMM and GEE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DAFDF-AAF5-41B5-8DBE-2A6DCF0F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AEC51-D9B1-45CA-8B5A-DFDED2FA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C634E-43F2-4C3C-A8AB-1F291331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F1A35-02CF-44A4-B5A7-9115E890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7704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Difference between marginal models and GLMM</a:t>
            </a:r>
            <a:endParaRPr lang="en-US" sz="28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A case study with count data</a:t>
            </a:r>
            <a:endParaRPr lang="en-US" sz="2800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A case study with </a:t>
            </a:r>
            <a:r>
              <a:rPr lang="en-US" sz="2800" dirty="0" smtClean="0"/>
              <a:t>a cross-over trial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600" dirty="0" smtClean="0"/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26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Marginal Models and GLMM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 far, we have discussed two main extensions of </a:t>
            </a:r>
            <a:r>
              <a:rPr lang="en-US" dirty="0" smtClean="0"/>
              <a:t>GLM: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Marginal Models (by GEE)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Generalized </a:t>
            </a:r>
            <a:r>
              <a:rPr lang="en-US" dirty="0"/>
              <a:t>Linear Mixed </a:t>
            </a:r>
            <a:r>
              <a:rPr lang="en-US" dirty="0" smtClean="0"/>
              <a:t>Models</a:t>
            </a:r>
          </a:p>
          <a:p>
            <a:r>
              <a:rPr lang="en-US" dirty="0" smtClean="0"/>
              <a:t>There </a:t>
            </a:r>
            <a:r>
              <a:rPr lang="en-US" dirty="0"/>
              <a:t>are important distinctions between these two broad classes of </a:t>
            </a:r>
            <a:r>
              <a:rPr lang="en-US" dirty="0" smtClean="0"/>
              <a:t>models that </a:t>
            </a:r>
            <a:r>
              <a:rPr lang="en-US" dirty="0"/>
              <a:t>go beyond simple differences in approaches </a:t>
            </a:r>
            <a:r>
              <a:rPr lang="en-US" dirty="0" smtClean="0"/>
              <a:t>for accounting </a:t>
            </a:r>
            <a:r>
              <a:rPr lang="en-US" dirty="0"/>
              <a:t>for </a:t>
            </a:r>
            <a:r>
              <a:rPr lang="en-US" dirty="0" smtClean="0"/>
              <a:t>the within-subject association.</a:t>
            </a:r>
          </a:p>
          <a:p>
            <a:r>
              <a:rPr lang="en-US" dirty="0" smtClean="0"/>
              <a:t>These </a:t>
            </a:r>
            <a:r>
              <a:rPr lang="en-US" dirty="0"/>
              <a:t>two classes of models have somewhat </a:t>
            </a:r>
            <a:r>
              <a:rPr lang="en-US" u="sng" dirty="0"/>
              <a:t>different targets of </a:t>
            </a:r>
            <a:r>
              <a:rPr lang="en-US" u="sng" dirty="0" smtClean="0"/>
              <a:t>inference</a:t>
            </a:r>
            <a:r>
              <a:rPr lang="en-US" dirty="0" smtClean="0"/>
              <a:t> and </a:t>
            </a:r>
            <a:r>
              <a:rPr lang="en-US" dirty="0"/>
              <a:t>address subtly different questions regarding longitudinal change in </a:t>
            </a:r>
            <a:r>
              <a:rPr lang="en-US" dirty="0" smtClean="0"/>
              <a:t>the response.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26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Marginal Models and GLMM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</a:t>
                </a:r>
                <a:r>
                  <a:rPr lang="en-US" u="sng" dirty="0"/>
                  <a:t>marginal model</a:t>
                </a:r>
                <a:r>
                  <a:rPr lang="en-US" b="1" dirty="0"/>
                  <a:t/>
                </a:r>
                <a:r>
                  <a:rPr lang="en-US" dirty="0"/>
                  <a:t>for the mean response is given </a:t>
                </a:r>
                <a:r>
                  <a:rPr lang="en-US" dirty="0" smtClean="0"/>
                  <a:t>by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(·) </m:t>
                    </m:r>
                  </m:oMath>
                </a14:m>
                <a:r>
                  <a:rPr lang="en-US" dirty="0"/>
                  <a:t>is an appropriate non-linear link </a:t>
                </a:r>
                <a:r>
                  <a:rPr lang="en-US" dirty="0" smtClean="0"/>
                  <a:t>function.</a:t>
                </a:r>
              </a:p>
              <a:p>
                <a:r>
                  <a:rPr lang="en-US" dirty="0" smtClean="0"/>
                  <a:t>A </a:t>
                </a:r>
                <a:r>
                  <a:rPr lang="en-US" u="sng" dirty="0"/>
                  <a:t>generalized linear mixed model</a:t>
                </a:r>
                <a:r>
                  <a:rPr lang="en-US" dirty="0"/>
                  <a:t/>
                </a:r>
                <a:r>
                  <a:rPr lang="en-US" dirty="0" smtClean="0"/>
                  <a:t>is given by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Note that we have used different notations for the fixed effects in the two models.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777" y="2333693"/>
            <a:ext cx="4457700" cy="571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r="331" b="2247"/>
          <a:stretch/>
        </p:blipFill>
        <p:spPr>
          <a:xfrm>
            <a:off x="3476489" y="3807348"/>
            <a:ext cx="4718277" cy="512104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26</a:t>
            </a:r>
          </a:p>
        </p:txBody>
      </p:sp>
    </p:spTree>
    <p:extLst>
      <p:ext uri="{BB962C8B-B14F-4D97-AF65-F5344CB8AC3E}">
        <p14:creationId xmlns:p14="http://schemas.microsoft.com/office/powerpoint/2010/main" val="34022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Marginal Models and GLMM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392295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For example, in a marginal logistic regression model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d>
                          </m:den>
                        </m:f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/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: log odds </a:t>
                </a:r>
                <a:r>
                  <a:rPr lang="en-US" dirty="0" smtClean="0"/>
                  <a:t>ratio of </a:t>
                </a:r>
                <a:r>
                  <a:rPr lang="en-US" dirty="0" smtClean="0"/>
                  <a:t>the {event probability averaged across population}, e.g.,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 smtClean="0"/>
                  <a:t>) associated with one unit increase in time.</a:t>
                </a:r>
              </a:p>
              <a:p>
                <a:r>
                  <a:rPr lang="en-US" dirty="0" smtClean="0"/>
                  <a:t>In </a:t>
                </a:r>
                <a:r>
                  <a:rPr lang="en-US" dirty="0"/>
                  <a:t>a </a:t>
                </a:r>
                <a:r>
                  <a:rPr lang="en-US" dirty="0" smtClean="0"/>
                  <a:t>mixed effects </a:t>
                </a:r>
                <a:r>
                  <a:rPr lang="en-US" dirty="0"/>
                  <a:t>logistic regression </a:t>
                </a:r>
                <a:r>
                  <a:rPr lang="en-US" dirty="0" smtClean="0"/>
                  <a:t>model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/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: </a:t>
                </a:r>
                <a:r>
                  <a:rPr lang="en-US" dirty="0"/>
                  <a:t>log odds </a:t>
                </a:r>
                <a:r>
                  <a:rPr lang="en-US" dirty="0" smtClean="0"/>
                  <a:t>ratio of </a:t>
                </a:r>
                <a:r>
                  <a:rPr lang="en-US" dirty="0"/>
                  <a:t>the </a:t>
                </a:r>
                <a:r>
                  <a:rPr lang="en-US" dirty="0" smtClean="0"/>
                  <a:t>{event </a:t>
                </a:r>
                <a:r>
                  <a:rPr lang="en-US" dirty="0"/>
                  <a:t>probability </a:t>
                </a:r>
                <a:r>
                  <a:rPr lang="en-US" dirty="0" smtClean="0"/>
                  <a:t>for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 smtClean="0"/>
                  <a:t>’</a:t>
                </a:r>
                <a:r>
                  <a:rPr lang="en-US" dirty="0" err="1" smtClean="0"/>
                  <a:t>th</a:t>
                </a:r>
                <a:r>
                  <a:rPr lang="en-US" dirty="0" smtClean="0"/>
                  <a:t> individual, </a:t>
                </a:r>
                <a:r>
                  <a:rPr lang="en-US" dirty="0"/>
                  <a:t>e.g.,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} </a:t>
                </a:r>
                <a:r>
                  <a:rPr lang="en-US" dirty="0"/>
                  <a:t>associated with one unit increase in time</a:t>
                </a:r>
                <a:r>
                  <a:rPr lang="en-US" dirty="0" smtClean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392295"/>
              </a:xfrm>
              <a:blipFill>
                <a:blip r:embed="rId2"/>
                <a:stretch>
                  <a:fillRect l="-1043" t="-2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26</a:t>
            </a:r>
          </a:p>
        </p:txBody>
      </p:sp>
    </p:spTree>
    <p:extLst>
      <p:ext uri="{BB962C8B-B14F-4D97-AF65-F5344CB8AC3E}">
        <p14:creationId xmlns:p14="http://schemas.microsoft.com/office/powerpoint/2010/main" val="3928157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Marginal Models and GLMM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392295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 smtClean="0"/>
                  <a:t> is the average {log odds ratio of individual-level event probabilities} associated with one unit increase in </a:t>
                </a:r>
                <a:r>
                  <a:rPr lang="en-US" dirty="0" smtClean="0"/>
                  <a:t>time.</a:t>
                </a:r>
                <a:endParaRPr lang="en-US" dirty="0" smtClean="0"/>
              </a:p>
              <a:p>
                <a:r>
                  <a:rPr lang="en-US" dirty="0" smtClean="0"/>
                  <a:t>That is,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 pertains to log odds ratio of the average probability while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/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 smtClean="0"/>
                  <a:t> pertains to average log odds ratio of individual </a:t>
                </a:r>
                <a:r>
                  <a:rPr lang="en-US" dirty="0" smtClean="0"/>
                  <a:t>probabilities (or the log odds ratio of a “typical” individual, i.e., one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).</a:t>
                </a:r>
                <a:endParaRPr lang="en-US" dirty="0" smtClean="0"/>
              </a:p>
              <a:p>
                <a:r>
                  <a:rPr lang="en-US" dirty="0" smtClean="0"/>
                  <a:t>In general,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 smtClean="0"/>
                  <a:t> is nonlinear,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392295"/>
              </a:xfrm>
              <a:blipFill>
                <a:blip r:embed="rId2"/>
                <a:stretch>
                  <a:fillRect l="-1043" t="-22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26</a:t>
            </a:r>
          </a:p>
        </p:txBody>
      </p:sp>
    </p:spTree>
    <p:extLst>
      <p:ext uri="{BB962C8B-B14F-4D97-AF65-F5344CB8AC3E}">
        <p14:creationId xmlns:p14="http://schemas.microsoft.com/office/powerpoint/2010/main" val="788479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Marginal Models and GLMM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427327"/>
              </p:ext>
            </p:extLst>
          </p:nvPr>
        </p:nvGraphicFramePr>
        <p:xfrm>
          <a:off x="746760" y="1690688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1877290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395999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57991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GEE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GLMM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881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Interpretation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Population-level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Subject-level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069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How</a:t>
                      </a:r>
                      <a:r>
                        <a:rPr lang="en-US" baseline="0" dirty="0" smtClean="0"/>
                        <a:t> to account for correlation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Empirical estimation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Via specification of random effects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64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Assumptions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Weak</a:t>
                      </a:r>
                      <a:r>
                        <a:rPr lang="en-US" sz="2000" baseline="0" dirty="0" smtClean="0"/>
                        <a:t> assumptions, </a:t>
                      </a:r>
                    </a:p>
                    <a:p>
                      <a:pPr algn="ctr"/>
                      <a:r>
                        <a:rPr lang="en-US" sz="2000" baseline="0" dirty="0" smtClean="0"/>
                        <a:t>more robust (correlation structure, over-dispersion)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Strong assumptions, </a:t>
                      </a:r>
                    </a:p>
                    <a:p>
                      <a:pPr algn="ctr"/>
                      <a:r>
                        <a:rPr lang="en-US" sz="2000" dirty="0" smtClean="0"/>
                        <a:t>less robust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99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Sample size needed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Moderately big (e.g., &gt;50)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Works with smaller sample sizes provided that the entire</a:t>
                      </a:r>
                      <a:r>
                        <a:rPr lang="en-US" baseline="0" dirty="0" smtClean="0"/>
                        <a:t> model is correctly specified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905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Computational burden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Light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Heavy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6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Can do subject-level prediction?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No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Yes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483766"/>
                  </a:ext>
                </a:extLst>
              </a:tr>
            </a:tbl>
          </a:graphicData>
        </a:graphic>
      </p:graphicFrame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26</a:t>
            </a:r>
          </a:p>
        </p:txBody>
      </p:sp>
    </p:spTree>
    <p:extLst>
      <p:ext uri="{BB962C8B-B14F-4D97-AF65-F5344CB8AC3E}">
        <p14:creationId xmlns:p14="http://schemas.microsoft.com/office/powerpoint/2010/main" val="1678201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Analysis of Over-dispersed Count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the advantages of GEE is that it automatically accounts for over-dispersion when used to analyze count data.</a:t>
            </a:r>
          </a:p>
          <a:p>
            <a:r>
              <a:rPr lang="en-US" dirty="0" smtClean="0"/>
              <a:t>This is because the variances are estimated </a:t>
            </a:r>
            <a:r>
              <a:rPr lang="en-US" u="sng" dirty="0" smtClean="0"/>
              <a:t>empirically</a:t>
            </a:r>
            <a:r>
              <a:rPr lang="en-US" dirty="0" smtClean="0"/>
              <a:t> rather than under the constraints of the Poisson distribution.</a:t>
            </a:r>
          </a:p>
          <a:p>
            <a:r>
              <a:rPr lang="en-US" dirty="0" smtClean="0"/>
              <a:t>In PROC GENMOD, specify the </a:t>
            </a:r>
            <a:r>
              <a:rPr lang="en-US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modelse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dirty="0" smtClean="0"/>
              <a:t>option in the REPEATED statement to obtain an estimate of the over-dispersion parameter when standard errors (se) are estimated under the Poisson model.</a:t>
            </a:r>
          </a:p>
          <a:p>
            <a:r>
              <a:rPr lang="en-US" dirty="0" smtClean="0"/>
              <a:t>But always use the </a:t>
            </a:r>
            <a:r>
              <a:rPr lang="en-US" u="sng" dirty="0" smtClean="0"/>
              <a:t>empirically estimated</a:t>
            </a:r>
            <a:r>
              <a:rPr lang="en-US" dirty="0" smtClean="0"/>
              <a:t/>
            </a:r>
            <a:r>
              <a:rPr lang="en-US" dirty="0" err="1" smtClean="0"/>
              <a:t>se’s</a:t>
            </a:r>
            <a:r>
              <a:rPr lang="en-US" dirty="0" smtClean="0"/>
              <a:t>, not the model-based ones.</a:t>
            </a:r>
            <a:endParaRPr lang="en-US" dirty="0"/>
          </a:p>
          <a:p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26</a:t>
            </a:r>
          </a:p>
        </p:txBody>
      </p:sp>
    </p:spTree>
    <p:extLst>
      <p:ext uri="{BB962C8B-B14F-4D97-AF65-F5344CB8AC3E}">
        <p14:creationId xmlns:p14="http://schemas.microsoft.com/office/powerpoint/2010/main" val="3710654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544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Study: Analysis of Over-dispersed Count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Placebo-controlled clinical trial</a:t>
            </a:r>
            <a:r>
              <a:rPr lang="en-US" dirty="0"/>
              <a:t> of 30 patients with </a:t>
            </a:r>
            <a:r>
              <a:rPr lang="en-US" u="sng" dirty="0"/>
              <a:t>leprosy</a:t>
            </a:r>
            <a:r>
              <a:rPr lang="en-US" dirty="0"/>
              <a:t> at the </a:t>
            </a:r>
            <a:r>
              <a:rPr lang="en-US" dirty="0" err="1" smtClean="0"/>
              <a:t>Eversley</a:t>
            </a:r>
            <a:r>
              <a:rPr lang="en-US" dirty="0" smtClean="0"/>
              <a:t> Childs </a:t>
            </a:r>
            <a:r>
              <a:rPr lang="en-US" dirty="0" err="1"/>
              <a:t>Sanitorium</a:t>
            </a:r>
            <a:r>
              <a:rPr lang="en-US" dirty="0"/>
              <a:t> in the Philippines.</a:t>
            </a:r>
          </a:p>
          <a:p>
            <a:r>
              <a:rPr lang="en-US" dirty="0"/>
              <a:t>Participants were randomized to either of two antibiotics (</a:t>
            </a:r>
            <a:r>
              <a:rPr lang="en-US" dirty="0" smtClean="0"/>
              <a:t>denoted treatment </a:t>
            </a:r>
            <a:r>
              <a:rPr lang="en-US" dirty="0"/>
              <a:t>drug A and B) or to a placebo (denoted treatment drug C).</a:t>
            </a:r>
          </a:p>
          <a:p>
            <a:r>
              <a:rPr lang="en-US" dirty="0"/>
              <a:t>Baseline data on number of leprosy bacilli at 6 sites of body were recorded.</a:t>
            </a:r>
          </a:p>
          <a:p>
            <a:r>
              <a:rPr lang="en-US" dirty="0"/>
              <a:t>After several months of treatment, number of bacilli were recorded a </a:t>
            </a:r>
            <a:r>
              <a:rPr lang="en-US" dirty="0" smtClean="0"/>
              <a:t>second time</a:t>
            </a:r>
            <a:r>
              <a:rPr lang="en-US" dirty="0"/>
              <a:t>.</a:t>
            </a:r>
          </a:p>
          <a:p>
            <a:r>
              <a:rPr lang="en-US" dirty="0"/>
              <a:t>Outcome: </a:t>
            </a:r>
            <a:r>
              <a:rPr lang="en-US" u="sng" dirty="0"/>
              <a:t>Total count of number of leprosy bacilli</a:t>
            </a:r>
            <a:r>
              <a:rPr lang="en-US" dirty="0"/>
              <a:t> at 6 sites.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26</a:t>
            </a:r>
          </a:p>
        </p:txBody>
      </p:sp>
    </p:spTree>
    <p:extLst>
      <p:ext uri="{BB962C8B-B14F-4D97-AF65-F5344CB8AC3E}">
        <p14:creationId xmlns:p14="http://schemas.microsoft.com/office/powerpoint/2010/main" val="104821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999" y="1445623"/>
            <a:ext cx="6671703" cy="5003777"/>
          </a:xfr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 b="1">
                <a:solidFill>
                  <a:srgbClr val="0D5F62"/>
                </a:solidFill>
                <a:ea typeface="+mj-ea"/>
                <a:cs typeface="+mj-cs"/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smtClean="0" sz="3400" b="1">
                <a:solidFill>
                  <a:srgbClr val="0D5F62"/>
                </a:solidFill>
                <a:latin typeface="Calibri"/>
              </a:rPr>
              <a:t>Case Study: Analysis of Over-dispersed Count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26</a:t>
            </a:r>
          </a:p>
        </p:txBody>
      </p:sp>
    </p:spTree>
    <p:extLst>
      <p:ext uri="{BB962C8B-B14F-4D97-AF65-F5344CB8AC3E}">
        <p14:creationId xmlns:p14="http://schemas.microsoft.com/office/powerpoint/2010/main" val="225525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Analysis of Over-dispersed Count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0204" y="2238823"/>
            <a:ext cx="10351591" cy="3230951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26</a:t>
            </a:r>
          </a:p>
        </p:txBody>
      </p:sp>
    </p:spTree>
    <p:extLst>
      <p:ext uri="{BB962C8B-B14F-4D97-AF65-F5344CB8AC3E}">
        <p14:creationId xmlns:p14="http://schemas.microsoft.com/office/powerpoint/2010/main" val="1009305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Analysis of Over-dispersed Count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620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Use results in this table			  </a:t>
            </a:r>
            <a:r>
              <a:rPr lang="en-US" sz="2400" dirty="0" smtClean="0"/>
              <a:t>Look only at the scale parameter here parameter	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84" y="2249875"/>
            <a:ext cx="5648690" cy="29289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885" y="2249874"/>
            <a:ext cx="5106026" cy="29289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44931" y="2743200"/>
            <a:ext cx="798021" cy="1828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522080" y="2651760"/>
            <a:ext cx="1015091" cy="2161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486890" y="4857403"/>
            <a:ext cx="1493328" cy="2161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486889" y="5233742"/>
            <a:ext cx="4973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Dispersion is 1.86 times that predicted by the (independent) Poisson model. </a:t>
            </a:r>
          </a:p>
          <a:p>
            <a:r>
              <a:rPr lang="en-US" dirty="0" smtClean="0"/>
              <a:t>This over-dispersion is accounted for in the empirical standard errors.</a:t>
            </a:r>
            <a:endParaRPr lang="en-US" dirty="0"/>
          </a:p>
        </p:txBody>
      </p:sp>
      <p:sp>
        <p:nvSpPr>
          <p:cNvPr id="12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13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26</a:t>
            </a:r>
          </a:p>
        </p:txBody>
      </p:sp>
    </p:spTree>
    <p:extLst>
      <p:ext uri="{BB962C8B-B14F-4D97-AF65-F5344CB8AC3E}">
        <p14:creationId xmlns:p14="http://schemas.microsoft.com/office/powerpoint/2010/main" val="2838356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Analysis of Over-dispersed Count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49204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smtClean="0"/>
                  <a:t>In GLMM, the subject-specific random effects allow for between-subject variation, which in turn accounts for (part of the) possible over-dispersion that may exist in the responses.</a:t>
                </a:r>
              </a:p>
              <a:p>
                <a:r>
                  <a:rPr lang="en-US" sz="2400" dirty="0" smtClean="0"/>
                  <a:t>In case there still is “residual” over-dispersion not accounted for by the random effects, we can use the negative binomial model in place of the Poisson model.</a:t>
                </a:r>
              </a:p>
              <a:p>
                <a:r>
                  <a:rPr lang="en-US" sz="2400" dirty="0" smtClean="0"/>
                  <a:t>Recall that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 smtClean="0"/>
                  <a:t>, then under Poisson,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 smtClean="0"/>
                  <a:t>. Under the negative binomial model,  we have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𝜅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/>
                  <a:t/>
                </a:r>
                <a:r>
                  <a:rPr lang="en-US" sz="24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 smtClean="0"/>
                  <a:t> is a scale parameter.</a:t>
                </a:r>
              </a:p>
              <a:p>
                <a:pPr/>
                <a:r>
                  <a:rPr lang="en-US" sz="2400" dirty="0" smtClean="0"/>
                  <a:t>In PROC GLIMMIX, use </a:t>
                </a:r>
                <a:r>
                  <a:rPr lang="en-US" sz="2400" dirty="0" err="1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dist</a:t>
                </a:r>
                <a:r>
                  <a:rPr lang="en-US" sz="2400" dirty="0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=</a:t>
                </a:r>
                <a:r>
                  <a:rPr lang="en-US" sz="2400" dirty="0" err="1" smtClean="0">
                    <a:latin typeface="Consolas" panose="020B0609020204030204" pitchFamily="49" charset="0"/>
                    <a:cs typeface="Consolas" panose="020B0609020204030204" pitchFamily="49" charset="0"/>
                  </a:rPr>
                  <a:t>negbinomial</a:t>
                </a:r>
                <a:r>
                  <a:rPr lang="en-US" sz="2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/>
                </a:r>
                <a:r>
                  <a:rPr lang="en-US" sz="2400" dirty="0"/>
                  <a:t>to fit the negative binomial </a:t>
                </a:r>
                <a:r>
                  <a:rPr lang="en-US" sz="2400" dirty="0" smtClean="0"/>
                  <a:t>regression model.</a:t>
                </a: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492048"/>
              </a:xfrm>
              <a:blipFill>
                <a:blip r:embed="rId2"/>
                <a:stretch>
                  <a:fillRect l="-812" t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26</a:t>
            </a:r>
          </a:p>
        </p:txBody>
      </p:sp>
    </p:spTree>
    <p:extLst>
      <p:ext uri="{BB962C8B-B14F-4D97-AF65-F5344CB8AC3E}">
        <p14:creationId xmlns:p14="http://schemas.microsoft.com/office/powerpoint/2010/main" val="513863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Analysis of Over-dispersed Count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34600"/>
          </a:xfrm>
        </p:spPr>
        <p:txBody>
          <a:bodyPr/>
          <a:lstStyle/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62646"/>
          <a:stretch/>
        </p:blipFill>
        <p:spPr>
          <a:xfrm>
            <a:off x="771697" y="1825625"/>
            <a:ext cx="8430491" cy="17239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47843"/>
          <a:stretch/>
        </p:blipFill>
        <p:spPr>
          <a:xfrm>
            <a:off x="771696" y="3688116"/>
            <a:ext cx="8430491" cy="2407046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14 / 26</a:t>
            </a:r>
          </a:p>
        </p:txBody>
      </p:sp>
    </p:spTree>
    <p:extLst>
      <p:ext uri="{BB962C8B-B14F-4D97-AF65-F5344CB8AC3E}">
        <p14:creationId xmlns:p14="http://schemas.microsoft.com/office/powerpoint/2010/main" val="1918100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Analysis of Over-dispersed Count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631575" cy="4134600"/>
          </a:xfrm>
        </p:spPr>
        <p:txBody>
          <a:bodyPr/>
          <a:lstStyle/>
          <a:p>
            <a:r>
              <a:rPr lang="en-US" sz="2400" dirty="0" smtClean="0"/>
              <a:t>GLMM Poisson regression results: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42" y="2605866"/>
            <a:ext cx="4281689" cy="2739217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5469775" y="1825625"/>
            <a:ext cx="4631575" cy="4134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GLMM negative binomial regression results:</a:t>
            </a:r>
            <a:endParaRPr lang="en-US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717" y="2605866"/>
            <a:ext cx="4180227" cy="273921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105" y="5345083"/>
            <a:ext cx="2457450" cy="111442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34831" y="6184668"/>
            <a:ext cx="561272" cy="2161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3" idx="1"/>
          </p:cNvCxnSpPr>
          <p:nvPr/>
        </p:nvCxnSpPr>
        <p:spPr>
          <a:xfrm flipH="1" flipV="1">
            <a:off x="5794775" y="6276109"/>
            <a:ext cx="1940056" cy="16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3025427" y="6036207"/>
                <a:ext cx="2769348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This is an estimate of our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dirty="0" smtClean="0"/>
                  <a:t/>
                </a:r>
                <a:endParaRPr lang="en-US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5427" y="6036207"/>
                <a:ext cx="2769348" cy="369332"/>
              </a:xfrm>
              <a:prstGeom prst="rect">
                <a:avLst/>
              </a:prstGeom>
              <a:blipFill>
                <a:blip r:embed="rId5"/>
                <a:stretch>
                  <a:fillRect l="-1532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1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26</a:t>
            </a:r>
          </a:p>
        </p:txBody>
      </p:sp>
    </p:spTree>
    <p:extLst>
      <p:ext uri="{BB962C8B-B14F-4D97-AF65-F5344CB8AC3E}">
        <p14:creationId xmlns:p14="http://schemas.microsoft.com/office/powerpoint/2010/main" val="449301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Analysis of Over-dispersed Count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134600" cy="4134600"/>
              </a:xfrm>
            </p:spPr>
            <p:txBody>
              <a:bodyPr/>
              <a:lstStyle/>
              <a:p>
                <a:r>
                  <a:rPr lang="en-US" sz="2400" dirty="0" smtClean="0"/>
                  <a:t>To test the adequacy of the GLMM Poisson model in terms of accounting for over-dispersion, we can compare it with the (GLMM) negative binomial model.</a:t>
                </a:r>
              </a:p>
              <a:p>
                <a:r>
                  <a:rPr lang="en-US" sz="2400" dirty="0" smtClean="0"/>
                  <a:t>The two models are nested, with one additional parameter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2400" dirty="0" smtClean="0"/>
                  <a:t> is the negative binomial. So we 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en-US" sz="2400" dirty="0" smtClean="0"/>
                  <a:t> and can use the likelihood ratio test (LRT).</a:t>
                </a:r>
              </a:p>
              <a:p>
                <a:r>
                  <a:rPr lang="en-US" sz="2400" dirty="0" smtClean="0"/>
                  <a:t>However, because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en-US" sz="2400" dirty="0" smtClean="0"/>
                  <a:t> cannot be negative, the alternative hypothesis is one-sided, the LRT statistic does not have a chi-squared distribution.</a:t>
                </a:r>
              </a:p>
              <a:p>
                <a:r>
                  <a:rPr lang="en-US" sz="2400" dirty="0" smtClean="0"/>
                  <a:t>Therefore it is preferable to compare the two models in terms of AIC.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134600" cy="4134600"/>
              </a:xfrm>
              <a:blipFill>
                <a:blip r:embed="rId2"/>
                <a:stretch>
                  <a:fillRect l="-842" t="-2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26</a:t>
            </a:r>
          </a:p>
        </p:txBody>
      </p:sp>
    </p:spTree>
    <p:extLst>
      <p:ext uri="{BB962C8B-B14F-4D97-AF65-F5344CB8AC3E}">
        <p14:creationId xmlns:p14="http://schemas.microsoft.com/office/powerpoint/2010/main" val="811675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Analysis of Over-dispersed Count Data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1913123"/>
              </p:ext>
            </p:extLst>
          </p:nvPr>
        </p:nvGraphicFramePr>
        <p:xfrm>
          <a:off x="1028700" y="2241261"/>
          <a:ext cx="10134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8200">
                  <a:extLst>
                    <a:ext uri="{9D8B030D-6E8A-4147-A177-3AD203B41FA5}">
                      <a16:colId xmlns:a16="http://schemas.microsoft.com/office/drawing/2014/main" val="3897649116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1974557073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1803516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GLMM Poisson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GLMM Negative Binomial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199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 Log Likelihood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349.86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349.86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466945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AIC (smaller is better)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363.86</a:t>
                      </a: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365.86</a:t>
                      </a: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83296066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28700" y="3785820"/>
            <a:ext cx="10542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Clearly, the GLMM Poisson model is adequate in terms of accounting for over-dispersion with reference to the negative binomial model.</a:t>
            </a:r>
            <a:endParaRPr lang="en-US" sz="2400" dirty="0"/>
          </a:p>
        </p:txBody>
      </p:sp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26</a:t>
            </a:r>
          </a:p>
        </p:txBody>
      </p:sp>
    </p:spTree>
    <p:extLst>
      <p:ext uri="{BB962C8B-B14F-4D97-AF65-F5344CB8AC3E}">
        <p14:creationId xmlns:p14="http://schemas.microsoft.com/office/powerpoint/2010/main" val="3407786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778793"/>
            <a:ext cx="9599337" cy="3902339"/>
          </a:xfrm>
          <a:prstGeom prst="rect">
            <a:avLst/>
          </a:prstGeom>
        </p:spPr>
      </p:pic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26</a:t>
            </a:r>
          </a:p>
        </p:txBody>
      </p:sp>
    </p:spTree>
    <p:extLst>
      <p:ext uri="{BB962C8B-B14F-4D97-AF65-F5344CB8AC3E}">
        <p14:creationId xmlns:p14="http://schemas.microsoft.com/office/powerpoint/2010/main" val="267247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232" y="1825625"/>
            <a:ext cx="8715375" cy="3848100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26</a:t>
            </a:r>
          </a:p>
        </p:txBody>
      </p:sp>
    </p:spTree>
    <p:extLst>
      <p:ext uri="{BB962C8B-B14F-4D97-AF65-F5344CB8AC3E}">
        <p14:creationId xmlns:p14="http://schemas.microsoft.com/office/powerpoint/2010/main" val="3585886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4106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sz="2000" dirty="0"/>
              <a:t>Variable List</a:t>
            </a:r>
            <a:r>
              <a:rPr lang="en-US" sz="2000" dirty="0" smtClean="0"/>
              <a:t>: ID</a:t>
            </a:r>
            <a:r>
              <a:rPr lang="en-US" sz="2000" dirty="0"/>
              <a:t>, </a:t>
            </a:r>
            <a:r>
              <a:rPr lang="en-US" sz="2000" dirty="0" err="1" smtClean="0"/>
              <a:t>Seq</a:t>
            </a:r>
            <a:r>
              <a:rPr lang="en-US" sz="2000" dirty="0" smtClean="0"/>
              <a:t/>
            </a:r>
            <a:r>
              <a:rPr lang="en-US" sz="2000" dirty="0"/>
              <a:t>(1=Placebo--&gt;Active, 2=Active--&gt;Placebo), Period (0=Period 1, 1=Period 2</a:t>
            </a:r>
            <a:r>
              <a:rPr lang="en-US" sz="2000" dirty="0" smtClean="0"/>
              <a:t>), TRT </a:t>
            </a:r>
            <a:r>
              <a:rPr lang="en-US" sz="2000" dirty="0"/>
              <a:t>(0=Placebo, 1=Active Drug), ECG Response (0=Normal, 1=Abnormal).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720542" cy="3525961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26</a:t>
            </a:r>
          </a:p>
        </p:txBody>
      </p:sp>
    </p:spTree>
    <p:extLst>
      <p:ext uri="{BB962C8B-B14F-4D97-AF65-F5344CB8AC3E}">
        <p14:creationId xmlns:p14="http://schemas.microsoft.com/office/powerpoint/2010/main" val="1078554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4106"/>
          </a:xfrm>
        </p:spPr>
        <p:txBody>
          <a:bodyPr>
            <a:normAutofit/>
          </a:bodyPr>
          <a:lstStyle/>
          <a:p>
            <a:r>
              <a:rPr lang="en-US" dirty="0" smtClean="0"/>
              <a:t>First, we use a marginal logistic regression model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Note that </a:t>
            </a:r>
            <a:r>
              <a:rPr lang="en-US" smtClean="0"/>
              <a:t>because treatment </a:t>
            </a:r>
            <a:r>
              <a:rPr lang="en-US" dirty="0" smtClean="0"/>
              <a:t>is time-varying, we assess the main effect of treatment rather than its interaction with time.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895" y="2417763"/>
            <a:ext cx="7258050" cy="419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697" y="3769749"/>
            <a:ext cx="5690833" cy="21655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089862" y="5303520"/>
            <a:ext cx="798021" cy="1828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26</a:t>
            </a:r>
          </a:p>
        </p:txBody>
      </p:sp>
    </p:spTree>
    <p:extLst>
      <p:ext uri="{BB962C8B-B14F-4D97-AF65-F5344CB8AC3E}">
        <p14:creationId xmlns:p14="http://schemas.microsoft.com/office/powerpoint/2010/main" val="4222096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34106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The results indicate that treatment with the active drug is harmful,</a:t>
                </a:r>
                <a:br>
                  <a:rPr lang="en-US" dirty="0" smtClean="0"/>
                </a:br>
                <a:r>
                  <a:rPr lang="en-US" dirty="0" smtClean="0"/>
                  <a:t>increasing the rates of abnormal electrocardiograms.</a:t>
                </a:r>
              </a:p>
              <a:p>
                <a:r>
                  <a:rPr lang="en-US" dirty="0" smtClean="0"/>
                  <a:t>The </a:t>
                </a:r>
                <a:r>
                  <a:rPr lang="en-US" dirty="0"/>
                  <a:t>odds of an abnormal electrocardiogram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0.5582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=1.75</m:t>
                        </m:r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times </a:t>
                </a:r>
                <a:r>
                  <a:rPr lang="en-US" dirty="0" smtClean="0"/>
                  <a:t>as high when </a:t>
                </a:r>
                <a:r>
                  <a:rPr lang="en-US" dirty="0"/>
                  <a:t>treated with active drug versus placebo.</a:t>
                </a:r>
                <a:r>
                  <a:rPr lang="en-US" dirty="0"/>
                  <a:t/>
                </a:r>
                <a:endParaRPr lang="en-US" dirty="0" smtClean="0"/>
              </a:p>
              <a:p>
                <a:r>
                  <a:rPr lang="en-US" dirty="0" smtClean="0"/>
                  <a:t>Next</a:t>
                </a:r>
                <a:r>
                  <a:rPr lang="en-US" dirty="0"/>
                  <a:t>, consider logistic regression model with a </a:t>
                </a:r>
                <a:r>
                  <a:rPr lang="en-US" dirty="0" smtClean="0"/>
                  <a:t>patient-level random </a:t>
                </a:r>
                <a:r>
                  <a:rPr lang="en-US" dirty="0"/>
                  <a:t>effect</a:t>
                </a: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34106"/>
              </a:xfrm>
              <a:blipFill>
                <a:blip r:embed="rId2"/>
                <a:stretch>
                  <a:fillRect l="-1043" t="-2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660" y="4769081"/>
            <a:ext cx="6115050" cy="495300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26</a:t>
            </a:r>
          </a:p>
        </p:txBody>
      </p:sp>
    </p:spTree>
    <p:extLst>
      <p:ext uri="{BB962C8B-B14F-4D97-AF65-F5344CB8AC3E}">
        <p14:creationId xmlns:p14="http://schemas.microsoft.com/office/powerpoint/2010/main" val="188068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34106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The results also indicate that treatment with the active drug increases </a:t>
                </a:r>
                <a:r>
                  <a:rPr lang="en-US" dirty="0"/>
                  <a:t>the patient-specific risk of an abnormal </a:t>
                </a:r>
                <a:r>
                  <a:rPr lang="en-US" dirty="0" smtClean="0"/>
                  <a:t>electrocardiogram.</a:t>
                </a:r>
              </a:p>
              <a:p>
                <a:r>
                  <a:rPr lang="en-US" dirty="0" smtClean="0"/>
                  <a:t>In </a:t>
                </a:r>
                <a:r>
                  <a:rPr lang="en-US" dirty="0"/>
                  <a:t>particular, a patient’s odds of an abnormal electrocardiogram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1.8629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6.44</m:t>
                        </m:r>
                      </m:e>
                    </m:func>
                  </m:oMath>
                </a14:m>
                <a:r>
                  <a:rPr lang="en-US" dirty="0" smtClean="0"/>
                  <a:t> times high </a:t>
                </a:r>
                <a:r>
                  <a:rPr lang="en-US" dirty="0"/>
                  <a:t>when treated with active drug than when treated </a:t>
                </a:r>
                <a:r>
                  <a:rPr lang="en-US" dirty="0" smtClean="0"/>
                  <a:t>with the </a:t>
                </a:r>
                <a:r>
                  <a:rPr lang="en-US" dirty="0"/>
                  <a:t>placebo.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34106"/>
              </a:xfrm>
              <a:blipFill>
                <a:blip r:embed="rId2"/>
                <a:stretch>
                  <a:fillRect l="-1043" t="-2250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680" y="3945364"/>
            <a:ext cx="5359371" cy="2439095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26</a:t>
            </a:r>
          </a:p>
        </p:txBody>
      </p:sp>
    </p:spTree>
    <p:extLst>
      <p:ext uri="{BB962C8B-B14F-4D97-AF65-F5344CB8AC3E}">
        <p14:creationId xmlns:p14="http://schemas.microsoft.com/office/powerpoint/2010/main" val="1160359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Study: A Cross-Over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3410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dirty="0" smtClean="0"/>
                  <a:t> from </a:t>
                </a:r>
                <a:r>
                  <a:rPr lang="en-US" dirty="0"/>
                  <a:t>marginal model describes how the average rates (expressed in </a:t>
                </a:r>
                <a:r>
                  <a:rPr lang="en-US" dirty="0" smtClean="0"/>
                  <a:t>terms of </a:t>
                </a:r>
                <a:r>
                  <a:rPr lang="en-US" dirty="0"/>
                  <a:t>odds) of abnormal ECGs could be increased in the study population </a:t>
                </a:r>
                <a:r>
                  <a:rPr lang="en-US" dirty="0" smtClean="0"/>
                  <a:t>if all patients </a:t>
                </a:r>
                <a:r>
                  <a:rPr lang="en-US" dirty="0"/>
                  <a:t>are treated with the active </a:t>
                </a:r>
                <a:r>
                  <a:rPr lang="en-US" dirty="0" smtClean="0"/>
                  <a:t>drug</a:t>
                </a:r>
                <a:r>
                  <a:rPr lang="en-US" dirty="0"/>
                  <a:t/>
                </a:r>
                <a:r>
                  <a:rPr lang="en-US" dirty="0" smtClean="0"/>
                  <a:t>as opposed to the placebo.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 smtClean="0"/>
                  <a:t> from </a:t>
                </a:r>
                <a:r>
                  <a:rPr lang="en-US" dirty="0"/>
                  <a:t>the mixed effects model describes how the odds of an </a:t>
                </a:r>
                <a:r>
                  <a:rPr lang="en-US" dirty="0" smtClean="0"/>
                  <a:t>abnormal ECG </a:t>
                </a:r>
                <a:r>
                  <a:rPr lang="en-US" dirty="0"/>
                  <a:t>increases for </a:t>
                </a:r>
                <a:r>
                  <a:rPr lang="en-US" dirty="0" smtClean="0"/>
                  <a:t>a typical (or an average) </a:t>
                </a:r>
                <a:r>
                  <a:rPr lang="en-US" dirty="0"/>
                  <a:t>patient treated with the active drug.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34106"/>
              </a:xfrm>
              <a:blipFill>
                <a:blip r:embed="rId2"/>
                <a:stretch>
                  <a:fillRect t="-1406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26</a:t>
            </a:r>
          </a:p>
        </p:txBody>
      </p:sp>
    </p:spTree>
    <p:extLst>
      <p:ext uri="{BB962C8B-B14F-4D97-AF65-F5344CB8AC3E}">
        <p14:creationId xmlns:p14="http://schemas.microsoft.com/office/powerpoint/2010/main" val="2088798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4106"/>
          </a:xfrm>
        </p:spPr>
        <p:txBody>
          <a:bodyPr>
            <a:normAutofit fontScale="92500"/>
          </a:bodyPr>
          <a:lstStyle/>
          <a:p>
            <a:r>
              <a:rPr lang="en-US" dirty="0"/>
              <a:t>Unlike linear </a:t>
            </a:r>
            <a:r>
              <a:rPr lang="en-US" dirty="0" smtClean="0"/>
              <a:t>models, </a:t>
            </a:r>
            <a:r>
              <a:rPr lang="en-US" dirty="0"/>
              <a:t>longitudinal analysis of categorical data raises many</a:t>
            </a:r>
            <a:br>
              <a:rPr lang="en-US" dirty="0"/>
            </a:br>
            <a:r>
              <a:rPr lang="en-US" dirty="0"/>
              <a:t>subtle </a:t>
            </a:r>
            <a:r>
              <a:rPr lang="en-US" dirty="0" smtClean="0"/>
              <a:t>issues.</a:t>
            </a:r>
          </a:p>
          <a:p>
            <a:r>
              <a:rPr lang="en-US" dirty="0" smtClean="0"/>
              <a:t>Different </a:t>
            </a:r>
            <a:r>
              <a:rPr lang="en-US" dirty="0"/>
              <a:t>models for categorical outcomes can give discernibly different</a:t>
            </a:r>
            <a:br>
              <a:rPr lang="en-US" dirty="0"/>
            </a:br>
            <a:r>
              <a:rPr lang="en-US" dirty="0" smtClean="0"/>
              <a:t>results.</a:t>
            </a:r>
          </a:p>
          <a:p>
            <a:r>
              <a:rPr lang="en-US" dirty="0" smtClean="0"/>
              <a:t>The </a:t>
            </a:r>
            <a:r>
              <a:rPr lang="en-US" dirty="0"/>
              <a:t>choice and meaning of longitudinal models for categorical outcomes</a:t>
            </a:r>
            <a:br>
              <a:rPr lang="en-US" dirty="0"/>
            </a:br>
            <a:r>
              <a:rPr lang="en-US" dirty="0"/>
              <a:t>require somewhat greater </a:t>
            </a:r>
            <a:r>
              <a:rPr lang="en-US" dirty="0" smtClean="0"/>
              <a:t>care.</a:t>
            </a:r>
          </a:p>
          <a:p>
            <a:r>
              <a:rPr lang="en-US" dirty="0" smtClean="0"/>
              <a:t>With </a:t>
            </a:r>
            <a:r>
              <a:rPr lang="en-US" dirty="0"/>
              <a:t>different targets of inference, different models for </a:t>
            </a:r>
            <a:r>
              <a:rPr lang="en-US" dirty="0" smtClean="0"/>
              <a:t>categorical outcomes address </a:t>
            </a:r>
            <a:r>
              <a:rPr lang="en-US" dirty="0"/>
              <a:t>subtly different questions regarding longitudinal change.</a:t>
            </a:r>
            <a:r>
              <a:rPr lang="en-US" dirty="0"/>
              <a:t/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26</a:t>
            </a:r>
          </a:p>
        </p:txBody>
      </p:sp>
    </p:spTree>
    <p:extLst>
      <p:ext uri="{BB962C8B-B14F-4D97-AF65-F5344CB8AC3E}">
        <p14:creationId xmlns:p14="http://schemas.microsoft.com/office/powerpoint/2010/main" val="613737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Summary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4018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4106"/>
          </a:xfrm>
        </p:spPr>
        <p:txBody>
          <a:bodyPr>
            <a:normAutofit/>
          </a:bodyPr>
          <a:lstStyle/>
          <a:p>
            <a:r>
              <a:rPr lang="en-US" b="1" dirty="0"/>
              <a:t>Choice among </a:t>
            </a:r>
            <a:r>
              <a:rPr lang="en-US" b="1" dirty="0" smtClean="0"/>
              <a:t>models?</a:t>
            </a:r>
          </a:p>
          <a:p>
            <a:pPr lvl="1"/>
            <a:r>
              <a:rPr lang="en-US" dirty="0" smtClean="0"/>
              <a:t>Should </a:t>
            </a:r>
            <a:r>
              <a:rPr lang="en-US" dirty="0"/>
              <a:t>be </a:t>
            </a:r>
            <a:r>
              <a:rPr lang="en-US" dirty="0" smtClean="0"/>
              <a:t>primarily guided </a:t>
            </a:r>
            <a:r>
              <a:rPr lang="en-US" dirty="0"/>
              <a:t>by specific scientific question of </a:t>
            </a:r>
            <a:r>
              <a:rPr lang="en-US" dirty="0" smtClean="0"/>
              <a:t>interest</a:t>
            </a:r>
          </a:p>
          <a:p>
            <a:pPr lvl="1"/>
            <a:r>
              <a:rPr lang="en-US" dirty="0" smtClean="0"/>
              <a:t>May also consider robustness (in covariance structure, over-dispersion), efficiency, sample size, computational issues, etc.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18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26</a:t>
            </a:r>
          </a:p>
        </p:txBody>
      </p:sp>
    </p:spTree>
    <p:extLst>
      <p:ext uri="{BB962C8B-B14F-4D97-AF65-F5344CB8AC3E}">
        <p14:creationId xmlns:p14="http://schemas.microsoft.com/office/powerpoint/2010/main" val="3494961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51881</TotalTime>
  <Words>878</Words>
  <Application>Microsoft Office PowerPoint</Application>
  <PresentationFormat>Widescreen</PresentationFormat>
  <Paragraphs>150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Consolas</vt:lpstr>
      <vt:lpstr>Office Theme</vt:lpstr>
      <vt:lpstr>Advanced Regression Methods for Population Health</vt:lpstr>
      <vt:lpstr>Outline</vt:lpstr>
      <vt:lpstr>Marginal Models and GLMM</vt:lpstr>
      <vt:lpstr>Marginal Models and GLMM</vt:lpstr>
      <vt:lpstr>Marginal Models and GLMM</vt:lpstr>
      <vt:lpstr>Marginal Models and GLMM</vt:lpstr>
      <vt:lpstr>Marginal Models and GLMM</vt:lpstr>
      <vt:lpstr>Case Study: Analysis of Over-dispersed Count Data</vt:lpstr>
      <vt:lpstr>Case Study: Analysis of Over-dispersed Count Data</vt:lpstr>
      <vt:lpstr>PowerPoint Presentation</vt:lpstr>
      <vt:lpstr>Case Study: Analysis of Over-dispersed Count Data</vt:lpstr>
      <vt:lpstr>Case Study: Analysis of Over-dispersed Count Data</vt:lpstr>
      <vt:lpstr>Case Study: Analysis of Over-dispersed Count Data</vt:lpstr>
      <vt:lpstr>Case Study: Analysis of Over-dispersed Count Data</vt:lpstr>
      <vt:lpstr>Case Study: Analysis of Over-dispersed Count Data</vt:lpstr>
      <vt:lpstr>Case Study: Analysis of Over-dispersed Count Data</vt:lpstr>
      <vt:lpstr>Case Study: Analysis of Over-dispersed Count Data</vt:lpstr>
      <vt:lpstr>Case Study: A Cross-Over Trial</vt:lpstr>
      <vt:lpstr>Case Study: A Cross-Over Trial</vt:lpstr>
      <vt:lpstr>Case Study: A Cross-Over Trial</vt:lpstr>
      <vt:lpstr>Case Study: A Cross-Over Trial</vt:lpstr>
      <vt:lpstr>Case Study: A Cross-Over Trial</vt:lpstr>
      <vt:lpstr>Case Study: A Cross-Over Trial</vt:lpstr>
      <vt:lpstr>Case Study: A Cross-Over Trial</vt:lpstr>
      <vt:lpstr>Summary</vt:lpstr>
      <vt:lpstr>Summary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1400</cp:revision>
  <dcterms:created xsi:type="dcterms:W3CDTF">2019-01-16T21:45:55Z</dcterms:created>
  <dcterms:modified xsi:type="dcterms:W3CDTF">2019-04-10T19:16:11Z</dcterms:modified>
</cp:coreProperties>
</file>