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8" r:id="rId13"/>
    <p:sldId id="269" r:id="rId14"/>
    <p:sldId id="26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86C92-C7FF-40BD-B560-B1FC6128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62282-7ED3-42B3-8742-45FC65BB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Prediction in Mixed Effects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4F975-D10E-4F8C-8868-133642D5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9BBBD-C46D-4689-B890-70853C52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1B313-AC18-4D3D-8712-E1C1B3B7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B9E18-D383-42CD-9C6A-4406EFE0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871840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Rationale fo</a:t>
            </a:r>
            <a:r>
              <a:rPr lang="en-US" sz="2800" dirty="0" smtClean="0"/>
              <a:t>r </a:t>
            </a:r>
            <a:r>
              <a:rPr lang="en-US" sz="2800" u="sng" dirty="0"/>
              <a:t>p</a:t>
            </a:r>
            <a:r>
              <a:rPr lang="en-US" sz="2800" u="sng" dirty="0" smtClean="0"/>
              <a:t>rediction of random effects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The </a:t>
            </a:r>
            <a:r>
              <a:rPr lang="en-US" sz="2800" u="sng" dirty="0" smtClean="0"/>
              <a:t>shrinkage estimator</a:t>
            </a:r>
            <a:endParaRPr lang="en-US" sz="2800" u="sng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An Example </a:t>
            </a:r>
            <a:r>
              <a:rPr lang="en-US" sz="2800" dirty="0" smtClean="0"/>
              <a:t>with </a:t>
            </a:r>
            <a:r>
              <a:rPr lang="en-US" sz="2800" dirty="0"/>
              <a:t>Exercise Therapy </a:t>
            </a:r>
            <a:r>
              <a:rPr lang="en-US" sz="2800" dirty="0" smtClean="0"/>
              <a:t>Trial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An Example with </a:t>
            </a:r>
            <a:r>
              <a:rPr lang="en-US" sz="2800" dirty="0"/>
              <a:t>MIT Growth and Development Study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27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Conditional and Marginal Means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Recall that in the linear mixed effects model,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we can distinguish between the conditional mean,</a:t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and the marginal mean,</a:t>
            </a:r>
            <a:br>
              <a:rPr lang="en-US" dirty="0" smtClean="0"/>
            </a:br>
            <a:r>
              <a:rPr lang="el-GR" i="1" dirty="0" smtClean="0"/>
              <a:t/>
            </a:r>
            <a:br>
              <a:rPr lang="el-GR" i="1" dirty="0" smtClean="0"/>
            </a:br>
            <a:endParaRPr lang="en-US" i="1" dirty="0" smtClean="0"/>
          </a:p>
          <a:p>
            <a:r>
              <a:rPr lang="en-US" dirty="0" smtClean="0"/>
              <a:t>The former describes the mean response for </a:t>
            </a:r>
            <a:r>
              <a:rPr lang="en-US" u="sng" dirty="0" smtClean="0"/>
              <a:t>an individual</a:t>
            </a:r>
            <a:r>
              <a:rPr lang="en-US" dirty="0" smtClean="0"/>
              <a:t>, the latter</a:t>
            </a:r>
            <a:br>
              <a:rPr lang="en-US" dirty="0" smtClean="0"/>
            </a:br>
            <a:r>
              <a:rPr lang="en-US" dirty="0" smtClean="0"/>
              <a:t>describes the mean response averaged </a:t>
            </a:r>
            <a:r>
              <a:rPr lang="en-US" u="sng" dirty="0" smtClean="0"/>
              <a:t>over individuals</a:t>
            </a:r>
            <a:r>
              <a:rPr lang="en-US" dirty="0" smtClean="0"/>
              <a:t>.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175" y="2311975"/>
            <a:ext cx="2790825" cy="39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228" y="3203574"/>
            <a:ext cx="3467100" cy="419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540" y="4118263"/>
            <a:ext cx="2276475" cy="44767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27</a:t>
            </a:r>
          </a:p>
        </p:txBody>
      </p:sp>
    </p:spTree>
    <p:extLst>
      <p:ext uri="{BB962C8B-B14F-4D97-AF65-F5344CB8AC3E}">
        <p14:creationId xmlns:p14="http://schemas.microsoft.com/office/powerpoint/2010/main" val="2432964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Conditional and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Consider the </a:t>
            </a:r>
            <a:r>
              <a:rPr lang="en-US" dirty="0" smtClean="0"/>
              <a:t>(single-group) </a:t>
            </a:r>
            <a:r>
              <a:rPr lang="en-US" dirty="0"/>
              <a:t>random intercepts and slopes model</a:t>
            </a:r>
            <a:r>
              <a:rPr lang="en-US" dirty="0" smtClean="0"/>
              <a:t>,</a:t>
            </a:r>
          </a:p>
          <a:p>
            <a:endParaRPr lang="en-US" dirty="0"/>
          </a:p>
          <a:p>
            <a:r>
              <a:rPr lang="en-US" dirty="0" smtClean="0"/>
              <a:t>In this model, the </a:t>
            </a:r>
            <a:r>
              <a:rPr lang="en-US" dirty="0"/>
              <a:t>conditional mean for an individual</a:t>
            </a:r>
            <a:r>
              <a:rPr lang="en-US" dirty="0"/>
              <a:t/>
            </a:r>
            <a:r>
              <a:rPr lang="en-US" dirty="0" smtClean="0"/>
              <a:t>is</a:t>
            </a:r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marginal </a:t>
            </a:r>
            <a:r>
              <a:rPr lang="en-US" dirty="0" smtClean="0"/>
              <a:t>mean averaged </a:t>
            </a:r>
            <a:r>
              <a:rPr lang="en-US" dirty="0"/>
              <a:t>over </a:t>
            </a:r>
            <a:r>
              <a:rPr lang="en-US" dirty="0" smtClean="0"/>
              <a:t>individuals</a:t>
            </a:r>
            <a:r>
              <a:rPr lang="en-US" dirty="0"/>
              <a:t/>
            </a:r>
            <a:r>
              <a:rPr lang="en-US" dirty="0" smtClean="0"/>
              <a:t>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03" y="2397702"/>
            <a:ext cx="3924300" cy="400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449" y="3437414"/>
            <a:ext cx="4552950" cy="381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067" y="4588113"/>
            <a:ext cx="2266950" cy="409575"/>
          </a:xfrm>
          <a:prstGeom prst="rect">
            <a:avLst/>
          </a:prstGeom>
        </p:spPr>
      </p:pic>
      <p:sp>
        <p:nvSpPr>
          <p:cNvPr id="11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12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27</a:t>
            </a:r>
          </a:p>
        </p:txBody>
      </p:sp>
    </p:spTree>
    <p:extLst>
      <p:ext uri="{BB962C8B-B14F-4D97-AF65-F5344CB8AC3E}">
        <p14:creationId xmlns:p14="http://schemas.microsoft.com/office/powerpoint/2010/main" val="161146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Conditional and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285" y="1587730"/>
            <a:ext cx="4876041" cy="4293697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27</a:t>
            </a:r>
          </a:p>
        </p:txBody>
      </p:sp>
    </p:spTree>
    <p:extLst>
      <p:ext uri="{BB962C8B-B14F-4D97-AF65-F5344CB8AC3E}">
        <p14:creationId xmlns:p14="http://schemas.microsoft.com/office/powerpoint/2010/main" val="63438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Prediction of Random Effects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In general, interest is focused on the fixed effects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We </a:t>
                </a:r>
                <a:r>
                  <a:rPr lang="en-US" dirty="0"/>
                  <a:t>can also </a:t>
                </a:r>
                <a:r>
                  <a:rPr lang="en-US" dirty="0" smtClean="0"/>
                  <a:t>“estimate”, </a:t>
                </a:r>
                <a:r>
                  <a:rPr lang="en-US" dirty="0"/>
                  <a:t>or </a:t>
                </a:r>
                <a:r>
                  <a:rPr lang="en-US" dirty="0" smtClean="0"/>
                  <a:t>predict, </a:t>
                </a:r>
                <a:r>
                  <a:rPr lang="en-US" dirty="0"/>
                  <a:t>subject-specific effects,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 smtClean="0"/>
                  <a:t>, so as to predict</a:t>
                </a:r>
                <a:r>
                  <a:rPr lang="en-US" dirty="0"/>
                  <a:t/>
                </a:r>
                <a:r>
                  <a:rPr lang="en-US" u="sng" dirty="0" smtClean="0"/>
                  <a:t>subject-specific </a:t>
                </a:r>
                <a:r>
                  <a:rPr lang="en-US" u="sng" dirty="0"/>
                  <a:t>response trajectories </a:t>
                </a:r>
                <a:r>
                  <a:rPr lang="en-US" dirty="0"/>
                  <a:t>over </a:t>
                </a:r>
                <a:r>
                  <a:rPr lang="en-US" dirty="0" smtClean="0"/>
                  <a:t>time.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r>
                  <a:rPr lang="en-US" dirty="0" smtClean="0"/>
                  <a:t>Prediction of subject-specific trajectory is most useful if the subject misses measurement or withdraws early (so the missed measurements can be predicted).</a:t>
                </a:r>
              </a:p>
              <a:p>
                <a:r>
                  <a:rPr lang="en-US" dirty="0" smtClean="0"/>
                  <a:t>It is also useful for uncovering the </a:t>
                </a:r>
                <a:r>
                  <a:rPr lang="en-US" u="sng" dirty="0" smtClean="0"/>
                  <a:t>true response curve</a:t>
                </a:r>
                <a:r>
                  <a:rPr lang="en-US" dirty="0" smtClean="0"/>
                  <a:t> (without random measurement errors).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382" y="3353203"/>
            <a:ext cx="3467100" cy="419100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27</a:t>
            </a:r>
          </a:p>
        </p:txBody>
      </p:sp>
    </p:spTree>
    <p:extLst>
      <p:ext uri="{BB962C8B-B14F-4D97-AF65-F5344CB8AC3E}">
        <p14:creationId xmlns:p14="http://schemas.microsoft.com/office/powerpoint/2010/main" val="4018250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Prediction of Random Effects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90" y="2438559"/>
            <a:ext cx="4201495" cy="37384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82" y="2590259"/>
            <a:ext cx="3768424" cy="3435004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27</a:t>
            </a:r>
          </a:p>
        </p:txBody>
      </p:sp>
    </p:spTree>
    <p:extLst>
      <p:ext uri="{BB962C8B-B14F-4D97-AF65-F5344CB8AC3E}">
        <p14:creationId xmlns:p14="http://schemas.microsoft.com/office/powerpoint/2010/main" val="3865176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Prediction of Random Effects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Responses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(partially) observed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information about subject-level characteristics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Predict it by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u="sng" dirty="0" smtClean="0"/>
                  <a:t>Subject-level trajectory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No response observed</a:t>
                </a:r>
                <a:r>
                  <a:rPr lang="en-US" dirty="0">
                    <a:ea typeface="Cambria Math" panose="020405030504060302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no info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u="sng" dirty="0" smtClean="0"/>
                  <a:t>Population-level trajectory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So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 smtClean="0"/>
                  <a:t>Prediction of random effects is stepping stone to that of subject-level trajectory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 smtClean="0"/>
                  <a:t>It is meaningful only for the subject with (partially) observed responses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27</a:t>
            </a:r>
          </a:p>
        </p:txBody>
      </p:sp>
    </p:spTree>
    <p:extLst>
      <p:ext uri="{BB962C8B-B14F-4D97-AF65-F5344CB8AC3E}">
        <p14:creationId xmlns:p14="http://schemas.microsoft.com/office/powerpoint/2010/main" val="190131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Prediction of Random Effects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Technically, because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are random, we customarily talk </a:t>
                </a:r>
                <a:r>
                  <a:rPr lang="en-US" dirty="0" smtClean="0"/>
                  <a:t>of “</a:t>
                </a:r>
                <a:r>
                  <a:rPr lang="en-US" u="sng" dirty="0" smtClean="0"/>
                  <a:t>predicting</a:t>
                </a:r>
                <a:r>
                  <a:rPr lang="en-US" dirty="0" smtClean="0"/>
                  <a:t>” the </a:t>
                </a:r>
                <a:r>
                  <a:rPr lang="en-US" dirty="0"/>
                  <a:t>random effects rather than </a:t>
                </a:r>
                <a:r>
                  <a:rPr lang="en-US" dirty="0" smtClean="0"/>
                  <a:t>“</a:t>
                </a:r>
                <a:r>
                  <a:rPr lang="en-US" u="sng" dirty="0" smtClean="0"/>
                  <a:t>estimating</a:t>
                </a:r>
                <a:r>
                  <a:rPr lang="en-US" dirty="0" smtClean="0"/>
                  <a:t>” </a:t>
                </a:r>
                <a:r>
                  <a:rPr lang="en-US" dirty="0"/>
                  <a:t>them.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 smtClean="0"/>
                  <a:t>Information used 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comes from the observed responses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Specifically, use the “best </a:t>
                </a:r>
                <a:r>
                  <a:rPr lang="en-US" dirty="0"/>
                  <a:t>linear unbiased predictor" (or BLUP</a:t>
                </a:r>
                <a:r>
                  <a:rPr lang="en-US" dirty="0" smtClean="0"/>
                  <a:t>).</a:t>
                </a:r>
              </a:p>
              <a:p>
                <a:endParaRPr lang="en-US" dirty="0"/>
              </a:p>
              <a:p>
                <a:r>
                  <a:rPr lang="en-US" dirty="0"/>
                  <a:t>In general, BLUP </a:t>
                </a:r>
                <a:r>
                  <a:rPr lang="en-US" dirty="0" smtClean="0"/>
                  <a:t>“shrinks” </a:t>
                </a:r>
                <a:r>
                  <a:rPr lang="en-US" dirty="0"/>
                  <a:t>predictions towards population-averaged mean.</a:t>
                </a:r>
                <a:r>
                  <a:rPr lang="en-US" dirty="0"/>
                  <a:t/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685" y="3744119"/>
            <a:ext cx="2657475" cy="51435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27</a:t>
            </a:r>
          </a:p>
        </p:txBody>
      </p:sp>
    </p:spTree>
    <p:extLst>
      <p:ext uri="{BB962C8B-B14F-4D97-AF65-F5344CB8AC3E}">
        <p14:creationId xmlns:p14="http://schemas.microsoft.com/office/powerpoint/2010/main" val="859353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Prediction of Random Effects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example, consider the random intercept </a:t>
                </a:r>
                <a:r>
                  <a:rPr lang="en-US" dirty="0" smtClean="0"/>
                  <a:t>model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It can be shown that the BLUP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/>
                  <a:t>That is, a weighted-average of zero (mean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and </a:t>
                </a:r>
                <a:r>
                  <a:rPr lang="en-US" dirty="0" smtClean="0"/>
                  <a:t>the “residual” for </a:t>
                </a: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 err="1"/>
                  <a:t>th</a:t>
                </a:r>
                <a:r>
                  <a:rPr lang="en-US" i="1" dirty="0"/>
                  <a:t/>
                </a:r>
                <a:r>
                  <a:rPr lang="en-US" dirty="0"/>
                  <a:t>subject.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8232"/>
          <a:stretch/>
        </p:blipFill>
        <p:spPr>
          <a:xfrm>
            <a:off x="1713028" y="2401371"/>
            <a:ext cx="7153275" cy="9735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1079"/>
          <a:stretch/>
        </p:blipFill>
        <p:spPr>
          <a:xfrm>
            <a:off x="1887596" y="3790603"/>
            <a:ext cx="7848600" cy="1101063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27</a:t>
            </a:r>
          </a:p>
        </p:txBody>
      </p:sp>
    </p:spTree>
    <p:extLst>
      <p:ext uri="{BB962C8B-B14F-4D97-AF65-F5344CB8AC3E}">
        <p14:creationId xmlns:p14="http://schemas.microsoft.com/office/powerpoint/2010/main" val="273902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Prediction of Random Effects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Note: </a:t>
                </a:r>
                <a:r>
                  <a:rPr lang="en-US" u="sng" dirty="0" smtClean="0"/>
                  <a:t>Less shrinkage</a:t>
                </a:r>
                <a:r>
                  <a:rPr lang="en-US" dirty="0" smtClean="0"/>
                  <a:t> (toward zero)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large and 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/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is </a:t>
                </a:r>
                <a:r>
                  <a:rPr lang="en-US" dirty="0" smtClean="0"/>
                  <a:t>small relative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 (</a:t>
                </a:r>
                <a:r>
                  <a:rPr lang="en-US" u="sng" dirty="0" smtClean="0"/>
                  <a:t>more information</a:t>
                </a:r>
                <a:r>
                  <a:rPr lang="en-US" dirty="0" smtClean="0"/>
                  <a:t> on subject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smtClean="0"/>
                  <a:t>). </a:t>
                </a:r>
              </a:p>
              <a:p>
                <a:r>
                  <a:rPr lang="en-US" dirty="0"/>
                  <a:t>For the general case, the prediction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given </a:t>
                </a:r>
                <a:r>
                  <a:rPr lang="en-US" dirty="0" smtClean="0"/>
                  <a:t>by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 Because the </a:t>
                </a:r>
                <a:r>
                  <a:rPr lang="en-US" dirty="0"/>
                  <a:t>unknown covariance parameters </a:t>
                </a:r>
                <a:r>
                  <a:rPr lang="en-US" dirty="0" smtClean="0"/>
                  <a:t>are replaced </a:t>
                </a:r>
                <a:r>
                  <a:rPr lang="en-US" dirty="0"/>
                  <a:t>by their</a:t>
                </a:r>
                <a:br>
                  <a:rPr lang="en-US" dirty="0"/>
                </a:br>
                <a:r>
                  <a:rPr lang="en-US" dirty="0" smtClean="0"/>
                  <a:t>(ML </a:t>
                </a:r>
                <a:r>
                  <a:rPr lang="en-US" dirty="0"/>
                  <a:t>or </a:t>
                </a:r>
                <a:r>
                  <a:rPr lang="en-US" dirty="0" smtClean="0"/>
                  <a:t>REML) </a:t>
                </a:r>
                <a:r>
                  <a:rPr lang="en-US" dirty="0"/>
                  <a:t>estimates, the resulting predictor is often referred to as the</a:t>
                </a:r>
                <a:br>
                  <a:rPr lang="en-US" dirty="0"/>
                </a:br>
                <a:r>
                  <a:rPr lang="en-US" dirty="0" smtClean="0"/>
                  <a:t>“Empirical </a:t>
                </a:r>
                <a:r>
                  <a:rPr lang="en-US" dirty="0"/>
                  <a:t>BLUP" or the </a:t>
                </a:r>
                <a:r>
                  <a:rPr lang="en-US" dirty="0" smtClean="0"/>
                  <a:t>“Empirical </a:t>
                </a:r>
                <a:r>
                  <a:rPr lang="en-US" dirty="0"/>
                  <a:t>Bayes" (EB) estimator.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928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2105"/>
          <a:stretch/>
        </p:blipFill>
        <p:spPr>
          <a:xfrm>
            <a:off x="1873740" y="3142210"/>
            <a:ext cx="6848475" cy="95440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27</a:t>
            </a:r>
          </a:p>
        </p:txBody>
      </p:sp>
    </p:spTree>
    <p:extLst>
      <p:ext uri="{BB962C8B-B14F-4D97-AF65-F5344CB8AC3E}">
        <p14:creationId xmlns:p14="http://schemas.microsoft.com/office/powerpoint/2010/main" val="4089171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Prediction of Random Effects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Finally,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smtClean="0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subject’s </a:t>
                </a:r>
                <a:r>
                  <a:rPr lang="en-US" dirty="0"/>
                  <a:t>predicted response profile </a:t>
                </a:r>
                <a:r>
                  <a:rPr lang="en-US" dirty="0" smtClean="0"/>
                  <a:t>is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A weighted combination </a:t>
                </a:r>
                <a:r>
                  <a:rPr lang="en-US" dirty="0"/>
                  <a:t>of the population-averaged mean response </a:t>
                </a:r>
                <a:r>
                  <a:rPr lang="en-US" dirty="0" smtClean="0"/>
                  <a:t>profile,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 smtClean="0"/>
                  <a:t>, and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 err="1"/>
                  <a:t>th</a:t>
                </a:r>
                <a:r>
                  <a:rPr lang="en-US" i="1" dirty="0"/>
                  <a:t/>
                </a:r>
                <a:r>
                  <a:rPr lang="en-US" dirty="0"/>
                  <a:t>subject’s observed response profile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Subject’s </a:t>
                </a:r>
                <a:r>
                  <a:rPr lang="en-US" dirty="0"/>
                  <a:t>predicted response profile is </a:t>
                </a:r>
                <a:r>
                  <a:rPr lang="en-US" dirty="0" smtClean="0"/>
                  <a:t>“shrunk” </a:t>
                </a:r>
                <a:r>
                  <a:rPr lang="en-US" dirty="0"/>
                  <a:t>towards </a:t>
                </a:r>
                <a:r>
                  <a:rPr lang="en-US" dirty="0" smtClean="0"/>
                  <a:t>population-averaged </a:t>
                </a:r>
                <a:r>
                  <a:rPr lang="en-US" dirty="0"/>
                  <a:t>mean response </a:t>
                </a:r>
                <a:r>
                  <a:rPr lang="en-US" dirty="0" smtClean="0"/>
                  <a:t>profile. Amount </a:t>
                </a:r>
                <a:r>
                  <a:rPr lang="en-US" dirty="0"/>
                  <a:t>of </a:t>
                </a:r>
                <a:r>
                  <a:rPr lang="en-US" dirty="0" smtClean="0"/>
                  <a:t>“shrinkage” </a:t>
                </a:r>
                <a:r>
                  <a:rPr lang="en-US" dirty="0"/>
                  <a:t>depends on relative magnitude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r>
                  <a:rPr lang="en-US" dirty="0"/>
                  <a:t/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897" y="2389475"/>
            <a:ext cx="4591050" cy="124777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27</a:t>
            </a:r>
          </a:p>
        </p:txBody>
      </p:sp>
    </p:spTree>
    <p:extLst>
      <p:ext uri="{BB962C8B-B14F-4D97-AF65-F5344CB8AC3E}">
        <p14:creationId xmlns:p14="http://schemas.microsoft.com/office/powerpoint/2010/main" val="3053555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Prediction of Random Effects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When within-subject variability is large relative to between-subject</a:t>
                </a:r>
                <a:br>
                  <a:rPr lang="en-US" dirty="0" smtClean="0"/>
                </a:br>
                <a:r>
                  <a:rPr lang="en-US" dirty="0" smtClean="0"/>
                  <a:t>variability, more weight is given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the population-averaged </a:t>
                </a:r>
                <a:r>
                  <a:rPr lang="en-US" dirty="0" smtClean="0"/>
                  <a:t>mean response </a:t>
                </a:r>
                <a:r>
                  <a:rPr lang="en-US" dirty="0"/>
                  <a:t>profile (more </a:t>
                </a:r>
                <a:r>
                  <a:rPr lang="en-US" dirty="0" smtClean="0"/>
                  <a:t>“shrinkage”). 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23113"/>
          <a:stretch/>
        </p:blipFill>
        <p:spPr>
          <a:xfrm>
            <a:off x="2167546" y="3276268"/>
            <a:ext cx="6477000" cy="725026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27</a:t>
            </a:r>
          </a:p>
        </p:txBody>
      </p:sp>
    </p:spTree>
    <p:extLst>
      <p:ext uri="{BB962C8B-B14F-4D97-AF65-F5344CB8AC3E}">
        <p14:creationId xmlns:p14="http://schemas.microsoft.com/office/powerpoint/2010/main" val="1069020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Prediction of Random Effects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46" y="1825625"/>
            <a:ext cx="8542107" cy="4650807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27</a:t>
            </a:r>
          </a:p>
        </p:txBody>
      </p:sp>
    </p:spTree>
    <p:extLst>
      <p:ext uri="{BB962C8B-B14F-4D97-AF65-F5344CB8AC3E}">
        <p14:creationId xmlns:p14="http://schemas.microsoft.com/office/powerpoint/2010/main" val="1910632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Consider </a:t>
            </a:r>
            <a:r>
              <a:rPr lang="en-US" dirty="0" smtClean="0"/>
              <a:t>the same model studied in Lecture 10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2193"/>
          <a:stretch/>
        </p:blipFill>
        <p:spPr>
          <a:xfrm>
            <a:off x="1685927" y="2271535"/>
            <a:ext cx="7732394" cy="476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039" y="2747785"/>
            <a:ext cx="8522072" cy="3229066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27</a:t>
            </a:r>
          </a:p>
        </p:txBody>
      </p:sp>
    </p:spTree>
    <p:extLst>
      <p:ext uri="{BB962C8B-B14F-4D97-AF65-F5344CB8AC3E}">
        <p14:creationId xmlns:p14="http://schemas.microsoft.com/office/powerpoint/2010/main" val="2828661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94" y="1615787"/>
            <a:ext cx="4823300" cy="30393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87" y="1615787"/>
            <a:ext cx="4598297" cy="3787486"/>
          </a:xfrm>
          <a:prstGeom prst="rect">
            <a:avLst/>
          </a:prstGeom>
        </p:spPr>
      </p:pic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27</a:t>
            </a:r>
          </a:p>
        </p:txBody>
      </p:sp>
    </p:spTree>
    <p:extLst>
      <p:ext uri="{BB962C8B-B14F-4D97-AF65-F5344CB8AC3E}">
        <p14:creationId xmlns:p14="http://schemas.microsoft.com/office/powerpoint/2010/main" val="242050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Exercise Therapy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24" y="1398270"/>
            <a:ext cx="5876925" cy="461010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27</a:t>
            </a:r>
          </a:p>
        </p:txBody>
      </p:sp>
    </p:spTree>
    <p:extLst>
      <p:ext uri="{BB962C8B-B14F-4D97-AF65-F5344CB8AC3E}">
        <p14:creationId xmlns:p14="http://schemas.microsoft.com/office/powerpoint/2010/main" val="3189888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u="sng" dirty="0"/>
              <a:t>Prospective study</a:t>
            </a:r>
            <a:r>
              <a:rPr lang="en-US" dirty="0"/>
              <a:t> on body fat accretion in a cohort of 162 girls from the</a:t>
            </a:r>
            <a:br>
              <a:rPr lang="en-US" dirty="0"/>
            </a:br>
            <a:r>
              <a:rPr lang="en-US" dirty="0"/>
              <a:t>MIT Growth and Development </a:t>
            </a:r>
            <a:r>
              <a:rPr lang="en-US" dirty="0" smtClean="0"/>
              <a:t>Study.</a:t>
            </a:r>
            <a:endParaRPr lang="en-US" dirty="0"/>
          </a:p>
          <a:p>
            <a:r>
              <a:rPr lang="en-US" dirty="0" smtClean="0"/>
              <a:t>At </a:t>
            </a:r>
            <a:r>
              <a:rPr lang="en-US" dirty="0"/>
              <a:t>start of study, all the girls were </a:t>
            </a:r>
            <a:r>
              <a:rPr lang="en-US" u="sng" dirty="0"/>
              <a:t>pre-</a:t>
            </a:r>
            <a:r>
              <a:rPr lang="en-US" u="sng" dirty="0" err="1"/>
              <a:t>menarcheal</a:t>
            </a:r>
            <a:r>
              <a:rPr lang="en-US" dirty="0"/>
              <a:t> and </a:t>
            </a:r>
            <a:r>
              <a:rPr lang="en-US" u="sng" dirty="0" smtClean="0"/>
              <a:t>non-obese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They were </a:t>
            </a:r>
            <a:r>
              <a:rPr lang="en-US" dirty="0"/>
              <a:t>followed over time according to a schedule of </a:t>
            </a:r>
            <a:r>
              <a:rPr lang="en-US" u="sng" dirty="0"/>
              <a:t>annual</a:t>
            </a:r>
            <a:br>
              <a:rPr lang="en-US" u="sng" dirty="0"/>
            </a:br>
            <a:r>
              <a:rPr lang="en-US" u="sng" dirty="0"/>
              <a:t>measurements</a:t>
            </a:r>
            <a:r>
              <a:rPr lang="en-US" dirty="0"/>
              <a:t> until four years after </a:t>
            </a:r>
            <a:r>
              <a:rPr lang="en-US" dirty="0" smtClean="0"/>
              <a:t>menarche.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final measurement was scheduled on the fourth anniversary of their</a:t>
            </a:r>
            <a:br>
              <a:rPr lang="en-US" dirty="0"/>
            </a:br>
            <a:r>
              <a:rPr lang="en-US" dirty="0"/>
              <a:t>reported date of </a:t>
            </a:r>
            <a:r>
              <a:rPr lang="en-US" dirty="0" smtClean="0"/>
              <a:t>menarche.</a:t>
            </a:r>
            <a:endParaRPr lang="en-US" dirty="0"/>
          </a:p>
          <a:p>
            <a:r>
              <a:rPr lang="en-US" dirty="0" smtClean="0"/>
              <a:t>At </a:t>
            </a:r>
            <a:r>
              <a:rPr lang="en-US" dirty="0"/>
              <a:t>each examination, a measure of </a:t>
            </a:r>
            <a:r>
              <a:rPr lang="en-US" u="sng" dirty="0"/>
              <a:t>body fatness</a:t>
            </a:r>
            <a:r>
              <a:rPr lang="en-US" dirty="0"/>
              <a:t> was obtained based on</a:t>
            </a:r>
            <a:br>
              <a:rPr lang="en-US" dirty="0"/>
            </a:br>
            <a:r>
              <a:rPr lang="en-US" dirty="0"/>
              <a:t>bioelectric impedance </a:t>
            </a:r>
            <a:r>
              <a:rPr lang="en-US" dirty="0" smtClean="0"/>
              <a:t>analysis.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27</a:t>
            </a:r>
          </a:p>
        </p:txBody>
      </p:sp>
    </p:spTree>
    <p:extLst>
      <p:ext uri="{BB962C8B-B14F-4D97-AF65-F5344CB8AC3E}">
        <p14:creationId xmlns:p14="http://schemas.microsoft.com/office/powerpoint/2010/main" val="98817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Consider an analysis of the </a:t>
            </a:r>
            <a:r>
              <a:rPr lang="en-US" u="sng" dirty="0"/>
              <a:t>changes in percent body fat</a:t>
            </a:r>
            <a:r>
              <a:rPr lang="en-US" dirty="0"/>
              <a:t> before and </a:t>
            </a:r>
            <a:r>
              <a:rPr lang="en-US" dirty="0" smtClean="0"/>
              <a:t>after menarche</a:t>
            </a:r>
            <a:r>
              <a:rPr lang="en-US" dirty="0"/>
              <a:t>.</a:t>
            </a:r>
          </a:p>
          <a:p>
            <a:r>
              <a:rPr lang="en-US" dirty="0" smtClean="0"/>
              <a:t>Time is </a:t>
            </a:r>
            <a:r>
              <a:rPr lang="en-US" dirty="0"/>
              <a:t>coded as time since </a:t>
            </a:r>
            <a:r>
              <a:rPr lang="en-US" dirty="0" smtClean="0"/>
              <a:t>menarche and </a:t>
            </a:r>
            <a:r>
              <a:rPr lang="en-US" dirty="0"/>
              <a:t>can be positive or </a:t>
            </a:r>
            <a:r>
              <a:rPr lang="en-US" dirty="0" smtClean="0"/>
              <a:t>negative, making the data inherently </a:t>
            </a:r>
            <a:r>
              <a:rPr lang="en-US" u="sng" dirty="0" smtClean="0"/>
              <a:t>unbalanced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806" y="3673186"/>
            <a:ext cx="8140411" cy="2140506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27</a:t>
            </a:r>
          </a:p>
        </p:txBody>
      </p:sp>
    </p:spTree>
    <p:extLst>
      <p:ext uri="{BB962C8B-B14F-4D97-AF65-F5344CB8AC3E}">
        <p14:creationId xmlns:p14="http://schemas.microsoft.com/office/powerpoint/2010/main" val="1715628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887" y="1742497"/>
            <a:ext cx="4940647" cy="3901844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27</a:t>
            </a:r>
          </a:p>
        </p:txBody>
      </p:sp>
    </p:spTree>
    <p:extLst>
      <p:ext uri="{BB962C8B-B14F-4D97-AF65-F5344CB8AC3E}">
        <p14:creationId xmlns:p14="http://schemas.microsoft.com/office/powerpoint/2010/main" val="210913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898" y="1482956"/>
            <a:ext cx="6305550" cy="4324350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27</a:t>
            </a:r>
          </a:p>
        </p:txBody>
      </p:sp>
    </p:spTree>
    <p:extLst>
      <p:ext uri="{BB962C8B-B14F-4D97-AF65-F5344CB8AC3E}">
        <p14:creationId xmlns:p14="http://schemas.microsoft.com/office/powerpoint/2010/main" val="2903413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The null hypothesis is that the </a:t>
            </a:r>
            <a:r>
              <a:rPr lang="en-US" u="sng" dirty="0" smtClean="0"/>
              <a:t>pattern of change</a:t>
            </a:r>
            <a:r>
              <a:rPr lang="en-US" dirty="0" smtClean="0"/>
              <a:t> in percent body fat remains the same before and after menarche.</a:t>
            </a:r>
          </a:p>
          <a:p>
            <a:r>
              <a:rPr lang="en-US" dirty="0" smtClean="0"/>
              <a:t>The simplest way to test the null hypothesis is to use a </a:t>
            </a:r>
            <a:r>
              <a:rPr lang="en-US" u="sng" dirty="0" smtClean="0"/>
              <a:t>piecewise linear model</a:t>
            </a:r>
            <a:r>
              <a:rPr lang="en-US" dirty="0" smtClean="0"/>
              <a:t>, with a knot at time zero (time of menarche).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729" y="3539190"/>
            <a:ext cx="4470169" cy="31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43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We use the following linear mixed effects model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Interpretations of fixed effects: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: Average body fat at menarche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: Average </a:t>
                </a:r>
                <a:r>
                  <a:rPr lang="en-US" u="sng" dirty="0" smtClean="0"/>
                  <a:t>pre-</a:t>
                </a:r>
                <a:r>
                  <a:rPr lang="en-US" u="sng" dirty="0" err="1" smtClean="0"/>
                  <a:t>menarcheal</a:t>
                </a:r>
                <a:r>
                  <a:rPr lang="en-US" dirty="0" smtClean="0"/>
                  <a:t> rate of change in body fat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: Average </a:t>
                </a:r>
                <a:r>
                  <a:rPr lang="en-US" u="sng" dirty="0" smtClean="0"/>
                  <a:t>post-</a:t>
                </a:r>
                <a:r>
                  <a:rPr lang="en-US" u="sng" dirty="0" err="1" smtClean="0"/>
                  <a:t>menarcheal</a:t>
                </a:r>
                <a:r>
                  <a:rPr lang="en-US" dirty="0" smtClean="0"/>
                  <a:t/>
                </a:r>
                <a:r>
                  <a:rPr lang="en-US" dirty="0"/>
                  <a:t>rate of change in body </a:t>
                </a:r>
                <a:r>
                  <a:rPr lang="en-US" dirty="0" smtClean="0"/>
                  <a:t>fat</a:t>
                </a:r>
              </a:p>
              <a:p>
                <a:r>
                  <a:rPr lang="en-US" dirty="0" smtClean="0"/>
                  <a:t>Clearly,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854" y="2212656"/>
            <a:ext cx="7572375" cy="115252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27</a:t>
            </a:r>
          </a:p>
        </p:txBody>
      </p:sp>
    </p:spTree>
    <p:extLst>
      <p:ext uri="{BB962C8B-B14F-4D97-AF65-F5344CB8AC3E}">
        <p14:creationId xmlns:p14="http://schemas.microsoft.com/office/powerpoint/2010/main" val="371439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370" y="2615489"/>
            <a:ext cx="4997272" cy="24720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7" y="2366831"/>
            <a:ext cx="6061883" cy="351691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27</a:t>
            </a:r>
          </a:p>
        </p:txBody>
      </p:sp>
    </p:spTree>
    <p:extLst>
      <p:ext uri="{BB962C8B-B14F-4D97-AF65-F5344CB8AC3E}">
        <p14:creationId xmlns:p14="http://schemas.microsoft.com/office/powerpoint/2010/main" val="1667305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520" y="1487545"/>
            <a:ext cx="5210175" cy="444817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27</a:t>
            </a:r>
          </a:p>
        </p:txBody>
      </p:sp>
    </p:spTree>
    <p:extLst>
      <p:ext uri="{BB962C8B-B14F-4D97-AF65-F5344CB8AC3E}">
        <p14:creationId xmlns:p14="http://schemas.microsoft.com/office/powerpoint/2010/main" val="3613944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Using the empirical BLUP estimates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dirty="0" smtClean="0"/>
                  <a:t>, we can construct the subject-level trajectories.</a:t>
                </a:r>
              </a:p>
              <a:p>
                <a:endParaRPr lang="en-US" dirty="0"/>
              </a:p>
              <a:p>
                <a:r>
                  <a:rPr lang="en-US" dirty="0" smtClean="0"/>
                  <a:t>The next figure displays </a:t>
                </a:r>
                <a:r>
                  <a:rPr lang="en-US" dirty="0"/>
                  <a:t>estimated population mean growth curve and </a:t>
                </a:r>
                <a:r>
                  <a:rPr lang="en-US" dirty="0" smtClean="0"/>
                  <a:t>predicted growth </a:t>
                </a:r>
                <a:r>
                  <a:rPr lang="en-US" dirty="0"/>
                  <a:t>curves for two girls.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/>
                  <a:t>T</a:t>
                </a:r>
                <a:r>
                  <a:rPr lang="en-US" dirty="0" smtClean="0"/>
                  <a:t>here </a:t>
                </a:r>
                <a:r>
                  <a:rPr lang="en-US" dirty="0"/>
                  <a:t>is </a:t>
                </a:r>
                <a:r>
                  <a:rPr lang="en-US" dirty="0" smtClean="0"/>
                  <a:t>more “shrinkage” </a:t>
                </a:r>
                <a:r>
                  <a:rPr lang="en-US" dirty="0"/>
                  <a:t>towards the population mean curve when fewer data points </a:t>
                </a:r>
                <a:r>
                  <a:rPr lang="en-US" dirty="0" smtClean="0"/>
                  <a:t>are available</a:t>
                </a:r>
                <a:r>
                  <a:rPr lang="en-US" dirty="0"/>
                  <a:t>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/>
                  <a:t>This becomes more apparent when BLUPs are compared to ordinary </a:t>
                </a:r>
                <a:r>
                  <a:rPr lang="en-US" dirty="0" smtClean="0"/>
                  <a:t>least squares </a:t>
                </a:r>
                <a:r>
                  <a:rPr lang="en-US" dirty="0"/>
                  <a:t>(OLS) estimates based only on data from each </a:t>
                </a:r>
                <a:r>
                  <a:rPr lang="en-US" dirty="0" smtClean="0"/>
                  <a:t>girl.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60458"/>
          <a:stretch/>
        </p:blipFill>
        <p:spPr>
          <a:xfrm>
            <a:off x="1528415" y="2669856"/>
            <a:ext cx="7572375" cy="455729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27</a:t>
            </a:r>
          </a:p>
        </p:txBody>
      </p:sp>
    </p:spTree>
    <p:extLst>
      <p:ext uri="{BB962C8B-B14F-4D97-AF65-F5344CB8AC3E}">
        <p14:creationId xmlns:p14="http://schemas.microsoft.com/office/powerpoint/2010/main" val="854529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77934"/>
            <a:ext cx="4533329" cy="37695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304" y="2256126"/>
            <a:ext cx="4329961" cy="3691370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11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27 / 27</a:t>
            </a:r>
          </a:p>
        </p:txBody>
      </p:sp>
    </p:spTree>
    <p:extLst>
      <p:ext uri="{BB962C8B-B14F-4D97-AF65-F5344CB8AC3E}">
        <p14:creationId xmlns:p14="http://schemas.microsoft.com/office/powerpoint/2010/main" val="234690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55351</TotalTime>
  <Words>434</Words>
  <Application>Microsoft Office PowerPoint</Application>
  <PresentationFormat>Widescreen</PresentationFormat>
  <Paragraphs>112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Conditional and Marginal Means</vt:lpstr>
      <vt:lpstr>Conditional and Marginal Means</vt:lpstr>
      <vt:lpstr>Conditional and Marginal Means</vt:lpstr>
      <vt:lpstr>Prediction of Random Effects </vt:lpstr>
      <vt:lpstr>Prediction of Random Effects </vt:lpstr>
      <vt:lpstr>Prediction of Random Effects </vt:lpstr>
      <vt:lpstr>Prediction of Random Effects </vt:lpstr>
      <vt:lpstr>Prediction of Random Effects </vt:lpstr>
      <vt:lpstr>Prediction of Random Effects </vt:lpstr>
      <vt:lpstr>Prediction of Random Effects </vt:lpstr>
      <vt:lpstr>Prediction of Random Effects </vt:lpstr>
      <vt:lpstr>Prediction of Random Effects </vt:lpstr>
      <vt:lpstr>Example: Exercise Therapy Trial</vt:lpstr>
      <vt:lpstr>Example: Exercise Therapy Trial</vt:lpstr>
      <vt:lpstr>Example: Exercise Therapy Trial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864</cp:revision>
  <dcterms:created xsi:type="dcterms:W3CDTF">2019-01-16T21:45:55Z</dcterms:created>
  <dcterms:modified xsi:type="dcterms:W3CDTF">2019-03-26T19:41:08Z</dcterms:modified>
</cp:coreProperties>
</file>