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7" r:id="rId10"/>
    <p:sldId id="269" r:id="rId11"/>
    <p:sldId id="265" r:id="rId12"/>
    <p:sldId id="270" r:id="rId13"/>
    <p:sldId id="268" r:id="rId14"/>
    <p:sldId id="272" r:id="rId15"/>
    <p:sldId id="266" r:id="rId16"/>
    <p:sldId id="271" r:id="rId17"/>
    <p:sldId id="273" r:id="rId18"/>
    <p:sldId id="274" r:id="rId19"/>
    <p:sldId id="276" r:id="rId20"/>
    <p:sldId id="279" r:id="rId21"/>
    <p:sldId id="275" r:id="rId22"/>
    <p:sldId id="278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600C8B-6791-490F-AD17-D35D68D6BA09}">
          <p14:sldIdLst>
            <p14:sldId id="256"/>
            <p14:sldId id="257"/>
            <p14:sldId id="258"/>
            <p14:sldId id="259"/>
            <p14:sldId id="261"/>
            <p14:sldId id="262"/>
            <p14:sldId id="263"/>
            <p14:sldId id="264"/>
            <p14:sldId id="267"/>
            <p14:sldId id="269"/>
            <p14:sldId id="265"/>
            <p14:sldId id="270"/>
            <p14:sldId id="268"/>
            <p14:sldId id="272"/>
            <p14:sldId id="266"/>
            <p14:sldId id="271"/>
            <p14:sldId id="273"/>
            <p14:sldId id="274"/>
            <p14:sldId id="276"/>
            <p14:sldId id="279"/>
            <p14:sldId id="275"/>
            <p14:sldId id="278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67888-62A7-46F9-9261-EA7F15E4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6EAF7-A6AB-4AEC-A130-03FC2C57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Descriptive and Graphical Analysis Using SAS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D7FD8-FB27-4B60-BAC7-9497D218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F7E81-9EA0-4D71-AB5A-B658A66C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513FF-4D1C-4D4B-86A4-0079D6EB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5A285-7E8F-4464-AACF-9F8D99CE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77143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54580"/>
            <a:ext cx="10515600" cy="2164871"/>
          </a:xfrm>
        </p:spPr>
        <p:txBody>
          <a:bodyPr>
            <a:normAutofit/>
          </a:bodyPr>
          <a:lstStyle/>
          <a:p>
            <a:r>
              <a:rPr lang="en-US" dirty="0" smtClean="0"/>
              <a:t>Notation and formats of longitudinal data</a:t>
            </a:r>
          </a:p>
          <a:p>
            <a:r>
              <a:rPr lang="en-US" dirty="0" smtClean="0"/>
              <a:t>Quantities of interest: mean, variance-covariance matrix, correlation</a:t>
            </a:r>
          </a:p>
          <a:p>
            <a:r>
              <a:rPr lang="en-US" dirty="0" smtClean="0"/>
              <a:t>Descriptive analysis of the </a:t>
            </a:r>
            <a:r>
              <a:rPr lang="en-US" u="sng" dirty="0"/>
              <a:t>Treatment of Lead-Exposed Children</a:t>
            </a:r>
            <a:r>
              <a:rPr lang="en-US" dirty="0"/>
              <a:t> (TLC) Trial </a:t>
            </a:r>
            <a:r>
              <a:rPr lang="en-US" dirty="0" smtClean="0"/>
              <a:t>using SAS</a:t>
            </a:r>
            <a:endParaRPr lang="en-US" dirty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25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u="sng" dirty="0"/>
              <a:t>Objective</a:t>
            </a:r>
            <a:r>
              <a:rPr lang="en-US" dirty="0"/>
              <a:t>:</a:t>
            </a:r>
            <a:r>
              <a:rPr lang="en-US" b="1" dirty="0"/>
              <a:t/>
            </a:r>
            <a:r>
              <a:rPr lang="en-US" dirty="0" smtClean="0"/>
              <a:t>to </a:t>
            </a:r>
            <a:r>
              <a:rPr lang="en-US" dirty="0"/>
              <a:t>characterize the change in response </a:t>
            </a:r>
            <a:r>
              <a:rPr lang="en-US" dirty="0" smtClean="0"/>
              <a:t>over time </a:t>
            </a:r>
            <a:r>
              <a:rPr lang="en-US" dirty="0"/>
              <a:t>and the factors that influence change</a:t>
            </a:r>
            <a:r>
              <a:rPr lang="en-US" dirty="0" smtClean="0"/>
              <a:t>.</a:t>
            </a:r>
          </a:p>
          <a:p>
            <a:r>
              <a:rPr lang="en-US" u="sng" dirty="0" smtClean="0"/>
              <a:t>Individuals/Subjects</a:t>
            </a:r>
            <a:r>
              <a:rPr lang="en-US" dirty="0"/>
              <a:t>: Participants in a longitudinal study are referred</a:t>
            </a:r>
            <a:br>
              <a:rPr lang="en-US" dirty="0"/>
            </a:br>
            <a:r>
              <a:rPr lang="en-US" dirty="0"/>
              <a:t>to as </a:t>
            </a:r>
            <a:r>
              <a:rPr lang="en-US" i="1" dirty="0"/>
              <a:t>individuals </a:t>
            </a:r>
            <a:r>
              <a:rPr lang="en-US" dirty="0"/>
              <a:t>or </a:t>
            </a:r>
            <a:r>
              <a:rPr lang="en-US" i="1" dirty="0"/>
              <a:t>subjects</a:t>
            </a:r>
            <a:r>
              <a:rPr lang="en-US" dirty="0" smtClean="0"/>
              <a:t>.</a:t>
            </a:r>
          </a:p>
          <a:p>
            <a:r>
              <a:rPr lang="en-US" u="sng" dirty="0" smtClean="0"/>
              <a:t>Occasions</a:t>
            </a:r>
            <a:r>
              <a:rPr lang="en-US" dirty="0"/>
              <a:t>: </a:t>
            </a:r>
            <a:r>
              <a:rPr lang="en-US" dirty="0" smtClean="0"/>
              <a:t>Individuals are </a:t>
            </a:r>
            <a:r>
              <a:rPr lang="en-US" dirty="0"/>
              <a:t>measured </a:t>
            </a:r>
            <a:r>
              <a:rPr lang="en-US" dirty="0" smtClean="0"/>
              <a:t>repeatedly at </a:t>
            </a:r>
            <a:r>
              <a:rPr lang="en-US" dirty="0"/>
              <a:t>different </a:t>
            </a:r>
            <a:r>
              <a:rPr lang="en-US" i="1" dirty="0"/>
              <a:t>occasions </a:t>
            </a:r>
            <a:r>
              <a:rPr lang="en-US" dirty="0"/>
              <a:t>or </a:t>
            </a:r>
            <a:r>
              <a:rPr lang="en-US" i="1" dirty="0"/>
              <a:t>times</a:t>
            </a:r>
            <a:r>
              <a:rPr lang="en-US" dirty="0"/>
              <a:t>.</a:t>
            </a:r>
            <a:r>
              <a:rPr lang="en-US" dirty="0"/>
              <a:t/>
            </a:r>
            <a:endParaRPr lang="en-US" dirty="0" smtClean="0"/>
          </a:p>
          <a:p>
            <a:r>
              <a:rPr lang="en-US" u="sng" dirty="0" smtClean="0"/>
              <a:t>Balanced</a:t>
            </a:r>
            <a:r>
              <a:rPr lang="en-US" dirty="0" smtClean="0"/>
              <a:t>: </a:t>
            </a:r>
            <a:r>
              <a:rPr lang="en-US" dirty="0"/>
              <a:t>When number and timing of the repeated measurements are the </a:t>
            </a:r>
            <a:r>
              <a:rPr lang="en-US" dirty="0" smtClean="0"/>
              <a:t>same for </a:t>
            </a:r>
            <a:r>
              <a:rPr lang="en-US" dirty="0"/>
              <a:t>all individuals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25</a:t>
            </a:r>
          </a:p>
        </p:txBody>
      </p:sp>
    </p:spTree>
    <p:extLst>
      <p:ext uri="{BB962C8B-B14F-4D97-AF65-F5344CB8AC3E}">
        <p14:creationId xmlns:p14="http://schemas.microsoft.com/office/powerpoint/2010/main" val="216419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denote the response variable for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 err="1"/>
                  <a:t>th</a:t>
                </a:r>
                <a:r>
                  <a:rPr lang="en-US" i="1" dirty="0"/>
                  <a:t/>
                </a:r>
                <a:r>
                  <a:rPr lang="en-US" dirty="0"/>
                  <a:t>individual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 smtClean="0"/>
                  <a:t>) at </a:t>
                </a:r>
                <a:r>
                  <a:rPr lang="en-US" dirty="0"/>
                  <a:t>the </a:t>
                </a:r>
                <a:r>
                  <a:rPr lang="en-US" i="1" dirty="0" err="1"/>
                  <a:t>jth</a:t>
                </a:r>
                <a:r>
                  <a:rPr lang="en-US" i="1" dirty="0"/>
                  <a:t/>
                </a:r>
                <a:r>
                  <a:rPr lang="en-US" dirty="0"/>
                  <a:t>occasion (</a:t>
                </a:r>
                <a:r>
                  <a:rPr lang="en-US" i="1" dirty="0"/>
                  <a:t>j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For balanced data, this notation is sufficient</a:t>
                </a:r>
                <a:endParaRPr lang="en-US" dirty="0"/>
              </a:p>
              <a:p>
                <a:r>
                  <a:rPr lang="en-US" dirty="0" smtClean="0"/>
                  <a:t>Two different ways to store data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“Wide” format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“Long” format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25</a:t>
            </a:r>
          </a:p>
        </p:txBody>
      </p:sp>
    </p:spTree>
    <p:extLst>
      <p:ext uri="{BB962C8B-B14F-4D97-AF65-F5344CB8AC3E}">
        <p14:creationId xmlns:p14="http://schemas.microsoft.com/office/powerpoint/2010/main" val="217562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wide format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751317"/>
              </a:xfrm>
            </p:spPr>
            <p:txBody>
              <a:bodyPr>
                <a:normAutofit lnSpcReduction="10000"/>
              </a:bodyPr>
              <a:lstStyle/>
              <a:p>
                <a:pPr lvl="1"/>
                <a:r>
                  <a:rPr lang="en-US" dirty="0" smtClean="0"/>
                  <a:t>Rows: individuals; Columns: occasions.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lvl="1"/>
                <a:r>
                  <a:rPr lang="en-US" dirty="0" smtClean="0"/>
                  <a:t>In matrix notation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751317"/>
              </a:xfrm>
              <a:blipFill>
                <a:blip r:embed="rId2"/>
                <a:stretch>
                  <a:fillRect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691" y="2299063"/>
            <a:ext cx="3755436" cy="257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9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long format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7"/>
                <a:ext cx="10515600" cy="314894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 smtClean="0"/>
                  <a:t>Stack the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together into one long vector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)′</m:t>
                      </m:r>
                    </m:oMath>
                  </m:oMathPara>
                </a14:m>
                <a:endParaRPr lang="en-US" dirty="0" smtClean="0"/>
              </a:p>
              <a:p>
                <a:pPr lvl="1"/>
                <a:r>
                  <a:rPr lang="en-US" dirty="0" smtClean="0"/>
                  <a:t>But need another variable to describe the </a:t>
                </a:r>
                <a:r>
                  <a:rPr lang="en-US" u="sng" dirty="0" smtClean="0"/>
                  <a:t>occasion</a:t>
                </a:r>
                <a:r>
                  <a:rPr lang="en-US" dirty="0" smtClean="0"/>
                  <a:t>, also one for the </a:t>
                </a:r>
                <a:r>
                  <a:rPr lang="en-US" u="sng" dirty="0" smtClean="0"/>
                  <a:t>subject </a:t>
                </a:r>
              </a:p>
              <a:p>
                <a:pPr lvl="1"/>
                <a:r>
                  <a:rPr lang="en-US" u="sng" dirty="0" smtClean="0"/>
                  <a:t>Example:</a:t>
                </a:r>
                <a:r>
                  <a:rPr lang="en-US" dirty="0" smtClean="0"/>
                  <a:t> blood lead study</a:t>
                </a:r>
              </a:p>
              <a:p>
                <a:pPr lvl="1"/>
                <a:endParaRPr lang="en-US" u="sng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7"/>
                <a:ext cx="10515600" cy="3148940"/>
              </a:xfrm>
              <a:blipFill>
                <a:blip r:embed="rId2"/>
                <a:stretch>
                  <a:fillRect t="-2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81891"/>
              </p:ext>
            </p:extLst>
          </p:nvPr>
        </p:nvGraphicFramePr>
        <p:xfrm>
          <a:off x="5782491" y="3056708"/>
          <a:ext cx="2375700" cy="3223800"/>
        </p:xfrm>
        <a:graphic>
          <a:graphicData uri="http://schemas.openxmlformats.org/drawingml/2006/table">
            <a:tbl>
              <a:tblPr/>
              <a:tblGrid>
                <a:gridCol w="494648">
                  <a:extLst>
                    <a:ext uri="{9D8B030D-6E8A-4147-A177-3AD203B41FA5}">
                      <a16:colId xmlns:a16="http://schemas.microsoft.com/office/drawing/2014/main" val="2816238558"/>
                    </a:ext>
                  </a:extLst>
                </a:gridCol>
                <a:gridCol w="539930">
                  <a:extLst>
                    <a:ext uri="{9D8B030D-6E8A-4147-A177-3AD203B41FA5}">
                      <a16:colId xmlns:a16="http://schemas.microsoft.com/office/drawing/2014/main" val="1862522606"/>
                    </a:ext>
                  </a:extLst>
                </a:gridCol>
                <a:gridCol w="844732">
                  <a:extLst>
                    <a:ext uri="{9D8B030D-6E8A-4147-A177-3AD203B41FA5}">
                      <a16:colId xmlns:a16="http://schemas.microsoft.com/office/drawing/2014/main" val="3960816705"/>
                    </a:ext>
                  </a:extLst>
                </a:gridCol>
                <a:gridCol w="496390">
                  <a:extLst>
                    <a:ext uri="{9D8B030D-6E8A-4147-A177-3AD203B41FA5}">
                      <a16:colId xmlns:a16="http://schemas.microsoft.com/office/drawing/2014/main" val="1000321122"/>
                    </a:ext>
                  </a:extLst>
                </a:gridCol>
              </a:tblGrid>
              <a:tr h="252549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group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response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42787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30.8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47705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26.9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364234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25.8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33270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23.8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96002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26.5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179417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14.8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50776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19.5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623989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21.0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561918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25.8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409899"/>
                  </a:ext>
                </a:extLst>
              </a:tr>
              <a:tr h="293424"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23.0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969283"/>
                  </a:ext>
                </a:extLst>
              </a:tr>
            </a:tbl>
          </a:graphicData>
        </a:graphic>
      </p:graphicFrame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25</a:t>
            </a:r>
          </a:p>
        </p:txBody>
      </p:sp>
    </p:spTree>
    <p:extLst>
      <p:ext uri="{BB962C8B-B14F-4D97-AF65-F5344CB8AC3E}">
        <p14:creationId xmlns:p14="http://schemas.microsoft.com/office/powerpoint/2010/main" val="87311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59823" y="1727860"/>
                <a:ext cx="10515600" cy="442910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 smtClean="0"/>
                  <a:t>We denote the </a:t>
                </a:r>
                <a:r>
                  <a:rPr lang="en-US" u="sng" dirty="0" smtClean="0"/>
                  <a:t>expectation</a:t>
                </a:r>
                <a:r>
                  <a:rPr lang="en-US" dirty="0" smtClean="0"/>
                  <a:t> or </a:t>
                </a:r>
                <a:r>
                  <a:rPr lang="en-US" u="sng" dirty="0" smtClean="0"/>
                  <a:t>mean</a:t>
                </a:r>
                <a:r>
                  <a:rPr lang="en-US" dirty="0" smtClean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by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);</m:t>
                    </m:r>
                  </m:oMath>
                </a14:m>
                <a:endParaRPr lang="en-US" i="1" dirty="0" smtClean="0"/>
              </a:p>
              <a:p>
                <a:pPr marL="457200" lvl="1" indent="0">
                  <a:buNone/>
                </a:pPr>
                <a:r>
                  <a:rPr lang="en-US" dirty="0" smtClean="0"/>
                  <a:t>	the </a:t>
                </a:r>
                <a:r>
                  <a:rPr lang="en-US" u="sng" dirty="0" smtClean="0"/>
                  <a:t>variance</a:t>
                </a:r>
                <a:r>
                  <a:rPr lang="en-US" dirty="0" smtClean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by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en-US" i="1" dirty="0"/>
              </a:p>
              <a:p>
                <a:pPr marL="457200" lvl="1" indent="0">
                  <a:buNone/>
                </a:pPr>
                <a:r>
                  <a:rPr lang="en-US" i="1" dirty="0"/>
                  <a:t/>
                </a:r>
                <a:br>
                  <a:rPr lang="en-US" i="1" dirty="0"/>
                </a:br>
                <a:r>
                  <a:rPr lang="en-US" i="1" dirty="0" smtClean="0"/>
                  <a:t/>
                </a:r>
                <a:r>
                  <a:rPr lang="en-US" dirty="0" smtClean="0"/>
                  <a:t>the </a:t>
                </a:r>
                <a:r>
                  <a:rPr lang="en-US" u="sng" dirty="0" smtClean="0"/>
                  <a:t>covariance</a:t>
                </a:r>
                <a:r>
                  <a:rPr lang="en-US" dirty="0" smtClean="0"/>
                  <a:t>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 by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</m:sSubSup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cov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en-US" i="1" dirty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lvl="1"/>
                <a:r>
                  <a:rPr lang="en-US" dirty="0" smtClean="0"/>
                  <a:t>Correlation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</m:sSubSup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∈[−1,1]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823" y="1727860"/>
                <a:ext cx="10515600" cy="4429100"/>
              </a:xfrm>
              <a:blipFill>
                <a:blip r:embed="rId2"/>
                <a:stretch>
                  <a:fillRect t="-1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7280367" y="2081349"/>
            <a:ext cx="1994262" cy="444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Target of inference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25</a:t>
            </a:r>
          </a:p>
        </p:txBody>
      </p:sp>
    </p:spTree>
    <p:extLst>
      <p:ext uri="{BB962C8B-B14F-4D97-AF65-F5344CB8AC3E}">
        <p14:creationId xmlns:p14="http://schemas.microsoft.com/office/powerpoint/2010/main" val="136021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3749831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 smtClean="0"/>
                  <a:t>Covariance matrix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𝐜𝐨𝐯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 smtClean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lvl="1"/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3749831"/>
              </a:xfrm>
              <a:blipFill>
                <a:blip r:embed="rId2"/>
                <a:stretch>
                  <a:fillRect t="-2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261" y="2256539"/>
            <a:ext cx="7053219" cy="3569496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25</a:t>
            </a:r>
          </a:p>
        </p:txBody>
      </p:sp>
    </p:spTree>
    <p:extLst>
      <p:ext uri="{BB962C8B-B14F-4D97-AF65-F5344CB8AC3E}">
        <p14:creationId xmlns:p14="http://schemas.microsoft.com/office/powerpoint/2010/main" val="226849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– TLC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9797"/>
          </a:xfrm>
        </p:spPr>
        <p:txBody>
          <a:bodyPr>
            <a:normAutofit/>
          </a:bodyPr>
          <a:lstStyle/>
          <a:p>
            <a:r>
              <a:rPr lang="en-US" u="sng" dirty="0"/>
              <a:t>Treatment of Lead-Exposed </a:t>
            </a:r>
            <a:r>
              <a:rPr lang="en-US" u="sng" dirty="0" smtClean="0"/>
              <a:t>Children (TLC) Trial </a:t>
            </a:r>
          </a:p>
          <a:p>
            <a:r>
              <a:rPr lang="en-US" dirty="0" smtClean="0"/>
              <a:t>100 children exposed to  lead were randomized into </a:t>
            </a:r>
            <a:r>
              <a:rPr lang="en-US" dirty="0" err="1" smtClean="0"/>
              <a:t>succimer</a:t>
            </a:r>
            <a:r>
              <a:rPr lang="en-US" dirty="0" smtClean="0"/>
              <a:t> and placebo groups, each N=50</a:t>
            </a:r>
          </a:p>
          <a:p>
            <a:r>
              <a:rPr lang="en-US" dirty="0"/>
              <a:t>Data consist of 4 repeated measurements of blood lead levels </a:t>
            </a:r>
            <a:r>
              <a:rPr lang="en-US" dirty="0" smtClean="0"/>
              <a:t>obtained at </a:t>
            </a:r>
            <a:r>
              <a:rPr lang="en-US" dirty="0"/>
              <a:t>baseline (or week 0), weeks 1, 4, and 6</a:t>
            </a:r>
            <a:r>
              <a:rPr lang="en-US" dirty="0" smtClean="0"/>
              <a:t>.</a:t>
            </a:r>
          </a:p>
          <a:p>
            <a:r>
              <a:rPr lang="en-US" dirty="0"/>
              <a:t>Data file: “</a:t>
            </a:r>
            <a:r>
              <a:rPr lang="en-US" dirty="0" smtClean="0"/>
              <a:t>tlc-data.txt”</a:t>
            </a:r>
          </a:p>
          <a:p>
            <a:r>
              <a:rPr lang="en-US" dirty="0" smtClean="0"/>
              <a:t>Code file: “lecture3.sas”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25</a:t>
            </a:r>
          </a:p>
        </p:txBody>
      </p:sp>
    </p:spTree>
    <p:extLst>
      <p:ext uri="{BB962C8B-B14F-4D97-AF65-F5344CB8AC3E}">
        <p14:creationId xmlns:p14="http://schemas.microsoft.com/office/powerpoint/2010/main" val="419847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– TLC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9797"/>
          </a:xfrm>
        </p:spPr>
        <p:txBody>
          <a:bodyPr>
            <a:normAutofit/>
          </a:bodyPr>
          <a:lstStyle/>
          <a:p>
            <a:r>
              <a:rPr lang="en-US" dirty="0" smtClean="0"/>
              <a:t>Raw data: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Read the data file into SAS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33" y="1969250"/>
            <a:ext cx="4562475" cy="1238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64541"/>
            <a:ext cx="10767563" cy="1909242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25</a:t>
            </a:r>
          </a:p>
        </p:txBody>
      </p:sp>
    </p:spTree>
    <p:extLst>
      <p:ext uri="{BB962C8B-B14F-4D97-AF65-F5344CB8AC3E}">
        <p14:creationId xmlns:p14="http://schemas.microsoft.com/office/powerpoint/2010/main" val="274207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753986"/>
            <a:ext cx="10515600" cy="4019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/>
              <a:t>Summarize</a:t>
            </a:r>
            <a:r>
              <a:rPr lang="en-US" dirty="0" smtClean="0"/>
              <a:t> the baseline characteristics and response over time by treatment group</a:t>
            </a:r>
          </a:p>
          <a:p>
            <a:r>
              <a:rPr lang="en-US" dirty="0" smtClean="0"/>
              <a:t>For continuous variables, use </a:t>
            </a:r>
            <a:r>
              <a:rPr lang="en-US" u="sng" dirty="0" err="1" smtClean="0"/>
              <a:t>proc</a:t>
            </a:r>
            <a:r>
              <a:rPr lang="en-US" u="sng" dirty="0" smtClean="0"/>
              <a:t> means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t="36421"/>
          <a:stretch/>
        </p:blipFill>
        <p:spPr>
          <a:xfrm>
            <a:off x="2840218" y="3536032"/>
            <a:ext cx="4379187" cy="1204639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6505303" y="3204755"/>
            <a:ext cx="1210492" cy="426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785464" y="2934788"/>
            <a:ext cx="3169919" cy="1041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Request means and standard deviation (can also do quantiles p25, p75, etc.)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753497" y="4063318"/>
            <a:ext cx="1031967" cy="4829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85464" y="4138351"/>
            <a:ext cx="2246811" cy="1081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</a:t>
            </a:r>
            <a:r>
              <a:rPr lang="en-US" dirty="0" err="1" smtClean="0"/>
              <a:t>var</a:t>
            </a:r>
            <a:r>
              <a:rPr lang="en-US" dirty="0" smtClean="0"/>
              <a:t> statement specifies the variable you want to analyze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554885" y="4304804"/>
            <a:ext cx="798402" cy="6416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54888" y="5013758"/>
            <a:ext cx="2246811" cy="847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class statement specifies the strata</a:t>
            </a:r>
            <a:endParaRPr lang="en-US" dirty="0"/>
          </a:p>
        </p:txBody>
      </p:sp>
      <p:sp>
        <p:nvSpPr>
          <p:cNvPr id="20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21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25</a:t>
            </a:r>
          </a:p>
        </p:txBody>
      </p:sp>
    </p:spTree>
    <p:extLst>
      <p:ext uri="{BB962C8B-B14F-4D97-AF65-F5344CB8AC3E}">
        <p14:creationId xmlns:p14="http://schemas.microsoft.com/office/powerpoint/2010/main" val="179703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753986"/>
            <a:ext cx="10515600" cy="4019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990600" y="1906386"/>
            <a:ext cx="10515600" cy="4311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/>
              <a:t>PROC MEANS output:</a:t>
            </a:r>
          </a:p>
          <a:p>
            <a:endParaRPr lang="en-US" u="sng" dirty="0"/>
          </a:p>
          <a:p>
            <a:endParaRPr lang="en-US" u="sng" dirty="0" smtClean="0"/>
          </a:p>
          <a:p>
            <a:endParaRPr lang="en-US" u="sng" dirty="0"/>
          </a:p>
          <a:p>
            <a:endParaRPr lang="en-US" u="sng" dirty="0" smtClean="0"/>
          </a:p>
          <a:p>
            <a:endParaRPr lang="en-US" u="sng" dirty="0"/>
          </a:p>
          <a:p>
            <a:endParaRPr lang="en-US" u="sng" dirty="0" smtClean="0"/>
          </a:p>
          <a:p>
            <a:endParaRPr lang="en-US" u="sng" dirty="0" smtClean="0"/>
          </a:p>
          <a:p>
            <a:r>
              <a:rPr lang="en-US" u="sng" dirty="0" smtClean="0"/>
              <a:t>DO NOT COPY/PASTE this!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611" y="2351314"/>
            <a:ext cx="5564777" cy="3001612"/>
          </a:xfrm>
          <a:prstGeom prst="rect">
            <a:avLst/>
          </a:prstGeom>
        </p:spPr>
      </p:pic>
      <p:sp>
        <p:nvSpPr>
          <p:cNvPr id="12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13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25</a:t>
            </a:r>
          </a:p>
        </p:txBody>
      </p:sp>
    </p:spTree>
    <p:extLst>
      <p:ext uri="{BB962C8B-B14F-4D97-AF65-F5344CB8AC3E}">
        <p14:creationId xmlns:p14="http://schemas.microsoft.com/office/powerpoint/2010/main" val="369588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– Table 1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753986"/>
            <a:ext cx="10515600" cy="4019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Summarize the baseline characteristics and response over time by treatment group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31" y="2563161"/>
            <a:ext cx="8636998" cy="3788157"/>
          </a:xfrm>
          <a:prstGeom prst="rect">
            <a:avLst/>
          </a:prstGeom>
        </p:spPr>
      </p:pic>
      <p:sp>
        <p:nvSpPr>
          <p:cNvPr id="10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11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25</a:t>
            </a:r>
          </a:p>
        </p:txBody>
      </p:sp>
    </p:spTree>
    <p:extLst>
      <p:ext uri="{BB962C8B-B14F-4D97-AF65-F5344CB8AC3E}">
        <p14:creationId xmlns:p14="http://schemas.microsoft.com/office/powerpoint/2010/main" val="382132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</a:t>
            </a:r>
            <a:r>
              <a:rPr lang="en-US" smtClean="0" sz="3400" b="1">
                <a:solidFill>
                  <a:srgbClr val="0D5F62"/>
                </a:solidFill>
                <a:latin typeface="Calibri"/>
              </a:rPr>
              <a:t>– Correlation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4037"/>
            <a:ext cx="10515600" cy="4351338"/>
          </a:xfrm>
        </p:spPr>
        <p:txBody>
          <a:bodyPr/>
          <a:lstStyle/>
          <a:p>
            <a:r>
              <a:rPr lang="en-US" dirty="0" smtClean="0"/>
              <a:t>Correlation among </a:t>
            </a:r>
            <a:r>
              <a:rPr lang="en-US" dirty="0"/>
              <a:t>the four </a:t>
            </a:r>
            <a:r>
              <a:rPr lang="en-US" dirty="0" smtClean="0"/>
              <a:t>repeated measures can </a:t>
            </a:r>
            <a:r>
              <a:rPr lang="en-US" dirty="0"/>
              <a:t>be examined by constructing a scatterplot of each </a:t>
            </a:r>
            <a:r>
              <a:rPr lang="en-US" dirty="0" smtClean="0"/>
              <a:t>pair using </a:t>
            </a:r>
            <a:r>
              <a:rPr lang="en-US" u="sng" dirty="0" smtClean="0"/>
              <a:t>PROC CORR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371" y="2429692"/>
            <a:ext cx="8286751" cy="3898447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3792039" y="3711631"/>
            <a:ext cx="1171847" cy="5406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972594" y="3416615"/>
            <a:ext cx="2246811" cy="4586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Needed to show plots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422572" y="5058732"/>
            <a:ext cx="1031967" cy="4829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454539" y="5133765"/>
            <a:ext cx="3108958" cy="1081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This option requests a scatterplot matrix with histograms in the diagonal</a:t>
            </a:r>
            <a:endParaRPr lang="en-US" dirty="0"/>
          </a:p>
        </p:txBody>
      </p:sp>
      <p:cxnSp>
        <p:nvCxnSpPr>
          <p:cNvPr id="11" name="Straight Arrow Connector 10"/>
          <p:cNvCxnSpPr>
            <a:endCxn id="12" idx="3"/>
          </p:cNvCxnSpPr>
          <p:nvPr/>
        </p:nvCxnSpPr>
        <p:spPr>
          <a:xfrm flipH="1">
            <a:off x="1896018" y="4594254"/>
            <a:ext cx="518706" cy="377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3154" y="4252266"/>
            <a:ext cx="1672864" cy="1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main title and sub-title. Reset them after procedures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1896018" y="5313461"/>
            <a:ext cx="429171" cy="8869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1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25</a:t>
            </a:r>
          </a:p>
        </p:txBody>
      </p:sp>
    </p:spTree>
    <p:extLst>
      <p:ext uri="{BB962C8B-B14F-4D97-AF65-F5344CB8AC3E}">
        <p14:creationId xmlns:p14="http://schemas.microsoft.com/office/powerpoint/2010/main" val="61845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– Correlation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4546"/>
          </a:xfrm>
        </p:spPr>
        <p:txBody>
          <a:bodyPr>
            <a:normAutofit/>
          </a:bodyPr>
          <a:lstStyle/>
          <a:p>
            <a:r>
              <a:rPr lang="en-US" dirty="0" smtClean="0"/>
              <a:t>For the placebo group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19" y="2255520"/>
            <a:ext cx="5783131" cy="3732031"/>
          </a:xfrm>
          <a:prstGeom prst="rect">
            <a:avLst/>
          </a:prstGeom>
        </p:spPr>
      </p:pic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25</a:t>
            </a:r>
          </a:p>
        </p:txBody>
      </p:sp>
    </p:spTree>
    <p:extLst>
      <p:ext uri="{BB962C8B-B14F-4D97-AF65-F5344CB8AC3E}">
        <p14:creationId xmlns:p14="http://schemas.microsoft.com/office/powerpoint/2010/main" val="51344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– Correlation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727861"/>
            <a:ext cx="10515600" cy="4019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Correlations are all positive and tend to decrease with increasing time separation. 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630" y="2238103"/>
            <a:ext cx="6313714" cy="4156760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25</a:t>
            </a:r>
          </a:p>
        </p:txBody>
      </p:sp>
    </p:spTree>
    <p:extLst>
      <p:ext uri="{BB962C8B-B14F-4D97-AF65-F5344CB8AC3E}">
        <p14:creationId xmlns:p14="http://schemas.microsoft.com/office/powerpoint/2010/main" val="654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– “Wide” to “Long”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2145871"/>
            <a:ext cx="10515600" cy="4019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Transform the “wide” dataset to “long” dataset</a:t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884" y="2863623"/>
            <a:ext cx="9043898" cy="2884035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5472794" y="5478395"/>
            <a:ext cx="849629" cy="1734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22423" y="5446415"/>
            <a:ext cx="3326674" cy="649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Specifies the number of records to print</a:t>
            </a:r>
            <a:endParaRPr lang="en-US" dirty="0"/>
          </a:p>
        </p:txBody>
      </p:sp>
      <p:sp>
        <p:nvSpPr>
          <p:cNvPr id="12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13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25</a:t>
            </a:r>
          </a:p>
        </p:txBody>
      </p:sp>
    </p:spTree>
    <p:extLst>
      <p:ext uri="{BB962C8B-B14F-4D97-AF65-F5344CB8AC3E}">
        <p14:creationId xmlns:p14="http://schemas.microsoft.com/office/powerpoint/2010/main" val="427563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– “Wide” to “Long”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17" y="1408861"/>
            <a:ext cx="3168967" cy="4629561"/>
          </a:xfrm>
          <a:prstGeom prst="rect">
            <a:avLst/>
          </a:prstGeom>
        </p:spPr>
      </p:pic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25</a:t>
            </a:r>
          </a:p>
        </p:txBody>
      </p:sp>
    </p:spTree>
    <p:extLst>
      <p:ext uri="{BB962C8B-B14F-4D97-AF65-F5344CB8AC3E}">
        <p14:creationId xmlns:p14="http://schemas.microsoft.com/office/powerpoint/2010/main" val="154866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– Time plots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65416"/>
            <a:ext cx="10515600" cy="4019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Two kinds of </a:t>
            </a:r>
            <a:r>
              <a:rPr lang="en-US" u="sng" dirty="0" smtClean="0"/>
              <a:t>time plots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Individual trajectories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Mean trajectories</a:t>
            </a:r>
          </a:p>
          <a:p>
            <a:r>
              <a:rPr lang="en-US" dirty="0" smtClean="0"/>
              <a:t>We demonstrate both on the treatment group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513" y="3535681"/>
            <a:ext cx="4798423" cy="2512423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25</a:t>
            </a:r>
          </a:p>
        </p:txBody>
      </p:sp>
    </p:spTree>
    <p:extLst>
      <p:ext uri="{BB962C8B-B14F-4D97-AF65-F5344CB8AC3E}">
        <p14:creationId xmlns:p14="http://schemas.microsoft.com/office/powerpoint/2010/main" val="26461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– Time plots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65416"/>
            <a:ext cx="10515600" cy="4019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Use PROC GPLOT to create these graphics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53" y="2396992"/>
            <a:ext cx="10629472" cy="331583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5525314" y="2834590"/>
            <a:ext cx="1400175" cy="6146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925489" y="2509798"/>
            <a:ext cx="3326674" cy="649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How the data points are shown and how they are connected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256993" y="3619350"/>
            <a:ext cx="1331833" cy="1829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588826" y="3294558"/>
            <a:ext cx="3326674" cy="649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Range, grid size, and label for axis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79972" y="5388031"/>
            <a:ext cx="620280" cy="3247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178627" y="5545276"/>
            <a:ext cx="3944983" cy="9600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“y*x”: plot y as a function of x</a:t>
            </a:r>
          </a:p>
          <a:p>
            <a:pPr algn="ctr"/>
            <a:r>
              <a:rPr lang="en-US" dirty="0" smtClean="0"/>
              <a:t>“=id”: group variable; data points within the same group use the same symbol</a:t>
            </a:r>
            <a:endParaRPr lang="en-US" dirty="0"/>
          </a:p>
        </p:txBody>
      </p:sp>
      <p:sp>
        <p:nvSpPr>
          <p:cNvPr id="18" name="Corrected time units">
            <a:extLst xmlns:a="http://schemas.openxmlformats.org/drawingml/2006/main">
              <a:ext uri="{FF2B5EF4-FFF2-40B4-BE49-F238E27FC236}">
                <a16:creationId xmlns:a16="http://schemas.microsoft.com/office/drawing/2014/main" id="{651469AE-5818-4A41-BDA2-0415893A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671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wrap="none" lIns="0" rIns="0" t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A526A5"/>
                </a:solidFill>
                <a:latin typeface="Courier New"/>
                <a:ea typeface="Courier New"/>
                <a:cs typeface="Courier New"/>
              </a:defRPr>
            </a:pPr>
            <a:r>
              <a:rPr sz="1650">
                <a:solidFill>
                  <a:srgbClr val="A526A5"/>
                </a:solidFill>
                <a:latin typeface="Courier New"/>
                <a:ea typeface="Courier New"/>
                <a:cs typeface="Courier New"/>
              </a:rPr>
              <a:t>Weeks)');</a:t>
            </a:r>
          </a:p>
        </p:txBody>
      </p:sp>
    </p:spTree>
    <p:extLst>
      <p:ext uri="{BB962C8B-B14F-4D97-AF65-F5344CB8AC3E}">
        <p14:creationId xmlns:p14="http://schemas.microsoft.com/office/powerpoint/2010/main" val="270823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– Time plots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2145871"/>
            <a:ext cx="10515600" cy="4019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510" y="1143714"/>
            <a:ext cx="7619048" cy="5714286"/>
          </a:xfrm>
          <a:prstGeom prst="rect">
            <a:avLst/>
          </a:prstGeom>
        </p:spPr>
      </p:pic>
      <p:sp>
        <p:nvSpPr>
          <p:cNvPr id="7" name="Corrected time units">
            <a:extLst xmlns:a="http://schemas.openxmlformats.org/drawingml/2006/main">
              <a:ext uri="{FF2B5EF4-FFF2-40B4-BE49-F238E27FC236}">
                <a16:creationId xmlns:a16="http://schemas.microsoft.com/office/drawing/2014/main" id="{2BF71173-A1A7-40C3-B687-B4DC5227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6294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wrap="none" lIns="0" rIns="0" t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222222"/>
                </a:solidFill>
                <a:latin typeface="Arial"/>
                <a:ea typeface="Arial"/>
                <a:cs typeface="Arial"/>
              </a:rPr>
              <a:t>Time (in Weeks)</a:t>
            </a:r>
          </a:p>
        </p:txBody>
      </p:sp>
    </p:spTree>
    <p:extLst>
      <p:ext uri="{BB962C8B-B14F-4D97-AF65-F5344CB8AC3E}">
        <p14:creationId xmlns:p14="http://schemas.microsoft.com/office/powerpoint/2010/main" val="86493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Descriptive analysis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– Time plots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2145871"/>
            <a:ext cx="10515600" cy="4019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Mean plot: first compute the means using PROC MEANS and then output the results</a:t>
            </a:r>
            <a:endParaRPr lang="en-US" dirty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306" y="3193051"/>
            <a:ext cx="5811554" cy="188404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6533901" y="3210525"/>
            <a:ext cx="964395" cy="2172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98296" y="2868258"/>
            <a:ext cx="3326674" cy="1250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</a:t>
            </a:r>
            <a:r>
              <a:rPr lang="en-US" dirty="0" err="1" smtClean="0"/>
              <a:t>nway</a:t>
            </a:r>
            <a:r>
              <a:rPr lang="en-US" dirty="0" smtClean="0"/>
              <a:t> options requests that statistics be computed within each level of the combination of class variables. 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491418" y="4648057"/>
            <a:ext cx="1073330" cy="5277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748347" y="5226925"/>
            <a:ext cx="3326674" cy="649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 the results to SAS dataset “</a:t>
            </a:r>
            <a:r>
              <a:rPr lang="en-US" dirty="0" err="1" smtClean="0"/>
              <a:t>leadmean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057990" y="4548018"/>
            <a:ext cx="1154193" cy="2935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12183" y="4526211"/>
            <a:ext cx="3326674" cy="649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Specify the variable name for the mean statistic</a:t>
            </a:r>
            <a:endParaRPr lang="en-US" dirty="0"/>
          </a:p>
        </p:txBody>
      </p:sp>
      <p:sp>
        <p:nvSpPr>
          <p:cNvPr id="1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1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25</a:t>
            </a:r>
          </a:p>
        </p:txBody>
      </p:sp>
    </p:spTree>
    <p:extLst>
      <p:ext uri="{BB962C8B-B14F-4D97-AF65-F5344CB8AC3E}">
        <p14:creationId xmlns:p14="http://schemas.microsoft.com/office/powerpoint/2010/main" val="289666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0628"/>
            <a:ext cx="10515600" cy="824366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Descriptive analysis – Time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Leadmean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172" y="2374446"/>
            <a:ext cx="6537656" cy="246752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25</a:t>
            </a:r>
          </a:p>
        </p:txBody>
      </p:sp>
    </p:spTree>
    <p:extLst>
      <p:ext uri="{BB962C8B-B14F-4D97-AF65-F5344CB8AC3E}">
        <p14:creationId xmlns:p14="http://schemas.microsoft.com/office/powerpoint/2010/main" val="3276076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4295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Descriptive analysis – Time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Use PROC GPLOT on the </a:t>
            </a:r>
            <a:r>
              <a:rPr lang="en-US" dirty="0" err="1" smtClean="0"/>
              <a:t>Leadmean</a:t>
            </a:r>
            <a:r>
              <a:rPr lang="en-US" dirty="0" smtClean="0"/>
              <a:t> dataset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66" y="2602547"/>
            <a:ext cx="10272868" cy="3232195"/>
          </a:xfrm>
          <a:prstGeom prst="rect">
            <a:avLst/>
          </a:prstGeom>
        </p:spPr>
      </p:pic>
      <p:cxnSp>
        <p:nvCxnSpPr>
          <p:cNvPr id="9" name="Straight Arrow Connector 8"/>
          <p:cNvCxnSpPr>
            <a:stCxn id="10" idx="1"/>
          </p:cNvCxnSpPr>
          <p:nvPr/>
        </p:nvCxnSpPr>
        <p:spPr>
          <a:xfrm flipH="1">
            <a:off x="3779520" y="3133867"/>
            <a:ext cx="4247606" cy="18822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027126" y="2653676"/>
            <a:ext cx="3326674" cy="960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class variable group has two levels, hence two symbol statements.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429691" y="2978468"/>
            <a:ext cx="5597435" cy="1740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1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25</a:t>
            </a:r>
          </a:p>
        </p:txBody>
      </p:sp>
      <p:sp>
        <p:nvSpPr>
          <p:cNvPr id="16" name="Corrected time units">
            <a:extLst xmlns:a="http://schemas.openxmlformats.org/drawingml/2006/main">
              <a:ext uri="{FF2B5EF4-FFF2-40B4-BE49-F238E27FC236}">
                <a16:creationId xmlns:a16="http://schemas.microsoft.com/office/drawing/2014/main" id="{A952F596-0C90-4A6F-8BE4-025F7659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10572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wrap="none" lIns="0" rIns="0" t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A526A5"/>
                </a:solidFill>
                <a:latin typeface="Courier New"/>
                <a:ea typeface="Courier New"/>
                <a:cs typeface="Courier New"/>
              </a:defRPr>
            </a:pPr>
            <a:r>
              <a:rPr sz="1650">
                <a:solidFill>
                  <a:srgbClr val="A526A5"/>
                </a:solidFill>
                <a:latin typeface="Courier New"/>
                <a:ea typeface="Courier New"/>
                <a:cs typeface="Courier New"/>
              </a:rPr>
              <a:t>Weeks)');</a:t>
            </a:r>
          </a:p>
        </p:txBody>
      </p:sp>
    </p:spTree>
    <p:extLst>
      <p:ext uri="{BB962C8B-B14F-4D97-AF65-F5344CB8AC3E}">
        <p14:creationId xmlns:p14="http://schemas.microsoft.com/office/powerpoint/2010/main" val="574310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28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Descriptive analysis – Time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321" y="1499098"/>
            <a:ext cx="6108587" cy="4581440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03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25</a:t>
            </a:r>
          </a:p>
        </p:txBody>
      </p:sp>
      <p:sp>
        <p:nvSpPr>
          <p:cNvPr id="8" name="Corrected time units">
            <a:extLst xmlns:a="http://schemas.openxmlformats.org/drawingml/2006/main">
              <a:ext uri="{FF2B5EF4-FFF2-40B4-BE49-F238E27FC236}">
                <a16:creationId xmlns:a16="http://schemas.microsoft.com/office/drawing/2014/main" id="{1915F10B-E854-4752-A9B5-30B26B9D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86425"/>
            <a:ext cx="9048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wrap="none" lIns="0" rIns="0" t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222222"/>
                </a:solidFill>
                <a:latin typeface="Arial"/>
                <a:ea typeface="Arial"/>
                <a:cs typeface="Arial"/>
              </a:rPr>
              <a:t>Time (in Weeks)</a:t>
            </a:r>
          </a:p>
        </p:txBody>
      </p:sp>
    </p:spTree>
    <p:extLst>
      <p:ext uri="{BB962C8B-B14F-4D97-AF65-F5344CB8AC3E}">
        <p14:creationId xmlns:p14="http://schemas.microsoft.com/office/powerpoint/2010/main" val="4019590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7915</TotalTime>
  <Words>621</Words>
  <Application>Microsoft Office PowerPoint</Application>
  <PresentationFormat>Widescreen</PresentationFormat>
  <Paragraphs>169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The longitudinal data</vt:lpstr>
      <vt:lpstr>The longitudinal data</vt:lpstr>
      <vt:lpstr>The wide format</vt:lpstr>
      <vt:lpstr>The long format</vt:lpstr>
      <vt:lpstr>The longitudinal data</vt:lpstr>
      <vt:lpstr>The longitudinal data</vt:lpstr>
      <vt:lpstr>Descriptive analysis – TLC study</vt:lpstr>
      <vt:lpstr>Descriptive analysis – TLC study</vt:lpstr>
      <vt:lpstr>Descriptive analysis</vt:lpstr>
      <vt:lpstr>Descriptive analysis</vt:lpstr>
      <vt:lpstr>Descriptive analysis – Table 1</vt:lpstr>
      <vt:lpstr>Descriptive analysis – Correlation</vt:lpstr>
      <vt:lpstr>Descriptive analysis – Correlation</vt:lpstr>
      <vt:lpstr>Descriptive analysis – Correlation</vt:lpstr>
      <vt:lpstr>Descriptive analysis – “Wide” to “Long”</vt:lpstr>
      <vt:lpstr>Descriptive analysis – “Wide” to “Long”</vt:lpstr>
      <vt:lpstr>Descriptive analysis – Time plots</vt:lpstr>
      <vt:lpstr>Descriptive analysis – Time plots</vt:lpstr>
      <vt:lpstr>Descriptive analysis – Time plots</vt:lpstr>
      <vt:lpstr>Descriptive analysis – Time plots</vt:lpstr>
      <vt:lpstr>Descriptive analysis – Time plots</vt:lpstr>
      <vt:lpstr>Descriptive analysis – Time plots</vt:lpstr>
      <vt:lpstr>Descriptive analysis – Time plots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333</cp:revision>
  <dcterms:created xsi:type="dcterms:W3CDTF">2019-01-16T21:45:55Z</dcterms:created>
  <dcterms:modified xsi:type="dcterms:W3CDTF">2019-02-06T11:09:04Z</dcterms:modified>
</cp:coreProperties>
</file>