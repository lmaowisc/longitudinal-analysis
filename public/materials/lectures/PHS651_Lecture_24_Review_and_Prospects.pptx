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3" r:id="rId5"/>
    <p:sldId id="264" r:id="rId6"/>
    <p:sldId id="265" r:id="rId7"/>
    <p:sldId id="267" r:id="rId8"/>
    <p:sldId id="266" r:id="rId9"/>
    <p:sldId id="268" r:id="rId10"/>
    <p:sldId id="269" r:id="rId11"/>
    <p:sldId id="270" r:id="rId12"/>
    <p:sldId id="271" r:id="rId13"/>
    <p:sldId id="273" r:id="rId14"/>
    <p:sldId id="272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ED68BB4-D429-4D9F-9A88-1E15C9ECB80D}">
          <p14:sldIdLst>
            <p14:sldId id="256"/>
            <p14:sldId id="258"/>
            <p14:sldId id="259"/>
            <p14:sldId id="263"/>
            <p14:sldId id="264"/>
            <p14:sldId id="265"/>
            <p14:sldId id="267"/>
            <p14:sldId id="266"/>
            <p14:sldId id="268"/>
            <p14:sldId id="269"/>
            <p14:sldId id="270"/>
            <p14:sldId id="271"/>
            <p14:sldId id="273"/>
            <p14:sldId id="272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62618-9039-4ED7-943F-AF202714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7C8A3-0D79-4C75-B5C1-F540BA2B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Review and Prospects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04F44-0DCD-4202-896E-BDAA534A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2AD39-57A4-4FBF-BA6E-C9CCD01E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A47C8-32D7-44A7-8F17-B64822A4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99399-9EA0-4AE2-882F-A26179C5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167101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Why PHS 651?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6292"/>
                <a:ext cx="10515600" cy="4272742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sz="3000" dirty="0" smtClean="0"/>
                  <a:t>The focus of this course is on studying the change of response over time and how the change is related to </a:t>
                </a:r>
                <a:r>
                  <a:rPr lang="en-US" sz="3000" u="sng" dirty="0" smtClean="0"/>
                  <a:t>baseline exposure/treatment</a:t>
                </a:r>
                <a:r>
                  <a:rPr lang="en-US" sz="3000" dirty="0" smtClean="0"/>
                  <a:t>.</a:t>
                </a:r>
              </a:p>
              <a:p>
                <a:pPr lvl="0"/>
                <a:r>
                  <a:rPr lang="en-US" sz="3000" dirty="0" smtClean="0"/>
                  <a:t>The main challenge of this longitudinal analysis is proper handling of </a:t>
                </a:r>
                <a:r>
                  <a:rPr lang="en-US" sz="3000" u="sng" dirty="0" smtClean="0"/>
                  <a:t>correlation</a:t>
                </a:r>
                <a:r>
                  <a:rPr lang="en-US" sz="3000" dirty="0" smtClean="0"/>
                  <a:t> between measurements taken over time: 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)′</m:t>
                    </m:r>
                  </m:oMath>
                </a14:m>
                <a:r>
                  <a:rPr lang="en-US" sz="3000" dirty="0" smtClean="0"/>
                  <a:t>.</a:t>
                </a:r>
              </a:p>
              <a:p>
                <a:pPr lvl="0"/>
                <a:r>
                  <a:rPr lang="en-US" sz="3000" dirty="0" smtClean="0"/>
                  <a:t>Ordinary regression methods fail to account for correlation in the responses and often lead to </a:t>
                </a:r>
                <a:r>
                  <a:rPr lang="en-US" sz="3000" u="sng" dirty="0" smtClean="0"/>
                  <a:t>inefficient</a:t>
                </a:r>
                <a:r>
                  <a:rPr lang="en-US" sz="3000" dirty="0" smtClean="0"/>
                  <a:t> and even </a:t>
                </a:r>
                <a:r>
                  <a:rPr lang="en-US" sz="3000" u="sng" dirty="0" smtClean="0"/>
                  <a:t>invalid</a:t>
                </a:r>
                <a:r>
                  <a:rPr lang="en-US" sz="3000" dirty="0" smtClean="0"/>
                  <a:t> results </a:t>
                </a:r>
                <a:r>
                  <a:rPr lang="en-US" dirty="0"/>
                  <a:t>(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Lecture 1</a:t>
                </a:r>
                <a:r>
                  <a:rPr lang="en-US" dirty="0" smtClean="0"/>
                  <a:t>).</a:t>
                </a:r>
                <a:endParaRPr lang="en-US" sz="30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6292"/>
                <a:ext cx="10515600" cy="4272742"/>
              </a:xfrm>
              <a:blipFill>
                <a:blip r:embed="rId2"/>
                <a:stretch>
                  <a:fillRect l="-1217" t="-2853" r="-1681" b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23475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Statistical Methods for Longitudinal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/>
          </a:bodyPr>
          <a:lstStyle/>
          <a:p>
            <a:pPr lvl="0"/>
            <a:r>
              <a:rPr lang="en-US" sz="3000" dirty="0" smtClean="0"/>
              <a:t>There are different ways of modeling longitudinal data to account for the correlation structure in the response. All can be viewed as extensions of ordinary linear regression (</a:t>
            </a:r>
            <a:r>
              <a:rPr lang="en-US" sz="3000" dirty="0" smtClean="0">
                <a:solidFill>
                  <a:srgbClr val="C00000"/>
                </a:solidFill>
              </a:rPr>
              <a:t>Lecture 2</a:t>
            </a:r>
            <a:r>
              <a:rPr lang="en-US" sz="3000" dirty="0" smtClean="0"/>
              <a:t>) or generalized linear regression (GLM; </a:t>
            </a:r>
            <a:r>
              <a:rPr lang="en-US" sz="3000" dirty="0" smtClean="0">
                <a:solidFill>
                  <a:srgbClr val="C00000"/>
                </a:solidFill>
              </a:rPr>
              <a:t>Lecture 14</a:t>
            </a:r>
            <a:r>
              <a:rPr lang="en-US" sz="3000" dirty="0" smtClean="0"/>
              <a:t>)</a:t>
            </a:r>
          </a:p>
          <a:p>
            <a:pPr lvl="0"/>
            <a:r>
              <a:rPr lang="en-US" sz="3000" dirty="0" smtClean="0"/>
              <a:t>We have studied three classes of models for longitudinal model: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General Linear Models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Mixed Effects Models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Marginal Models</a:t>
            </a:r>
          </a:p>
          <a:p>
            <a:pPr lvl="0"/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258538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Statistical Methods – General Linear Models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49188601"/>
                  </p:ext>
                </p:extLst>
              </p:nvPr>
            </p:nvGraphicFramePr>
            <p:xfrm>
              <a:off x="224443" y="1945900"/>
              <a:ext cx="11729258" cy="3296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0183">
                      <a:extLst>
                        <a:ext uri="{9D8B030D-6E8A-4147-A177-3AD203B41FA5}">
                          <a16:colId xmlns:a16="http://schemas.microsoft.com/office/drawing/2014/main" val="1799730613"/>
                        </a:ext>
                      </a:extLst>
                    </a:gridCol>
                    <a:gridCol w="1557719">
                      <a:extLst>
                        <a:ext uri="{9D8B030D-6E8A-4147-A177-3AD203B41FA5}">
                          <a16:colId xmlns:a16="http://schemas.microsoft.com/office/drawing/2014/main" val="1417385672"/>
                        </a:ext>
                      </a:extLst>
                    </a:gridCol>
                    <a:gridCol w="2512750">
                      <a:extLst>
                        <a:ext uri="{9D8B030D-6E8A-4147-A177-3AD203B41FA5}">
                          <a16:colId xmlns:a16="http://schemas.microsoft.com/office/drawing/2014/main" val="1569996520"/>
                        </a:ext>
                      </a:extLst>
                    </a:gridCol>
                    <a:gridCol w="2318035">
                      <a:extLst>
                        <a:ext uri="{9D8B030D-6E8A-4147-A177-3AD203B41FA5}">
                          <a16:colId xmlns:a16="http://schemas.microsoft.com/office/drawing/2014/main" val="2393849191"/>
                        </a:ext>
                      </a:extLst>
                    </a:gridCol>
                    <a:gridCol w="1502088">
                      <a:extLst>
                        <a:ext uri="{9D8B030D-6E8A-4147-A177-3AD203B41FA5}">
                          <a16:colId xmlns:a16="http://schemas.microsoft.com/office/drawing/2014/main" val="1005574421"/>
                        </a:ext>
                      </a:extLst>
                    </a:gridCol>
                    <a:gridCol w="2418483">
                      <a:extLst>
                        <a:ext uri="{9D8B030D-6E8A-4147-A177-3AD203B41FA5}">
                          <a16:colId xmlns:a16="http://schemas.microsoft.com/office/drawing/2014/main" val="23853885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Outcome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Modeling Approach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Pros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Cons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Missingness</a:t>
                          </a:r>
                          <a:r>
                            <a:rPr lang="en-US" baseline="0" dirty="0" smtClean="0"/>
                            <a:t> Handling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SAS Implementation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369493"/>
                      </a:ext>
                    </a:extLst>
                  </a:tr>
                  <a:tr h="216890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Continuous only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Direct specification</a:t>
                          </a:r>
                          <a:r>
                            <a:rPr lang="en-US" baseline="0" dirty="0" smtClean="0"/>
                            <a:t> of covariance structure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b="0" i="0" baseline="0" smtClean="0">
                                  <a:latin typeface="Cambria Math" panose="02040503050406030204" pitchFamily="18" charset="0"/>
                                </a:rPr>
                                <m:t>Var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baseline="0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baseline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b="0" i="0" baseline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dirty="0" smtClean="0"/>
                            <a:t>Can use </a:t>
                          </a:r>
                          <a:r>
                            <a:rPr lang="en-US" u="sng" dirty="0" smtClean="0"/>
                            <a:t>unstructured</a:t>
                          </a:r>
                          <a:r>
                            <a:rPr lang="en-US" dirty="0" smtClean="0"/>
                            <a:t> covariance</a:t>
                          </a:r>
                          <a:r>
                            <a:rPr lang="en-US" baseline="0" dirty="0" smtClean="0"/>
                            <a:t> matrix;</a:t>
                          </a: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dirty="0" smtClean="0"/>
                            <a:t>Covariance structure</a:t>
                          </a:r>
                          <a:r>
                            <a:rPr lang="en-US" baseline="0" dirty="0" smtClean="0"/>
                            <a:t/>
                          </a:r>
                          <a:r>
                            <a:rPr lang="en-US" u="sng" baseline="0" dirty="0" smtClean="0"/>
                            <a:t>transparent.</a:t>
                          </a:r>
                          <a:endParaRPr lang="en-US" u="sn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AutoNum type="arabicPeriod"/>
                          </a:pPr>
                          <a:r>
                            <a:rPr lang="en-US" dirty="0" smtClean="0"/>
                            <a:t>Suitable</a:t>
                          </a:r>
                          <a:r>
                            <a:rPr lang="en-US" baseline="0" dirty="0" smtClean="0"/>
                            <a:t> only for </a:t>
                          </a:r>
                          <a:r>
                            <a:rPr lang="en-US" u="sng" baseline="0" dirty="0" smtClean="0"/>
                            <a:t>balanced design </a:t>
                          </a:r>
                          <a:r>
                            <a:rPr lang="en-US" baseline="0" dirty="0" smtClean="0"/>
                            <a:t>with only </a:t>
                          </a:r>
                          <a:r>
                            <a:rPr lang="en-US" u="sng" baseline="0" dirty="0" smtClean="0"/>
                            <a:t>a few </a:t>
                          </a:r>
                          <a:r>
                            <a:rPr lang="en-US" baseline="0" dirty="0" smtClean="0"/>
                            <a:t>measurement occasions;</a:t>
                          </a:r>
                        </a:p>
                        <a:p>
                          <a:pPr marL="342900" indent="-342900">
                            <a:buAutoNum type="arabicPeriod"/>
                          </a:pPr>
                          <a:r>
                            <a:rPr lang="en-US" baseline="0" dirty="0" smtClean="0"/>
                            <a:t>Cannot do subject-level prediction.</a:t>
                          </a:r>
                        </a:p>
                        <a:p>
                          <a:pPr marL="342900" indent="-342900">
                            <a:buAutoNum type="arabicPeriod"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Maximum</a:t>
                          </a:r>
                          <a:r>
                            <a:rPr lang="en-US" baseline="0" dirty="0" smtClean="0"/>
                            <a:t> Likelihood (assuming </a:t>
                          </a:r>
                          <a:r>
                            <a:rPr lang="en-US" u="sng" baseline="0" dirty="0" smtClean="0"/>
                            <a:t>missing at random</a:t>
                          </a:r>
                          <a:r>
                            <a:rPr lang="en-US" baseline="0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PROC MIXED;</a:t>
                          </a:r>
                        </a:p>
                        <a:p>
                          <a:r>
                            <a:rPr lang="en-US" dirty="0" smtClean="0"/>
                            <a:t>   CLASS</a:t>
                          </a:r>
                          <a:r>
                            <a:rPr lang="en-US" baseline="0" dirty="0" smtClean="0"/>
                            <a:t> id time group;</a:t>
                          </a:r>
                        </a:p>
                        <a:p>
                          <a:r>
                            <a:rPr lang="en-US" baseline="0" dirty="0" smtClean="0"/>
                            <a:t>   MODEL y=time  group group*time;</a:t>
                          </a:r>
                        </a:p>
                        <a:p>
                          <a:r>
                            <a:rPr lang="en-US" baseline="0" dirty="0" smtClean="0"/>
                            <a:t>   REPEATED time/SUBJECT=id TYPE=UN;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2639312"/>
                      </a:ext>
                    </a:extLst>
                  </a:tr>
                  <a:tr h="370840">
                    <a:tc gridSpan="6"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rgbClr val="C00000"/>
                              </a:solidFill>
                            </a:rPr>
                            <a:t>Lectures 4--9</a:t>
                          </a:r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endParaRPr lang="en-US" u="sng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342900" indent="-342900">
                            <a:buAutoNum type="arabicPeriod"/>
                          </a:pPr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05314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49188601"/>
                  </p:ext>
                </p:extLst>
              </p:nvPr>
            </p:nvGraphicFramePr>
            <p:xfrm>
              <a:off x="224443" y="1945900"/>
              <a:ext cx="11729258" cy="3296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0183">
                      <a:extLst>
                        <a:ext uri="{9D8B030D-6E8A-4147-A177-3AD203B41FA5}">
                          <a16:colId xmlns:a16="http://schemas.microsoft.com/office/drawing/2014/main" val="1799730613"/>
                        </a:ext>
                      </a:extLst>
                    </a:gridCol>
                    <a:gridCol w="1557719">
                      <a:extLst>
                        <a:ext uri="{9D8B030D-6E8A-4147-A177-3AD203B41FA5}">
                          <a16:colId xmlns:a16="http://schemas.microsoft.com/office/drawing/2014/main" val="1417385672"/>
                        </a:ext>
                      </a:extLst>
                    </a:gridCol>
                    <a:gridCol w="2512750">
                      <a:extLst>
                        <a:ext uri="{9D8B030D-6E8A-4147-A177-3AD203B41FA5}">
                          <a16:colId xmlns:a16="http://schemas.microsoft.com/office/drawing/2014/main" val="1569996520"/>
                        </a:ext>
                      </a:extLst>
                    </a:gridCol>
                    <a:gridCol w="2318035">
                      <a:extLst>
                        <a:ext uri="{9D8B030D-6E8A-4147-A177-3AD203B41FA5}">
                          <a16:colId xmlns:a16="http://schemas.microsoft.com/office/drawing/2014/main" val="2393849191"/>
                        </a:ext>
                      </a:extLst>
                    </a:gridCol>
                    <a:gridCol w="1502088">
                      <a:extLst>
                        <a:ext uri="{9D8B030D-6E8A-4147-A177-3AD203B41FA5}">
                          <a16:colId xmlns:a16="http://schemas.microsoft.com/office/drawing/2014/main" val="1005574421"/>
                        </a:ext>
                      </a:extLst>
                    </a:gridCol>
                    <a:gridCol w="2418483">
                      <a:extLst>
                        <a:ext uri="{9D8B030D-6E8A-4147-A177-3AD203B41FA5}">
                          <a16:colId xmlns:a16="http://schemas.microsoft.com/office/drawing/2014/main" val="238538853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Outcome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Modeling Approach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Pros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Cons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Missingness</a:t>
                          </a:r>
                          <a:r>
                            <a:rPr lang="en-US" baseline="0" dirty="0" smtClean="0"/>
                            <a:t> Handling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SAS Implementation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369493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Continuous only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1406" t="-29255" r="-562891" b="-19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dirty="0" smtClean="0"/>
                            <a:t>Can use </a:t>
                          </a:r>
                          <a:r>
                            <a:rPr lang="en-US" u="sng" dirty="0" smtClean="0"/>
                            <a:t>unstructured</a:t>
                          </a:r>
                          <a:r>
                            <a:rPr lang="en-US" dirty="0" smtClean="0"/>
                            <a:t> covariance</a:t>
                          </a:r>
                          <a:r>
                            <a:rPr lang="en-US" baseline="0" dirty="0" smtClean="0"/>
                            <a:t> matrix;</a:t>
                          </a: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dirty="0" smtClean="0"/>
                            <a:t>Covariance structure</a:t>
                          </a:r>
                          <a:r>
                            <a:rPr lang="en-US" baseline="0" dirty="0" smtClean="0"/>
                            <a:t/>
                          </a:r>
                          <a:r>
                            <a:rPr lang="en-US" u="sng" baseline="0" dirty="0" smtClean="0"/>
                            <a:t>transparent.</a:t>
                          </a:r>
                          <a:endParaRPr lang="en-US" u="sn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AutoNum type="arabicPeriod"/>
                          </a:pPr>
                          <a:r>
                            <a:rPr lang="en-US" dirty="0" smtClean="0"/>
                            <a:t>Suitable</a:t>
                          </a:r>
                          <a:r>
                            <a:rPr lang="en-US" baseline="0" dirty="0" smtClean="0"/>
                            <a:t> only for </a:t>
                          </a:r>
                          <a:r>
                            <a:rPr lang="en-US" u="sng" baseline="0" dirty="0" smtClean="0"/>
                            <a:t>balanced design </a:t>
                          </a:r>
                          <a:r>
                            <a:rPr lang="en-US" baseline="0" dirty="0" smtClean="0"/>
                            <a:t>with only </a:t>
                          </a:r>
                          <a:r>
                            <a:rPr lang="en-US" u="sng" baseline="0" dirty="0" smtClean="0"/>
                            <a:t>a few </a:t>
                          </a:r>
                          <a:r>
                            <a:rPr lang="en-US" baseline="0" dirty="0" smtClean="0"/>
                            <a:t>measurement occasions;</a:t>
                          </a:r>
                        </a:p>
                        <a:p>
                          <a:pPr marL="342900" indent="-342900">
                            <a:buAutoNum type="arabicPeriod"/>
                          </a:pPr>
                          <a:r>
                            <a:rPr lang="en-US" baseline="0" dirty="0" smtClean="0"/>
                            <a:t>Cannot do subject-level prediction.</a:t>
                          </a:r>
                        </a:p>
                        <a:p>
                          <a:pPr marL="342900" indent="-342900">
                            <a:buAutoNum type="arabicPeriod"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Maximum</a:t>
                          </a:r>
                          <a:r>
                            <a:rPr lang="en-US" baseline="0" dirty="0" smtClean="0"/>
                            <a:t> Likelihood (assuming </a:t>
                          </a:r>
                          <a:r>
                            <a:rPr lang="en-US" u="sng" baseline="0" dirty="0" smtClean="0"/>
                            <a:t>missing at random</a:t>
                          </a:r>
                          <a:r>
                            <a:rPr lang="en-US" baseline="0" dirty="0" smtClean="0"/>
                            <a:t>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PROC MIXED;</a:t>
                          </a:r>
                        </a:p>
                        <a:p>
                          <a:r>
                            <a:rPr lang="en-US" dirty="0" smtClean="0"/>
                            <a:t>   CLASS</a:t>
                          </a:r>
                          <a:r>
                            <a:rPr lang="en-US" baseline="0" dirty="0" smtClean="0"/>
                            <a:t> id time group;</a:t>
                          </a:r>
                        </a:p>
                        <a:p>
                          <a:r>
                            <a:rPr lang="en-US" baseline="0" dirty="0" smtClean="0"/>
                            <a:t>   MODEL y=time  group group*time;</a:t>
                          </a:r>
                        </a:p>
                        <a:p>
                          <a:r>
                            <a:rPr lang="en-US" baseline="0" dirty="0" smtClean="0"/>
                            <a:t>   REPEATED time/SUBJECT=id TYPE=UN;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2639312"/>
                      </a:ext>
                    </a:extLst>
                  </a:tr>
                  <a:tr h="370840">
                    <a:tc gridSpan="6"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rgbClr val="C00000"/>
                              </a:solidFill>
                            </a:rPr>
                            <a:t>Lectures 4--9</a:t>
                          </a:r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endParaRPr lang="en-US" u="sng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342900" indent="-342900">
                            <a:buAutoNum type="arabicPeriod"/>
                          </a:pPr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0531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166943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Statistical Methods – Mixed Effects Models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804188"/>
              </p:ext>
            </p:extLst>
          </p:nvPr>
        </p:nvGraphicFramePr>
        <p:xfrm>
          <a:off x="224443" y="1945900"/>
          <a:ext cx="11729258" cy="329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183">
                  <a:extLst>
                    <a:ext uri="{9D8B030D-6E8A-4147-A177-3AD203B41FA5}">
                      <a16:colId xmlns:a16="http://schemas.microsoft.com/office/drawing/2014/main" val="1799730613"/>
                    </a:ext>
                  </a:extLst>
                </a:gridCol>
                <a:gridCol w="1557719">
                  <a:extLst>
                    <a:ext uri="{9D8B030D-6E8A-4147-A177-3AD203B41FA5}">
                      <a16:colId xmlns:a16="http://schemas.microsoft.com/office/drawing/2014/main" val="1417385672"/>
                    </a:ext>
                  </a:extLst>
                </a:gridCol>
                <a:gridCol w="2512750">
                  <a:extLst>
                    <a:ext uri="{9D8B030D-6E8A-4147-A177-3AD203B41FA5}">
                      <a16:colId xmlns:a16="http://schemas.microsoft.com/office/drawing/2014/main" val="1569996520"/>
                    </a:ext>
                  </a:extLst>
                </a:gridCol>
                <a:gridCol w="2318035">
                  <a:extLst>
                    <a:ext uri="{9D8B030D-6E8A-4147-A177-3AD203B41FA5}">
                      <a16:colId xmlns:a16="http://schemas.microsoft.com/office/drawing/2014/main" val="2393849191"/>
                    </a:ext>
                  </a:extLst>
                </a:gridCol>
                <a:gridCol w="1502088">
                  <a:extLst>
                    <a:ext uri="{9D8B030D-6E8A-4147-A177-3AD203B41FA5}">
                      <a16:colId xmlns:a16="http://schemas.microsoft.com/office/drawing/2014/main" val="1005574421"/>
                    </a:ext>
                  </a:extLst>
                </a:gridCol>
                <a:gridCol w="2418483">
                  <a:extLst>
                    <a:ext uri="{9D8B030D-6E8A-4147-A177-3AD203B41FA5}">
                      <a16:colId xmlns:a16="http://schemas.microsoft.com/office/drawing/2014/main" val="2385388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Outcome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Modeling Approach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Missingness</a:t>
                      </a:r>
                      <a:r>
                        <a:rPr lang="en-US" baseline="0" dirty="0" smtClean="0"/>
                        <a:t> Handling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SAS Implementation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369493"/>
                  </a:ext>
                </a:extLst>
              </a:tr>
              <a:tr h="2168900">
                <a:tc>
                  <a:txBody>
                    <a:bodyPr/>
                    <a:lstStyle/>
                    <a:p>
                      <a:r>
                        <a:rPr lang="en-US" dirty="0" smtClean="0"/>
                        <a:t>Continuous</a:t>
                      </a:r>
                      <a:r>
                        <a:rPr lang="en-US" baseline="0" dirty="0" smtClean="0"/>
                        <a:t>/Non-Continuous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Specify subject-level random effects to induce correlation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u="sng" dirty="0" smtClean="0"/>
                        <a:t>Subject-level</a:t>
                      </a:r>
                      <a:r>
                        <a:rPr lang="en-US" dirty="0" smtClean="0"/>
                        <a:t> inference</a:t>
                      </a:r>
                      <a:r>
                        <a:rPr lang="en-US" baseline="0" dirty="0" smtClean="0"/>
                        <a:t>;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 smtClean="0"/>
                        <a:t>Natural induction</a:t>
                      </a:r>
                      <a:r>
                        <a:rPr lang="en-US" baseline="0" dirty="0" smtClean="0"/>
                        <a:t> of correlation among measurements;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Statistically </a:t>
                      </a:r>
                      <a:r>
                        <a:rPr lang="en-US" sz="1800" u="sng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efficient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if correctly modeled.</a:t>
                      </a:r>
                      <a:endParaRPr lang="en-US" sz="18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u="sng" dirty="0" smtClean="0"/>
                        <a:t>Validity</a:t>
                      </a:r>
                      <a:r>
                        <a:rPr lang="en-US" dirty="0" smtClean="0"/>
                        <a:t> depends on assumed distribution</a:t>
                      </a:r>
                      <a:r>
                        <a:rPr lang="en-US" baseline="0" dirty="0" smtClean="0"/>
                        <a:t> of random effects;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baseline="0" dirty="0" smtClean="0"/>
                        <a:t>May be </a:t>
                      </a:r>
                      <a:r>
                        <a:rPr lang="en-US" u="sng" baseline="0" dirty="0" smtClean="0"/>
                        <a:t>computationally intensive</a:t>
                      </a:r>
                      <a:r>
                        <a:rPr lang="en-US" baseline="0" dirty="0" smtClean="0"/>
                        <a:t>.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Maximum</a:t>
                      </a:r>
                      <a:r>
                        <a:rPr lang="en-US" baseline="0" dirty="0" smtClean="0"/>
                        <a:t> Likelihood (assuming </a:t>
                      </a:r>
                      <a:r>
                        <a:rPr lang="en-US" u="sng" baseline="0" dirty="0" smtClean="0"/>
                        <a:t>missing at random</a:t>
                      </a:r>
                      <a:r>
                        <a:rPr lang="en-US" baseline="0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PROC MIXED/GLIMMIX;</a:t>
                      </a:r>
                    </a:p>
                    <a:p>
                      <a:r>
                        <a:rPr lang="en-US" dirty="0" smtClean="0"/>
                        <a:t>   CLASS</a:t>
                      </a:r>
                      <a:r>
                        <a:rPr lang="en-US" baseline="0" dirty="0" smtClean="0"/>
                        <a:t> id group;</a:t>
                      </a:r>
                    </a:p>
                    <a:p>
                      <a:r>
                        <a:rPr lang="en-US" baseline="0" dirty="0" smtClean="0"/>
                        <a:t>   MODEL y=time  group group*time/</a:t>
                      </a:r>
                      <a:r>
                        <a:rPr lang="en-US" baseline="0" dirty="0" err="1" smtClean="0"/>
                        <a:t>dist</a:t>
                      </a:r>
                      <a:r>
                        <a:rPr lang="en-US" baseline="0" dirty="0" smtClean="0"/>
                        <a:t>=, link=;</a:t>
                      </a:r>
                    </a:p>
                    <a:p>
                      <a:r>
                        <a:rPr lang="en-US" baseline="0" dirty="0" smtClean="0"/>
                        <a:t>   RANDOM INTERCEPT time/SUBJECT=id TYPE=UN G;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639312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solidFill>
                            <a:srgbClr val="C00000"/>
                          </a:solidFill>
                        </a:rPr>
                        <a:t>Lectures 10--11, 17--18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u="sn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531403"/>
                  </a:ext>
                </a:extLst>
              </a:tr>
            </a:tbl>
          </a:graphicData>
        </a:graphic>
      </p:graphicFrame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256474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Statistical Methods – Marginal Models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2946821"/>
              </p:ext>
            </p:extLst>
          </p:nvPr>
        </p:nvGraphicFramePr>
        <p:xfrm>
          <a:off x="224443" y="1945900"/>
          <a:ext cx="11729258" cy="329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183">
                  <a:extLst>
                    <a:ext uri="{9D8B030D-6E8A-4147-A177-3AD203B41FA5}">
                      <a16:colId xmlns:a16="http://schemas.microsoft.com/office/drawing/2014/main" val="1799730613"/>
                    </a:ext>
                  </a:extLst>
                </a:gridCol>
                <a:gridCol w="1557719">
                  <a:extLst>
                    <a:ext uri="{9D8B030D-6E8A-4147-A177-3AD203B41FA5}">
                      <a16:colId xmlns:a16="http://schemas.microsoft.com/office/drawing/2014/main" val="1417385672"/>
                    </a:ext>
                  </a:extLst>
                </a:gridCol>
                <a:gridCol w="2512750">
                  <a:extLst>
                    <a:ext uri="{9D8B030D-6E8A-4147-A177-3AD203B41FA5}">
                      <a16:colId xmlns:a16="http://schemas.microsoft.com/office/drawing/2014/main" val="1569996520"/>
                    </a:ext>
                  </a:extLst>
                </a:gridCol>
                <a:gridCol w="2318035">
                  <a:extLst>
                    <a:ext uri="{9D8B030D-6E8A-4147-A177-3AD203B41FA5}">
                      <a16:colId xmlns:a16="http://schemas.microsoft.com/office/drawing/2014/main" val="2393849191"/>
                    </a:ext>
                  </a:extLst>
                </a:gridCol>
                <a:gridCol w="1502088">
                  <a:extLst>
                    <a:ext uri="{9D8B030D-6E8A-4147-A177-3AD203B41FA5}">
                      <a16:colId xmlns:a16="http://schemas.microsoft.com/office/drawing/2014/main" val="1005574421"/>
                    </a:ext>
                  </a:extLst>
                </a:gridCol>
                <a:gridCol w="2418483">
                  <a:extLst>
                    <a:ext uri="{9D8B030D-6E8A-4147-A177-3AD203B41FA5}">
                      <a16:colId xmlns:a16="http://schemas.microsoft.com/office/drawing/2014/main" val="2385388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Outcome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Modeling Approach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Missingness</a:t>
                      </a:r>
                      <a:r>
                        <a:rPr lang="en-US" baseline="0" dirty="0" smtClean="0"/>
                        <a:t> Handling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SAS Implementation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369493"/>
                  </a:ext>
                </a:extLst>
              </a:tr>
              <a:tr h="2168900">
                <a:tc>
                  <a:txBody>
                    <a:bodyPr/>
                    <a:lstStyle/>
                    <a:p>
                      <a:r>
                        <a:rPr lang="en-US" dirty="0" smtClean="0"/>
                        <a:t>Continuous</a:t>
                      </a:r>
                      <a:r>
                        <a:rPr lang="en-US" baseline="0" dirty="0" smtClean="0"/>
                        <a:t>/Non-Continuous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Focus only on the mean model without specifying</a:t>
                      </a:r>
                      <a:r>
                        <a:rPr lang="en-US" baseline="0" dirty="0" smtClean="0"/>
                        <a:t> the </a:t>
                      </a:r>
                      <a:r>
                        <a:rPr lang="en-US" dirty="0" smtClean="0"/>
                        <a:t>correlation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u="none" dirty="0" smtClean="0"/>
                        <a:t>Maximal </a:t>
                      </a:r>
                      <a:r>
                        <a:rPr lang="en-US" u="sng" dirty="0" smtClean="0"/>
                        <a:t>robustness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u="sng" dirty="0" smtClean="0"/>
                        <a:t>Computationally</a:t>
                      </a:r>
                      <a:r>
                        <a:rPr lang="en-US" u="sng" baseline="0" dirty="0" smtClean="0"/>
                        <a:t> simple</a:t>
                      </a:r>
                      <a:endParaRPr lang="en-US" sz="1800" u="sng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baseline="0" dirty="0" smtClean="0"/>
                        <a:t>Needs the sample size to be </a:t>
                      </a:r>
                      <a:r>
                        <a:rPr lang="en-US" u="sng" baseline="0" dirty="0" smtClean="0"/>
                        <a:t>fairly large</a:t>
                      </a:r>
                      <a:r>
                        <a:rPr lang="en-US" baseline="0" dirty="0" smtClean="0"/>
                        <a:t>;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baseline="0" dirty="0" smtClean="0"/>
                        <a:t>Cannot do subject-level prediction;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baseline="0" dirty="0" smtClean="0"/>
                        <a:t>Strong assumption on </a:t>
                      </a:r>
                      <a:r>
                        <a:rPr lang="en-US" u="sng" baseline="0" dirty="0" smtClean="0"/>
                        <a:t>missing data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Available case analysis </a:t>
                      </a:r>
                      <a:r>
                        <a:rPr lang="en-US" baseline="0" dirty="0" smtClean="0"/>
                        <a:t>(assuming </a:t>
                      </a:r>
                      <a:r>
                        <a:rPr lang="en-US" u="sng" baseline="0" dirty="0" smtClean="0"/>
                        <a:t>missing completely at random</a:t>
                      </a:r>
                      <a:r>
                        <a:rPr lang="en-US" baseline="0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PROC GENMOD;</a:t>
                      </a:r>
                    </a:p>
                    <a:p>
                      <a:r>
                        <a:rPr lang="en-US" dirty="0" smtClean="0"/>
                        <a:t>   CLASS</a:t>
                      </a:r>
                      <a:r>
                        <a:rPr lang="en-US" baseline="0" dirty="0" smtClean="0"/>
                        <a:t> id group visit;</a:t>
                      </a:r>
                    </a:p>
                    <a:p>
                      <a:r>
                        <a:rPr lang="en-US" baseline="0" dirty="0" smtClean="0"/>
                        <a:t>   MODEL y=time  group group*time/</a:t>
                      </a:r>
                      <a:r>
                        <a:rPr lang="en-US" baseline="0" dirty="0" err="1" smtClean="0"/>
                        <a:t>dist</a:t>
                      </a:r>
                      <a:r>
                        <a:rPr lang="en-US" baseline="0" dirty="0" smtClean="0"/>
                        <a:t>=, link=;</a:t>
                      </a:r>
                    </a:p>
                    <a:p>
                      <a:r>
                        <a:rPr lang="en-US" baseline="0" dirty="0" smtClean="0"/>
                        <a:t>   REPEATED SUBJECT=id/WITHIN=visit TYPE=IND 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639312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solidFill>
                            <a:srgbClr val="C00000"/>
                          </a:solidFill>
                        </a:rPr>
                        <a:t>Lectures 15--16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u="sn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531403"/>
                  </a:ext>
                </a:extLst>
              </a:tr>
            </a:tbl>
          </a:graphicData>
        </a:graphic>
      </p:graphicFrame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3827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Importance of Descriptive Analysis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Regardless of the modeling approach, one always summarizes the data descriptively first (</a:t>
            </a:r>
            <a:r>
              <a:rPr lang="en-US" dirty="0" smtClean="0">
                <a:solidFill>
                  <a:srgbClr val="C00000"/>
                </a:solidFill>
              </a:rPr>
              <a:t>Lecture 3</a:t>
            </a:r>
            <a:r>
              <a:rPr lang="en-US" dirty="0" smtClean="0"/>
              <a:t>).</a:t>
            </a:r>
          </a:p>
          <a:p>
            <a:pPr lvl="0"/>
            <a:r>
              <a:rPr lang="en-US" dirty="0" smtClean="0"/>
              <a:t>For longitudinal study, a “Table 1” for descriptive analysis typically contains summary statistics for baseline characteristics of subjects (by treatment).</a:t>
            </a:r>
          </a:p>
          <a:p>
            <a:pPr lvl="0"/>
            <a:r>
              <a:rPr lang="en-US" dirty="0" smtClean="0"/>
              <a:t>A time plot for individual or mean responses usually helps to exhibit the main features in the pattern of temporal change and to guide the choice of the analysis model.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380682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Importance of Residual Analysis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Credibility of the analysis results and conclusion drawn thereupon depends on the adequacy of the model.</a:t>
            </a:r>
          </a:p>
          <a:p>
            <a:pPr lvl="0"/>
            <a:r>
              <a:rPr lang="en-US" dirty="0" smtClean="0"/>
              <a:t>We have considered model diagnostics in the setting of linear mixed effects model (</a:t>
            </a:r>
            <a:r>
              <a:rPr lang="en-US" dirty="0" smtClean="0">
                <a:solidFill>
                  <a:srgbClr val="C00000"/>
                </a:solidFill>
              </a:rPr>
              <a:t>Lecture 13</a:t>
            </a:r>
            <a:r>
              <a:rPr lang="en-US" dirty="0" smtClean="0"/>
              <a:t>).</a:t>
            </a:r>
          </a:p>
          <a:p>
            <a:pPr lvl="0"/>
            <a:r>
              <a:rPr lang="en-US" dirty="0" smtClean="0"/>
              <a:t>Similar residual plots can be done in PROC GLIMMIX for GLMM and PROC GENMOD for marginal models.</a:t>
            </a:r>
          </a:p>
          <a:p>
            <a:pPr lvl="0"/>
            <a:r>
              <a:rPr lang="en-US" dirty="0" smtClean="0"/>
              <a:t>A common sensical way to diagnose model misfit is to overlay the </a:t>
            </a:r>
            <a:r>
              <a:rPr lang="en-US" u="sng" dirty="0" smtClean="0"/>
              <a:t>model-based</a:t>
            </a:r>
            <a:r>
              <a:rPr lang="en-US" dirty="0" smtClean="0"/>
              <a:t> mean trajectories over the </a:t>
            </a:r>
            <a:r>
              <a:rPr lang="en-US" u="sng" dirty="0" smtClean="0"/>
              <a:t>empirically estimated</a:t>
            </a:r>
            <a:r>
              <a:rPr lang="en-US" dirty="0" smtClean="0"/>
              <a:t> ones (perhaps by grouping the data in an appropriate way).</a:t>
            </a:r>
          </a:p>
          <a:p>
            <a:pPr lvl="0"/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281581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Sample Size Calculation for a Longitudinal Study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To design a longitudinal study, we used a linear mixed effects model with a linear time trend and random slopes for sample size calculation (</a:t>
            </a:r>
            <a:r>
              <a:rPr lang="en-US" dirty="0" smtClean="0">
                <a:solidFill>
                  <a:srgbClr val="C00000"/>
                </a:solidFill>
              </a:rPr>
              <a:t>Lecture 12</a:t>
            </a:r>
            <a:r>
              <a:rPr lang="en-US" dirty="0" smtClean="0"/>
              <a:t>).</a:t>
            </a:r>
          </a:p>
          <a:p>
            <a:pPr lvl="0"/>
            <a:r>
              <a:rPr lang="en-US" dirty="0" smtClean="0"/>
              <a:t>Alternatively, one can base sample size on a paired </a:t>
            </a:r>
            <a:r>
              <a:rPr lang="en-US" i="1" dirty="0" smtClean="0"/>
              <a:t>t</a:t>
            </a:r>
            <a:r>
              <a:rPr lang="en-US" dirty="0" smtClean="0"/>
              <a:t>-test (pre- and post-treatment), which may be an over-simplification of the data and analysis eventually gathered and performed.</a:t>
            </a:r>
          </a:p>
          <a:p>
            <a:pPr lvl="0"/>
            <a:r>
              <a:rPr lang="en-US" dirty="0" smtClean="0"/>
              <a:t>Or, one can use simulation based on the model to be used for analysis, which may be computationally demanding.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240573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Missing Data in Longitudinal Studies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There are three types of missing data: 1. missing completely at random (MCAR); 2. missing at random (MAR); 3. not missing at random (NMAR).</a:t>
            </a:r>
          </a:p>
          <a:p>
            <a:pPr lvl="0"/>
            <a:r>
              <a:rPr lang="en-US" dirty="0" smtClean="0"/>
              <a:t>For longitudinal analysis, the assumption on missing data is usually MAR (MLE for mixed effects models; IPW or multiple imputations for marginal models; </a:t>
            </a:r>
            <a:r>
              <a:rPr lang="en-US" dirty="0" smtClean="0">
                <a:solidFill>
                  <a:srgbClr val="C00000"/>
                </a:solidFill>
              </a:rPr>
              <a:t>Lecture 19--20</a:t>
            </a:r>
            <a:r>
              <a:rPr lang="en-US" dirty="0" smtClean="0"/>
              <a:t>).</a:t>
            </a:r>
          </a:p>
          <a:p>
            <a:pPr lvl="0"/>
            <a:r>
              <a:rPr lang="en-US" dirty="0" smtClean="0"/>
              <a:t>For more on missing data, refer to the book:</a:t>
            </a:r>
          </a:p>
          <a:p>
            <a:pPr marL="0" indent="0">
              <a:buNone/>
            </a:pPr>
            <a:r>
              <a:rPr lang="en-US" dirty="0" smtClean="0"/>
              <a:t>	Little</a:t>
            </a:r>
            <a:r>
              <a:rPr lang="en-US" dirty="0"/>
              <a:t>, Roderick JA, and Donald B. Rubin. </a:t>
            </a:r>
            <a:r>
              <a:rPr lang="en-US" i="1" dirty="0"/>
              <a:t>Statistical analysis with </a:t>
            </a:r>
            <a:r>
              <a:rPr lang="en-US" i="1" dirty="0" smtClean="0"/>
              <a:t>	missing </a:t>
            </a:r>
            <a:r>
              <a:rPr lang="en-US" i="1" dirty="0"/>
              <a:t>data</a:t>
            </a:r>
            <a:r>
              <a:rPr lang="en-US" dirty="0"/>
              <a:t>. </a:t>
            </a:r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edition, Wiley</a:t>
            </a:r>
            <a:r>
              <a:rPr lang="en-US" dirty="0"/>
              <a:t>, </a:t>
            </a:r>
            <a:r>
              <a:rPr lang="en-US" dirty="0" smtClean="0"/>
              <a:t> 2019.</a:t>
            </a:r>
          </a:p>
          <a:p>
            <a:pPr lvl="0"/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14376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Versatility of the Random Effects Methods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The random effects approach to longitudinal study can also be applied to various other settings (</a:t>
            </a:r>
            <a:r>
              <a:rPr lang="en-US" dirty="0" smtClean="0">
                <a:solidFill>
                  <a:srgbClr val="C00000"/>
                </a:solidFill>
              </a:rPr>
              <a:t>Lectures 21--23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Semiparametric regression</a:t>
            </a:r>
          </a:p>
          <a:p>
            <a:pPr lvl="1"/>
            <a:r>
              <a:rPr lang="en-US" dirty="0" smtClean="0"/>
              <a:t>Multilevel data</a:t>
            </a:r>
          </a:p>
          <a:p>
            <a:pPr lvl="1"/>
            <a:r>
              <a:rPr lang="en-US" dirty="0" smtClean="0"/>
              <a:t>Cross-over trials</a:t>
            </a:r>
          </a:p>
          <a:p>
            <a:r>
              <a:rPr lang="en-US" dirty="0" smtClean="0"/>
              <a:t>For a systematic overview of smoothness-based semiparametric models, see the book:</a:t>
            </a:r>
          </a:p>
          <a:p>
            <a:pPr marL="0" indent="0">
              <a:buNone/>
            </a:pPr>
            <a:r>
              <a:rPr lang="en-US" dirty="0" smtClean="0"/>
              <a:t/>
            </a:r>
            <a:r>
              <a:rPr lang="en-US" dirty="0" err="1" smtClean="0"/>
              <a:t>Ruppert</a:t>
            </a:r>
            <a:r>
              <a:rPr lang="en-US" dirty="0"/>
              <a:t>, D., Wand, M. P., &amp; Carroll, R. J. (2003). </a:t>
            </a:r>
            <a:r>
              <a:rPr lang="en-US" i="1" dirty="0"/>
              <a:t>Semiparametric </a:t>
            </a:r>
            <a:r>
              <a:rPr lang="en-US" i="1" dirty="0" smtClean="0"/>
              <a:t>	regression</a:t>
            </a:r>
            <a:r>
              <a:rPr lang="en-US" dirty="0" smtClean="0"/>
              <a:t>. Cambridge University Press</a:t>
            </a:r>
            <a:r>
              <a:rPr lang="en-US" dirty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832050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Time-Varying Treatment/Exposure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This course is focused on longitudinal study with </a:t>
            </a:r>
            <a:r>
              <a:rPr lang="en-US" u="sng" dirty="0" smtClean="0"/>
              <a:t>time-constant</a:t>
            </a:r>
            <a:r>
              <a:rPr lang="en-US" dirty="0" smtClean="0"/>
              <a:t> treatment/exposure </a:t>
            </a:r>
            <a:r>
              <a:rPr lang="en-US" dirty="0"/>
              <a:t>(with the exception of the menarche study analyzed in </a:t>
            </a:r>
            <a:r>
              <a:rPr lang="en-US" dirty="0">
                <a:solidFill>
                  <a:srgbClr val="C00000"/>
                </a:solidFill>
              </a:rPr>
              <a:t>Lecture 11</a:t>
            </a:r>
            <a:r>
              <a:rPr lang="en-US" dirty="0"/>
              <a:t>)</a:t>
            </a:r>
          </a:p>
          <a:p>
            <a:r>
              <a:rPr lang="en-US" dirty="0" smtClean="0"/>
              <a:t>For such cases, the treatment effects are usually captured by the interactions between time and treatment.</a:t>
            </a:r>
          </a:p>
          <a:p>
            <a:r>
              <a:rPr lang="en-US" dirty="0" smtClean="0"/>
              <a:t>Longitudinal studies with </a:t>
            </a:r>
            <a:r>
              <a:rPr lang="en-US" u="sng" dirty="0" smtClean="0"/>
              <a:t>time-varying</a:t>
            </a:r>
            <a:r>
              <a:rPr lang="en-US" dirty="0" smtClean="0"/>
              <a:t> treatment is a challenging topic. You may refer to this new </a:t>
            </a:r>
            <a:r>
              <a:rPr lang="en-US" i="1" dirty="0" smtClean="0"/>
              <a:t>causal inference </a:t>
            </a:r>
            <a:r>
              <a:rPr lang="en-US" dirty="0" smtClean="0"/>
              <a:t>book by M. Hernan and J. Robins for a detailed discussion:</a:t>
            </a:r>
          </a:p>
          <a:p>
            <a:pPr marL="0" indent="0">
              <a:buNone/>
            </a:pPr>
            <a:r>
              <a:rPr lang="en-US" dirty="0" smtClean="0"/>
              <a:t>	https</a:t>
            </a:r>
            <a:r>
              <a:rPr lang="en-US" dirty="0"/>
              <a:t>://</a:t>
            </a:r>
            <a:r>
              <a:rPr lang="en-US" dirty="0" smtClean="0"/>
              <a:t>www.hsph.harvard.edu/miguel-hernan/causal-inference-	book</a:t>
            </a:r>
            <a:r>
              <a:rPr lang="en-US" dirty="0"/>
              <a:t>/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341351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Objectives of the Course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 smtClean="0"/>
              <a:t>Are </a:t>
            </a:r>
            <a:r>
              <a:rPr lang="en-US" smtClean="0"/>
              <a:t>you now able </a:t>
            </a:r>
            <a:r>
              <a:rPr lang="en-US" dirty="0" smtClean="0"/>
              <a:t>to…</a:t>
            </a:r>
          </a:p>
          <a:p>
            <a:pPr marL="0" lvl="0" indent="0">
              <a:buNone/>
            </a:pPr>
            <a:endParaRPr lang="en-US" sz="1000" dirty="0" smtClean="0"/>
          </a:p>
          <a:p>
            <a:pPr lvl="0"/>
            <a:r>
              <a:rPr lang="en-US" dirty="0" smtClean="0"/>
              <a:t>Extend </a:t>
            </a:r>
            <a:r>
              <a:rPr lang="en-US" dirty="0"/>
              <a:t>the knowledge of regression analysis beyond ordinary linear models</a:t>
            </a:r>
          </a:p>
          <a:p>
            <a:pPr lvl="0"/>
            <a:r>
              <a:rPr lang="en-US" dirty="0"/>
              <a:t>Understand the features of correlated data and their implications in drawing inference</a:t>
            </a:r>
          </a:p>
          <a:p>
            <a:pPr lvl="0"/>
            <a:r>
              <a:rPr lang="en-US" dirty="0"/>
              <a:t>Construct proper linear and generalized linear models for longitudinal and clustered </a:t>
            </a:r>
            <a:r>
              <a:rPr lang="en-US" dirty="0" smtClean="0"/>
              <a:t>data</a:t>
            </a:r>
          </a:p>
          <a:p>
            <a:r>
              <a:rPr lang="en-US" dirty="0"/>
              <a:t>Understand the assumptions needed for estimation and inference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32237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Objectives of the Course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Implement the inference procedures to solve real-world problems using statistical packages such as SAS and R </a:t>
            </a:r>
          </a:p>
          <a:p>
            <a:pPr lvl="0"/>
            <a:r>
              <a:rPr lang="en-US" dirty="0" smtClean="0"/>
              <a:t>Use </a:t>
            </a:r>
            <a:r>
              <a:rPr lang="en-US" dirty="0"/>
              <a:t>diagnostic tools to assess model fit</a:t>
            </a:r>
          </a:p>
          <a:p>
            <a:pPr lvl="0"/>
            <a:r>
              <a:rPr lang="en-US" dirty="0"/>
              <a:t>Interpret and present the analytic results to answer substantive questions</a:t>
            </a:r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40148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Final Assignment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272742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Please complete course evaluation by Friday (5/3)!</a:t>
            </a:r>
          </a:p>
          <a:p>
            <a:pPr lvl="0"/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Thank you for your cooperation!</a:t>
            </a:r>
            <a:endParaRPr lang="en-US" dirty="0"/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391915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73972</TotalTime>
  <Words>962</Words>
  <Application>Microsoft Office PowerPoint</Application>
  <PresentationFormat>Widescreen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Why PHS 651?</vt:lpstr>
      <vt:lpstr>Statistical Methods for Longitudinal Data</vt:lpstr>
      <vt:lpstr>Statistical Methods – General Linear Models</vt:lpstr>
      <vt:lpstr>Statistical Methods – Mixed Effects Models</vt:lpstr>
      <vt:lpstr>Statistical Methods – Marginal Models</vt:lpstr>
      <vt:lpstr>The Importance of Descriptive Analysis</vt:lpstr>
      <vt:lpstr>The Importance of Residual Analysis</vt:lpstr>
      <vt:lpstr>Sample Size Calculation for a Longitudinal Study</vt:lpstr>
      <vt:lpstr>Missing Data in Longitudinal Studies</vt:lpstr>
      <vt:lpstr>Versatility of the Random Effects Methods</vt:lpstr>
      <vt:lpstr>Time-Varying Treatment/Exposure</vt:lpstr>
      <vt:lpstr>The Objectives of the Course</vt:lpstr>
      <vt:lpstr>The Objectives of the Course</vt:lpstr>
      <vt:lpstr>Final Assignment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2047</cp:revision>
  <dcterms:created xsi:type="dcterms:W3CDTF">2019-01-16T21:45:55Z</dcterms:created>
  <dcterms:modified xsi:type="dcterms:W3CDTF">2019-05-01T05:10:48Z</dcterms:modified>
</cp:coreProperties>
</file>