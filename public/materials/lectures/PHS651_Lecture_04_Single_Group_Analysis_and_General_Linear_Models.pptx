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7" r:id="rId30"/>
    <p:sldId id="286" r:id="rId31"/>
    <p:sldId id="289" r:id="rId32"/>
    <p:sldId id="285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EAB7D-3A4D-4CA5-BFFA-22BF11B9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EE122-8FC5-4522-B4F0-E17D1050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Single-Group Analysis and General Linear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B2F94-1D8D-4656-8CFD-42956D35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83CE0-C219-4F1F-AE1F-BB2AEFB5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F47D2-8249-47CA-9DE1-88A5F167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3AB82-1FEF-4E59-BA12-5922F97E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2129957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The </a:t>
            </a:r>
            <a:r>
              <a:rPr lang="en-US" sz="2600" u="sng" dirty="0" smtClean="0"/>
              <a:t>impact of correlation</a:t>
            </a:r>
            <a:r>
              <a:rPr lang="en-US" sz="2600" dirty="0" smtClean="0"/>
              <a:t> in trend analysis</a:t>
            </a:r>
            <a:endParaRPr lang="en-US" sz="26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u="sng" dirty="0" smtClean="0"/>
              <a:t>Single-group trend </a:t>
            </a:r>
            <a:r>
              <a:rPr lang="en-US" sz="2600" u="sng" dirty="0"/>
              <a:t>analysis</a:t>
            </a:r>
            <a:r>
              <a:rPr lang="en-US" sz="2600" dirty="0"/>
              <a:t> using PROC MIXED</a:t>
            </a:r>
            <a:endParaRPr lang="en-US" sz="26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Set-up for the </a:t>
            </a:r>
            <a:r>
              <a:rPr lang="en-US" sz="2600" u="sng" dirty="0" smtClean="0"/>
              <a:t>general linear model</a:t>
            </a:r>
            <a:endParaRPr lang="en-US" sz="2600" u="sng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33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Impact of correlation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In Lecture 3, we saw that the </a:t>
                </a:r>
                <a:r>
                  <a:rPr lang="en-US" u="sng" dirty="0" smtClean="0"/>
                  <a:t>correlations</a:t>
                </a:r>
                <a:r>
                  <a:rPr lang="en-US" dirty="0" smtClean="0"/>
                  <a:t> between responses at different occasions in the TCL data are </a:t>
                </a:r>
                <a:r>
                  <a:rPr lang="en-US" u="sng" dirty="0" smtClean="0"/>
                  <a:t>strong</a:t>
                </a:r>
                <a:r>
                  <a:rPr lang="en-US" dirty="0" smtClean="0"/>
                  <a:t>.</a:t>
                </a:r>
              </a:p>
              <a:p>
                <a:r>
                  <a:rPr lang="en-US" dirty="0"/>
                  <a:t>Potential impact of ignoring correlation can be illustrated using data</a:t>
                </a:r>
                <a:br>
                  <a:rPr lang="en-US" dirty="0"/>
                </a:br>
                <a:r>
                  <a:rPr lang="en-US" dirty="0"/>
                  <a:t>from the </a:t>
                </a:r>
                <a:r>
                  <a:rPr lang="en-US" dirty="0" smtClean="0"/>
                  <a:t>TLC</a:t>
                </a:r>
                <a:r>
                  <a:rPr lang="en-US" i="1" dirty="0" smtClean="0"/>
                  <a:t>.</a:t>
                </a:r>
              </a:p>
              <a:p>
                <a:r>
                  <a:rPr lang="en-US" dirty="0" smtClean="0"/>
                  <a:t>Consider only </a:t>
                </a:r>
                <a:r>
                  <a:rPr lang="en-US" dirty="0"/>
                  <a:t>the first two repeated measures, taken </a:t>
                </a:r>
                <a:r>
                  <a:rPr lang="en-US" dirty="0" smtClean="0"/>
                  <a:t>at week </a:t>
                </a:r>
                <a:r>
                  <a:rPr lang="en-US" dirty="0"/>
                  <a:t>0 and week </a:t>
                </a:r>
                <a:r>
                  <a:rPr lang="en-US" dirty="0" smtClean="0"/>
                  <a:t>1</a:t>
                </a:r>
              </a:p>
              <a:p>
                <a:r>
                  <a:rPr lang="en-US" dirty="0" smtClean="0"/>
                  <a:t>It </a:t>
                </a:r>
                <a:r>
                  <a:rPr lang="en-US" dirty="0"/>
                  <a:t>is of interest to determine the change in the mean response over time.</a:t>
                </a:r>
                <a:br>
                  <a:rPr lang="en-US" dirty="0"/>
                </a:br>
                <a:r>
                  <a:rPr lang="en-US" u="sng" dirty="0"/>
                  <a:t>An estimate of change </a:t>
                </a:r>
                <a:r>
                  <a:rPr lang="en-US" dirty="0"/>
                  <a:t>is given by</a:t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	where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928" t="-319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33</a:t>
            </a:r>
          </a:p>
        </p:txBody>
      </p:sp>
    </p:spTree>
    <p:extLst>
      <p:ext uri="{BB962C8B-B14F-4D97-AF65-F5344CB8AC3E}">
        <p14:creationId xmlns:p14="http://schemas.microsoft.com/office/powerpoint/2010/main" val="284154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Impact of correlation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In the TLC trial, the estimate of change in the </a:t>
                </a:r>
                <a:r>
                  <a:rPr lang="en-US" dirty="0" err="1"/>
                  <a:t>succimer</a:t>
                </a:r>
                <a:r>
                  <a:rPr lang="en-US" dirty="0"/>
                  <a:t> group is −</a:t>
                </a:r>
                <a:r>
                  <a:rPr lang="en-US" dirty="0" smtClean="0"/>
                  <a:t>13.0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(or </a:t>
                </a:r>
                <a:r>
                  <a:rPr lang="en-US" dirty="0" smtClean="0"/>
                  <a:t>13.5 </a:t>
                </a:r>
                <a:r>
                  <a:rPr lang="en-US" dirty="0"/>
                  <a:t>− </a:t>
                </a:r>
                <a:r>
                  <a:rPr lang="en-US" dirty="0" smtClean="0"/>
                  <a:t>26.5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For </a:t>
                </a:r>
                <a:r>
                  <a:rPr lang="en-US" dirty="0" smtClean="0"/>
                  <a:t>inference, </a:t>
                </a:r>
                <a:r>
                  <a:rPr lang="en-US" dirty="0"/>
                  <a:t>we also need a standard error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r>
                  <a:rPr lang="en-US" dirty="0" smtClean="0"/>
                  <a:t>Rule of variance calculation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cov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pPr/>
                <a:r>
                  <a:rPr lang="en-US" dirty="0" smtClean="0"/>
                  <a:t>Therefore, 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acc>
                  </m:oMath>
                </a14:m>
                <a:r>
                  <a:rPr lang="en-US" dirty="0" smtClean="0"/>
                  <a:t> is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217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907" y="4788131"/>
            <a:ext cx="7470186" cy="1142827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33</a:t>
            </a:r>
          </a:p>
        </p:txBody>
      </p:sp>
    </p:spTree>
    <p:extLst>
      <p:ext uri="{BB962C8B-B14F-4D97-AF65-F5344CB8AC3E}">
        <p14:creationId xmlns:p14="http://schemas.microsoft.com/office/powerpoint/2010/main" val="103650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Impact of correlation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Note: Last term,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, accounts for the correlation among the </a:t>
                </a:r>
                <a:r>
                  <a:rPr lang="en-US" dirty="0" smtClean="0"/>
                  <a:t>repeated measures.</a:t>
                </a:r>
              </a:p>
              <a:p>
                <a:r>
                  <a:rPr lang="en-US" dirty="0" smtClean="0"/>
                  <a:t>Substituting </a:t>
                </a:r>
                <a:r>
                  <a:rPr lang="en-US" dirty="0"/>
                  <a:t>estimates of the variances and </a:t>
                </a:r>
                <a:r>
                  <a:rPr lang="en-US" dirty="0" smtClean="0"/>
                  <a:t>covariance (obtainable by, say, PROC CORR) </a:t>
                </a:r>
                <a:r>
                  <a:rPr lang="en-US" dirty="0"/>
                  <a:t>into </a:t>
                </a:r>
                <a:r>
                  <a:rPr lang="en-US" dirty="0" smtClean="0"/>
                  <a:t>this expression</a:t>
                </a:r>
                <a:r>
                  <a:rPr lang="en-US" dirty="0"/>
                  <a:t>: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178" y="3832168"/>
            <a:ext cx="6354174" cy="1202141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33</a:t>
            </a:r>
          </a:p>
        </p:txBody>
      </p:sp>
    </p:spTree>
    <p:extLst>
      <p:ext uri="{BB962C8B-B14F-4D97-AF65-F5344CB8AC3E}">
        <p14:creationId xmlns:p14="http://schemas.microsoft.com/office/powerpoint/2010/main" val="287102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Impact of correlation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What if we had ignored that the responses </a:t>
                </a:r>
                <a:r>
                  <a:rPr lang="en-US" dirty="0"/>
                  <a:t>are correlated and proceeded </a:t>
                </a:r>
                <a:r>
                  <a:rPr lang="en-US" dirty="0" smtClean="0"/>
                  <a:t>with an </a:t>
                </a:r>
                <a:r>
                  <a:rPr lang="en-US" dirty="0"/>
                  <a:t>analysis assuming all observations are independent</a:t>
                </a:r>
                <a:r>
                  <a:rPr lang="en-US" dirty="0" smtClean="0"/>
                  <a:t>?</a:t>
                </a:r>
              </a:p>
              <a:p>
                <a:r>
                  <a:rPr lang="en-US" dirty="0" smtClean="0"/>
                  <a:t>Independence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i="1" dirty="0"/>
                  <a:t/>
                </a:r>
                <a:r>
                  <a:rPr lang="en-US" dirty="0"/>
                  <a:t>zero covariance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Leading </a:t>
                </a:r>
                <a:r>
                  <a:rPr lang="en-US" dirty="0"/>
                  <a:t>to (incorrect) estimate of 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i="1" dirty="0"/>
                  <a:t/>
                </a:r>
                <a:br>
                  <a:rPr lang="en-US" i="1" dirty="0"/>
                </a:br>
                <a:endParaRPr lang="en-US" i="1" dirty="0" smtClean="0"/>
              </a:p>
              <a:p>
                <a:pPr marL="0" indent="0">
                  <a:buNone/>
                </a:pPr>
                <a:r>
                  <a:rPr lang="en-US" i="1" dirty="0"/>
                  <a:t/>
                </a:r>
                <a:endParaRPr lang="en-US" i="1" dirty="0" smtClean="0"/>
              </a:p>
              <a:p>
                <a:pPr marL="0" indent="0">
                  <a:buNone/>
                </a:pPr>
                <a:r>
                  <a:rPr lang="en-US" dirty="0" smtClean="0"/>
                  <a:t>which </a:t>
                </a:r>
                <a:r>
                  <a:rPr lang="en-US" dirty="0"/>
                  <a:t>is approximately 1.6 times larger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382" y="3816103"/>
            <a:ext cx="4304262" cy="1154041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33</a:t>
            </a:r>
          </a:p>
        </p:txBody>
      </p:sp>
    </p:spTree>
    <p:extLst>
      <p:ext uri="{BB962C8B-B14F-4D97-AF65-F5344CB8AC3E}">
        <p14:creationId xmlns:p14="http://schemas.microsoft.com/office/powerpoint/2010/main" val="135563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Impact of correlation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In this illustration, ignoring the correlation results in: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standard </a:t>
                </a:r>
                <a:r>
                  <a:rPr lang="en-US" dirty="0"/>
                  <a:t>errors that are too </a:t>
                </a:r>
                <a:r>
                  <a:rPr lang="en-US" dirty="0" smtClean="0"/>
                  <a:t>large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confidence </a:t>
                </a:r>
                <a:r>
                  <a:rPr lang="en-US" dirty="0"/>
                  <a:t>intervals that are too </a:t>
                </a:r>
                <a:r>
                  <a:rPr lang="en-US" dirty="0" smtClean="0"/>
                  <a:t>wide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i="1" dirty="0" smtClean="0"/>
                  <a:t>p</a:t>
                </a:r>
                <a:r>
                  <a:rPr lang="en-US" dirty="0" smtClean="0"/>
                  <a:t>-values </a:t>
                </a:r>
                <a:r>
                  <a:rPr lang="en-US" dirty="0"/>
                  <a:t>for the test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 </m:t>
                    </m:r>
                  </m:oMath>
                </a14:m>
                <a:r>
                  <a:rPr lang="en-US" dirty="0"/>
                  <a:t>that are too </a:t>
                </a:r>
                <a:r>
                  <a:rPr lang="en-US" dirty="0" smtClean="0"/>
                  <a:t>large</a:t>
                </a:r>
              </a:p>
              <a:p>
                <a:r>
                  <a:rPr lang="en-US" dirty="0" smtClean="0"/>
                  <a:t>In </a:t>
                </a:r>
                <a:r>
                  <a:rPr lang="en-US" dirty="0"/>
                  <a:t>general, failure to take account of the correlation (covariance) </a:t>
                </a:r>
                <a:r>
                  <a:rPr lang="en-US" dirty="0" smtClean="0"/>
                  <a:t>among the </a:t>
                </a:r>
                <a:r>
                  <a:rPr lang="en-US" dirty="0"/>
                  <a:t>repeated measures will result in </a:t>
                </a:r>
                <a:r>
                  <a:rPr lang="en-US" u="sng" dirty="0"/>
                  <a:t>incorrect estimates of the </a:t>
                </a:r>
                <a:r>
                  <a:rPr lang="en-US" u="sng" dirty="0" smtClean="0"/>
                  <a:t>sampling variability</a:t>
                </a:r>
                <a:r>
                  <a:rPr lang="en-US" dirty="0" smtClean="0"/>
                  <a:t/>
                </a:r>
                <a:r>
                  <a:rPr lang="en-US" dirty="0"/>
                  <a:t>and can lead to </a:t>
                </a:r>
                <a:r>
                  <a:rPr lang="en-US" dirty="0" smtClean="0"/>
                  <a:t>misleading </a:t>
                </a:r>
                <a:r>
                  <a:rPr lang="en-US" dirty="0"/>
                  <a:t>scientific inferences.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u="sng" dirty="0" smtClean="0"/>
                  <a:t>Question</a:t>
                </a:r>
                <a:r>
                  <a:rPr lang="en-US" dirty="0" smtClean="0"/>
                  <a:t>: when does naïve analysis (ignoring correlation) </a:t>
                </a:r>
                <a:r>
                  <a:rPr lang="en-US" u="sng" dirty="0" smtClean="0"/>
                  <a:t>over-estimate</a:t>
                </a:r>
                <a:r>
                  <a:rPr lang="en-US" dirty="0" smtClean="0"/>
                  <a:t> variance as in the illustration?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33</a:t>
            </a:r>
          </a:p>
        </p:txBody>
      </p:sp>
    </p:spTree>
    <p:extLst>
      <p:ext uri="{BB962C8B-B14F-4D97-AF65-F5344CB8AC3E}">
        <p14:creationId xmlns:p14="http://schemas.microsoft.com/office/powerpoint/2010/main" val="354508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Impact of correlation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u="sng" dirty="0"/>
              <a:t>Primary goal</a:t>
            </a:r>
            <a:r>
              <a:rPr lang="en-US" dirty="0"/>
              <a:t> of a longitudinal study is to characterize the change in</a:t>
            </a:r>
            <a:br>
              <a:rPr lang="en-US" dirty="0"/>
            </a:br>
            <a:r>
              <a:rPr lang="en-US" dirty="0"/>
              <a:t>response over time and the factors that influence </a:t>
            </a:r>
            <a:r>
              <a:rPr lang="en-US" dirty="0" smtClean="0"/>
              <a:t>change.</a:t>
            </a:r>
          </a:p>
          <a:p>
            <a:r>
              <a:rPr lang="en-US" dirty="0" smtClean="0"/>
              <a:t>Longitudinal </a:t>
            </a:r>
            <a:r>
              <a:rPr lang="en-US" dirty="0"/>
              <a:t>data require somewhat more sophisticated statistical</a:t>
            </a:r>
            <a:br>
              <a:rPr lang="en-US" dirty="0"/>
            </a:br>
            <a:r>
              <a:rPr lang="en-US" dirty="0"/>
              <a:t>techniques because: (</a:t>
            </a:r>
            <a:r>
              <a:rPr lang="en-US" dirty="0" err="1"/>
              <a:t>i</a:t>
            </a:r>
            <a:r>
              <a:rPr lang="en-US" dirty="0"/>
              <a:t>) repeated measures on the same individual are</a:t>
            </a:r>
            <a:br>
              <a:rPr lang="en-US" dirty="0"/>
            </a:br>
            <a:r>
              <a:rPr lang="en-US" u="sng" dirty="0"/>
              <a:t>usually positively correlated</a:t>
            </a:r>
            <a:r>
              <a:rPr lang="en-US" dirty="0"/>
              <a:t>, and (ii) </a:t>
            </a:r>
            <a:r>
              <a:rPr lang="en-US" u="sng" dirty="0"/>
              <a:t>variability is often heterogeneous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across measurement </a:t>
            </a:r>
            <a:r>
              <a:rPr lang="en-US" dirty="0" smtClean="0"/>
              <a:t>occasions.</a:t>
            </a:r>
          </a:p>
          <a:p>
            <a:r>
              <a:rPr lang="en-US" dirty="0" smtClean="0"/>
              <a:t>Correlation </a:t>
            </a:r>
            <a:r>
              <a:rPr lang="en-US" dirty="0"/>
              <a:t>and heterogeneous variability must be accounted for in </a:t>
            </a:r>
            <a:r>
              <a:rPr lang="en-US" dirty="0" smtClean="0"/>
              <a:t>order to </a:t>
            </a:r>
            <a:r>
              <a:rPr lang="en-US" dirty="0"/>
              <a:t>obtain valid inferences about change in response over time.</a:t>
            </a:r>
            <a:r>
              <a:rPr lang="en-US" dirty="0"/>
              <a:t/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33</a:t>
            </a:r>
          </a:p>
        </p:txBody>
      </p:sp>
    </p:spTree>
    <p:extLst>
      <p:ext uri="{BB962C8B-B14F-4D97-AF65-F5344CB8AC3E}">
        <p14:creationId xmlns:p14="http://schemas.microsoft.com/office/powerpoint/2010/main" val="214910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Single-group analysis of trend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u="sng" dirty="0"/>
              <a:t>Single-Group Repeated Measures </a:t>
            </a:r>
            <a:r>
              <a:rPr lang="en-US" u="sng" dirty="0" smtClean="0"/>
              <a:t>Design: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design, we have </a:t>
            </a:r>
            <a:r>
              <a:rPr lang="en-US" i="1" dirty="0"/>
              <a:t>n </a:t>
            </a:r>
            <a:r>
              <a:rPr lang="en-US" dirty="0"/>
              <a:t>repeated measures of the response on each </a:t>
            </a:r>
            <a:r>
              <a:rPr lang="en-US" dirty="0" smtClean="0"/>
              <a:t>of </a:t>
            </a:r>
            <a:r>
              <a:rPr lang="en-US" i="1" dirty="0" smtClean="0"/>
              <a:t>N </a:t>
            </a:r>
            <a:r>
              <a:rPr lang="en-US" dirty="0"/>
              <a:t>subjects.</a:t>
            </a:r>
            <a:r>
              <a:rPr lang="en-US" dirty="0"/>
              <a:t/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838" y="2981217"/>
            <a:ext cx="4725700" cy="27490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18115" y="3977639"/>
            <a:ext cx="2942705" cy="3325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18115" y="4416829"/>
            <a:ext cx="2942705" cy="3325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018115" y="5306570"/>
            <a:ext cx="2942705" cy="3325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33</a:t>
            </a:r>
          </a:p>
        </p:txBody>
      </p:sp>
    </p:spTree>
    <p:extLst>
      <p:ext uri="{BB962C8B-B14F-4D97-AF65-F5344CB8AC3E}">
        <p14:creationId xmlns:p14="http://schemas.microsoft.com/office/powerpoint/2010/main" val="89271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Single-group analysis of trend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13142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Ignoring the subject-wise information, </a:t>
                </a:r>
                <a:r>
                  <a:rPr lang="en-US" dirty="0"/>
                  <a:t>we could </a:t>
                </a:r>
                <a:r>
                  <a:rPr lang="en-US" dirty="0" smtClean="0"/>
                  <a:t>order them </a:t>
                </a:r>
                <a:r>
                  <a:rPr lang="en-US" dirty="0"/>
                  <a:t>from 1 to </a:t>
                </a:r>
                <a:r>
                  <a:rPr lang="en-US" i="1" dirty="0" err="1"/>
                  <a:t>Nn</a:t>
                </a:r>
                <a:r>
                  <a:rPr lang="en-US" i="1" dirty="0"/>
                  <a:t/>
                </a:r>
                <a:r>
                  <a:rPr lang="en-US" dirty="0"/>
                  <a:t>in a vector with elements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and write the model as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However</a:t>
                </a:r>
                <a:r>
                  <a:rPr lang="en-US" dirty="0"/>
                  <a:t>, this model needs to be modified to account for the statistical</a:t>
                </a:r>
                <a:br>
                  <a:rPr lang="en-US" dirty="0"/>
                </a:br>
                <a:r>
                  <a:rPr lang="en-US" dirty="0"/>
                  <a:t>dependence among repeated observations obtained on the same subject.</a:t>
                </a:r>
                <a:r>
                  <a:rPr lang="en-US" dirty="0"/>
                  <a:t/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131425"/>
              </a:xfrm>
              <a:blipFill>
                <a:blip r:embed="rId2"/>
                <a:stretch>
                  <a:fillRect l="-928" t="-3840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220" y="2421861"/>
            <a:ext cx="8006649" cy="2263660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33</a:t>
            </a:r>
          </a:p>
        </p:txBody>
      </p:sp>
    </p:spTree>
    <p:extLst>
      <p:ext uri="{BB962C8B-B14F-4D97-AF65-F5344CB8AC3E}">
        <p14:creationId xmlns:p14="http://schemas.microsoft.com/office/powerpoint/2010/main" val="210552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TLC trial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Consider </a:t>
            </a:r>
            <a:r>
              <a:rPr lang="en-US" dirty="0"/>
              <a:t>the data on the 50 children </a:t>
            </a:r>
            <a:r>
              <a:rPr lang="en-US" dirty="0" smtClean="0"/>
              <a:t>randomized to </a:t>
            </a:r>
            <a:r>
              <a:rPr lang="en-US" dirty="0" err="1" smtClean="0"/>
              <a:t>succimer</a:t>
            </a:r>
            <a:r>
              <a:rPr lang="en-US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432" y="2333105"/>
            <a:ext cx="5085917" cy="3520024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33</a:t>
            </a:r>
          </a:p>
        </p:txBody>
      </p:sp>
    </p:spTree>
    <p:extLst>
      <p:ext uri="{BB962C8B-B14F-4D97-AF65-F5344CB8AC3E}">
        <p14:creationId xmlns:p14="http://schemas.microsoft.com/office/powerpoint/2010/main" val="334594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Single-group analysis of trend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Autofit/>
              </a:bodyPr>
              <a:lstStyle/>
              <a:p>
                <a:r>
                  <a:rPr lang="en-US" sz="2600" dirty="0" smtClean="0"/>
                  <a:t>Denote the population means at the </a:t>
                </a:r>
                <a:r>
                  <a:rPr lang="en-US" sz="2600" dirty="0"/>
                  <a:t>n occasions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dirty="0"/>
                        </m:ctrlPr>
                      </m:sSub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600" dirty="0"/>
                          <m:t>1</m:t>
                        </m:r>
                      </m:sub>
                    </m:sSub>
                    <m:r>
                      <a:rPr lang="en-US" sz="2600" dirty="0"/>
                      <m:t>, </m:t>
                    </m:r>
                    <m:sSub>
                      <m:sSubPr>
                        <m:ctrlPr>
                          <a:rPr lang="en-US" sz="2600" dirty="0"/>
                        </m:ctrlPr>
                      </m:sSub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600" dirty="0"/>
                          <m:t>2</m:t>
                        </m:r>
                      </m:sub>
                    </m:sSub>
                    <m:r>
                      <a:rPr lang="en-US" sz="2600" dirty="0"/>
                      <m:t>, …, </m:t>
                    </m:r>
                    <m:sSub>
                      <m:sSubPr>
                        <m:ctrlPr>
                          <a:rPr lang="en-US" sz="2600" dirty="0"/>
                        </m:ctrlPr>
                      </m:sSubPr>
                      <m:e>
                        <m:r>
                          <a:rPr lang="en-US" sz="2600" dirty="0"/>
                          <m:t>𝜇</m:t>
                        </m:r>
                      </m:e>
                      <m:sub>
                        <m:r>
                          <a:rPr lang="en-US" sz="2600" dirty="0"/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. Then </a:t>
                </a:r>
                <a:r>
                  <a:rPr lang="en-US" sz="2600" dirty="0"/>
                  <a:t>the null hypothesis of interest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dirty="0"/>
                          </m:ctrlPr>
                        </m:sSubPr>
                        <m:e>
                          <m:sSub>
                            <m:sSubPr>
                              <m:ctrlPr>
                                <a:rPr lang="en-US" sz="2600" b="0" i="1" dirty="0" smtClean="0"/>
                              </m:ctrlPr>
                            </m:sSubPr>
                            <m:e>
                              <m:r>
                                <a:rPr lang="en-US" sz="2600" b="0" i="1" dirty="0" smtClean="0"/>
                                <m:t>𝐻</m:t>
                              </m:r>
                            </m:e>
                            <m:sub>
                              <m:r>
                                <a:rPr lang="en-US" sz="2600" b="0" i="1" dirty="0" smtClean="0"/>
                                <m:t>0</m:t>
                              </m:r>
                            </m:sub>
                          </m:sSub>
                          <m:r>
                            <a:rPr lang="en-US" sz="2600" b="0" i="0" dirty="0" smtClean="0"/>
                            <m:t>:</m:t>
                          </m:r>
                          <m:r>
                            <a:rPr lang="en-US" sz="2600" b="0" i="1" dirty="0" smtClean="0"/>
                            <m:t>𝜇</m:t>
                          </m:r>
                        </m:e>
                        <m:sub>
                          <m:r>
                            <a:rPr lang="en-US" sz="2600" dirty="0"/>
                            <m:t>1</m:t>
                          </m:r>
                        </m:sub>
                      </m:sSub>
                      <m:r>
                        <a:rPr lang="en-US" sz="2600" b="0" i="0" dirty="0" smtClean="0"/>
                        <m:t>=</m:t>
                      </m:r>
                      <m:sSub>
                        <m:sSubPr>
                          <m:ctrlPr>
                            <a:rPr lang="en-US" sz="2600" i="1" dirty="0"/>
                          </m:ctrlPr>
                        </m:sSubPr>
                        <m:e>
                          <m:r>
                            <a:rPr lang="en-US" sz="2600" b="0" i="1" dirty="0" smtClean="0"/>
                            <m:t>𝜇</m:t>
                          </m:r>
                        </m:e>
                        <m:sub>
                          <m:r>
                            <a:rPr lang="en-US" sz="2600" dirty="0"/>
                            <m:t>2</m:t>
                          </m:r>
                        </m:sub>
                      </m:sSub>
                      <m:r>
                        <a:rPr lang="en-US" sz="2600" b="0" i="0" dirty="0" smtClean="0"/>
                        <m:t>=</m:t>
                      </m:r>
                      <m:r>
                        <a:rPr lang="en-US" sz="2600" dirty="0"/>
                        <m:t>…</m:t>
                      </m:r>
                      <m:r>
                        <a:rPr lang="en-US" sz="2600" b="0" i="0" dirty="0" smtClean="0"/>
                        <m:t>=</m:t>
                      </m:r>
                      <m:sSub>
                        <m:sSubPr>
                          <m:ctrlPr>
                            <a:rPr lang="en-US" sz="2600" i="1" dirty="0"/>
                          </m:ctrlPr>
                        </m:sSubPr>
                        <m:e>
                          <m:r>
                            <a:rPr lang="en-US" sz="2600" dirty="0"/>
                            <m:t>𝜇</m:t>
                          </m:r>
                        </m:e>
                        <m:sub>
                          <m:r>
                            <a:rPr lang="en-US" sz="2600" dirty="0"/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600" dirty="0"/>
              </a:p>
              <a:p>
                <a:r>
                  <a:rPr lang="en-US" sz="2600" dirty="0" smtClean="0"/>
                  <a:t>How to 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/>
                        </m:ctrlPr>
                      </m:sSubPr>
                      <m:e>
                        <m:r>
                          <a:rPr lang="en-US" sz="2600" i="1" dirty="0"/>
                          <m:t>𝐻</m:t>
                        </m:r>
                      </m:e>
                      <m:sub>
                        <m:r>
                          <a:rPr lang="en-US" sz="2600" i="1" dirty="0"/>
                          <m:t>0</m:t>
                        </m:r>
                      </m:sub>
                    </m:sSub>
                  </m:oMath>
                </a14:m>
                <a:r>
                  <a:rPr lang="en-US" sz="2600" dirty="0" smtClean="0"/>
                  <a:t> using longitudinal data accounting for within-subject correlation?</a:t>
                </a:r>
              </a:p>
              <a:p>
                <a:r>
                  <a:rPr lang="en-US" sz="2600" dirty="0" smtClean="0"/>
                  <a:t>We </a:t>
                </a:r>
                <a:r>
                  <a:rPr lang="en-US" sz="2600" dirty="0"/>
                  <a:t>could choose pairs of occasions and perform a series of </a:t>
                </a:r>
                <a:r>
                  <a:rPr lang="en-US" sz="2600" u="sng" dirty="0"/>
                  <a:t>paired </a:t>
                </a:r>
                <a:r>
                  <a:rPr lang="en-US" sz="2600" i="1" u="sng" dirty="0"/>
                  <a:t>t</a:t>
                </a:r>
                <a:r>
                  <a:rPr lang="en-US" sz="2600" u="sng" dirty="0"/>
                  <a:t>−</a:t>
                </a:r>
                <a:r>
                  <a:rPr lang="en-US" sz="2600" u="sng" dirty="0" smtClean="0"/>
                  <a:t>tests:</a:t>
                </a:r>
                <a:r>
                  <a:rPr lang="en-US" sz="2600" dirty="0" smtClean="0"/>
                  <a:t/>
                </a:r>
                <a14:m>
                  <m:oMath xmlns:m="http://schemas.openxmlformats.org/officeDocument/2006/math">
                    <m:r>
                      <a:rPr lang="en-US" sz="2600" i="1" dirty="0" smtClean="0"/>
                      <m:t>𝑛</m:t>
                    </m:r>
                    <m:r>
                      <a:rPr lang="en-US" sz="2600" i="1" dirty="0" smtClean="0"/>
                      <m:t> (</m:t>
                    </m:r>
                    <m:r>
                      <a:rPr lang="en-US" sz="2600" i="1" dirty="0"/>
                      <m:t>𝑛</m:t>
                    </m:r>
                    <m:r>
                      <a:rPr lang="en-US" sz="2600" i="1" dirty="0"/>
                      <m:t> − 1) /2 </m:t>
                    </m:r>
                  </m:oMath>
                </a14:m>
                <a:r>
                  <a:rPr lang="en-US" sz="2600" dirty="0" smtClean="0"/>
                  <a:t>tests. This </a:t>
                </a:r>
                <a:r>
                  <a:rPr lang="en-US" sz="2600" dirty="0"/>
                  <a:t>approach allows only pairwise comparisons.</a:t>
                </a:r>
              </a:p>
              <a:p>
                <a:r>
                  <a:rPr lang="en-US" sz="2600" dirty="0"/>
                  <a:t>Instead, we need to address the problem of </a:t>
                </a:r>
                <a:r>
                  <a:rPr lang="en-US" sz="2600" u="sng" dirty="0"/>
                  <a:t>correlation (</a:t>
                </a:r>
                <a:r>
                  <a:rPr lang="en-US" sz="2600" u="sng" dirty="0" smtClean="0"/>
                  <a:t>covariance) </a:t>
                </a:r>
                <a:r>
                  <a:rPr lang="en-US" sz="2600" dirty="0" smtClean="0"/>
                  <a:t>among </a:t>
                </a:r>
                <a:r>
                  <a:rPr lang="en-US" sz="2600" dirty="0"/>
                  <a:t>repeated measures and </a:t>
                </a:r>
                <a:r>
                  <a:rPr lang="en-US" sz="2600" u="sng" dirty="0"/>
                  <a:t>extend the </a:t>
                </a:r>
                <a:r>
                  <a:rPr lang="en-US" sz="2600" u="sng" dirty="0" smtClean="0"/>
                  <a:t>(one-way) </a:t>
                </a:r>
                <a:r>
                  <a:rPr lang="en-US" sz="2600" u="sng" dirty="0"/>
                  <a:t>ANOVA model</a:t>
                </a:r>
                <a:r>
                  <a:rPr lang="en-US" sz="2600" dirty="0" smtClean="0"/>
                  <a:t>.</a:t>
                </a:r>
                <a:endParaRPr lang="en-US" sz="26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928" t="-2432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33</a:t>
            </a:r>
          </a:p>
        </p:txBody>
      </p:sp>
    </p:spTree>
    <p:extLst>
      <p:ext uri="{BB962C8B-B14F-4D97-AF65-F5344CB8AC3E}">
        <p14:creationId xmlns:p14="http://schemas.microsoft.com/office/powerpoint/2010/main" val="216664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Single-group analysis of trend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We allow </a:t>
            </a:r>
            <a:r>
              <a:rPr lang="en-US" dirty="0"/>
              <a:t>the </a:t>
            </a:r>
            <a:r>
              <a:rPr lang="en-US" dirty="0" smtClean="0"/>
              <a:t>repeated measurements on each subject </a:t>
            </a:r>
            <a:r>
              <a:rPr lang="en-US" dirty="0"/>
              <a:t>to have an unknown covariance </a:t>
            </a:r>
            <a:r>
              <a:rPr lang="en-US" dirty="0" smtClean="0"/>
              <a:t>structure.</a:t>
            </a:r>
            <a:endParaRPr lang="en-US" dirty="0"/>
          </a:p>
          <a:p>
            <a:r>
              <a:rPr lang="en-US" dirty="0" smtClean="0"/>
              <a:t>To </a:t>
            </a:r>
            <a:r>
              <a:rPr lang="en-US" dirty="0"/>
              <a:t>do this, we can use the SAS procedure, </a:t>
            </a:r>
            <a:r>
              <a:rPr lang="en-US" u="sng" dirty="0"/>
              <a:t>PROC MIXED</a:t>
            </a:r>
            <a:r>
              <a:rPr lang="en-US" dirty="0"/>
              <a:t>, </a:t>
            </a:r>
            <a:r>
              <a:rPr lang="en-US" u="sng" dirty="0"/>
              <a:t>an extension</a:t>
            </a:r>
            <a:br>
              <a:rPr lang="en-US" u="sng" dirty="0"/>
            </a:br>
            <a:r>
              <a:rPr lang="en-US" u="sng" dirty="0"/>
              <a:t>of PROC GLM</a:t>
            </a:r>
            <a:r>
              <a:rPr lang="en-US" dirty="0"/>
              <a:t> which allows clusters of correlated observations.</a:t>
            </a:r>
            <a:r>
              <a:rPr lang="en-US" dirty="0"/>
              <a:t/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will illustrate the use of PROC MIXED using the data from the TLC</a:t>
            </a:r>
            <a:br>
              <a:rPr lang="en-US" dirty="0"/>
            </a:br>
            <a:r>
              <a:rPr lang="en-US" dirty="0" smtClean="0"/>
              <a:t>trial. Later </a:t>
            </a:r>
            <a:r>
              <a:rPr lang="en-US" dirty="0"/>
              <a:t>we will consider the statistical basis for this analysis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Note</a:t>
            </a:r>
            <a:r>
              <a:rPr lang="en-US" dirty="0"/>
              <a:t>: </a:t>
            </a:r>
            <a:r>
              <a:rPr lang="en-US" u="sng" dirty="0"/>
              <a:t>PROC MIXED </a:t>
            </a:r>
            <a:r>
              <a:rPr lang="en-US" u="sng" dirty="0" smtClean="0"/>
              <a:t>requires </a:t>
            </a:r>
            <a:r>
              <a:rPr lang="en-US" u="sng" dirty="0"/>
              <a:t>the data </a:t>
            </a:r>
            <a:r>
              <a:rPr lang="en-US" u="sng" dirty="0" smtClean="0"/>
              <a:t>be </a:t>
            </a:r>
            <a:r>
              <a:rPr lang="en-US" u="sng" dirty="0"/>
              <a:t>in </a:t>
            </a:r>
            <a:r>
              <a:rPr lang="en-US" u="sng" dirty="0" smtClean="0"/>
              <a:t>the long format</a:t>
            </a:r>
            <a:r>
              <a:rPr lang="en-US" dirty="0" smtClean="0"/>
              <a:t>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33</a:t>
            </a:r>
          </a:p>
        </p:txBody>
      </p:sp>
    </p:spTree>
    <p:extLst>
      <p:ext uri="{BB962C8B-B14F-4D97-AF65-F5344CB8AC3E}">
        <p14:creationId xmlns:p14="http://schemas.microsoft.com/office/powerpoint/2010/main" val="41722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the TLC trial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Suppose that </a:t>
            </a:r>
            <a:r>
              <a:rPr lang="en-US" u="sng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succimer</a:t>
            </a:r>
            <a:r>
              <a:rPr lang="en-US" dirty="0" smtClean="0"/>
              <a:t> is a SAS dataset for the treatment group in the long format.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665" y="2583121"/>
            <a:ext cx="7616797" cy="3285924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33</a:t>
            </a:r>
          </a:p>
        </p:txBody>
      </p:sp>
    </p:spTree>
    <p:extLst>
      <p:ext uri="{BB962C8B-B14F-4D97-AF65-F5344CB8AC3E}">
        <p14:creationId xmlns:p14="http://schemas.microsoft.com/office/powerpoint/2010/main" val="274974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the TLC trial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4790902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Estimate of covariance matrix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26" y="2205817"/>
            <a:ext cx="2209800" cy="3676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908" y="2486025"/>
            <a:ext cx="2495550" cy="280035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6691571" y="1753986"/>
            <a:ext cx="4515196" cy="4015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Model fit statistics</a:t>
            </a:r>
            <a:endParaRPr lang="en-US" dirty="0"/>
          </a:p>
        </p:txBody>
      </p:sp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33</a:t>
            </a:r>
          </a:p>
        </p:txBody>
      </p:sp>
    </p:spTree>
    <p:extLst>
      <p:ext uri="{BB962C8B-B14F-4D97-AF65-F5344CB8AC3E}">
        <p14:creationId xmlns:p14="http://schemas.microsoft.com/office/powerpoint/2010/main" val="218150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the TLC trial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222" y="1515038"/>
            <a:ext cx="5476702" cy="409648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33</a:t>
            </a:r>
          </a:p>
        </p:txBody>
      </p:sp>
    </p:spTree>
    <p:extLst>
      <p:ext uri="{BB962C8B-B14F-4D97-AF65-F5344CB8AC3E}">
        <p14:creationId xmlns:p14="http://schemas.microsoft.com/office/powerpoint/2010/main" val="58365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the TLC trial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/>
                </a:r>
                <a:br>
                  <a:rPr lang="en-US" dirty="0" smtClean="0"/>
                </a:b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 smtClean="0"/>
                  <a:t>Chi-square and F tests are equivalent under large samples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,∞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In general, </a:t>
                </a:r>
                <a:r>
                  <a:rPr lang="en-US" u="sng" dirty="0" smtClean="0"/>
                  <a:t>Chi-square test</a:t>
                </a:r>
                <a:r>
                  <a:rPr lang="en-US" dirty="0" smtClean="0"/>
                  <a:t> is preferred over F test; F test assumes that the response distributions are </a:t>
                </a:r>
                <a:r>
                  <a:rPr lang="en-US" u="sng" dirty="0" smtClean="0"/>
                  <a:t>multivariate normal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654" y="2504901"/>
            <a:ext cx="7523763" cy="1510146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38199" y="1753986"/>
            <a:ext cx="9486207" cy="4015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contrast between Week 6 and Week 1 </a:t>
            </a:r>
            <a:endParaRPr lang="en-US" dirty="0"/>
          </a:p>
        </p:txBody>
      </p:sp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33</a:t>
            </a:r>
          </a:p>
        </p:txBody>
      </p:sp>
    </p:spTree>
    <p:extLst>
      <p:ext uri="{BB962C8B-B14F-4D97-AF65-F5344CB8AC3E}">
        <p14:creationId xmlns:p14="http://schemas.microsoft.com/office/powerpoint/2010/main" val="359297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Covariance structure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fontScale="92500"/>
          </a:bodyPr>
          <a:lstStyle/>
          <a:p>
            <a:r>
              <a:rPr lang="en-US" dirty="0"/>
              <a:t>When we estimate the covariance matrix without making any particular</a:t>
            </a:r>
            <a:br>
              <a:rPr lang="en-US" dirty="0"/>
            </a:br>
            <a:r>
              <a:rPr lang="en-US" dirty="0"/>
              <a:t>assumption about the covariance structure, we say that we are using an</a:t>
            </a:r>
            <a:br>
              <a:rPr lang="en-US" dirty="0"/>
            </a:br>
            <a:r>
              <a:rPr lang="en-US" dirty="0"/>
              <a:t>unrestricted or </a:t>
            </a:r>
            <a:r>
              <a:rPr lang="en-US" u="sng" dirty="0"/>
              <a:t>unstructured covariance matrix</a:t>
            </a:r>
            <a:r>
              <a:rPr lang="en-US" dirty="0" smtClean="0"/>
              <a:t>.</a:t>
            </a:r>
          </a:p>
          <a:p>
            <a:r>
              <a:rPr lang="en-US" dirty="0" smtClean="0"/>
              <a:t>As </a:t>
            </a:r>
            <a:r>
              <a:rPr lang="en-US" dirty="0"/>
              <a:t>we shall see later, it is sometimes advantageous to model the</a:t>
            </a:r>
            <a:br>
              <a:rPr lang="en-US" dirty="0"/>
            </a:br>
            <a:r>
              <a:rPr lang="en-US" dirty="0"/>
              <a:t>covariance structure more </a:t>
            </a:r>
            <a:r>
              <a:rPr lang="en-US" dirty="0" smtClean="0"/>
              <a:t>parsimoniously.</a:t>
            </a:r>
            <a:endParaRPr lang="en-US" dirty="0"/>
          </a:p>
          <a:p>
            <a:r>
              <a:rPr lang="en-US" dirty="0" smtClean="0"/>
              <a:t>How </a:t>
            </a:r>
            <a:r>
              <a:rPr lang="en-US" dirty="0"/>
              <a:t>important is it to take account of the covariance among repeated</a:t>
            </a:r>
            <a:br>
              <a:rPr lang="en-US" dirty="0"/>
            </a:br>
            <a:r>
              <a:rPr lang="en-US" dirty="0" smtClean="0"/>
              <a:t>measures?</a:t>
            </a:r>
            <a:endParaRPr lang="en-US" dirty="0"/>
          </a:p>
          <a:p>
            <a:r>
              <a:rPr lang="en-US" dirty="0" smtClean="0"/>
              <a:t>We </a:t>
            </a:r>
            <a:r>
              <a:rPr lang="en-US" dirty="0"/>
              <a:t>can address that question by re-analyzing the blood lead level data</a:t>
            </a:r>
            <a:br>
              <a:rPr lang="en-US" dirty="0"/>
            </a:br>
            <a:r>
              <a:rPr lang="en-US" dirty="0"/>
              <a:t>under the assumption of independence and homogeneity of variance.</a:t>
            </a:r>
            <a:r>
              <a:rPr lang="en-US" dirty="0"/>
              <a:t/>
            </a:r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33</a:t>
            </a:r>
          </a:p>
        </p:txBody>
      </p:sp>
    </p:spTree>
    <p:extLst>
      <p:ext uri="{BB962C8B-B14F-4D97-AF65-F5344CB8AC3E}">
        <p14:creationId xmlns:p14="http://schemas.microsoft.com/office/powerpoint/2010/main" val="335541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Covariance structure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fontScale="92500"/>
          </a:bodyPr>
          <a:lstStyle/>
          <a:p>
            <a:r>
              <a:rPr lang="en-US" dirty="0"/>
              <a:t>When we estimate the covariance matrix without making any particular</a:t>
            </a:r>
            <a:br>
              <a:rPr lang="en-US" dirty="0"/>
            </a:br>
            <a:r>
              <a:rPr lang="en-US" dirty="0"/>
              <a:t>assumption about the covariance structure, we say that we are using an</a:t>
            </a:r>
            <a:br>
              <a:rPr lang="en-US" dirty="0"/>
            </a:br>
            <a:r>
              <a:rPr lang="en-US" dirty="0"/>
              <a:t>unrestricted or </a:t>
            </a:r>
            <a:r>
              <a:rPr lang="en-US" u="sng" dirty="0"/>
              <a:t>unstructured covariance matrix</a:t>
            </a:r>
            <a:r>
              <a:rPr lang="en-US" dirty="0" smtClean="0"/>
              <a:t>.</a:t>
            </a:r>
          </a:p>
          <a:p>
            <a:r>
              <a:rPr lang="en-US" dirty="0" smtClean="0"/>
              <a:t>As </a:t>
            </a:r>
            <a:r>
              <a:rPr lang="en-US" dirty="0"/>
              <a:t>we shall see later, it is sometimes advantageous to model the</a:t>
            </a:r>
            <a:br>
              <a:rPr lang="en-US" dirty="0"/>
            </a:br>
            <a:r>
              <a:rPr lang="en-US" dirty="0"/>
              <a:t>covariance structure more </a:t>
            </a:r>
            <a:r>
              <a:rPr lang="en-US" dirty="0" smtClean="0"/>
              <a:t>parsimoniously.</a:t>
            </a:r>
            <a:endParaRPr lang="en-US" dirty="0"/>
          </a:p>
          <a:p>
            <a:r>
              <a:rPr lang="en-US" dirty="0" smtClean="0"/>
              <a:t>How </a:t>
            </a:r>
            <a:r>
              <a:rPr lang="en-US" dirty="0"/>
              <a:t>important is it to take account of the covariance among repeated</a:t>
            </a:r>
            <a:br>
              <a:rPr lang="en-US" dirty="0"/>
            </a:br>
            <a:r>
              <a:rPr lang="en-US" dirty="0" smtClean="0"/>
              <a:t>measures?</a:t>
            </a:r>
            <a:endParaRPr lang="en-US" dirty="0"/>
          </a:p>
          <a:p>
            <a:r>
              <a:rPr lang="en-US" dirty="0" smtClean="0"/>
              <a:t>We </a:t>
            </a:r>
            <a:r>
              <a:rPr lang="en-US" dirty="0"/>
              <a:t>can address that question by re-analyzing the blood lead level data</a:t>
            </a:r>
            <a:br>
              <a:rPr lang="en-US" dirty="0"/>
            </a:br>
            <a:r>
              <a:rPr lang="en-US" dirty="0"/>
              <a:t>under the assumption of independence and homogeneity of variance.</a:t>
            </a:r>
            <a:r>
              <a:rPr lang="en-US" dirty="0"/>
              <a:t/>
            </a:r>
            <a:endParaRPr lang="en-US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33</a:t>
            </a:r>
          </a:p>
        </p:txBody>
      </p:sp>
    </p:spTree>
    <p:extLst>
      <p:ext uri="{BB962C8B-B14F-4D97-AF65-F5344CB8AC3E}">
        <p14:creationId xmlns:p14="http://schemas.microsoft.com/office/powerpoint/2010/main" val="240469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Covariance structure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We re-fit the data by classical ANOVA using PROC GLM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Can obtain same results by deleting the REPEATED statement in PROC MIXED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842" y="2518756"/>
            <a:ext cx="6159040" cy="153976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33</a:t>
            </a:r>
          </a:p>
        </p:txBody>
      </p:sp>
    </p:spTree>
    <p:extLst>
      <p:ext uri="{BB962C8B-B14F-4D97-AF65-F5344CB8AC3E}">
        <p14:creationId xmlns:p14="http://schemas.microsoft.com/office/powerpoint/2010/main" val="174023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Covariance structure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856" y="2780485"/>
            <a:ext cx="3795108" cy="210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30326"/>
          <a:stretch/>
        </p:blipFill>
        <p:spPr>
          <a:xfrm>
            <a:off x="6684818" y="2697358"/>
            <a:ext cx="4362796" cy="2273654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1544782" y="1729048"/>
            <a:ext cx="4082934" cy="10514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Independent (and homoscedastic) covariance structure</a:t>
            </a:r>
            <a:endParaRPr lang="en-US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900949" y="2285999"/>
            <a:ext cx="4523510" cy="652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Unstructured covariance</a:t>
            </a:r>
            <a:endParaRPr lang="en-US" dirty="0" smtClean="0"/>
          </a:p>
        </p:txBody>
      </p:sp>
      <p:sp>
        <p:nvSpPr>
          <p:cNvPr id="9" name="Rectangle 8"/>
          <p:cNvSpPr/>
          <p:nvPr/>
        </p:nvSpPr>
        <p:spPr>
          <a:xfrm>
            <a:off x="3682538" y="3699164"/>
            <a:ext cx="698269" cy="7481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911244" y="3834185"/>
            <a:ext cx="457200" cy="7481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12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33</a:t>
            </a:r>
          </a:p>
        </p:txBody>
      </p:sp>
    </p:spTree>
    <p:extLst>
      <p:ext uri="{BB962C8B-B14F-4D97-AF65-F5344CB8AC3E}">
        <p14:creationId xmlns:p14="http://schemas.microsoft.com/office/powerpoint/2010/main" val="130356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Covariance structure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estimates </a:t>
            </a:r>
            <a:r>
              <a:rPr lang="en-US" dirty="0"/>
              <a:t>of the change in mean from baseline (week 0)</a:t>
            </a:r>
            <a:br>
              <a:rPr lang="en-US" dirty="0"/>
            </a:br>
            <a:r>
              <a:rPr lang="en-US" dirty="0"/>
              <a:t>to week 6 are the same in both analyses, i.e., </a:t>
            </a:r>
            <a:r>
              <a:rPr lang="en-US" i="1" dirty="0"/>
              <a:t>-</a:t>
            </a:r>
            <a:r>
              <a:rPr lang="en-US" dirty="0"/>
              <a:t>5</a:t>
            </a:r>
            <a:r>
              <a:rPr lang="en-US" i="1" dirty="0"/>
              <a:t>:</a:t>
            </a:r>
            <a:r>
              <a:rPr lang="en-US" dirty="0"/>
              <a:t>778; but the standard</a:t>
            </a:r>
            <a:br>
              <a:rPr lang="en-US" dirty="0"/>
            </a:br>
            <a:r>
              <a:rPr lang="en-US" dirty="0"/>
              <a:t>errors are discernibly </a:t>
            </a:r>
            <a:r>
              <a:rPr lang="en-US" dirty="0" smtClean="0"/>
              <a:t>different.</a:t>
            </a:r>
          </a:p>
          <a:p>
            <a:r>
              <a:rPr lang="en-US" dirty="0" smtClean="0"/>
              <a:t>The </a:t>
            </a:r>
            <a:r>
              <a:rPr lang="en-US" dirty="0"/>
              <a:t>standard error yielded by PROC GLM, </a:t>
            </a:r>
            <a:r>
              <a:rPr lang="en-US" dirty="0" smtClean="0"/>
              <a:t>1</a:t>
            </a:r>
            <a:r>
              <a:rPr lang="en-US" i="1" dirty="0" smtClean="0"/>
              <a:t>.</a:t>
            </a:r>
            <a:r>
              <a:rPr lang="en-US" dirty="0" smtClean="0"/>
              <a:t>52</a:t>
            </a:r>
            <a:r>
              <a:rPr lang="en-US" dirty="0"/>
              <a:t>, is </a:t>
            </a:r>
            <a:r>
              <a:rPr lang="en-US" u="sng" dirty="0"/>
              <a:t>not valid</a:t>
            </a:r>
            <a:r>
              <a:rPr lang="en-US" dirty="0"/>
              <a:t> since</a:t>
            </a:r>
            <a:br>
              <a:rPr lang="en-US" dirty="0"/>
            </a:br>
            <a:r>
              <a:rPr lang="en-US" dirty="0"/>
              <a:t>the procedure has incorrectly assumed that all of the observations are</a:t>
            </a:r>
            <a:br>
              <a:rPr lang="en-US" dirty="0"/>
            </a:br>
            <a:r>
              <a:rPr lang="en-US" dirty="0"/>
              <a:t>independent and with homogeneous </a:t>
            </a:r>
            <a:r>
              <a:rPr lang="en-US" dirty="0" smtClean="0"/>
              <a:t>variance.</a:t>
            </a:r>
          </a:p>
          <a:p>
            <a:r>
              <a:rPr lang="en-US" dirty="0" smtClean="0"/>
              <a:t>The </a:t>
            </a:r>
            <a:r>
              <a:rPr lang="en-US" dirty="0"/>
              <a:t>standard error yielded by PROC MIXED, </a:t>
            </a:r>
            <a:r>
              <a:rPr lang="en-US" dirty="0" smtClean="0"/>
              <a:t>1</a:t>
            </a:r>
            <a:r>
              <a:rPr lang="en-US" i="1" dirty="0" smtClean="0"/>
              <a:t>.</a:t>
            </a:r>
            <a:r>
              <a:rPr lang="en-US" dirty="0" smtClean="0"/>
              <a:t>14</a:t>
            </a:r>
            <a:r>
              <a:rPr lang="en-US" dirty="0"/>
              <a:t>, is valid since the</a:t>
            </a:r>
            <a:br>
              <a:rPr lang="en-US" dirty="0"/>
            </a:br>
            <a:r>
              <a:rPr lang="en-US" dirty="0"/>
              <a:t>procedure has accounted for the covariance among repeated measures in</a:t>
            </a:r>
            <a:br>
              <a:rPr lang="en-US" dirty="0"/>
            </a:br>
            <a:r>
              <a:rPr lang="en-US" dirty="0"/>
              <a:t>the analysis.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33</a:t>
            </a:r>
          </a:p>
        </p:txBody>
      </p:sp>
    </p:spTree>
    <p:extLst>
      <p:ext uri="{BB962C8B-B14F-4D97-AF65-F5344CB8AC3E}">
        <p14:creationId xmlns:p14="http://schemas.microsoft.com/office/powerpoint/2010/main" val="428530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Previously, we assumed a sample of </a:t>
                </a:r>
                <a:r>
                  <a:rPr lang="en-US" i="1" dirty="0"/>
                  <a:t>N </a:t>
                </a:r>
                <a:r>
                  <a:rPr lang="en-US" dirty="0"/>
                  <a:t>subjects are </a:t>
                </a:r>
                <a:r>
                  <a:rPr lang="en-US" dirty="0" smtClean="0"/>
                  <a:t>measured repeatedly</a:t>
                </a:r>
                <a:r>
                  <a:rPr lang="en-US" dirty="0"/>
                  <a:t/>
                </a:r>
                <a:r>
                  <a:rPr lang="en-US" dirty="0" smtClean="0"/>
                  <a:t>at </a:t>
                </a:r>
                <a:r>
                  <a:rPr lang="en-US" i="1" dirty="0"/>
                  <a:t>n </a:t>
                </a:r>
                <a:r>
                  <a:rPr lang="en-US" dirty="0" smtClean="0"/>
                  <a:t>occasions.</a:t>
                </a:r>
              </a:p>
              <a:p>
                <a:r>
                  <a:rPr lang="en-US" dirty="0" smtClean="0"/>
                  <a:t>Either </a:t>
                </a:r>
                <a:r>
                  <a:rPr lang="en-US" dirty="0"/>
                  <a:t>by design or happenstance, subjects may not have same </a:t>
                </a:r>
                <a:r>
                  <a:rPr lang="en-US" dirty="0" smtClean="0"/>
                  <a:t>number of </a:t>
                </a:r>
                <a:r>
                  <a:rPr lang="en-US" dirty="0"/>
                  <a:t>repeated measures or be measured at same set of </a:t>
                </a:r>
                <a:r>
                  <a:rPr lang="en-US" dirty="0" smtClean="0"/>
                  <a:t>occasions.</a:t>
                </a:r>
              </a:p>
              <a:p>
                <a:r>
                  <a:rPr lang="en-US" dirty="0" smtClean="0"/>
                  <a:t>We </a:t>
                </a:r>
                <a:r>
                  <a:rPr lang="en-US" dirty="0"/>
                  <a:t>assume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repeated measurements on the </a:t>
                </a:r>
                <a:r>
                  <a:rPr lang="en-US" i="1" dirty="0" err="1"/>
                  <a:t>i</a:t>
                </a:r>
                <a:r>
                  <a:rPr lang="en-US" dirty="0" err="1"/>
                  <a:t>th</a:t>
                </a:r>
                <a:r>
                  <a:rPr lang="en-US" i="1" dirty="0"/>
                  <a:t/>
                </a:r>
                <a:r>
                  <a:rPr lang="en-US" dirty="0"/>
                  <a:t>subject </a:t>
                </a:r>
                <a:r>
                  <a:rPr lang="en-US" dirty="0" smtClean="0"/>
                  <a:t>and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 smtClean="0"/>
                  <a:t/>
                </a:r>
                <a:r>
                  <a:rPr lang="en-US" dirty="0"/>
                  <a:t>is observed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33</a:t>
            </a:r>
          </a:p>
        </p:txBody>
      </p:sp>
    </p:spTree>
    <p:extLst>
      <p:ext uri="{BB962C8B-B14F-4D97-AF65-F5344CB8AC3E}">
        <p14:creationId xmlns:p14="http://schemas.microsoft.com/office/powerpoint/2010/main" val="360886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We can group the response variables for the </a:t>
                </a:r>
                <a:r>
                  <a:rPr lang="en-US" i="1" dirty="0" err="1"/>
                  <a:t>i</a:t>
                </a:r>
                <a:r>
                  <a:rPr lang="en-US" dirty="0" err="1"/>
                  <a:t>th</a:t>
                </a:r>
                <a:r>
                  <a:rPr lang="en-US" i="1" dirty="0"/>
                  <a:t/>
                </a:r>
                <a:r>
                  <a:rPr lang="en-US" dirty="0"/>
                  <a:t>subject into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-vector.</a:t>
                </a:r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/>
                  <a:t>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there is a </a:t>
                </a:r>
                <a:r>
                  <a:rPr lang="en-US" i="1" dirty="0" smtClean="0"/>
                  <a:t>p-</a:t>
                </a:r>
                <a:r>
                  <a:rPr lang="en-US" dirty="0" smtClean="0"/>
                  <a:t>vector </a:t>
                </a:r>
                <a:r>
                  <a:rPr lang="en-US" dirty="0"/>
                  <a:t>of covariates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3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103" y="2449657"/>
            <a:ext cx="5010150" cy="1543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175" y="4488873"/>
            <a:ext cx="6076320" cy="1559589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33</a:t>
            </a:r>
          </a:p>
        </p:txBody>
      </p:sp>
    </p:spTree>
    <p:extLst>
      <p:ext uri="{BB962C8B-B14F-4D97-AF65-F5344CB8AC3E}">
        <p14:creationId xmlns:p14="http://schemas.microsoft.com/office/powerpoint/2010/main" val="73663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55537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Information about the </a:t>
                </a:r>
                <a:r>
                  <a:rPr lang="en-US" u="sng" dirty="0" smtClean="0"/>
                  <a:t>time occasion</a:t>
                </a:r>
                <a:r>
                  <a:rPr lang="en-US" dirty="0" smtClean="0"/>
                  <a:t>, </a:t>
                </a:r>
                <a:r>
                  <a:rPr lang="en-US" u="sng" dirty="0" smtClean="0"/>
                  <a:t>treatment or exposure</a:t>
                </a:r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group, and </a:t>
                </a:r>
                <a:r>
                  <a:rPr lang="en-US" u="sng" dirty="0" smtClean="0"/>
                  <a:t>other predictor and confounding variables </a:t>
                </a:r>
                <a:r>
                  <a:rPr lang="en-US" dirty="0" smtClean="0"/>
                  <a:t>can be expressed through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/>
                </a:r>
                <a:r>
                  <a:rPr lang="en-US" dirty="0"/>
                  <a:t>of </a:t>
                </a:r>
                <a:r>
                  <a:rPr lang="en-US" dirty="0" smtClean="0"/>
                  <a:t>covariates.</a:t>
                </a:r>
              </a:p>
              <a:p>
                <a:r>
                  <a:rPr lang="en-US" dirty="0"/>
                  <a:t>We can group the vectors of covariates into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×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matrix</a:t>
                </a:r>
                <a:r>
                  <a:rPr lang="en-US" dirty="0" smtClean="0"/>
                  <a:t>: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0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is an </a:t>
                </a:r>
                <a:r>
                  <a:rPr lang="en-US" dirty="0"/>
                  <a:t>ordered collection of the values of the </a:t>
                </a:r>
                <a:r>
                  <a:rPr lang="en-US" i="1" dirty="0"/>
                  <a:t>p </a:t>
                </a:r>
                <a:r>
                  <a:rPr lang="en-US" dirty="0"/>
                  <a:t>covariates for</a:t>
                </a:r>
                <a:br>
                  <a:rPr lang="en-US" dirty="0"/>
                </a:br>
                <a:r>
                  <a:rPr lang="en-US" dirty="0" smtClean="0"/>
                  <a:t>  the </a:t>
                </a:r>
                <a:r>
                  <a:rPr lang="en-US" i="1" dirty="0" err="1"/>
                  <a:t>i</a:t>
                </a:r>
                <a:r>
                  <a:rPr lang="en-US" dirty="0" err="1"/>
                  <a:t>th</a:t>
                </a:r>
                <a:r>
                  <a:rPr lang="en-US" i="1" dirty="0"/>
                  <a:t/>
                </a:r>
                <a:r>
                  <a:rPr lang="en-US" dirty="0"/>
                  <a:t>subject 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occasions.</a:t>
                </a:r>
                <a:r>
                  <a:rPr lang="en-US" dirty="0"/>
                  <a:t/>
                </a: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555374"/>
              </a:xfrm>
              <a:blipFill>
                <a:blip r:embed="rId2"/>
                <a:stretch>
                  <a:fillRect l="-1043" t="-3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85" y="3308466"/>
            <a:ext cx="7974049" cy="1936086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33</a:t>
            </a:r>
          </a:p>
        </p:txBody>
      </p:sp>
    </p:spTree>
    <p:extLst>
      <p:ext uri="{BB962C8B-B14F-4D97-AF65-F5344CB8AC3E}">
        <p14:creationId xmlns:p14="http://schemas.microsoft.com/office/powerpoint/2010/main" val="399169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We </a:t>
                </a:r>
                <a:r>
                  <a:rPr lang="en-US" dirty="0"/>
                  <a:t>consider </a:t>
                </a:r>
                <a:r>
                  <a:rPr lang="en-US" u="sng" dirty="0"/>
                  <a:t>linear regression models </a:t>
                </a:r>
                <a:r>
                  <a:rPr lang="en-US" dirty="0"/>
                  <a:t>for </a:t>
                </a:r>
                <a:r>
                  <a:rPr lang="en-US" dirty="0" smtClean="0"/>
                  <a:t>changes in </a:t>
                </a:r>
                <a:r>
                  <a:rPr lang="en-US" dirty="0"/>
                  <a:t>the mean response over time:</a:t>
                </a:r>
                <a:r>
                  <a:rPr lang="en-US" dirty="0"/>
                  <a:t/>
                </a:r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 smtClean="0"/>
                  <a:t>are </a:t>
                </a:r>
                <a:r>
                  <a:rPr lang="en-US" dirty="0"/>
                  <a:t>unknown regression coefficients.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are random errors, with mean zero, and represent deviations </a:t>
                </a:r>
                <a:r>
                  <a:rPr lang="en-US" dirty="0" smtClean="0"/>
                  <a:t>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’s from their means,</a:t>
                </a:r>
                <a:r>
                  <a:rPr lang="en-US" dirty="0"/>
                  <a:t/>
                </a:r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Typically,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is the intercept.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 b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7827"/>
          <a:stretch/>
        </p:blipFill>
        <p:spPr>
          <a:xfrm>
            <a:off x="2142173" y="2651760"/>
            <a:ext cx="8117610" cy="5735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255" y="4641020"/>
            <a:ext cx="6416560" cy="500921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33</a:t>
            </a:r>
          </a:p>
        </p:txBody>
      </p:sp>
    </p:spTree>
    <p:extLst>
      <p:ext uri="{BB962C8B-B14F-4D97-AF65-F5344CB8AC3E}">
        <p14:creationId xmlns:p14="http://schemas.microsoft.com/office/powerpoint/2010/main" val="259231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This model is a </a:t>
                </a:r>
                <a:r>
                  <a:rPr lang="en-US" u="sng" dirty="0" smtClean="0"/>
                  <a:t>general linear model</a:t>
                </a:r>
                <a:r>
                  <a:rPr lang="en-US" dirty="0" smtClean="0"/>
                  <a:t> because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may be correlated (for the same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smtClean="0"/>
                  <a:t> with different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 smtClean="0"/>
                  <a:t>s</a:t>
                </a:r>
                <a:r>
                  <a:rPr lang="en-US" dirty="0" smtClean="0"/>
                  <a:t>)</a:t>
                </a:r>
              </a:p>
              <a:p>
                <a:r>
                  <a:rPr lang="en-US" dirty="0"/>
                  <a:t>This </a:t>
                </a:r>
                <a:r>
                  <a:rPr lang="en-US" dirty="0" smtClean="0"/>
                  <a:t>mean model </a:t>
                </a:r>
                <a:r>
                  <a:rPr lang="en-US" dirty="0"/>
                  <a:t>can also be represented in vector/matrix notation as: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502" y="3266902"/>
            <a:ext cx="8329364" cy="1616306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27 / 33</a:t>
            </a:r>
          </a:p>
        </p:txBody>
      </p:sp>
    </p:spTree>
    <p:extLst>
      <p:ext uri="{BB962C8B-B14F-4D97-AF65-F5344CB8AC3E}">
        <p14:creationId xmlns:p14="http://schemas.microsoft.com/office/powerpoint/2010/main" val="343332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This is a short hand notation for 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877" y="2535382"/>
            <a:ext cx="7998597" cy="2780261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28 / 33</a:t>
            </a:r>
          </a:p>
        </p:txBody>
      </p:sp>
    </p:spTree>
    <p:extLst>
      <p:ext uri="{BB962C8B-B14F-4D97-AF65-F5344CB8AC3E}">
        <p14:creationId xmlns:p14="http://schemas.microsoft.com/office/powerpoint/2010/main" val="188939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Example: 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For illustrative purposes, consider a model </a:t>
            </a:r>
            <a:r>
              <a:rPr lang="en-US" dirty="0"/>
              <a:t>that assumes mean blood </a:t>
            </a:r>
            <a:r>
              <a:rPr lang="en-US" dirty="0" smtClean="0"/>
              <a:t>lead level </a:t>
            </a:r>
            <a:r>
              <a:rPr lang="en-US" dirty="0"/>
              <a:t>changes </a:t>
            </a:r>
            <a:r>
              <a:rPr lang="en-US" u="sng" dirty="0"/>
              <a:t>linearly over time</a:t>
            </a:r>
            <a:r>
              <a:rPr lang="en-US" dirty="0"/>
              <a:t>, but </a:t>
            </a:r>
            <a:r>
              <a:rPr lang="en-US" u="sng" dirty="0"/>
              <a:t>at a rate that differs by </a:t>
            </a:r>
            <a:r>
              <a:rPr lang="en-US" u="sng" dirty="0" smtClean="0"/>
              <a:t>treatment group</a:t>
            </a:r>
            <a:r>
              <a:rPr lang="en-US" dirty="0" smtClean="0"/>
              <a:t>.</a:t>
            </a:r>
          </a:p>
          <a:p>
            <a:r>
              <a:rPr lang="en-US" dirty="0" smtClean="0"/>
              <a:t>Assume </a:t>
            </a:r>
            <a:r>
              <a:rPr lang="en-US" dirty="0"/>
              <a:t>two treatment groups have different intercepts and slopes: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74" y="3468850"/>
            <a:ext cx="8165783" cy="2890386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29 / 33</a:t>
            </a:r>
          </a:p>
        </p:txBody>
      </p:sp>
    </p:spTree>
    <p:extLst>
      <p:ext uri="{BB962C8B-B14F-4D97-AF65-F5344CB8AC3E}">
        <p14:creationId xmlns:p14="http://schemas.microsoft.com/office/powerpoint/2010/main" val="261704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Thus, for children in the placebo group</a:t>
                </a:r>
                <a:r>
                  <a:rPr lang="en-US" dirty="0"/>
                  <a:t/>
                </a:r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represents the mean blood lead level at baseline (week = 0) </a:t>
                </a:r>
                <a:r>
                  <a:rPr lang="en-US" dirty="0" smtClean="0"/>
                  <a:t>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/>
                </a:r>
                <a:r>
                  <a:rPr lang="en-US" dirty="0"/>
                  <a:t>is the constant rate of change in mean blood level.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/>
                  <a:t>Similarly, for children in the </a:t>
                </a:r>
                <a:r>
                  <a:rPr lang="en-US" dirty="0" err="1"/>
                  <a:t>succimer</a:t>
                </a:r>
                <a:r>
                  <a:rPr lang="en-US" dirty="0"/>
                  <a:t> group</a:t>
                </a:r>
                <a:r>
                  <a:rPr lang="en-US" dirty="0"/>
                  <a:t/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If randomization is effective, we expect that 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 (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why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?)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217" t="-2584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547" y="2283412"/>
            <a:ext cx="3780734" cy="5345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987" y="4164676"/>
            <a:ext cx="5864302" cy="588991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30 / 33</a:t>
            </a:r>
          </a:p>
        </p:txBody>
      </p:sp>
    </p:spTree>
    <p:extLst>
      <p:ext uri="{BB962C8B-B14F-4D97-AF65-F5344CB8AC3E}">
        <p14:creationId xmlns:p14="http://schemas.microsoft.com/office/powerpoint/2010/main" val="82916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Hypothesis that treatments are </a:t>
                </a:r>
                <a:r>
                  <a:rPr lang="en-US" u="sng" dirty="0" smtClean="0"/>
                  <a:t>equally</a:t>
                </a:r>
                <a:r>
                  <a:rPr lang="en-US" dirty="0" smtClean="0"/>
                  <a:t> effective in reducing blood lead levels </a:t>
                </a:r>
                <a:r>
                  <a:rPr lang="en-US" dirty="0"/>
                  <a:t>translated into hypothesis that 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 0.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r>
                  <a:rPr lang="en-US" dirty="0" smtClean="0"/>
                  <a:t>To reinforce notation,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for subject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smtClean="0"/>
                  <a:t> in the placebo group is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192" y="4056612"/>
            <a:ext cx="2583655" cy="1556818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31 / 33</a:t>
            </a:r>
          </a:p>
        </p:txBody>
      </p:sp>
    </p:spTree>
    <p:extLst>
      <p:ext uri="{BB962C8B-B14F-4D97-AF65-F5344CB8AC3E}">
        <p14:creationId xmlns:p14="http://schemas.microsoft.com/office/powerpoint/2010/main" val="231852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Similarly,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subject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</a:t>
                </a:r>
                <a:r>
                  <a:rPr lang="en-US" dirty="0" smtClean="0"/>
                  <a:t>treatment </a:t>
                </a:r>
                <a:r>
                  <a:rPr lang="en-US" dirty="0"/>
                  <a:t>group </a:t>
                </a:r>
                <a:r>
                  <a:rPr lang="en-US" dirty="0" smtClean="0"/>
                  <a:t>is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en-US" dirty="0" smtClean="0"/>
                  <a:t>So</a:t>
                </a:r>
                <a:r>
                  <a:rPr lang="en-US" dirty="0"/>
                  <a:t>, using vectors and matrices, model for the mean blood lead levels </a:t>
                </a:r>
                <a:r>
                  <a:rPr lang="en-US" dirty="0" smtClean="0"/>
                  <a:t>can be </a:t>
                </a:r>
                <a:r>
                  <a:rPr lang="en-US" dirty="0"/>
                  <a:t>represented as</a:t>
                </a:r>
                <a:r>
                  <a:rPr lang="en-US" dirty="0"/>
                  <a:t/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94" y="2306261"/>
            <a:ext cx="2996565" cy="17087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8001" r="31384" b="59883"/>
          <a:stretch/>
        </p:blipFill>
        <p:spPr>
          <a:xfrm>
            <a:off x="1350556" y="5245331"/>
            <a:ext cx="5715261" cy="357448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32 / 33</a:t>
            </a:r>
          </a:p>
        </p:txBody>
      </p:sp>
    </p:spTree>
    <p:extLst>
      <p:ext uri="{BB962C8B-B14F-4D97-AF65-F5344CB8AC3E}">
        <p14:creationId xmlns:p14="http://schemas.microsoft.com/office/powerpoint/2010/main" val="107789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General Linear Model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For example, for the placebo group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What about the treatment group?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72" y="2516331"/>
            <a:ext cx="9375692" cy="166497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33 / 33</a:t>
            </a:r>
          </a:p>
        </p:txBody>
      </p:sp>
    </p:spTree>
    <p:extLst>
      <p:ext uri="{BB962C8B-B14F-4D97-AF65-F5344CB8AC3E}">
        <p14:creationId xmlns:p14="http://schemas.microsoft.com/office/powerpoint/2010/main" val="358839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18874</TotalTime>
  <Words>651</Words>
  <Application>Microsoft Office PowerPoint</Application>
  <PresentationFormat>Widescreen</PresentationFormat>
  <Paragraphs>171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Consolas</vt:lpstr>
      <vt:lpstr>Office Theme</vt:lpstr>
      <vt:lpstr>Advanced Regression Methods for Population Health</vt:lpstr>
      <vt:lpstr>Outline</vt:lpstr>
      <vt:lpstr>Impact of correlation</vt:lpstr>
      <vt:lpstr>Impact of correlation</vt:lpstr>
      <vt:lpstr>Impact of correlation</vt:lpstr>
      <vt:lpstr>Impact of correlation</vt:lpstr>
      <vt:lpstr>Impact of correlation</vt:lpstr>
      <vt:lpstr>Impact of correlation</vt:lpstr>
      <vt:lpstr>Single-group analysis of trend</vt:lpstr>
      <vt:lpstr>Single-group analysis of trend</vt:lpstr>
      <vt:lpstr>Example: the TLC trial </vt:lpstr>
      <vt:lpstr>Single-group analysis of trend</vt:lpstr>
      <vt:lpstr>Single-group analysis of trend</vt:lpstr>
      <vt:lpstr>Example: the TLC trial </vt:lpstr>
      <vt:lpstr>Example: the TLC trial </vt:lpstr>
      <vt:lpstr>Example: the TLC trial </vt:lpstr>
      <vt:lpstr>Example: the TLC trial </vt:lpstr>
      <vt:lpstr>Covariance structure</vt:lpstr>
      <vt:lpstr>Covariance structure</vt:lpstr>
      <vt:lpstr>Covariance structure</vt:lpstr>
      <vt:lpstr>Covariance structure</vt:lpstr>
      <vt:lpstr>Covariance structure</vt:lpstr>
      <vt:lpstr>General Linear Model</vt:lpstr>
      <vt:lpstr>General Linear Model</vt:lpstr>
      <vt:lpstr>General Linear Model</vt:lpstr>
      <vt:lpstr>General Linear Model</vt:lpstr>
      <vt:lpstr>General Linear Model</vt:lpstr>
      <vt:lpstr>General Linear Model</vt:lpstr>
      <vt:lpstr>Example: the TLC trial</vt:lpstr>
      <vt:lpstr>General Linear Model</vt:lpstr>
      <vt:lpstr>General Linear Model</vt:lpstr>
      <vt:lpstr>General Linear Model</vt:lpstr>
      <vt:lpstr>General Linear Model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352</cp:revision>
  <dcterms:created xsi:type="dcterms:W3CDTF">2019-01-16T21:45:55Z</dcterms:created>
  <dcterms:modified xsi:type="dcterms:W3CDTF">2019-02-11T06:44:59Z</dcterms:modified>
</cp:coreProperties>
</file>