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EC6F0-0EB1-4C55-B1C8-875DE32B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6DBB1-5498-4F06-919E-6EAE6CA7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of Longitudinal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4F643-938A-4A23-AC25-B69530A5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BF5F5-035B-4811-8652-0ABD0431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180BD-C8FF-49B1-AA2C-27F58F41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C34E7-EFAD-47B6-9ADB-96442977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92934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Type I, Type II errors and power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Sample size calculation for a univariate response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Sample size calculation for longitudinal studies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27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and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Power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Investigators typically </a:t>
            </a:r>
            <a:r>
              <a:rPr lang="en-US" dirty="0" smtClean="0"/>
              <a:t>ask </a:t>
            </a:r>
            <a:r>
              <a:rPr lang="en-US" dirty="0"/>
              <a:t>the following question:</a:t>
            </a:r>
            <a:br>
              <a:rPr lang="en-US" dirty="0"/>
            </a:br>
            <a:r>
              <a:rPr lang="en-US" dirty="0" smtClean="0"/>
              <a:t>“How </a:t>
            </a:r>
            <a:r>
              <a:rPr lang="en-US" i="1" dirty="0"/>
              <a:t>large </a:t>
            </a:r>
            <a:r>
              <a:rPr lang="en-US" dirty="0"/>
              <a:t>should my study </a:t>
            </a:r>
            <a:r>
              <a:rPr lang="en-US" dirty="0" smtClean="0"/>
              <a:t>be to test my hypothesis?”</a:t>
            </a:r>
          </a:p>
          <a:p>
            <a:r>
              <a:rPr lang="en-US" dirty="0"/>
              <a:t>S</a:t>
            </a:r>
            <a:r>
              <a:rPr lang="en-US" dirty="0" smtClean="0"/>
              <a:t>traightforward </a:t>
            </a:r>
            <a:r>
              <a:rPr lang="en-US" dirty="0"/>
              <a:t>with only a single, univariate response: the </a:t>
            </a:r>
            <a:r>
              <a:rPr lang="en-US" i="1" dirty="0" smtClean="0"/>
              <a:t>size </a:t>
            </a:r>
            <a:r>
              <a:rPr lang="en-US" dirty="0" smtClean="0"/>
              <a:t>of </a:t>
            </a:r>
            <a:r>
              <a:rPr lang="en-US" dirty="0"/>
              <a:t>a study = </a:t>
            </a:r>
            <a:r>
              <a:rPr lang="en-US" u="sng" dirty="0"/>
              <a:t>sample </a:t>
            </a:r>
            <a:r>
              <a:rPr lang="en-US" u="sng" dirty="0" smtClean="0"/>
              <a:t>size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</a:t>
            </a:r>
            <a:r>
              <a:rPr lang="en-US" dirty="0"/>
              <a:t>a longitudinal </a:t>
            </a:r>
            <a:r>
              <a:rPr lang="en-US" dirty="0" smtClean="0"/>
              <a:t>study, </a:t>
            </a:r>
            <a:r>
              <a:rPr lang="en-US" dirty="0"/>
              <a:t>the question of </a:t>
            </a:r>
            <a:r>
              <a:rPr lang="en-US" i="1" dirty="0"/>
              <a:t>size </a:t>
            </a:r>
            <a:r>
              <a:rPr lang="en-US" dirty="0"/>
              <a:t>is more complex,</a:t>
            </a:r>
            <a:br>
              <a:rPr lang="en-US" dirty="0"/>
            </a:br>
            <a:r>
              <a:rPr lang="en-US" dirty="0"/>
              <a:t>e.g., </a:t>
            </a:r>
            <a:r>
              <a:rPr lang="en-US" u="sng" dirty="0"/>
              <a:t>number of subjects</a:t>
            </a:r>
            <a:r>
              <a:rPr lang="en-US" dirty="0"/>
              <a:t>, </a:t>
            </a:r>
            <a:r>
              <a:rPr lang="en-US" u="sng" dirty="0"/>
              <a:t>duration of study</a:t>
            </a:r>
            <a:r>
              <a:rPr lang="en-US" dirty="0"/>
              <a:t>, </a:t>
            </a:r>
            <a:r>
              <a:rPr lang="en-US" u="sng" dirty="0"/>
              <a:t>frequency and spacing of</a:t>
            </a:r>
            <a:br>
              <a:rPr lang="en-US" u="sng" dirty="0"/>
            </a:br>
            <a:r>
              <a:rPr lang="en-US" u="sng" dirty="0"/>
              <a:t>repeated measurements</a:t>
            </a:r>
            <a:r>
              <a:rPr lang="en-US" dirty="0"/>
              <a:t> on the </a:t>
            </a:r>
            <a:r>
              <a:rPr lang="en-US" dirty="0" smtClean="0"/>
              <a:t>subjects.</a:t>
            </a:r>
          </a:p>
          <a:p>
            <a:r>
              <a:rPr lang="en-US" dirty="0" smtClean="0"/>
              <a:t>We first review </a:t>
            </a:r>
            <a:r>
              <a:rPr lang="en-US" u="sng" dirty="0"/>
              <a:t>sample size/power</a:t>
            </a:r>
            <a:r>
              <a:rPr lang="en-US" dirty="0"/>
              <a:t> formulas for a univariate response.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27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Sample Size and Power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Statistical power</a:t>
            </a:r>
            <a:r>
              <a:rPr lang="en-US" dirty="0" smtClean="0"/>
              <a:t>: the probability that the test will reject the null hypothesis under the alternative hypothesis (typically desired at the levels of 80% or 90%).</a:t>
            </a:r>
          </a:p>
          <a:p>
            <a:r>
              <a:rPr lang="en-US" dirty="0" smtClean="0"/>
              <a:t>Sample size is calculated based on the alternative hypothesis (under a hypothesized effect size) and the desired power.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2481942" y="4093029"/>
            <a:ext cx="4865693" cy="1808321"/>
            <a:chOff x="2481942" y="4093029"/>
            <a:chExt cx="4865693" cy="1808321"/>
          </a:xfrm>
        </p:grpSpPr>
        <p:sp>
          <p:nvSpPr>
            <p:cNvPr id="4" name="Rectangle 3"/>
            <p:cNvSpPr/>
            <p:nvPr/>
          </p:nvSpPr>
          <p:spPr>
            <a:xfrm>
              <a:off x="2481943" y="4093029"/>
              <a:ext cx="1393371" cy="766354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81942" y="5134996"/>
              <a:ext cx="1393371" cy="7663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>
              <a:stCxn id="5" idx="3"/>
              <a:endCxn id="11" idx="1"/>
            </p:cNvCxnSpPr>
            <p:nvPr/>
          </p:nvCxnSpPr>
          <p:spPr>
            <a:xfrm flipV="1">
              <a:off x="3875313" y="4981303"/>
              <a:ext cx="2036717" cy="5368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3875313" y="4476206"/>
              <a:ext cx="2029098" cy="470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5912030" y="4598126"/>
              <a:ext cx="1393371" cy="7663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503058" y="4291540"/>
                  <a:ext cx="1351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Effect size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en-US" dirty="0" smtClean="0"/>
                    <a:t/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3058" y="4291540"/>
                  <a:ext cx="1351137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4072"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/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508981" y="5249738"/>
                  <a:ext cx="139337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Desired power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8981" y="5249738"/>
                  <a:ext cx="1393371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3947"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/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884991" y="4768725"/>
                  <a:ext cx="1462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Sample size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4991" y="4768725"/>
                  <a:ext cx="1462644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333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/>
                  </a:r>
                </a:p>
              </p:txBody>
            </p:sp>
          </mc:Fallback>
        </mc:AlternateContent>
      </p:grpSp>
      <p:sp>
        <p:nvSpPr>
          <p:cNvPr id="1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1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27</a:t>
            </a:r>
          </a:p>
        </p:txBody>
      </p:sp>
    </p:spTree>
    <p:extLst>
      <p:ext uri="{BB962C8B-B14F-4D97-AF65-F5344CB8AC3E}">
        <p14:creationId xmlns:p14="http://schemas.microsoft.com/office/powerpoint/2010/main" val="296611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a Univariate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Response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Two </a:t>
                </a:r>
                <a:r>
                  <a:rPr lang="en-US" dirty="0"/>
                  <a:t>treatments (or exposures), denoted A and </a:t>
                </a:r>
                <a:r>
                  <a:rPr lang="en-US" dirty="0" smtClean="0"/>
                  <a:t>B, with an </a:t>
                </a:r>
                <a:r>
                  <a:rPr lang="en-US" dirty="0"/>
                  <a:t>equal number of subjects, say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for both groups.</a:t>
                </a:r>
              </a:p>
              <a:p>
                <a:r>
                  <a:rPr lang="en-US" dirty="0" smtClean="0"/>
                  <a:t>Two </a:t>
                </a:r>
                <a:r>
                  <a:rPr lang="en-US" dirty="0"/>
                  <a:t>groups are to be compared in terms of the mean response.</a:t>
                </a:r>
                <a:br>
                  <a:rPr lang="en-US" dirty="0"/>
                </a:b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µ(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µ(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the mean response in the two </a:t>
                </a:r>
                <a:r>
                  <a:rPr lang="en-US" dirty="0" smtClean="0"/>
                  <a:t>populations.</a:t>
                </a:r>
                <a:endParaRPr lang="en-US" dirty="0"/>
              </a:p>
              <a:p>
                <a:r>
                  <a:rPr lang="en-US" dirty="0" smtClean="0"/>
                  <a:t>Define </a:t>
                </a:r>
                <a:r>
                  <a:rPr lang="en-US" dirty="0"/>
                  <a:t>effect of interest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µ(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− µ(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The null hypothesis of no group difference is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27</a:t>
            </a:r>
          </a:p>
        </p:txBody>
      </p:sp>
    </p:spTree>
    <p:extLst>
      <p:ext uri="{BB962C8B-B14F-4D97-AF65-F5344CB8AC3E}">
        <p14:creationId xmlns:p14="http://schemas.microsoft.com/office/powerpoint/2010/main" val="112494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Type I and Type II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Errors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Type I error</a:t>
                </a:r>
                <a:r>
                  <a:rPr lang="en-US" dirty="0" smtClean="0"/>
                  <a:t>: If we reject the null hypothesis when in fact it is true.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Reject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true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/>
                </a:r>
                <a:br>
                  <a:rPr lang="en-US" i="1" dirty="0"/>
                </a:br>
                <a:r>
                  <a:rPr lang="en-US" dirty="0"/>
                  <a:t>The probability of type I error, also known as the </a:t>
                </a:r>
                <a:r>
                  <a:rPr lang="en-US" u="sng" dirty="0"/>
                  <a:t>significance level</a:t>
                </a:r>
                <a:r>
                  <a:rPr lang="en-US" dirty="0"/>
                  <a:t>, is</a:t>
                </a:r>
                <a:br>
                  <a:rPr lang="en-US" dirty="0"/>
                </a:br>
                <a:r>
                  <a:rPr lang="en-US" dirty="0"/>
                  <a:t>usually denoted by </a:t>
                </a:r>
                <a:r>
                  <a:rPr lang="en-US" i="1" dirty="0" smtClean="0"/>
                  <a:t>α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Conventionally</a:t>
                </a:r>
                <a:r>
                  <a:rPr lang="en-US" dirty="0"/>
                  <a:t>, </a:t>
                </a:r>
                <a:r>
                  <a:rPr lang="en-US" i="1" dirty="0"/>
                  <a:t>α </a:t>
                </a:r>
                <a:r>
                  <a:rPr lang="en-US" dirty="0"/>
                  <a:t>is chosen to be no greater than 0.05. </a:t>
                </a:r>
                <a:endParaRPr lang="en-US" dirty="0" smtClean="0"/>
              </a:p>
              <a:p>
                <a:r>
                  <a:rPr lang="en-US" u="sng" dirty="0" smtClean="0"/>
                  <a:t>Type </a:t>
                </a:r>
                <a:r>
                  <a:rPr lang="en-US" u="sng" dirty="0"/>
                  <a:t>II error</a:t>
                </a:r>
                <a:r>
                  <a:rPr lang="en-US" dirty="0"/>
                  <a:t>: If we fail to reject the null hypothesis when in fact it is false.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Accept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false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27</a:t>
            </a:r>
          </a:p>
        </p:txBody>
      </p:sp>
    </p:spTree>
    <p:extLst>
      <p:ext uri="{BB962C8B-B14F-4D97-AF65-F5344CB8AC3E}">
        <p14:creationId xmlns:p14="http://schemas.microsoft.com/office/powerpoint/2010/main" val="351974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Two-Group Sample Size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Formula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Note: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necessarily depends upon the </a:t>
                </a:r>
                <a:r>
                  <a:rPr lang="en-US" u="sng" dirty="0"/>
                  <a:t>particular choice of value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≠ 0</m:t>
                    </m:r>
                  </m:oMath>
                </a14:m>
                <a:r>
                  <a:rPr lang="en-US" dirty="0" smtClean="0"/>
                  <a:t> under </a:t>
                </a:r>
                <a:r>
                  <a:rPr lang="en-US" dirty="0"/>
                  <a:t>the alternative hypothesis. </a:t>
                </a:r>
                <a:endParaRPr lang="en-US" dirty="0" smtClean="0"/>
              </a:p>
              <a:p>
                <a:r>
                  <a:rPr lang="en-US" dirty="0" smtClean="0"/>
                  <a:t>Finally</a:t>
                </a:r>
                <a:r>
                  <a:rPr lang="en-US" dirty="0"/>
                  <a:t>, power of test is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power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1 −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</m:t>
                      </m:r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err="1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sepChr m:val="∣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Reject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 dirty="0">
                                  <a:latin typeface="Cambria Math" panose="02040503050406030204" pitchFamily="18" charset="0"/>
                                </a:rPr>
                                <m:t>false</m:t>
                              </m:r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27</a:t>
            </a:r>
          </a:p>
        </p:txBody>
      </p:sp>
    </p:spTree>
    <p:extLst>
      <p:ext uri="{BB962C8B-B14F-4D97-AF65-F5344CB8AC3E}">
        <p14:creationId xmlns:p14="http://schemas.microsoft.com/office/powerpoint/2010/main" val="36872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Two-Group Sample Size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Formula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For </a:t>
                </a:r>
                <a:r>
                  <a:rPr lang="en-US" dirty="0"/>
                  <a:t>two group comparison, a formula for approximate sample size in </a:t>
                </a:r>
                <a:r>
                  <a:rPr lang="en-US" dirty="0" smtClean="0"/>
                  <a:t>each group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is </a:t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7354"/>
          <a:stretch/>
        </p:blipFill>
        <p:spPr>
          <a:xfrm>
            <a:off x="1258934" y="2682025"/>
            <a:ext cx="10248900" cy="263853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27</a:t>
            </a:r>
          </a:p>
        </p:txBody>
      </p:sp>
    </p:spTree>
    <p:extLst>
      <p:ext uri="{BB962C8B-B14F-4D97-AF65-F5344CB8AC3E}">
        <p14:creationId xmlns:p14="http://schemas.microsoft.com/office/powerpoint/2010/main" val="3458915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Two-Group Sample Size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Formula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The formula </a:t>
                </a:r>
                <a:r>
                  <a:rPr lang="en-US" dirty="0"/>
                  <a:t>reveals that the determination of sample </a:t>
                </a:r>
                <a:r>
                  <a:rPr lang="en-US" dirty="0" smtClean="0"/>
                  <a:t>size requires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Significance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;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Power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 smtClean="0"/>
                  <a:t>;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Effect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; </a:t>
                </a:r>
                <a:endParaRPr lang="en-US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Common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Conventionally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fixed at </a:t>
                </a:r>
                <a:r>
                  <a:rPr lang="en-US" dirty="0" smtClean="0"/>
                  <a:t>the 0.05 </a:t>
                </a:r>
                <a:r>
                  <a:rPr lang="en-US" dirty="0"/>
                  <a:t>level (with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96 </m:t>
                    </m:r>
                  </m:oMath>
                </a14:m>
                <a:r>
                  <a:rPr lang="en-US" dirty="0"/>
                  <a:t>for</a:t>
                </a:r>
                <a:br>
                  <a:rPr lang="en-US" dirty="0"/>
                </a:br>
                <a:r>
                  <a:rPr lang="en-US" dirty="0"/>
                  <a:t>a 2-tailed test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Similarly</a:t>
                </a:r>
                <a:r>
                  <a:rPr lang="en-US" dirty="0"/>
                  <a:t>, lower bound on acceptable power is usually set at approx. 80%</a:t>
                </a:r>
                <a:br>
                  <a:rPr lang="en-US" dirty="0"/>
                </a:br>
                <a:r>
                  <a:rPr lang="en-US" dirty="0"/>
                  <a:t>(with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=0.842</m:t>
                    </m:r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for power = 0.8,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282 </m:t>
                    </m:r>
                  </m:oMath>
                </a14:m>
                <a:r>
                  <a:rPr lang="en-US" dirty="0"/>
                  <a:t>for power = 0.9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Investigators </a:t>
                </a:r>
                <a:r>
                  <a:rPr lang="en-US" dirty="0"/>
                  <a:t>must provide information on: minimum effect size of scientific</a:t>
                </a:r>
                <a:br>
                  <a:rPr lang="en-US" dirty="0"/>
                </a:br>
                <a:r>
                  <a:rPr lang="en-US" dirty="0"/>
                  <a:t>interest,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and an estimate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27</a:t>
            </a:r>
          </a:p>
        </p:txBody>
      </p:sp>
    </p:spTree>
    <p:extLst>
      <p:ext uri="{BB962C8B-B14F-4D97-AF65-F5344CB8AC3E}">
        <p14:creationId xmlns:p14="http://schemas.microsoft.com/office/powerpoint/2010/main" val="170165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Two </a:t>
                </a:r>
                <a:r>
                  <a:rPr lang="en-US" dirty="0"/>
                  <a:t>treatments (or exposures), denoted A and </a:t>
                </a:r>
                <a:r>
                  <a:rPr lang="en-US" dirty="0"/>
                  <a:t>B, with an </a:t>
                </a:r>
                <a:r>
                  <a:rPr lang="en-US" dirty="0"/>
                  <a:t>equal number of subjects, say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/>
                  <a:t>for both groups.</a:t>
                </a:r>
              </a:p>
              <a:p>
                <a:r>
                  <a:rPr lang="en-US" dirty="0"/>
                  <a:t>Plan to take </a:t>
                </a:r>
                <a:r>
                  <a:rPr lang="en-US" i="1" dirty="0"/>
                  <a:t>n </a:t>
                </a:r>
                <a:r>
                  <a:rPr lang="en-US" dirty="0"/>
                  <a:t>repeated measurements of the response (</a:t>
                </a:r>
                <a:r>
                  <a:rPr lang="en-US" dirty="0" smtClean="0"/>
                  <a:t>not necessarily equally </a:t>
                </a:r>
                <a:r>
                  <a:rPr lang="en-US" dirty="0"/>
                  <a:t>spaced measurements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Two </a:t>
                </a:r>
                <a:r>
                  <a:rPr lang="en-US" dirty="0"/>
                  <a:t>groups to be compared in terms of </a:t>
                </a:r>
                <a:r>
                  <a:rPr lang="en-US" u="sng" dirty="0"/>
                  <a:t>changes</a:t>
                </a:r>
                <a:r>
                  <a:rPr lang="en-US" dirty="0"/>
                  <a:t> in the mean response </a:t>
                </a:r>
                <a:r>
                  <a:rPr lang="en-US" dirty="0" smtClean="0"/>
                  <a:t>over duration </a:t>
                </a:r>
                <a:r>
                  <a:rPr lang="en-US" dirty="0"/>
                  <a:t>of study.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/>
                  <a:t>For simplicity, we assume </a:t>
                </a:r>
                <a:r>
                  <a:rPr lang="en-US" u="sng" dirty="0"/>
                  <a:t>linear trends</a:t>
                </a:r>
                <a:r>
                  <a:rPr lang="en-US" dirty="0"/>
                  <a:t> and define effect of interest as</a:t>
                </a:r>
                <a:br>
                  <a:rPr lang="en-US" dirty="0"/>
                </a:br>
                <a:r>
                  <a:rPr lang="en-US" u="sng" dirty="0"/>
                  <a:t>difference in slopes</a:t>
                </a:r>
                <a:r>
                  <a:rPr lang="en-US" dirty="0"/>
                  <a:t> or rates of change, say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.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27</a:t>
            </a:r>
          </a:p>
        </p:txBody>
      </p:sp>
    </p:spTree>
    <p:extLst>
      <p:ext uri="{BB962C8B-B14F-4D97-AF65-F5344CB8AC3E}">
        <p14:creationId xmlns:p14="http://schemas.microsoft.com/office/powerpoint/2010/main" val="2675640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Under null hypothesis of no group difference, i.e., no group </a:t>
                </a:r>
                <a:r>
                  <a:rPr lang="en-US" i="1" dirty="0"/>
                  <a:t>× </a:t>
                </a:r>
                <a:r>
                  <a:rPr lang="en-US" dirty="0"/>
                  <a:t>linear </a:t>
                </a:r>
                <a:r>
                  <a:rPr lang="en-US" dirty="0" smtClean="0"/>
                  <a:t>trend interaction</a:t>
                </a:r>
                <a:r>
                  <a:rPr lang="en-US" dirty="0"/>
                  <a:t>, </a:t>
                </a:r>
                <a:endParaRPr lang="en-US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Now, consider a two-stage model (based on a mixed effects model):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Stage </a:t>
                </a:r>
                <a:r>
                  <a:rPr lang="en-US" dirty="0"/>
                  <a:t>1: assume a simple parametric curve (e.g., linear) fits the observed</a:t>
                </a:r>
                <a:br>
                  <a:rPr lang="en-US" dirty="0"/>
                </a:br>
                <a:r>
                  <a:rPr lang="en-US" dirty="0"/>
                  <a:t>responses for each </a:t>
                </a:r>
                <a:r>
                  <a:rPr lang="en-US" dirty="0" smtClean="0"/>
                  <a:t>subject.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Stage </a:t>
                </a:r>
                <a:r>
                  <a:rPr lang="en-US" dirty="0"/>
                  <a:t>2: individual-specific parameters are then related to covariates that</a:t>
                </a:r>
                <a:br>
                  <a:rPr lang="en-US" dirty="0"/>
                </a:br>
                <a:r>
                  <a:rPr lang="en-US" dirty="0"/>
                  <a:t>describe the two groups.</a:t>
                </a:r>
                <a:r>
                  <a:rPr lang="en-US" dirty="0"/>
                  <a:t/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27</a:t>
            </a:r>
          </a:p>
        </p:txBody>
      </p:sp>
    </p:spTree>
    <p:extLst>
      <p:ext uri="{BB962C8B-B14F-4D97-AF65-F5344CB8AC3E}">
        <p14:creationId xmlns:p14="http://schemas.microsoft.com/office/powerpoint/2010/main" val="113550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/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62" y="1825625"/>
            <a:ext cx="9456420" cy="247205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27</a:t>
            </a:r>
          </a:p>
        </p:txBody>
      </p:sp>
    </p:spTree>
    <p:extLst>
      <p:ext uri="{BB962C8B-B14F-4D97-AF65-F5344CB8AC3E}">
        <p14:creationId xmlns:p14="http://schemas.microsoft.com/office/powerpoint/2010/main" val="2950619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Allow </a:t>
                </a:r>
                <a:r>
                  <a:rPr lang="en-US" dirty="0"/>
                  <a:t>the mean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(i.e., the mean intercept and slope) to depend </a:t>
                </a:r>
                <a:r>
                  <a:rPr lang="en-US" dirty="0" smtClean="0"/>
                  <a:t>on group</a:t>
                </a:r>
                <a:r>
                  <a:rPr lang="en-US" dirty="0"/>
                  <a:t>,</a:t>
                </a:r>
                <a:r>
                  <a:rPr lang="en-US" dirty="0"/>
                  <a:t/>
                </a: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88" y="2802995"/>
            <a:ext cx="6829425" cy="184785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27</a:t>
            </a:r>
          </a:p>
        </p:txBody>
      </p:sp>
    </p:spTree>
    <p:extLst>
      <p:ext uri="{BB962C8B-B14F-4D97-AF65-F5344CB8AC3E}">
        <p14:creationId xmlns:p14="http://schemas.microsoft.com/office/powerpoint/2010/main" val="3023844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31" y="1825625"/>
            <a:ext cx="8791575" cy="347662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27</a:t>
            </a:r>
          </a:p>
        </p:txBody>
      </p:sp>
    </p:spTree>
    <p:extLst>
      <p:ext uri="{BB962C8B-B14F-4D97-AF65-F5344CB8AC3E}">
        <p14:creationId xmlns:p14="http://schemas.microsoft.com/office/powerpoint/2010/main" val="469247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denote the ordinary least squares (OLS) estimate of the slope </a:t>
                </a:r>
                <a:r>
                  <a:rPr lang="en-US" dirty="0" smtClean="0"/>
                  <a:t>for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 err="1"/>
                  <a:t>th</a:t>
                </a:r>
                <a:r>
                  <a:rPr lang="en-US" i="1" dirty="0"/>
                  <a:t/>
                </a:r>
                <a:r>
                  <a:rPr lang="en-US" dirty="0"/>
                  <a:t>subject.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 smtClean="0"/>
                  <a:t>Note that the mean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 in control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 smtClean="0"/>
                  <a:t> in treatment. Therefore the test statistic should be based on the difference between the averages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in treatment vs control.</a:t>
                </a:r>
              </a:p>
              <a:p>
                <a:r>
                  <a:rPr lang="en-US" dirty="0" smtClean="0"/>
                  <a:t>Therefore, we need to know 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844" y="4703704"/>
            <a:ext cx="2108736" cy="682943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27</a:t>
            </a:r>
          </a:p>
        </p:txBody>
      </p:sp>
    </p:spTree>
    <p:extLst>
      <p:ext uri="{BB962C8B-B14F-4D97-AF65-F5344CB8AC3E}">
        <p14:creationId xmlns:p14="http://schemas.microsoft.com/office/powerpoint/2010/main" val="3950065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Recall: Each subject is measured at common set of occasions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The 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given by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574" y="3323618"/>
            <a:ext cx="6734175" cy="250507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27</a:t>
            </a:r>
          </a:p>
        </p:txBody>
      </p:sp>
    </p:spTree>
    <p:extLst>
      <p:ext uri="{BB962C8B-B14F-4D97-AF65-F5344CB8AC3E}">
        <p14:creationId xmlns:p14="http://schemas.microsoft.com/office/powerpoint/2010/main" val="2983473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first component arises from with-subject</a:t>
                </a:r>
                <a:r>
                  <a:rPr lang="en-US" dirty="0"/>
                  <a:t/>
                </a:r>
                <a:r>
                  <a:rPr lang="en-US" dirty="0" smtClean="0"/>
                  <a:t>variability (measurement error); the second component arises from between-subject variability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Both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dirty="0" smtClean="0"/>
                  <a:t> can be estimated from </a:t>
                </a:r>
                <a:r>
                  <a:rPr lang="en-US" u="sng" dirty="0" smtClean="0"/>
                  <a:t>pilot data using a mixed model with a random slope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: residual variance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dirty="0" smtClean="0"/>
                  <a:t>: variance of random slope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27</a:t>
            </a:r>
          </a:p>
        </p:txBody>
      </p:sp>
    </p:spTree>
    <p:extLst>
      <p:ext uri="{BB962C8B-B14F-4D97-AF65-F5344CB8AC3E}">
        <p14:creationId xmlns:p14="http://schemas.microsoft.com/office/powerpoint/2010/main" val="2612394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Example</a:t>
            </a:r>
            <a:r>
              <a:rPr lang="en-US" dirty="0"/>
              <a:t>: </a:t>
            </a:r>
            <a:r>
              <a:rPr lang="en-US" dirty="0" smtClean="0"/>
              <a:t>Suppose we want to plan another trial similar to the </a:t>
            </a:r>
            <a:r>
              <a:rPr lang="en-US" u="sng" dirty="0" smtClean="0"/>
              <a:t>Exercise </a:t>
            </a:r>
            <a:r>
              <a:rPr lang="en-US" u="sng" dirty="0"/>
              <a:t>Therapy Trial</a:t>
            </a:r>
            <a:r>
              <a:rPr lang="en-US" dirty="0"/>
              <a:t/>
            </a:r>
            <a:r>
              <a:rPr lang="en-US" dirty="0" smtClean="0"/>
              <a:t>studied in Lecture 10.</a:t>
            </a:r>
          </a:p>
          <a:p>
            <a:r>
              <a:rPr lang="en-US" dirty="0" smtClean="0"/>
              <a:t>Recall that we obtained the following estimates for the covariance parameters based on a linear-trend mixed effects model: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 rotWithShape="1">
          <a:blip r:embed="rId2"/>
          <a:srcRect t="40030"/>
          <a:stretch/>
        </p:blipFill>
        <p:spPr>
          <a:xfrm>
            <a:off x="3149594" y="3668822"/>
            <a:ext cx="3766594" cy="25081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52407" y="5328458"/>
            <a:ext cx="972589" cy="3408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52406" y="5730824"/>
            <a:ext cx="972589" cy="3408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724995" y="5498869"/>
            <a:ext cx="1321725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7993864" y="5257475"/>
                <a:ext cx="5758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864" y="5257475"/>
                <a:ext cx="575863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6728457" y="5892121"/>
            <a:ext cx="1318263" cy="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8035253" y="5702314"/>
                <a:ext cx="4930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253" y="5702314"/>
                <a:ext cx="4930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1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27</a:t>
            </a:r>
          </a:p>
        </p:txBody>
      </p:sp>
    </p:spTree>
    <p:extLst>
      <p:ext uri="{BB962C8B-B14F-4D97-AF65-F5344CB8AC3E}">
        <p14:creationId xmlns:p14="http://schemas.microsoft.com/office/powerpoint/2010/main" val="1121097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81" y="1825625"/>
            <a:ext cx="8724900" cy="314325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27</a:t>
            </a:r>
          </a:p>
        </p:txBody>
      </p:sp>
    </p:spTree>
    <p:extLst>
      <p:ext uri="{BB962C8B-B14F-4D97-AF65-F5344CB8AC3E}">
        <p14:creationId xmlns:p14="http://schemas.microsoft.com/office/powerpoint/2010/main" val="645840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Given estimates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dirty="0"/>
                  <a:t>, the between-subject variability in slopes, </a:t>
                </a:r>
                <a:r>
                  <a:rPr lang="en-US" dirty="0" smtClean="0"/>
                  <a:t>and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, the </a:t>
                </a:r>
                <a:r>
                  <a:rPr lang="en-US" dirty="0"/>
                  <a:t>within-subject variability, the sample size can be determined </a:t>
                </a:r>
                <a:r>
                  <a:rPr lang="en-US" dirty="0" smtClean="0"/>
                  <a:t>from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972" y="2912657"/>
            <a:ext cx="3699857" cy="7576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452" y="4001294"/>
            <a:ext cx="6814333" cy="1667986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27</a:t>
            </a:r>
          </a:p>
        </p:txBody>
      </p:sp>
    </p:spTree>
    <p:extLst>
      <p:ext uri="{BB962C8B-B14F-4D97-AF65-F5344CB8AC3E}">
        <p14:creationId xmlns:p14="http://schemas.microsoft.com/office/powerpoint/2010/main" val="55786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/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/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44" y="1825625"/>
            <a:ext cx="9794121" cy="14712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44" y="3644005"/>
            <a:ext cx="9421672" cy="1925522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27</a:t>
            </a:r>
          </a:p>
        </p:txBody>
      </p:sp>
    </p:spTree>
    <p:extLst>
      <p:ext uri="{BB962C8B-B14F-4D97-AF65-F5344CB8AC3E}">
        <p14:creationId xmlns:p14="http://schemas.microsoft.com/office/powerpoint/2010/main" val="1768033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Sample Size for Longitudinal Response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Therefore, to calculate sample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 smtClean="0"/>
                  <a:t> in each arm for a future longitudinal study, the investigator needs to supply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Significance level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;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Power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;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Effect size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 smtClean="0"/>
                  <a:t> (difference in change rate); 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0" dirty="0" smtClean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(with-subject residual variance);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dirty="0" smtClean="0"/>
                  <a:t> (between-subject variance in change rate);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Planned measurement occasions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Items 4 and 6 are usually estimated from historical data (pilot studies).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27</a:t>
            </a:r>
          </a:p>
        </p:txBody>
      </p:sp>
    </p:spTree>
    <p:extLst>
      <p:ext uri="{BB962C8B-B14F-4D97-AF65-F5344CB8AC3E}">
        <p14:creationId xmlns:p14="http://schemas.microsoft.com/office/powerpoint/2010/main" val="4095546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 Toy Example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Interested </a:t>
                </a:r>
                <a:r>
                  <a:rPr lang="en-US" dirty="0"/>
                  <a:t>in comparing two treatments (or exposures), denoted A and </a:t>
                </a:r>
                <a:r>
                  <a:rPr lang="en-US" dirty="0" smtClean="0"/>
                  <a:t>B. Plan </a:t>
                </a:r>
                <a:r>
                  <a:rPr lang="en-US" dirty="0"/>
                  <a:t>to randomize an equal number of subjects, say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to two </a:t>
                </a:r>
                <a:r>
                  <a:rPr lang="en-US" dirty="0" smtClean="0"/>
                  <a:t>group.</a:t>
                </a:r>
              </a:p>
              <a:p>
                <a:r>
                  <a:rPr lang="en-US" dirty="0" smtClean="0"/>
                  <a:t>Plan </a:t>
                </a:r>
                <a:r>
                  <a:rPr lang="en-US" dirty="0"/>
                  <a:t>to take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5 </m:t>
                    </m:r>
                  </m:oMath>
                </a14:m>
                <a:r>
                  <a:rPr lang="en-US" dirty="0"/>
                  <a:t>repeated measurements of the response; 1 at month </a:t>
                </a:r>
                <a:r>
                  <a:rPr lang="en-US" dirty="0" smtClean="0"/>
                  <a:t>0, remainder </a:t>
                </a:r>
                <a:r>
                  <a:rPr lang="en-US" dirty="0"/>
                  <a:t>at 6-month intervals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2 </m:t>
                    </m:r>
                  </m:oMath>
                </a14:m>
                <a:r>
                  <a:rPr lang="en-US" dirty="0"/>
                  <a:t>years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Assume linear </a:t>
                </a:r>
                <a:r>
                  <a:rPr lang="en-US" dirty="0"/>
                  <a:t>trends and define effect of interest </a:t>
                </a:r>
                <a:r>
                  <a:rPr lang="en-US" dirty="0" smtClean="0"/>
                  <a:t>as difference </a:t>
                </a:r>
                <a:r>
                  <a:rPr lang="en-US" dirty="0"/>
                  <a:t>in </a:t>
                </a:r>
                <a:r>
                  <a:rPr lang="en-US" dirty="0" smtClean="0"/>
                  <a:t>slope </a:t>
                </a:r>
                <a:r>
                  <a:rPr lang="en-US" dirty="0"/>
                  <a:t>or </a:t>
                </a:r>
                <a:r>
                  <a:rPr lang="en-US" dirty="0" smtClean="0"/>
                  <a:t>rate </a:t>
                </a:r>
                <a:r>
                  <a:rPr lang="en-US" dirty="0"/>
                  <a:t>of change, say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Suppose </a:t>
                </a:r>
                <a:r>
                  <a:rPr lang="en-US" dirty="0"/>
                  <a:t>investigators want to detect minimum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1.2 </m:t>
                    </m:r>
                  </m:oMath>
                </a14:m>
                <a:r>
                  <a:rPr lang="en-US" dirty="0"/>
                  <a:t>(e.g., difference </a:t>
                </a:r>
                <a:r>
                  <a:rPr lang="en-US" dirty="0" smtClean="0"/>
                  <a:t>in the </a:t>
                </a:r>
                <a:r>
                  <a:rPr lang="en-US" dirty="0"/>
                  <a:t>annual rates of change in the two groups of no less than 1.2).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27</a:t>
            </a:r>
          </a:p>
        </p:txBody>
      </p:sp>
    </p:spTree>
    <p:extLst>
      <p:ext uri="{BB962C8B-B14F-4D97-AF65-F5344CB8AC3E}">
        <p14:creationId xmlns:p14="http://schemas.microsoft.com/office/powerpoint/2010/main" val="4033103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 Toy Example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825625"/>
            <a:ext cx="9051640" cy="468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23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 Toy Example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Therefore,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sample size needed in each group is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Thus, to ensure power of at least 90</a:t>
            </a:r>
            <a:r>
              <a:rPr lang="en-US" dirty="0" smtClean="0"/>
              <a:t>%, </a:t>
            </a:r>
            <a:r>
              <a:rPr lang="en-US" dirty="0"/>
              <a:t>investigators will need to enroll </a:t>
            </a:r>
            <a:r>
              <a:rPr lang="en-US" dirty="0" smtClean="0"/>
              <a:t>a</a:t>
            </a:r>
            <a:r>
              <a:rPr lang="en-US" dirty="0"/>
              <a:t/>
            </a:r>
            <a:r>
              <a:rPr lang="en-US" dirty="0" smtClean="0"/>
              <a:t>total </a:t>
            </a:r>
            <a:r>
              <a:rPr lang="en-US" dirty="0"/>
              <a:t>of 142 subjects, randomizing an equal number (71) to each group.</a:t>
            </a:r>
            <a:r>
              <a:rPr lang="en-US" dirty="0"/>
              <a:t/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040" y="2009428"/>
            <a:ext cx="6305550" cy="1276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181" y="3788395"/>
            <a:ext cx="8048625" cy="94297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27</a:t>
            </a:r>
          </a:p>
        </p:txBody>
      </p:sp>
    </p:spTree>
    <p:extLst>
      <p:ext uri="{BB962C8B-B14F-4D97-AF65-F5344CB8AC3E}">
        <p14:creationId xmlns:p14="http://schemas.microsoft.com/office/powerpoint/2010/main" val="1939175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 Toy Example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To compute power based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 smtClean="0"/>
                  <a:t>, invert the sample size formula to obtain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e>
                              </m:ra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 smtClean="0"/>
                  <a:t> is the cumulative distribution function of the standard         normal.</a:t>
                </a:r>
              </a:p>
              <a:p>
                <a:r>
                  <a:rPr lang="en-US" u="sng" dirty="0" smtClean="0"/>
                  <a:t>Exercise</a:t>
                </a:r>
                <a:r>
                  <a:rPr lang="en-US" dirty="0" smtClean="0"/>
                  <a:t>: Suppose the number of subjects per group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=71</m:t>
                    </m:r>
                  </m:oMath>
                </a14:m>
                <a:r>
                  <a:rPr lang="en-US" dirty="0" smtClean="0"/>
                  <a:t>) is fixed. But now we take measurements </a:t>
                </a:r>
                <a:r>
                  <a:rPr lang="en-US" u="sng" dirty="0" smtClean="0"/>
                  <a:t>quarterly</a:t>
                </a:r>
                <a:r>
                  <a:rPr lang="en-US" dirty="0" smtClean="0"/>
                  <a:t> instead of bi-annually. What is the minimum </a:t>
                </a:r>
                <a:r>
                  <a:rPr lang="en-US" u="sng" dirty="0" smtClean="0"/>
                  <a:t>length of follow-up</a:t>
                </a:r>
                <a:r>
                  <a:rPr lang="en-US" dirty="0" smtClean="0"/>
                  <a:t> (equivalently, number of measurements) needed to achieve the same level of power (90%)? What is the actual power achieved by that </a:t>
                </a:r>
                <a:r>
                  <a:rPr lang="en-US" dirty="0"/>
                  <a:t>length of </a:t>
                </a:r>
                <a:r>
                  <a:rPr lang="en-US" dirty="0" smtClean="0"/>
                  <a:t>follow-up?</a:t>
                </a: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1797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27</a:t>
            </a:r>
          </a:p>
        </p:txBody>
      </p:sp>
    </p:spTree>
    <p:extLst>
      <p:ext uri="{BB962C8B-B14F-4D97-AF65-F5344CB8AC3E}">
        <p14:creationId xmlns:p14="http://schemas.microsoft.com/office/powerpoint/2010/main" val="801601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HW3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(Due Mar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27)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8.1 of FLW</a:t>
            </a:r>
          </a:p>
          <a:p>
            <a:r>
              <a:rPr lang="en-US" dirty="0" smtClean="0"/>
              <a:t>Exercise in Lecture 12.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12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27</a:t>
            </a:r>
          </a:p>
        </p:txBody>
      </p:sp>
    </p:spTree>
    <p:extLst>
      <p:ext uri="{BB962C8B-B14F-4D97-AF65-F5344CB8AC3E}">
        <p14:creationId xmlns:p14="http://schemas.microsoft.com/office/powerpoint/2010/main" val="725208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57990</TotalTime>
  <Words>741</Words>
  <Application>Microsoft Office PowerPoint</Application>
  <PresentationFormat>Widescreen</PresentationFormat>
  <Paragraphs>140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Sample Size and Power</vt:lpstr>
      <vt:lpstr>Sample Size and Power</vt:lpstr>
      <vt:lpstr>Sample Size for a Univariate Response</vt:lpstr>
      <vt:lpstr>Type I and Type II Errors</vt:lpstr>
      <vt:lpstr>Two-Group Sample Size Formula</vt:lpstr>
      <vt:lpstr>Two-Group Sample Size Formula</vt:lpstr>
      <vt:lpstr>Two-Group Sample Size Formula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Sample Size for Longitudinal Response </vt:lpstr>
      <vt:lpstr>A Toy Example</vt:lpstr>
      <vt:lpstr>A Toy Example</vt:lpstr>
      <vt:lpstr>A Toy Example</vt:lpstr>
      <vt:lpstr>A Toy Example</vt:lpstr>
      <vt:lpstr>HW3 (Due Mar 27)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856</cp:revision>
  <dcterms:created xsi:type="dcterms:W3CDTF">2019-01-16T21:45:55Z</dcterms:created>
  <dcterms:modified xsi:type="dcterms:W3CDTF">2019-03-31T18:38:22Z</dcterms:modified>
</cp:coreProperties>
</file>