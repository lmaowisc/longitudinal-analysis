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6" r:id="rId21"/>
    <p:sldId id="275" r:id="rId22"/>
    <p:sldId id="277" r:id="rId23"/>
    <p:sldId id="279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0DF78-0DB3-4121-89E3-0DCD7BDC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B445F-B034-414F-9D33-D6C42026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Analysis of Response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945D8-1DF1-4157-B8EE-063492B1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472E6-F701-4B6B-A0BF-9D5FE71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87D93-7E48-414B-B8B0-3803DF7F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6C5B5-CE22-435D-8244-368251B5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204211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Mean response profiles and covariance models</a:t>
            </a:r>
            <a:r>
              <a:rPr lang="en-US" sz="2600" u="sng" dirty="0" smtClean="0"/>
              <a:t/>
            </a:r>
            <a:r>
              <a:rPr lang="en-US" sz="2600" dirty="0" smtClean="0"/>
              <a:t/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u="sng" dirty="0" smtClean="0"/>
              <a:t>Tests of group, time, and group-by-time effects</a:t>
            </a:r>
            <a:r>
              <a:rPr lang="en-US" sz="2600" u="sng" dirty="0"/>
              <a:t/>
            </a:r>
            <a:r>
              <a:rPr lang="en-US" sz="2600" dirty="0"/>
              <a:t/>
            </a:r>
            <a:endParaRPr lang="en-US" sz="2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Analysis of the TLC trial using PROC MIXED</a:t>
            </a:r>
            <a:r>
              <a:rPr lang="en-US" sz="2600" u="sng" dirty="0" smtClean="0"/>
              <a:t/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24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Modeling of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Two aspects to longitudinal data need to be modelled: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u="sng" dirty="0" smtClean="0"/>
              <a:t>Mean response over time</a:t>
            </a:r>
            <a:r>
              <a:rPr lang="en-US" dirty="0" smtClean="0"/>
              <a:t> (of primary interest)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u="sng" dirty="0" smtClean="0"/>
              <a:t>Covariance among repeated measures </a:t>
            </a:r>
          </a:p>
          <a:p>
            <a:r>
              <a:rPr lang="en-US" dirty="0" smtClean="0"/>
              <a:t>For now, we consider models that jointly </a:t>
            </a:r>
            <a:r>
              <a:rPr lang="en-US" dirty="0"/>
              <a:t>specify models for the </a:t>
            </a:r>
            <a:r>
              <a:rPr lang="en-US" u="sng" dirty="0"/>
              <a:t>mean </a:t>
            </a:r>
            <a:r>
              <a:rPr lang="en-US" u="sng" dirty="0" smtClean="0"/>
              <a:t>and covariance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Later on, we will consider approaches that focus only on the mean model without specifying a covariance model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24</a:t>
            </a:r>
          </a:p>
        </p:txBody>
      </p:sp>
    </p:spTree>
    <p:extLst>
      <p:ext uri="{BB962C8B-B14F-4D97-AF65-F5344CB8AC3E}">
        <p14:creationId xmlns:p14="http://schemas.microsoft.com/office/powerpoint/2010/main" val="284154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Modeling of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lnSpcReduction="10000"/>
          </a:bodyPr>
          <a:lstStyle/>
          <a:p>
            <a:r>
              <a:rPr lang="en-US" u="sng" dirty="0" smtClean="0"/>
              <a:t>Mean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Analysis </a:t>
            </a:r>
            <a:r>
              <a:rPr lang="en-US" dirty="0"/>
              <a:t>of response </a:t>
            </a:r>
            <a:r>
              <a:rPr lang="en-US" dirty="0" smtClean="0"/>
              <a:t>profiles (saturated model)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Parametric </a:t>
            </a:r>
            <a:r>
              <a:rPr lang="en-US" dirty="0"/>
              <a:t>or semi-parametric curves 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u="sng" dirty="0" smtClean="0"/>
              <a:t>Covariance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Unstructured or </a:t>
            </a:r>
            <a:r>
              <a:rPr lang="en-US" dirty="0"/>
              <a:t>arbitrary pattern of </a:t>
            </a:r>
            <a:r>
              <a:rPr lang="en-US" dirty="0" smtClean="0"/>
              <a:t>covariance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</a:t>
            </a:r>
            <a:r>
              <a:rPr lang="en-US" dirty="0" smtClean="0"/>
              <a:t>ovariance </a:t>
            </a:r>
            <a:r>
              <a:rPr lang="en-US" dirty="0"/>
              <a:t>pattern </a:t>
            </a:r>
            <a:r>
              <a:rPr lang="en-US" dirty="0" smtClean="0"/>
              <a:t>models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</a:t>
            </a:r>
            <a:r>
              <a:rPr lang="en-US" dirty="0" smtClean="0"/>
              <a:t>andom </a:t>
            </a:r>
            <a:r>
              <a:rPr lang="en-US" dirty="0"/>
              <a:t>effects covariance structure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24</a:t>
            </a:r>
          </a:p>
        </p:txBody>
      </p:sp>
    </p:spTree>
    <p:extLst>
      <p:ext uri="{BB962C8B-B14F-4D97-AF65-F5344CB8AC3E}">
        <p14:creationId xmlns:p14="http://schemas.microsoft.com/office/powerpoint/2010/main" val="339573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Analysis of Response Profiles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u="sng" dirty="0" smtClean="0"/>
              <a:t>Response profile</a:t>
            </a:r>
            <a:r>
              <a:rPr lang="en-US" dirty="0" smtClean="0"/>
              <a:t>: the sequence of responses over time</a:t>
            </a:r>
          </a:p>
          <a:p>
            <a:r>
              <a:rPr lang="en-US" dirty="0"/>
              <a:t>Compare groups of subjects in terms of </a:t>
            </a:r>
            <a:r>
              <a:rPr lang="en-US" u="sng" dirty="0"/>
              <a:t>mean response </a:t>
            </a:r>
            <a:r>
              <a:rPr lang="en-US" u="sng" dirty="0" smtClean="0"/>
              <a:t>profiles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Useful for balanced longitudinal designs and when there is a </a:t>
            </a:r>
            <a:r>
              <a:rPr lang="en-US" dirty="0" smtClean="0"/>
              <a:t>single categorical </a:t>
            </a:r>
            <a:r>
              <a:rPr lang="en-US" dirty="0"/>
              <a:t>covariate </a:t>
            </a:r>
            <a:r>
              <a:rPr lang="en-US" dirty="0" smtClean="0"/>
              <a:t>(for treatment </a:t>
            </a:r>
            <a:r>
              <a:rPr lang="en-US" dirty="0"/>
              <a:t>or </a:t>
            </a:r>
            <a:r>
              <a:rPr lang="en-US" dirty="0" smtClean="0"/>
              <a:t>exposure groups</a:t>
            </a:r>
            <a:r>
              <a:rPr lang="en-US" dirty="0"/>
              <a:t>).</a:t>
            </a:r>
          </a:p>
          <a:p>
            <a:r>
              <a:rPr lang="en-US" dirty="0"/>
              <a:t>Analysis of response profiles can be extended to handle more than a </a:t>
            </a:r>
            <a:r>
              <a:rPr lang="en-US" dirty="0" smtClean="0"/>
              <a:t>single group </a:t>
            </a:r>
            <a:r>
              <a:rPr lang="en-US" dirty="0"/>
              <a:t>factor.</a:t>
            </a:r>
          </a:p>
          <a:p>
            <a:r>
              <a:rPr lang="en-US" dirty="0"/>
              <a:t>Analysis of response profiles can also handle missing </a:t>
            </a:r>
            <a:r>
              <a:rPr lang="en-US" dirty="0" smtClean="0"/>
              <a:t>response data.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24</a:t>
            </a:r>
          </a:p>
        </p:txBody>
      </p:sp>
    </p:spTree>
    <p:extLst>
      <p:ext uri="{BB962C8B-B14F-4D97-AF65-F5344CB8AC3E}">
        <p14:creationId xmlns:p14="http://schemas.microsoft.com/office/powerpoint/2010/main" val="68741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the TLC Trial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704" y="1174826"/>
            <a:ext cx="6202816" cy="5297684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24</a:t>
            </a:r>
          </a:p>
        </p:txBody>
      </p:sp>
    </p:spTree>
    <p:extLst>
      <p:ext uri="{BB962C8B-B14F-4D97-AF65-F5344CB8AC3E}">
        <p14:creationId xmlns:p14="http://schemas.microsoft.com/office/powerpoint/2010/main" val="20749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Analysis of Response Profiles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u="sng" dirty="0" smtClean="0"/>
              <a:t>Three main questions </a:t>
            </a:r>
            <a:r>
              <a:rPr lang="en-US" dirty="0" smtClean="0"/>
              <a:t>concerning response profiles: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Are the mean response profiles similar </a:t>
            </a:r>
            <a:r>
              <a:rPr lang="en-US" dirty="0" smtClean="0"/>
              <a:t>in shape between </a:t>
            </a:r>
            <a:r>
              <a:rPr lang="en-US" dirty="0"/>
              <a:t>the groups, in the sense </a:t>
            </a:r>
            <a:r>
              <a:rPr lang="en-US" dirty="0" smtClean="0"/>
              <a:t>that the </a:t>
            </a:r>
            <a:r>
              <a:rPr lang="en-US" dirty="0"/>
              <a:t>mean response profiles are parallel?</a:t>
            </a:r>
            <a:br>
              <a:rPr lang="en-US" dirty="0"/>
            </a:br>
            <a:r>
              <a:rPr lang="en-US" dirty="0"/>
              <a:t>This is a question that concerns the </a:t>
            </a:r>
            <a:r>
              <a:rPr lang="en-US" i="1" u="sng" dirty="0"/>
              <a:t>group × time interaction </a:t>
            </a:r>
            <a:r>
              <a:rPr lang="en-US" i="1" u="sng" dirty="0" smtClean="0"/>
              <a:t>effect</a:t>
            </a:r>
            <a:r>
              <a:rPr lang="en-US" dirty="0"/>
              <a:t>;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Assuming mean response profiles are parallel, are the means constant</a:t>
            </a:r>
            <a:br>
              <a:rPr lang="en-US" dirty="0"/>
            </a:br>
            <a:r>
              <a:rPr lang="en-US" dirty="0"/>
              <a:t>over time, in the sense that the mean response profiles are flat?</a:t>
            </a:r>
            <a:br>
              <a:rPr lang="en-US" dirty="0"/>
            </a:br>
            <a:r>
              <a:rPr lang="en-US" dirty="0"/>
              <a:t>This is a question that concerns the </a:t>
            </a:r>
            <a:r>
              <a:rPr lang="en-US" i="1" u="sng" dirty="0"/>
              <a:t>time effect</a:t>
            </a:r>
            <a:r>
              <a:rPr lang="en-US" dirty="0"/>
              <a:t>. 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Assuming </a:t>
            </a:r>
            <a:r>
              <a:rPr lang="en-US" dirty="0" smtClean="0"/>
              <a:t>mean </a:t>
            </a:r>
            <a:r>
              <a:rPr lang="en-US" dirty="0"/>
              <a:t>response profiles are parallel, </a:t>
            </a:r>
            <a:r>
              <a:rPr lang="en-US" dirty="0" smtClean="0"/>
              <a:t>are they </a:t>
            </a:r>
            <a:r>
              <a:rPr lang="en-US" dirty="0"/>
              <a:t>also at the same level in the sense that the mean response profiles</a:t>
            </a:r>
            <a:br>
              <a:rPr lang="en-US" dirty="0"/>
            </a:br>
            <a:r>
              <a:rPr lang="en-US" dirty="0"/>
              <a:t>for the groups coincide?</a:t>
            </a:r>
            <a:br>
              <a:rPr lang="en-US" dirty="0"/>
            </a:br>
            <a:r>
              <a:rPr lang="en-US" dirty="0"/>
              <a:t>This is a questions that concerns the </a:t>
            </a:r>
            <a:r>
              <a:rPr lang="en-US" i="1" u="sng" dirty="0"/>
              <a:t>group effect</a:t>
            </a:r>
            <a:r>
              <a:rPr lang="en-US" dirty="0"/>
              <a:t>;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24</a:t>
            </a:r>
          </a:p>
        </p:txBody>
      </p:sp>
    </p:spTree>
    <p:extLst>
      <p:ext uri="{BB962C8B-B14F-4D97-AF65-F5344CB8AC3E}">
        <p14:creationId xmlns:p14="http://schemas.microsoft.com/office/powerpoint/2010/main" val="322568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Analysis of Response Profiles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920" y="1203825"/>
            <a:ext cx="5292886" cy="5654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9806" y="1722588"/>
            <a:ext cx="396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/>
              <a:t>Three hypotheses</a:t>
            </a:r>
            <a:r>
              <a:rPr lang="en-US" sz="2400" dirty="0" smtClean="0"/>
              <a:t>:</a:t>
            </a:r>
          </a:p>
          <a:p>
            <a:pPr marL="342900" indent="-342900">
              <a:buAutoNum type="alphaLcParenBoth"/>
            </a:pPr>
            <a:r>
              <a:rPr lang="en-US" sz="2400" dirty="0" smtClean="0"/>
              <a:t>No </a:t>
            </a:r>
            <a:r>
              <a:rPr lang="en-US" sz="2400" dirty="0"/>
              <a:t>group </a:t>
            </a:r>
            <a:r>
              <a:rPr lang="en-US" sz="2400" i="1" dirty="0"/>
              <a:t>× </a:t>
            </a:r>
            <a:r>
              <a:rPr lang="en-US" sz="2400" dirty="0"/>
              <a:t>time</a:t>
            </a:r>
            <a:r>
              <a:rPr lang="en-US" sz="2400" dirty="0" smtClean="0"/>
              <a:t> interaction</a:t>
            </a:r>
          </a:p>
          <a:p>
            <a:pPr marL="342900" indent="-342900">
              <a:buAutoNum type="alphaLcParenBoth"/>
            </a:pPr>
            <a:r>
              <a:rPr lang="en-US" sz="2400" dirty="0" smtClean="0"/>
              <a:t>No time effect</a:t>
            </a:r>
          </a:p>
          <a:p>
            <a:pPr marL="342900" indent="-342900">
              <a:buAutoNum type="alphaLcParenBoth"/>
            </a:pPr>
            <a:r>
              <a:rPr lang="en-US" sz="2400" dirty="0" smtClean="0"/>
              <a:t>No group effect</a:t>
            </a:r>
          </a:p>
          <a:p>
            <a:pPr marL="342900" indent="-342900">
              <a:buAutoNum type="alphaLcParenBoth"/>
            </a:pPr>
            <a:endParaRPr lang="en-US" sz="2400" dirty="0"/>
          </a:p>
          <a:p>
            <a:r>
              <a:rPr lang="en-US" sz="2400" dirty="0" smtClean="0"/>
              <a:t>For most studies, main interest lies in (a).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067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Analysis of Response Profiles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Mean response profile over time in two groups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4525"/>
            <a:ext cx="9626303" cy="2893151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24</a:t>
            </a:r>
          </a:p>
        </p:txBody>
      </p:sp>
    </p:spTree>
    <p:extLst>
      <p:ext uri="{BB962C8B-B14F-4D97-AF65-F5344CB8AC3E}">
        <p14:creationId xmlns:p14="http://schemas.microsoft.com/office/powerpoint/2010/main" val="57886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Analysis of Response Profiles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Consider the </a:t>
                </a:r>
                <a:r>
                  <a:rPr lang="en-US" dirty="0"/>
                  <a:t>differences between the group means at each occasion.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i="1" dirty="0"/>
              </a:p>
              <a:p>
                <a:r>
                  <a:rPr lang="en-US" dirty="0" smtClean="0"/>
                  <a:t>The </a:t>
                </a:r>
                <a:r>
                  <a:rPr lang="en-US" u="sng" dirty="0"/>
                  <a:t>first hypothesis</a:t>
                </a:r>
                <a:r>
                  <a:rPr lang="en-US" dirty="0"/>
                  <a:t> in an analysis of response profiles can be expressed as:</a:t>
                </a:r>
                <a:br>
                  <a:rPr lang="en-US" dirty="0"/>
                </a:br>
                <a:r>
                  <a:rPr lang="en-US" dirty="0"/>
                  <a:t>No </a:t>
                </a:r>
                <a:r>
                  <a:rPr lang="en-US" i="1" dirty="0"/>
                  <a:t>group × time interaction effect</a:t>
                </a:r>
                <a:r>
                  <a:rPr lang="en-US" dirty="0" smtClean="0"/>
                  <a:t>:</a:t>
                </a:r>
                <a:r>
                  <a:rPr lang="en-US" i="1" dirty="0"/>
                  <a:t/>
                </a:r>
                <a:br>
                  <a:rPr lang="en-US" i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=⋯=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 smtClean="0"/>
              </a:p>
              <a:p>
                <a:r>
                  <a:rPr lang="en-US" dirty="0" smtClean="0"/>
                  <a:t>With </a:t>
                </a:r>
                <a:r>
                  <a:rPr lang="en-US" dirty="0"/>
                  <a:t>only 2 groups, the test of the null hypothesis of no group </a:t>
                </a:r>
                <a:r>
                  <a:rPr lang="en-US" i="1" dirty="0"/>
                  <a:t>× </a:t>
                </a:r>
                <a:r>
                  <a:rPr lang="en-US" dirty="0"/>
                  <a:t>time</a:t>
                </a:r>
                <a:br>
                  <a:rPr lang="en-US" dirty="0"/>
                </a:br>
                <a:r>
                  <a:rPr lang="en-US" dirty="0"/>
                  <a:t>interaction effect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− 1) </m:t>
                    </m:r>
                  </m:oMath>
                </a14:m>
                <a:r>
                  <a:rPr lang="en-US" dirty="0"/>
                  <a:t>degrees of freedom.</a:t>
                </a:r>
                <a:br>
                  <a:rPr lang="en-US" dirty="0"/>
                </a:br>
                <a:endParaRPr lang="en-US" dirty="0" smtClean="0"/>
              </a:p>
              <a:p>
                <a:r>
                  <a:rPr lang="en-US" u="sng" dirty="0" smtClean="0"/>
                  <a:t>Note</a:t>
                </a:r>
                <a:r>
                  <a:rPr lang="en-US" dirty="0"/>
                  <a:t>: Rejection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no </a:t>
                </a:r>
                <a:r>
                  <a:rPr lang="en-US" i="1" dirty="0"/>
                  <a:t>group × time interaction</a:t>
                </a:r>
                <a:r>
                  <a:rPr lang="en-US" dirty="0"/>
                  <a:t>, indicates groups differ</a:t>
                </a:r>
                <a:br>
                  <a:rPr lang="en-US" dirty="0"/>
                </a:br>
                <a:r>
                  <a:rPr lang="en-US" dirty="0"/>
                  <a:t>in their patterns of change over time, but does not indicate how they differ.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928" t="-319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406810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Analysis of Response Profiles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Mean response profile over time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groups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29" y="2467742"/>
            <a:ext cx="9594396" cy="3750859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76371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Analysis of Response Profiles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the number of groups,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 smtClean="0"/>
                  <a:t>. Define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−1.</m:t>
                      </m:r>
                    </m:oMath>
                  </m:oMathPara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i="1" dirty="0" smtClean="0"/>
              </a:p>
              <a:p>
                <a:r>
                  <a:rPr lang="en-US" dirty="0" smtClean="0"/>
                  <a:t>The</a:t>
                </a:r>
                <a:r>
                  <a:rPr lang="en-US" i="1" dirty="0" smtClean="0"/>
                  <a:t/>
                </a:r>
                <a:r>
                  <a:rPr lang="en-US" dirty="0"/>
                  <a:t>n</a:t>
                </a:r>
                <a:r>
                  <a:rPr lang="en-US" dirty="0" smtClean="0"/>
                  <a:t>ull </a:t>
                </a:r>
                <a:r>
                  <a:rPr lang="en-US" dirty="0"/>
                  <a:t>hypothesis of no group </a:t>
                </a:r>
                <a:r>
                  <a:rPr lang="en-US" i="1" dirty="0"/>
                  <a:t>× </a:t>
                </a:r>
                <a:r>
                  <a:rPr lang="en-US" dirty="0"/>
                  <a:t>time </a:t>
                </a:r>
                <a:r>
                  <a:rPr lang="en-US" dirty="0" smtClean="0"/>
                  <a:t>interaction effect </a:t>
                </a:r>
                <a:r>
                  <a:rPr lang="en-US" dirty="0"/>
                  <a:t>can be expressed as</a:t>
                </a:r>
                <a:r>
                  <a:rPr lang="en-US" dirty="0" smtClean="0"/>
                  <a:t>: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−1.</m:t>
                    </m:r>
                  </m:oMath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 smtClean="0"/>
              </a:p>
              <a:p>
                <a:r>
                  <a:rPr lang="en-US" dirty="0" smtClean="0"/>
                  <a:t>Therefore, the </a:t>
                </a:r>
                <a:r>
                  <a:rPr lang="en-US" dirty="0"/>
                  <a:t>null hypothesis of no group </a:t>
                </a:r>
                <a:r>
                  <a:rPr lang="en-US" i="1" dirty="0"/>
                  <a:t>× </a:t>
                </a:r>
                <a:r>
                  <a:rPr lang="en-US" dirty="0"/>
                  <a:t>time interaction</a:t>
                </a:r>
                <a:br>
                  <a:rPr lang="en-US" dirty="0"/>
                </a:br>
                <a:r>
                  <a:rPr lang="en-US" dirty="0"/>
                  <a:t>effect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− 1) ×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− 1) </m:t>
                    </m:r>
                  </m:oMath>
                </a14:m>
                <a:r>
                  <a:rPr lang="en-US" dirty="0"/>
                  <a:t>degrees of </a:t>
                </a:r>
                <a:r>
                  <a:rPr lang="en-US" dirty="0" smtClean="0"/>
                  <a:t>freedom (why?). 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216992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Remark on Baseline Response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/>
              <a:t>Baseline </a:t>
            </a:r>
            <a:r>
              <a:rPr lang="en-US" dirty="0" smtClean="0"/>
              <a:t>response is treated the same as follow-up (post-randomization) responses.</a:t>
            </a:r>
            <a:endParaRPr lang="en-US" dirty="0"/>
          </a:p>
          <a:p>
            <a:r>
              <a:rPr lang="en-US" dirty="0" smtClean="0"/>
              <a:t>Alternative methods to adjust for baseline conditions:</a:t>
            </a:r>
          </a:p>
          <a:p>
            <a:pPr marL="914400" lvl="1" indent="-457200">
              <a:buAutoNum type="arabicPeriod"/>
            </a:pPr>
            <a:r>
              <a:rPr lang="en-US" dirty="0" smtClean="0"/>
              <a:t>Subtract </a:t>
            </a:r>
            <a:r>
              <a:rPr lang="en-US" dirty="0"/>
              <a:t>baseline from each subsequent observation and analyze</a:t>
            </a:r>
            <a:br>
              <a:rPr lang="en-US" dirty="0"/>
            </a:br>
            <a:r>
              <a:rPr lang="en-US" dirty="0" smtClean="0"/>
              <a:t>differences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baseline as a </a:t>
            </a:r>
            <a:r>
              <a:rPr lang="en-US" dirty="0" smtClean="0"/>
              <a:t>covariate</a:t>
            </a:r>
          </a:p>
          <a:p>
            <a:r>
              <a:rPr lang="en-US" dirty="0" smtClean="0"/>
              <a:t>These methods may be more intuitive, and occasionally more efficient, but they do not work well under missing baseline response.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318965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Typically, unstructured covariance is used.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16" y="2474246"/>
            <a:ext cx="8379415" cy="293241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409129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Analysis of Response Profiles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/>
              <a:t>In summary, analysis of response profiles can be specified as </a:t>
            </a:r>
            <a:r>
              <a:rPr lang="en-US" u="sng" dirty="0"/>
              <a:t>a </a:t>
            </a:r>
            <a:r>
              <a:rPr lang="en-US" u="sng" dirty="0" smtClean="0"/>
              <a:t>regression model </a:t>
            </a:r>
            <a:r>
              <a:rPr lang="en-US" u="sng" dirty="0"/>
              <a:t>with </a:t>
            </a:r>
            <a:r>
              <a:rPr lang="en-US" u="sng" dirty="0" smtClean="0"/>
              <a:t>categorical covariates</a:t>
            </a:r>
            <a:r>
              <a:rPr lang="en-US" dirty="0" smtClean="0"/>
              <a:t/>
            </a:r>
            <a:r>
              <a:rPr lang="en-US" dirty="0"/>
              <a:t>for </a:t>
            </a:r>
            <a:r>
              <a:rPr lang="en-US" dirty="0" smtClean="0"/>
              <a:t>both </a:t>
            </a:r>
            <a:r>
              <a:rPr lang="en-US" i="1" dirty="0" smtClean="0"/>
              <a:t>group </a:t>
            </a:r>
            <a:r>
              <a:rPr lang="en-US" dirty="0"/>
              <a:t>and </a:t>
            </a:r>
            <a:r>
              <a:rPr lang="en-US" i="1" dirty="0" smtClean="0"/>
              <a:t>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global test of the null hypothesis of parallel profiles translates into </a:t>
            </a:r>
            <a:r>
              <a:rPr lang="en-US" dirty="0" smtClean="0"/>
              <a:t>a hypothesis </a:t>
            </a:r>
            <a:r>
              <a:rPr lang="en-US" dirty="0"/>
              <a:t>concerning regression coefficients for the </a:t>
            </a:r>
            <a:r>
              <a:rPr lang="en-US" i="1" dirty="0"/>
              <a:t>group × time </a:t>
            </a:r>
            <a:r>
              <a:rPr lang="en-US" dirty="0" smtClean="0"/>
              <a:t>interaction being </a:t>
            </a:r>
            <a:r>
              <a:rPr lang="en-US" dirty="0"/>
              <a:t>equal to zero</a:t>
            </a:r>
            <a:r>
              <a:rPr lang="en-US" dirty="0" smtClean="0"/>
              <a:t>.</a:t>
            </a:r>
          </a:p>
          <a:p>
            <a:r>
              <a:rPr lang="en-US" dirty="0" smtClean="0"/>
              <a:t>Beyond </a:t>
            </a:r>
            <a:r>
              <a:rPr lang="en-US" dirty="0"/>
              <a:t>testing the null hypothesis of parallel profiles, the estimated</a:t>
            </a:r>
            <a:br>
              <a:rPr lang="en-US" dirty="0"/>
            </a:br>
            <a:r>
              <a:rPr lang="en-US" dirty="0"/>
              <a:t>regression coefficients have meaningful interpretations.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329172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We use </a:t>
            </a:r>
            <a:r>
              <a:rPr lang="en-US" u="sng" dirty="0" smtClean="0"/>
              <a:t>PROC MIXED</a:t>
            </a:r>
            <a:r>
              <a:rPr lang="en-US" dirty="0" smtClean="0"/>
              <a:t> to analyze response profiles between the two treatments (</a:t>
            </a:r>
            <a:r>
              <a:rPr lang="en-US" dirty="0" err="1" smtClean="0"/>
              <a:t>succimer</a:t>
            </a:r>
            <a:r>
              <a:rPr lang="en-US" dirty="0" smtClean="0"/>
              <a:t> vs placebo) in the TCL trial.</a:t>
            </a:r>
          </a:p>
          <a:p>
            <a:r>
              <a:rPr lang="en-US" dirty="0" smtClean="0"/>
              <a:t>Recall that PROC MIXED requires that the data be in the “long” format.</a:t>
            </a:r>
          </a:p>
          <a:p>
            <a:r>
              <a:rPr lang="en-US" dirty="0"/>
              <a:t>In the TLC Trial there are two groups (placebo and </a:t>
            </a:r>
            <a:r>
              <a:rPr lang="en-US" dirty="0" err="1"/>
              <a:t>succimer</a:t>
            </a:r>
            <a:r>
              <a:rPr lang="en-US" dirty="0"/>
              <a:t>) and four</a:t>
            </a:r>
            <a:br>
              <a:rPr lang="en-US" dirty="0"/>
            </a:br>
            <a:r>
              <a:rPr lang="en-US" dirty="0"/>
              <a:t>measurement occasions (week 0, 1, 4, 6). </a:t>
            </a:r>
            <a:br>
              <a:rPr lang="en-US" dirty="0"/>
            </a:br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11690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5211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Suppressing the subscript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dirty="0" smtClean="0"/>
                  <a:t/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5211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0688"/>
          <a:stretch/>
        </p:blipFill>
        <p:spPr>
          <a:xfrm>
            <a:off x="1120410" y="2369347"/>
            <a:ext cx="8879385" cy="3934294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235839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5211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 The model can be expressed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Test of </a:t>
                </a:r>
                <a:r>
                  <a:rPr lang="en-US" i="1" dirty="0"/>
                  <a:t>group × time interaction</a:t>
                </a:r>
                <a:r>
                  <a:rPr lang="en-US" dirty="0"/>
                  <a:t>: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r>
                  <a:rPr lang="en-US" dirty="0" smtClean="0"/>
                  <a:t>In fact,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u="sng" dirty="0" smtClean="0"/>
                  <a:t>Exercise</a:t>
                </a:r>
                <a:r>
                  <a:rPr lang="en-US" dirty="0" smtClean="0"/>
                  <a:t>: express the mean response in each group on each occasion in terms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5211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332779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8108"/>
            <a:ext cx="11198850" cy="3606006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252493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Wald tests of (fixed) effects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test of the group </a:t>
            </a:r>
            <a:r>
              <a:rPr lang="en-US" i="1" dirty="0"/>
              <a:t>× </a:t>
            </a:r>
            <a:r>
              <a:rPr lang="en-US" dirty="0"/>
              <a:t>time interaction yields a Wald statistic of </a:t>
            </a:r>
            <a:r>
              <a:rPr lang="en-US" dirty="0" smtClean="0"/>
              <a:t>107.79 with </a:t>
            </a:r>
            <a:r>
              <a:rPr lang="en-US" dirty="0"/>
              <a:t>3 degrees of freedom (</a:t>
            </a:r>
            <a:r>
              <a:rPr lang="en-US" i="1" dirty="0"/>
              <a:t>p &lt; </a:t>
            </a:r>
            <a:r>
              <a:rPr lang="en-US" dirty="0" smtClean="0"/>
              <a:t>0</a:t>
            </a:r>
            <a:r>
              <a:rPr lang="en-US" i="1" dirty="0" smtClean="0"/>
              <a:t>.</a:t>
            </a:r>
            <a:r>
              <a:rPr lang="en-US" dirty="0" smtClean="0"/>
              <a:t>0001), indicating that there is a </a:t>
            </a:r>
            <a:r>
              <a:rPr lang="en-US" u="sng" dirty="0" smtClean="0"/>
              <a:t>significant difference</a:t>
            </a:r>
            <a:r>
              <a:rPr lang="en-US" dirty="0" smtClean="0"/>
              <a:t> in the mean response pattern over time between the two treatment groups.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65" y="2261359"/>
            <a:ext cx="6003000" cy="2322472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314037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8350"/>
            <a:ext cx="10515600" cy="4838614"/>
          </a:xfrm>
        </p:spPr>
        <p:txBody>
          <a:bodyPr>
            <a:normAutofit/>
          </a:bodyPr>
          <a:lstStyle/>
          <a:p>
            <a:r>
              <a:rPr lang="en-US" dirty="0"/>
              <a:t>Estimated regression coefficients and standard errors based on</a:t>
            </a:r>
            <a:br>
              <a:rPr lang="en-US" dirty="0"/>
            </a:br>
            <a:r>
              <a:rPr lang="en-US" dirty="0"/>
              <a:t>analysis of response profiles of the blood lead level data. </a:t>
            </a:r>
            <a:br>
              <a:rPr lang="en-US" dirty="0"/>
            </a:br>
            <a:r>
              <a:rPr lang="en-US" dirty="0"/>
              <a:t/>
            </a: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665" y="2133773"/>
            <a:ext cx="8083695" cy="37350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89794" y="3366654"/>
                <a:ext cx="4643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94" y="3366654"/>
                <a:ext cx="46435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89794" y="3674802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94" y="3674802"/>
                <a:ext cx="46968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89794" y="3982950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94" y="3982950"/>
                <a:ext cx="46968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89794" y="4278994"/>
                <a:ext cx="4643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94" y="4278994"/>
                <a:ext cx="464358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84472" y="4561094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472" y="4561094"/>
                <a:ext cx="469680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89794" y="4846067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94" y="4846067"/>
                <a:ext cx="469680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89794" y="5133167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94" y="5133167"/>
                <a:ext cx="46968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589794" y="5445988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94" y="5445988"/>
                <a:ext cx="469680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1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204924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response profiles is essentially </a:t>
            </a:r>
            <a:r>
              <a:rPr lang="en-US" u="sng" dirty="0"/>
              <a:t>a two-way ANOVA with</a:t>
            </a:r>
            <a:br>
              <a:rPr lang="en-US" u="sng" dirty="0"/>
            </a:br>
            <a:r>
              <a:rPr lang="en-US" u="sng" dirty="0"/>
              <a:t>repeated measures</a:t>
            </a:r>
            <a:r>
              <a:rPr lang="en-US" dirty="0"/>
              <a:t> and can be framed as a linear regression with</a:t>
            </a:r>
            <a:br>
              <a:rPr lang="en-US" dirty="0"/>
            </a:br>
            <a:r>
              <a:rPr lang="en-US" dirty="0"/>
              <a:t>correlated observations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Extensions </a:t>
            </a:r>
            <a:r>
              <a:rPr lang="en-US" dirty="0"/>
              <a:t>beyond the usual profile analysis:</a:t>
            </a:r>
            <a:br>
              <a:rPr lang="en-US" dirty="0"/>
            </a:br>
            <a:r>
              <a:rPr lang="en-US" dirty="0"/>
              <a:t>1. Adjust for baseline covariates</a:t>
            </a:r>
            <a:br>
              <a:rPr lang="en-US" dirty="0"/>
            </a:br>
            <a:r>
              <a:rPr lang="en-US" dirty="0"/>
              <a:t>2. Time contrasts</a:t>
            </a:r>
            <a:br>
              <a:rPr lang="en-US" dirty="0"/>
            </a:br>
            <a:r>
              <a:rPr lang="en-US" dirty="0"/>
              <a:t>3. Area-under-the-curve-analyses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111544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u="sng" dirty="0" smtClean="0"/>
              <a:t>Strengths</a:t>
            </a:r>
            <a:r>
              <a:rPr lang="en-US" i="1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Allows </a:t>
            </a:r>
            <a:r>
              <a:rPr lang="en-US" dirty="0"/>
              <a:t>arbitrary patterns in the mean response over time (no time </a:t>
            </a:r>
            <a:r>
              <a:rPr lang="en-US" dirty="0" smtClean="0"/>
              <a:t>trend assumed</a:t>
            </a:r>
            <a:r>
              <a:rPr lang="en-US" dirty="0"/>
              <a:t>) and arbitrary patterns in the </a:t>
            </a:r>
            <a:r>
              <a:rPr lang="en-US" dirty="0" smtClean="0"/>
              <a:t>covariance.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Analysis is robust in that misspecification </a:t>
            </a:r>
            <a:r>
              <a:rPr lang="en-US" dirty="0"/>
              <a:t>of models for mean and covariance are </a:t>
            </a:r>
            <a:r>
              <a:rPr lang="en-US" dirty="0" smtClean="0"/>
              <a:t>minimal.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Can </a:t>
            </a:r>
            <a:r>
              <a:rPr lang="en-US" dirty="0"/>
              <a:t>accommodate an arbitrary pattern of </a:t>
            </a:r>
            <a:r>
              <a:rPr lang="en-US" dirty="0" err="1" smtClean="0"/>
              <a:t>missingness</a:t>
            </a:r>
            <a:r>
              <a:rPr lang="en-US" dirty="0" smtClean="0"/>
              <a:t>.</a:t>
            </a:r>
          </a:p>
          <a:p>
            <a:r>
              <a:rPr lang="en-US" i="1" u="sng" dirty="0" smtClean="0"/>
              <a:t>Drawbacks</a:t>
            </a:r>
            <a:r>
              <a:rPr lang="en-US" i="1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Requires </a:t>
            </a:r>
            <a:r>
              <a:rPr lang="en-US" dirty="0"/>
              <a:t>that the longitudinal design be </a:t>
            </a:r>
            <a:r>
              <a:rPr lang="en-US" dirty="0" smtClean="0"/>
              <a:t>balanced.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“Saturated” model, number of free parameters grows rapidly with the number of occasions, may be less efficient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135958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Homework 1 (Due Feb 27)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For the TLC trial considered, express the mean response in each group  on each occasion in terms of the regression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smtClean="0"/>
                  <a:t/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Problem 5.1 of FLW (pp 141).</a:t>
                </a:r>
              </a:p>
              <a:p>
                <a:pPr lvl="1"/>
                <a:r>
                  <a:rPr lang="en-US" dirty="0" smtClean="0"/>
                  <a:t>Instruction: provide coherent, readable answers to each question, supplemented by (well formatted) tables and figures when appropriate. Append (annotated) code to the end </a:t>
                </a:r>
                <a:r>
                  <a:rPr lang="en-US" smtClean="0"/>
                  <a:t>of </a:t>
                </a:r>
                <a:r>
                  <a:rPr lang="en-US" smtClean="0"/>
                  <a:t>your </a:t>
                </a:r>
                <a:r>
                  <a:rPr lang="en-US" dirty="0" smtClean="0"/>
                  <a:t>solutions. </a:t>
                </a:r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925655"/>
              </p:ext>
            </p:extLst>
          </p:nvPr>
        </p:nvGraphicFramePr>
        <p:xfrm>
          <a:off x="2472574" y="317071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9226800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306053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3873916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62088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80215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Treatment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Week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Week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341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Succimer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29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Placebo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394177"/>
                  </a:ext>
                </a:extLst>
              </a:tr>
            </a:tbl>
          </a:graphicData>
        </a:graphic>
      </p:graphicFrame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06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131060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22440</TotalTime>
  <Words>692</Words>
  <Application>Microsoft Office PowerPoint</Application>
  <PresentationFormat>Widescreen</PresentationFormat>
  <Paragraphs>138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Modeling of Longitudinal Data</vt:lpstr>
      <vt:lpstr>Modeling of Longitudinal Data</vt:lpstr>
      <vt:lpstr>Analysis of Response Profiles </vt:lpstr>
      <vt:lpstr>Example: the TLC Trial </vt:lpstr>
      <vt:lpstr>Analysis of Response Profiles </vt:lpstr>
      <vt:lpstr>Analysis of Response Profiles </vt:lpstr>
      <vt:lpstr>Analysis of Response Profiles </vt:lpstr>
      <vt:lpstr>Analysis of Response Profiles </vt:lpstr>
      <vt:lpstr>Analysis of Response Profiles </vt:lpstr>
      <vt:lpstr>Analysis of Response Profiles </vt:lpstr>
      <vt:lpstr>Remark on Baseline Response</vt:lpstr>
      <vt:lpstr>Covariance Model</vt:lpstr>
      <vt:lpstr>Analysis of Response Profiles</vt:lpstr>
      <vt:lpstr>Case Study: the TLC Trial</vt:lpstr>
      <vt:lpstr>Case Study: the TLC Trial</vt:lpstr>
      <vt:lpstr>Case Study: the TLC Trial</vt:lpstr>
      <vt:lpstr>Case Study: the TLC Trial</vt:lpstr>
      <vt:lpstr>Case Study: the TLC Trial</vt:lpstr>
      <vt:lpstr>Case Study: the TLC Trial</vt:lpstr>
      <vt:lpstr>Summary</vt:lpstr>
      <vt:lpstr>Summary</vt:lpstr>
      <vt:lpstr>Homework 1 (Due Feb 27)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453</cp:revision>
  <dcterms:created xsi:type="dcterms:W3CDTF">2019-01-16T21:45:55Z</dcterms:created>
  <dcterms:modified xsi:type="dcterms:W3CDTF">2019-02-19T07:17:31Z</dcterms:modified>
</cp:coreProperties>
</file>