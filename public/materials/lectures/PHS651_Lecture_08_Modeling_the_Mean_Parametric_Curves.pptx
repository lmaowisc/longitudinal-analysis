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4FDA3A-CD22-4026-84C1-034A7EF76A98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D7C35D-060E-435E-9BFC-11636728C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919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67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11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460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3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40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77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2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98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12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67D58-E64F-42FB-A354-3FB5C93E4E64}" type="datetimeFigureOut">
              <a:rPr lang="en-US" smtClean="0"/>
              <a:t>2/26/2019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1FCA7E-16A7-44B9-B6F6-2700C6118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952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 xmlns:a="http://schemas.openxmlformats.org/drawingml/2006/main">
          <a:srgbClr val="102A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7F318-8B77-4257-BB89-D17FF051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"/>
            <a:ext cx="10515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PHS 651     /     LECTURE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E9485-BC46-49F8-9A29-052E88FA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71625"/>
            <a:ext cx="10191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Modeling the Mean: Parametric Curves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4CF13-C008-4C19-903D-EC8B61BC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1002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21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Advanced Regression Methods for Population Health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AC0E6-3745-4E03-BC6F-646054F5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714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 Mao, PhD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59784-59AF-4267-A1A6-E6860971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1975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Department of Biostatistics and Medical Informatics</a:t>
            </a:r>
          </a:p>
          <a:p xmlns:a="http://schemas.openxmlformats.org/drawingml/2006/main">
            <a:pPr>
              <a:defRPr sz="1575" b="0">
                <a:solidFill>
                  <a:srgbClr val="B7CBCE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B7CBCE"/>
                </a:solidFill>
                <a:latin typeface="Calibri"/>
                <a:ea typeface="Calibri"/>
                <a:cs typeface="Calibri"/>
              </a:rPr>
              <a:t>University of Wisconsin-Madison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A4F9E-51F9-4E71-9BF8-738081A0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7217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AD1C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7AD1C8"/>
                </a:solidFill>
                <a:latin typeface="Calibri"/>
                <a:ea typeface="Calibri"/>
                <a:cs typeface="Calibri"/>
              </a:rPr>
              <a:t>SPRING 2019</a:t>
            </a:r>
          </a:p>
        </p:txBody>
      </p:sp>
    </p:spTree>
    <p:extLst>
      <p:ext uri="{BB962C8B-B14F-4D97-AF65-F5344CB8AC3E}">
        <p14:creationId xmlns:p14="http://schemas.microsoft.com/office/powerpoint/2010/main" val="2123750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5530"/>
          </a:xfrm>
        </p:spPr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Outline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753986"/>
            <a:ext cx="10515600" cy="4015047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 smtClean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The mean model: </a:t>
            </a:r>
            <a:r>
              <a:rPr lang="en-US" sz="2600" u="sng" dirty="0" smtClean="0"/>
              <a:t>polynomial curves</a:t>
            </a:r>
            <a:r>
              <a:rPr lang="en-US" sz="2600" dirty="0" smtClean="0"/>
              <a:t>, </a:t>
            </a:r>
            <a:r>
              <a:rPr lang="en-US" sz="2600" u="sng" dirty="0" smtClean="0"/>
              <a:t>linear splines</a:t>
            </a:r>
            <a:r>
              <a:rPr lang="en-US" sz="2600" dirty="0" smtClean="0"/>
              <a:t>, and </a:t>
            </a:r>
            <a:r>
              <a:rPr lang="en-US" sz="2600" u="sng" dirty="0" smtClean="0"/>
              <a:t>constant effect models</a:t>
            </a:r>
            <a:r>
              <a:rPr lang="en-US" sz="2600" dirty="0" smtClean="0"/>
              <a:t/>
            </a:r>
            <a:endParaRPr lang="en-US" sz="2600" dirty="0"/>
          </a:p>
          <a:p>
            <a:pPr marL="971550" lvl="1" indent="-514350">
              <a:buFont typeface="+mj-lt"/>
              <a:buAutoNum type="arabicPeriod"/>
            </a:pPr>
            <a:r>
              <a:rPr lang="en-US" sz="2600" dirty="0" smtClean="0"/>
              <a:t>Examples: Lung Health Study and TCL Trial</a:t>
            </a:r>
          </a:p>
          <a:p>
            <a:pPr marL="457200" lvl="1" indent="0">
              <a:buNone/>
            </a:pPr>
            <a:endParaRPr lang="en-US" sz="2600" dirty="0" smtClean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 / 28</a:t>
            </a:r>
          </a:p>
        </p:txBody>
      </p:sp>
    </p:spTree>
    <p:extLst>
      <p:ext uri="{BB962C8B-B14F-4D97-AF65-F5344CB8AC3E}">
        <p14:creationId xmlns:p14="http://schemas.microsoft.com/office/powerpoint/2010/main" val="45436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Parametric Curves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Fitting parametric or semi-parametric curves to longitudinal data can </a:t>
            </a:r>
            <a:r>
              <a:rPr lang="en-US" dirty="0" smtClean="0"/>
              <a:t>be justified </a:t>
            </a:r>
            <a:r>
              <a:rPr lang="en-US" dirty="0"/>
              <a:t>on </a:t>
            </a:r>
            <a:r>
              <a:rPr lang="en-US" u="sng" dirty="0"/>
              <a:t>substantive</a:t>
            </a:r>
            <a:r>
              <a:rPr lang="en-US" dirty="0"/>
              <a:t> and </a:t>
            </a:r>
            <a:r>
              <a:rPr lang="en-US" u="sng" dirty="0"/>
              <a:t>statistical</a:t>
            </a:r>
            <a:r>
              <a:rPr lang="en-US" dirty="0"/>
              <a:t/>
            </a:r>
            <a:r>
              <a:rPr lang="en-US" dirty="0" smtClean="0"/>
              <a:t>grounds.</a:t>
            </a:r>
          </a:p>
          <a:p>
            <a:r>
              <a:rPr lang="en-US" dirty="0" smtClean="0"/>
              <a:t>Substantively</a:t>
            </a:r>
            <a:r>
              <a:rPr lang="en-US" dirty="0"/>
              <a:t>, in many studies true underlying mean response process</a:t>
            </a:r>
            <a:br>
              <a:rPr lang="en-US" dirty="0"/>
            </a:br>
            <a:r>
              <a:rPr lang="en-US" dirty="0"/>
              <a:t>changes over time in a relatively smooth, monotonically </a:t>
            </a:r>
            <a:r>
              <a:rPr lang="en-US" dirty="0" smtClean="0"/>
              <a:t>increasing/decreasing pattern.</a:t>
            </a:r>
          </a:p>
          <a:p>
            <a:r>
              <a:rPr lang="en-US" dirty="0" smtClean="0"/>
              <a:t>Fitting </a:t>
            </a:r>
            <a:r>
              <a:rPr lang="en-US" dirty="0"/>
              <a:t>parsimonious models for mean response results in statistical </a:t>
            </a:r>
            <a:r>
              <a:rPr lang="en-US" dirty="0" smtClean="0"/>
              <a:t>tests of </a:t>
            </a:r>
            <a:r>
              <a:rPr lang="en-US" dirty="0"/>
              <a:t>covariate effects (e.g., treatment </a:t>
            </a:r>
            <a:r>
              <a:rPr lang="en-US" i="1" dirty="0"/>
              <a:t>× </a:t>
            </a:r>
            <a:r>
              <a:rPr lang="en-US" dirty="0"/>
              <a:t>time interactions) with greater </a:t>
            </a:r>
            <a:r>
              <a:rPr lang="en-US" dirty="0" smtClean="0"/>
              <a:t>power than </a:t>
            </a:r>
            <a:r>
              <a:rPr lang="en-US" dirty="0"/>
              <a:t>in analysis of response profiles.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3 / 28</a:t>
            </a:r>
          </a:p>
        </p:txBody>
      </p:sp>
    </p:spTree>
    <p:extLst>
      <p:ext uri="{BB962C8B-B14F-4D97-AF65-F5344CB8AC3E}">
        <p14:creationId xmlns:p14="http://schemas.microsoft.com/office/powerpoint/2010/main" val="4123196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Linear Curves 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Simplest possible curve for describing changes in the mean response </a:t>
            </a:r>
            <a:r>
              <a:rPr lang="en-US" dirty="0" smtClean="0"/>
              <a:t>over time </a:t>
            </a:r>
            <a:r>
              <a:rPr lang="en-US" dirty="0"/>
              <a:t>is a straight </a:t>
            </a:r>
            <a:r>
              <a:rPr lang="en-US" dirty="0" smtClean="0"/>
              <a:t>line.</a:t>
            </a:r>
          </a:p>
          <a:p>
            <a:r>
              <a:rPr lang="en-US" dirty="0" smtClean="0"/>
              <a:t>Slope </a:t>
            </a:r>
            <a:r>
              <a:rPr lang="en-US" dirty="0"/>
              <a:t>has direct interpretation in terms of a </a:t>
            </a:r>
            <a:r>
              <a:rPr lang="en-US" u="sng" dirty="0"/>
              <a:t>constant rate of change </a:t>
            </a:r>
            <a:r>
              <a:rPr lang="en-US" dirty="0"/>
              <a:t>in </a:t>
            </a:r>
            <a:r>
              <a:rPr lang="en-US" dirty="0" smtClean="0"/>
              <a:t>mean response </a:t>
            </a:r>
            <a:r>
              <a:rPr lang="en-US" dirty="0"/>
              <a:t>for a single unit change in </a:t>
            </a:r>
            <a:r>
              <a:rPr lang="en-US" dirty="0" smtClean="0"/>
              <a:t>time.</a:t>
            </a:r>
          </a:p>
          <a:p>
            <a:r>
              <a:rPr lang="en-US" dirty="0" smtClean="0"/>
              <a:t>Consider </a:t>
            </a:r>
            <a:r>
              <a:rPr lang="en-US" dirty="0"/>
              <a:t>two-group study comparing </a:t>
            </a:r>
            <a:r>
              <a:rPr lang="en-US" i="1" dirty="0"/>
              <a:t>treatment </a:t>
            </a:r>
            <a:r>
              <a:rPr lang="en-US" dirty="0"/>
              <a:t>and </a:t>
            </a:r>
            <a:r>
              <a:rPr lang="en-US" i="1" dirty="0"/>
              <a:t>control</a:t>
            </a:r>
            <a:r>
              <a:rPr lang="en-US" dirty="0"/>
              <a:t>, where </a:t>
            </a:r>
            <a:r>
              <a:rPr lang="en-US" dirty="0" smtClean="0"/>
              <a:t>changes in </a:t>
            </a:r>
            <a:r>
              <a:rPr lang="en-US" dirty="0"/>
              <a:t>mean response are approximately linear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375"/>
          <a:stretch/>
        </p:blipFill>
        <p:spPr>
          <a:xfrm>
            <a:off x="1804851" y="4645070"/>
            <a:ext cx="7966166" cy="58102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4 / 28</a:t>
            </a:r>
          </a:p>
        </p:txBody>
      </p:sp>
    </p:spTree>
    <p:extLst>
      <p:ext uri="{BB962C8B-B14F-4D97-AF65-F5344CB8AC3E}">
        <p14:creationId xmlns:p14="http://schemas.microsoft.com/office/powerpoint/2010/main" val="2262910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Linear Curves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this model, the mean response in the control group is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	and that in the treatment group 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Thus, each group’s mean response is assumed to change linearly over time 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6262" y="2301784"/>
            <a:ext cx="3419475" cy="495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9949" y="3644061"/>
            <a:ext cx="5372100" cy="561975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5 / 28</a:t>
            </a:r>
          </a:p>
        </p:txBody>
      </p:sp>
    </p:spTree>
    <p:extLst>
      <p:ext uri="{BB962C8B-B14F-4D97-AF65-F5344CB8AC3E}">
        <p14:creationId xmlns:p14="http://schemas.microsoft.com/office/powerpoint/2010/main" val="2395718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Linear Curves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111" y="1690688"/>
            <a:ext cx="5839369" cy="4526773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6 / 28</a:t>
            </a:r>
          </a:p>
        </p:txBody>
      </p:sp>
    </p:spTree>
    <p:extLst>
      <p:ext uri="{BB962C8B-B14F-4D97-AF65-F5344CB8AC3E}">
        <p14:creationId xmlns:p14="http://schemas.microsoft.com/office/powerpoint/2010/main" val="135058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Quadratic </a:t>
            </a:r>
            <a:r>
              <a:rPr lang="en-US" dirty="0" sz="3400" b="1">
                <a:solidFill>
                  <a:srgbClr val="0D5F62"/>
                </a:solidFill>
                <a:latin typeface="Calibri"/>
              </a:rPr>
              <a:t>Curves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changes in the mean response over time are not linear, </a:t>
            </a:r>
            <a:r>
              <a:rPr lang="en-US" u="sng" dirty="0" smtClean="0"/>
              <a:t>higher-order polynomial</a:t>
            </a:r>
            <a:r>
              <a:rPr lang="en-US" dirty="0" smtClean="0"/>
              <a:t> terms </a:t>
            </a:r>
            <a:r>
              <a:rPr lang="en-US" dirty="0"/>
              <a:t>can be </a:t>
            </a:r>
            <a:r>
              <a:rPr lang="en-US" dirty="0" smtClean="0"/>
              <a:t>considered.</a:t>
            </a:r>
          </a:p>
          <a:p>
            <a:r>
              <a:rPr lang="en-US" dirty="0" smtClean="0"/>
              <a:t>For </a:t>
            </a:r>
            <a:r>
              <a:rPr lang="en-US" dirty="0"/>
              <a:t>example, if the means are monotonically increasing or decreasing </a:t>
            </a:r>
            <a:r>
              <a:rPr lang="en-US" dirty="0" smtClean="0"/>
              <a:t>over the </a:t>
            </a:r>
            <a:r>
              <a:rPr lang="en-US" dirty="0"/>
              <a:t>course of the study, but in a curvilinear way, a model with </a:t>
            </a:r>
            <a:r>
              <a:rPr lang="en-US" u="sng" dirty="0" smtClean="0"/>
              <a:t>quadratic terms</a:t>
            </a:r>
            <a:r>
              <a:rPr lang="en-US" dirty="0" smtClean="0"/>
              <a:t/>
            </a:r>
            <a:r>
              <a:rPr lang="en-US" dirty="0"/>
              <a:t>can be </a:t>
            </a:r>
            <a:r>
              <a:rPr lang="en-US" dirty="0" smtClean="0"/>
              <a:t>considered.</a:t>
            </a:r>
          </a:p>
          <a:p>
            <a:r>
              <a:rPr lang="en-US" dirty="0" smtClean="0"/>
              <a:t>In </a:t>
            </a:r>
            <a:r>
              <a:rPr lang="en-US" dirty="0"/>
              <a:t>a quadratic trend model the rate of change in the mean response is </a:t>
            </a:r>
            <a:r>
              <a:rPr lang="en-US" dirty="0" smtClean="0"/>
              <a:t>not constant </a:t>
            </a:r>
            <a:r>
              <a:rPr lang="en-US" dirty="0"/>
              <a:t>but depends on </a:t>
            </a:r>
            <a:r>
              <a:rPr lang="en-US" dirty="0" smtClean="0"/>
              <a:t>time.</a:t>
            </a:r>
          </a:p>
          <a:p>
            <a:r>
              <a:rPr lang="en-US" dirty="0" smtClean="0"/>
              <a:t>Rate </a:t>
            </a:r>
            <a:r>
              <a:rPr lang="en-US" dirty="0"/>
              <a:t>of change must be expressed in terms of </a:t>
            </a:r>
            <a:r>
              <a:rPr lang="en-US" u="sng" dirty="0"/>
              <a:t>two parameters</a:t>
            </a:r>
            <a:r>
              <a:rPr lang="en-US" dirty="0"/>
              <a:t>. </a:t>
            </a:r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7 / 28</a:t>
            </a:r>
          </a:p>
        </p:txBody>
      </p:sp>
    </p:spTree>
    <p:extLst>
      <p:ext uri="{BB962C8B-B14F-4D97-AF65-F5344CB8AC3E}">
        <p14:creationId xmlns:p14="http://schemas.microsoft.com/office/powerpoint/2010/main" val="377701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Quadratic Curves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two-group study example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In this model, the mean response in the control group is 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smtClean="0"/>
              <a:t>	and that in the treatment group is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927" y="2338387"/>
            <a:ext cx="7896225" cy="962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761" y="3897357"/>
            <a:ext cx="5067300" cy="6000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927" y="5013347"/>
            <a:ext cx="7820025" cy="647700"/>
          </a:xfrm>
          <a:prstGeom prst="rect">
            <a:avLst/>
          </a:prstGeom>
        </p:spPr>
      </p:pic>
      <p:sp>
        <p:nvSpPr>
          <p:cNvPr id="9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10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8 / 28</a:t>
            </a:r>
          </a:p>
        </p:txBody>
      </p:sp>
    </p:spTree>
    <p:extLst>
      <p:ext uri="{BB962C8B-B14F-4D97-AF65-F5344CB8AC3E}">
        <p14:creationId xmlns:p14="http://schemas.microsoft.com/office/powerpoint/2010/main" val="1907930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Quadratic Curves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8657"/>
          <a:stretch/>
        </p:blipFill>
        <p:spPr>
          <a:xfrm>
            <a:off x="5423809" y="1690688"/>
            <a:ext cx="6080542" cy="447157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 Placeholder 2"/>
              <p:cNvSpPr txBox="1">
                <a:spLocks/>
              </p:cNvSpPr>
              <p:nvPr/>
            </p:nvSpPr>
            <p:spPr>
              <a:xfrm>
                <a:off x="840049" y="1750808"/>
                <a:ext cx="4433209" cy="341337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smtClean="0"/>
                  <a:t>The mean </a:t>
                </a:r>
                <a:r>
                  <a:rPr lang="en-US" dirty="0"/>
                  <a:t>response changes at </a:t>
                </a:r>
                <a:r>
                  <a:rPr lang="en-US" u="sng" dirty="0"/>
                  <a:t>different rate</a:t>
                </a:r>
                <a:r>
                  <a:rPr lang="en-US" dirty="0"/>
                  <a:t>, depending </a:t>
                </a:r>
                <a:r>
                  <a:rPr lang="en-US" dirty="0" smtClean="0"/>
                  <a:t>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 dirty="0" smtClean="0"/>
              </a:p>
              <a:p>
                <a:r>
                  <a:rPr lang="en-US" dirty="0" smtClean="0"/>
                  <a:t>Rate </a:t>
                </a:r>
                <a:r>
                  <a:rPr lang="en-US" dirty="0"/>
                  <a:t>of change in control group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mtClean="0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 smtClean="0"/>
                  <a:t> that in </a:t>
                </a:r>
                <a:r>
                  <a:rPr lang="en-US" dirty="0"/>
                  <a:t>control group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.</a:t>
                </a: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9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049" y="1750808"/>
                <a:ext cx="4433209" cy="3413375"/>
              </a:xfrm>
              <a:prstGeom prst="rect">
                <a:avLst/>
              </a:prstGeom>
              <a:blipFill>
                <a:blip r:embed="rId3"/>
                <a:stretch>
                  <a:fillRect l="-2201" t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10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11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9 / 28</a:t>
            </a:r>
          </a:p>
        </p:txBody>
      </p:sp>
    </p:spTree>
    <p:extLst>
      <p:ext uri="{BB962C8B-B14F-4D97-AF65-F5344CB8AC3E}">
        <p14:creationId xmlns:p14="http://schemas.microsoft.com/office/powerpoint/2010/main" val="1936464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Quadratic Curves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If all times are positive, there will be strong correlation between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𝑇𝑖𝑚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To </a:t>
                </a:r>
                <a:r>
                  <a:rPr lang="en-US" dirty="0"/>
                  <a:t>avoid problems of collinearity it is advisable to </a:t>
                </a:r>
                <a:r>
                  <a:rPr lang="en-US" dirty="0" smtClean="0"/>
                  <a:t>“center”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on </a:t>
                </a:r>
                <a:r>
                  <a:rPr lang="en-US" dirty="0" smtClean="0"/>
                  <a:t>its mean value.</a:t>
                </a:r>
                <a:endParaRPr lang="en-US" dirty="0"/>
              </a:p>
              <a:p>
                <a:r>
                  <a:rPr lang="en-US" dirty="0" smtClean="0"/>
                  <a:t>Specifically, we replace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 smtClean="0"/>
                  <a:t>by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𝑇𝑖𝑚𝑒</m:t>
                        </m:r>
                      </m:e>
                    </m:acc>
                  </m:oMath>
                </a14:m>
                <a:r>
                  <a:rPr lang="en-US" dirty="0" smtClean="0"/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𝑇𝑖𝑚𝑒</m:t>
                        </m:r>
                      </m:e>
                    </m:acc>
                  </m:oMath>
                </a14:m>
                <a:r>
                  <a:rPr lang="en-US" dirty="0" smtClean="0"/>
                  <a:t> the mean of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 smtClean="0"/>
                  <a:t>’s.</a:t>
                </a:r>
              </a:p>
              <a:p>
                <a:pPr marL="0" indent="0">
                  <a:buNone/>
                </a:pPr>
                <a:endParaRPr lang="en-US" dirty="0" smtClean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10 / 28</a:t>
            </a:r>
          </a:p>
        </p:txBody>
      </p:sp>
    </p:spTree>
    <p:extLst>
      <p:ext uri="{BB962C8B-B14F-4D97-AF65-F5344CB8AC3E}">
        <p14:creationId xmlns:p14="http://schemas.microsoft.com/office/powerpoint/2010/main" val="511227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Linear Splines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Another </a:t>
            </a:r>
            <a:r>
              <a:rPr lang="en-US" dirty="0"/>
              <a:t>way to extend the </a:t>
            </a:r>
            <a:r>
              <a:rPr lang="en-US" dirty="0" smtClean="0"/>
              <a:t>linear curve is to </a:t>
            </a:r>
            <a:r>
              <a:rPr lang="en-US" dirty="0"/>
              <a:t>have </a:t>
            </a:r>
            <a:r>
              <a:rPr lang="en-US" dirty="0" smtClean="0"/>
              <a:t>a sequence </a:t>
            </a:r>
            <a:r>
              <a:rPr lang="en-US" dirty="0"/>
              <a:t>of joined line segments that produces a </a:t>
            </a:r>
            <a:r>
              <a:rPr lang="en-US" u="sng" dirty="0"/>
              <a:t>piecewise </a:t>
            </a:r>
            <a:r>
              <a:rPr lang="en-US" u="sng" dirty="0" smtClean="0"/>
              <a:t>linear pattern</a:t>
            </a:r>
            <a:r>
              <a:rPr lang="en-US" dirty="0" smtClean="0"/>
              <a:t>.</a:t>
            </a:r>
          </a:p>
          <a:p>
            <a:r>
              <a:rPr lang="en-US" dirty="0" smtClean="0"/>
              <a:t>Such </a:t>
            </a:r>
            <a:r>
              <a:rPr lang="en-US" u="sng" dirty="0" smtClean="0"/>
              <a:t>linear </a:t>
            </a:r>
            <a:r>
              <a:rPr lang="en-US" u="sng" dirty="0"/>
              <a:t>spline models</a:t>
            </a:r>
            <a:r>
              <a:rPr lang="en-US" dirty="0"/>
              <a:t> provide </a:t>
            </a:r>
            <a:r>
              <a:rPr lang="en-US" dirty="0" smtClean="0"/>
              <a:t>a flexible </a:t>
            </a:r>
            <a:r>
              <a:rPr lang="en-US" dirty="0"/>
              <a:t>way to accommodate many </a:t>
            </a:r>
            <a:r>
              <a:rPr lang="en-US" dirty="0" smtClean="0"/>
              <a:t>non-linear trends </a:t>
            </a:r>
            <a:r>
              <a:rPr lang="en-US" dirty="0"/>
              <a:t>that cannot be approximated by simple polynomials in time. </a:t>
            </a:r>
            <a:endParaRPr lang="en-US" dirty="0" smtClean="0"/>
          </a:p>
          <a:p>
            <a:r>
              <a:rPr lang="en-US" i="1" u="sng" dirty="0"/>
              <a:t>Basic idea</a:t>
            </a:r>
            <a:r>
              <a:rPr lang="en-US" dirty="0"/>
              <a:t>: Divide time axis into series of segments and consider </a:t>
            </a:r>
            <a:r>
              <a:rPr lang="en-US" dirty="0" smtClean="0"/>
              <a:t>piecewise linear </a:t>
            </a:r>
            <a:r>
              <a:rPr lang="en-US" dirty="0"/>
              <a:t>trends, having different slopes but joined at fixed </a:t>
            </a:r>
            <a:r>
              <a:rPr lang="en-US" dirty="0" smtClean="0"/>
              <a:t>times. Locations </a:t>
            </a:r>
            <a:r>
              <a:rPr lang="en-US" dirty="0"/>
              <a:t>where lines are tied together are known as </a:t>
            </a:r>
            <a:r>
              <a:rPr lang="en-US" dirty="0" smtClean="0"/>
              <a:t>“knots”.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11 / 28</a:t>
            </a:r>
          </a:p>
        </p:txBody>
      </p:sp>
    </p:spTree>
    <p:extLst>
      <p:ext uri="{BB962C8B-B14F-4D97-AF65-F5344CB8AC3E}">
        <p14:creationId xmlns:p14="http://schemas.microsoft.com/office/powerpoint/2010/main" val="200977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Linear Splines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Also called a “broken-stick” </a:t>
            </a:r>
            <a:r>
              <a:rPr lang="en-US" dirty="0"/>
              <a:t>model 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5063" y="2500811"/>
            <a:ext cx="5033123" cy="3811089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12 / 28</a:t>
            </a:r>
          </a:p>
        </p:txBody>
      </p:sp>
    </p:spTree>
    <p:extLst>
      <p:ext uri="{BB962C8B-B14F-4D97-AF65-F5344CB8AC3E}">
        <p14:creationId xmlns:p14="http://schemas.microsoft.com/office/powerpoint/2010/main" val="2361021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Linear Splines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The simplest possible spline model has only one knot. For </a:t>
                </a:r>
                <a:r>
                  <a:rPr lang="en-US" dirty="0"/>
                  <a:t>two-group example, linear spline model with knot 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/>
                </a:r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defined as a function that equals </a:t>
                </a:r>
                <a:r>
                  <a:rPr lang="en-US" i="1" dirty="0"/>
                  <a:t>x </a:t>
                </a:r>
                <a:r>
                  <a:rPr lang="en-US" dirty="0"/>
                  <a:t>when </a:t>
                </a:r>
                <a:r>
                  <a:rPr lang="en-US" i="1" dirty="0"/>
                  <a:t>x </a:t>
                </a:r>
                <a:r>
                  <a:rPr lang="en-US" dirty="0" smtClean="0"/>
                  <a:t>is positive and is</a:t>
                </a:r>
                <a:r>
                  <a:rPr lang="en-US" dirty="0"/>
                  <a:t/>
                </a:r>
                <a:r>
                  <a:rPr lang="en-US" dirty="0" smtClean="0"/>
                  <a:t>equal </a:t>
                </a:r>
                <a:r>
                  <a:rPr lang="en-US" dirty="0"/>
                  <a:t>to zero otherwise. </a:t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15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720" y="2736532"/>
            <a:ext cx="9163050" cy="101917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13 / 28</a:t>
            </a:r>
          </a:p>
        </p:txBody>
      </p:sp>
    </p:spTree>
    <p:extLst>
      <p:ext uri="{BB962C8B-B14F-4D97-AF65-F5344CB8AC3E}">
        <p14:creationId xmlns:p14="http://schemas.microsoft.com/office/powerpoint/2010/main" val="3588026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Linear Splines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1690688"/>
            <a:ext cx="8666253" cy="492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851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Linear Splines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527" y="1690688"/>
            <a:ext cx="9467850" cy="4314825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15 / 28</a:t>
            </a:r>
          </a:p>
        </p:txBody>
      </p:sp>
    </p:spTree>
    <p:extLst>
      <p:ext uri="{BB962C8B-B14F-4D97-AF65-F5344CB8AC3E}">
        <p14:creationId xmlns:p14="http://schemas.microsoft.com/office/powerpoint/2010/main" val="234300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Linear Splines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In </a:t>
            </a:r>
            <a:r>
              <a:rPr lang="en-US" dirty="0" smtClean="0"/>
              <a:t>Lecture 7, </a:t>
            </a:r>
            <a:r>
              <a:rPr lang="en-US" dirty="0"/>
              <a:t>we </a:t>
            </a:r>
            <a:r>
              <a:rPr lang="en-US" dirty="0" smtClean="0"/>
              <a:t>saw </a:t>
            </a:r>
            <a:r>
              <a:rPr lang="en-US" dirty="0"/>
              <a:t>a simple model </a:t>
            </a:r>
            <a:r>
              <a:rPr lang="en-US" dirty="0" smtClean="0"/>
              <a:t>like this: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0148" y="2203695"/>
            <a:ext cx="4686276" cy="4089523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16 / 28</a:t>
            </a:r>
          </a:p>
        </p:txBody>
      </p:sp>
    </p:spTree>
    <p:extLst>
      <p:ext uri="{BB962C8B-B14F-4D97-AF65-F5344CB8AC3E}">
        <p14:creationId xmlns:p14="http://schemas.microsoft.com/office/powerpoint/2010/main" val="2125219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Linear Splines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/>
                  <a:t>To fit such a model, we can create a new variable for time:</a:t>
                </a:r>
                <a:br>
                  <a:rPr lang="en-US" dirty="0" smtClean="0"/>
                </a:b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𝑃𝑜𝑠𝑡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= 0 if baseline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𝑖𝑚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= 0),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𝑃𝑜𝑠𝑡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𝑡𝑖𝑚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/>
                </a:r>
                <a:r>
                  <a:rPr lang="en-US" dirty="0"/>
                  <a:t>= 1 if post-baseline (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𝑖𝑚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i="1" dirty="0"/>
                  <a:t> &gt; </a:t>
                </a:r>
                <a:r>
                  <a:rPr lang="en-US" dirty="0"/>
                  <a:t>0</a:t>
                </a:r>
                <a:r>
                  <a:rPr lang="en-US" dirty="0" smtClean="0"/>
                  <a:t>).</a:t>
                </a:r>
              </a:p>
              <a:p>
                <a:r>
                  <a:rPr lang="en-US" dirty="0" smtClean="0"/>
                  <a:t>Then</a:t>
                </a:r>
                <a:r>
                  <a:rPr lang="en-US" dirty="0"/>
                  <a:t>, in two group setting, the model is:</a:t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/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883" y="3866357"/>
            <a:ext cx="9067800" cy="561975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17 / 28</a:t>
            </a:r>
          </a:p>
        </p:txBody>
      </p:sp>
    </p:spTree>
    <p:extLst>
      <p:ext uri="{BB962C8B-B14F-4D97-AF65-F5344CB8AC3E}">
        <p14:creationId xmlns:p14="http://schemas.microsoft.com/office/powerpoint/2010/main" val="1658212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Modelling the Mean: Linear Splines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This model tests whether the differences between the group means, </a:t>
                </a:r>
                <a:r>
                  <a:rPr lang="en-US" dirty="0" smtClean="0"/>
                  <a:t>averaged over </a:t>
                </a:r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− 1) </m:t>
                    </m:r>
                  </m:oMath>
                </a14:m>
                <a:r>
                  <a:rPr lang="en-US" dirty="0"/>
                  <a:t>post-baseline measurement occasions, are </a:t>
                </a:r>
                <a:r>
                  <a:rPr lang="en-US" dirty="0" smtClean="0"/>
                  <a:t>significantly different </a:t>
                </a:r>
                <a:r>
                  <a:rPr lang="en-US" dirty="0"/>
                  <a:t>from the corresponding differences at baseline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That </a:t>
                </a:r>
                <a:r>
                  <a:rPr lang="en-US" dirty="0"/>
                  <a:t>is, the hypothesis of no group effect on longitudinal change</a:t>
                </a:r>
                <a:br>
                  <a:rPr lang="en-US" dirty="0"/>
                </a:br>
                <a:r>
                  <a:rPr lang="en-US" dirty="0"/>
                  <a:t>corresponds to the test of no group by post-baseline interaction.</a:t>
                </a:r>
                <a:br>
                  <a:rPr lang="en-US" dirty="0"/>
                </a:br>
                <a:r>
                  <a:rPr lang="en-US" dirty="0"/>
                  <a:t>In </a:t>
                </a:r>
                <a:r>
                  <a:rPr lang="en-US" dirty="0" smtClean="0"/>
                  <a:t>general, </a:t>
                </a:r>
                <a:r>
                  <a:rPr lang="en-US" dirty="0"/>
                  <a:t>this test has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− 1) </m:t>
                    </m:r>
                  </m:oMath>
                </a14:m>
                <a:r>
                  <a:rPr lang="en-US" dirty="0" err="1" smtClean="0"/>
                  <a:t>df</a:t>
                </a:r>
                <a:r>
                  <a:rPr lang="en-US" dirty="0" smtClean="0"/>
                  <a:t>, </a:t>
                </a: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i="1" dirty="0"/>
                  <a:t/>
                </a:r>
                <a:r>
                  <a:rPr lang="en-US" dirty="0"/>
                  <a:t>is the number of groups</a:t>
                </a:r>
                <a:r>
                  <a:rPr lang="en-US" dirty="0" smtClean="0"/>
                  <a:t>.</a:t>
                </a:r>
              </a:p>
              <a:p>
                <a:r>
                  <a:rPr lang="en-US" dirty="0" smtClean="0"/>
                  <a:t>This is equivalent to a single </a:t>
                </a:r>
                <a:r>
                  <a:rPr lang="en-US" dirty="0" err="1" smtClean="0"/>
                  <a:t>df</a:t>
                </a:r>
                <a:r>
                  <a:rPr lang="en-US" dirty="0" smtClean="0"/>
                  <a:t> contrast discussed in Lecture 7.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90688"/>
                <a:ext cx="10515600" cy="4351338"/>
              </a:xfrm>
              <a:blipFill>
                <a:blip r:embed="rId2"/>
                <a:stretch>
                  <a:fillRect l="-1043" t="-2241" r="-11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/>
                </a:r>
              </a:p>
            </p:txBody>
          </p:sp>
        </mc:Fallback>
      </mc:AlternateContent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18 / 28</a:t>
            </a:r>
          </a:p>
        </p:txBody>
      </p:sp>
    </p:spTree>
    <p:extLst>
      <p:ext uri="{BB962C8B-B14F-4D97-AF65-F5344CB8AC3E}">
        <p14:creationId xmlns:p14="http://schemas.microsoft.com/office/powerpoint/2010/main" val="1898888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Studies: Lung Disease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Epidemiologic study on prevalence of and risk factors for </a:t>
            </a:r>
            <a:r>
              <a:rPr lang="en-US" u="sng" dirty="0"/>
              <a:t>chronic </a:t>
            </a:r>
            <a:r>
              <a:rPr lang="en-US" u="sng" dirty="0" smtClean="0"/>
              <a:t>obstructive lung disease.</a:t>
            </a:r>
          </a:p>
          <a:p>
            <a:r>
              <a:rPr lang="en-US" dirty="0" smtClean="0"/>
              <a:t>Sample </a:t>
            </a:r>
            <a:r>
              <a:rPr lang="en-US" dirty="0"/>
              <a:t>participated in follow-up surveys approximately every 3 years for</a:t>
            </a:r>
            <a:br>
              <a:rPr lang="en-US" dirty="0"/>
            </a:br>
            <a:r>
              <a:rPr lang="en-US" dirty="0"/>
              <a:t>up to 21 </a:t>
            </a:r>
            <a:r>
              <a:rPr lang="en-US" dirty="0" smtClean="0"/>
              <a:t>years.</a:t>
            </a:r>
          </a:p>
          <a:p>
            <a:r>
              <a:rPr lang="en-US" dirty="0" smtClean="0"/>
              <a:t>Pulmonary </a:t>
            </a:r>
            <a:r>
              <a:rPr lang="en-US" dirty="0"/>
              <a:t>function was determined by spirometry: </a:t>
            </a:r>
            <a:r>
              <a:rPr lang="en-US" u="sng" dirty="0" smtClean="0"/>
              <a:t>FEV1</a:t>
            </a:r>
            <a:r>
              <a:rPr lang="en-US" dirty="0" smtClean="0"/>
              <a:t>.</a:t>
            </a:r>
          </a:p>
          <a:p>
            <a:r>
              <a:rPr lang="en-US" dirty="0" smtClean="0"/>
              <a:t>We </a:t>
            </a:r>
            <a:r>
              <a:rPr lang="en-US" dirty="0"/>
              <a:t>focus on a subset of 133 residents aged 36 or older at their entry into</a:t>
            </a:r>
            <a:br>
              <a:rPr lang="en-US" dirty="0"/>
            </a:br>
            <a:r>
              <a:rPr lang="en-US" dirty="0"/>
              <a:t>the study and whose smoking status did not change over the 19 years of</a:t>
            </a:r>
            <a:br>
              <a:rPr lang="en-US" dirty="0"/>
            </a:br>
            <a:r>
              <a:rPr lang="en-US" dirty="0" smtClean="0"/>
              <a:t>follow-up.</a:t>
            </a:r>
          </a:p>
          <a:p>
            <a:r>
              <a:rPr lang="en-US" dirty="0" smtClean="0"/>
              <a:t>Each </a:t>
            </a:r>
            <a:r>
              <a:rPr lang="en-US" dirty="0"/>
              <a:t>study participant was either a </a:t>
            </a:r>
            <a:r>
              <a:rPr lang="en-US" u="sng" dirty="0"/>
              <a:t>current or former smoker</a:t>
            </a:r>
            <a:r>
              <a:rPr lang="en-US" dirty="0"/>
              <a:t>. </a:t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19 / 28</a:t>
            </a:r>
          </a:p>
        </p:txBody>
      </p:sp>
    </p:spTree>
    <p:extLst>
      <p:ext uri="{BB962C8B-B14F-4D97-AF65-F5344CB8AC3E}">
        <p14:creationId xmlns:p14="http://schemas.microsoft.com/office/powerpoint/2010/main" val="2965705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Studies: Lung Disease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4087"/>
          <a:stretch/>
        </p:blipFill>
        <p:spPr>
          <a:xfrm>
            <a:off x="2299335" y="1584959"/>
            <a:ext cx="6445978" cy="4765358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20 / 28</a:t>
            </a:r>
          </a:p>
        </p:txBody>
      </p:sp>
    </p:spTree>
    <p:extLst>
      <p:ext uri="{BB962C8B-B14F-4D97-AF65-F5344CB8AC3E}">
        <p14:creationId xmlns:p14="http://schemas.microsoft.com/office/powerpoint/2010/main" val="2609716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Studies: Lung Disease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First, consider </a:t>
            </a:r>
            <a:r>
              <a:rPr lang="en-US" dirty="0"/>
              <a:t>a linear trend in the mean response over </a:t>
            </a:r>
            <a:r>
              <a:rPr lang="en-US" dirty="0" smtClean="0"/>
              <a:t>time.</a:t>
            </a:r>
          </a:p>
          <a:p>
            <a:r>
              <a:rPr lang="en-US" dirty="0" smtClean="0"/>
              <a:t>We </a:t>
            </a:r>
            <a:r>
              <a:rPr lang="en-US" dirty="0"/>
              <a:t>assume an unstructured covariance matrix.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872" y="2690948"/>
            <a:ext cx="4651896" cy="20220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894" y="4998175"/>
            <a:ext cx="5019675" cy="1181100"/>
          </a:xfrm>
          <a:prstGeom prst="rect">
            <a:avLst/>
          </a:prstGeom>
        </p:spPr>
      </p:pic>
      <p:sp>
        <p:nvSpPr>
          <p:cNvPr id="7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8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21 / 28</a:t>
            </a:r>
          </a:p>
        </p:txBody>
      </p:sp>
    </p:spTree>
    <p:extLst>
      <p:ext uri="{BB962C8B-B14F-4D97-AF65-F5344CB8AC3E}">
        <p14:creationId xmlns:p14="http://schemas.microsoft.com/office/powerpoint/2010/main" val="2959195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Studies: Lung Disease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The mean </a:t>
            </a:r>
            <a:r>
              <a:rPr lang="en-US" dirty="0"/>
              <a:t>response for former smokers </a:t>
            </a:r>
            <a:r>
              <a:rPr lang="en-US" dirty="0" smtClean="0"/>
              <a:t>is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sz="2800" dirty="0"/>
              <a:t>and that for current smokers is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764" y="2114823"/>
            <a:ext cx="4333875" cy="5905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537" y="3106602"/>
            <a:ext cx="7400925" cy="5048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2003" y="3782493"/>
            <a:ext cx="7914459" cy="2489696"/>
          </a:xfrm>
          <a:prstGeom prst="rect">
            <a:avLst/>
          </a:prstGeom>
        </p:spPr>
      </p:pic>
      <p:sp>
        <p:nvSpPr>
          <p:cNvPr id="8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9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22 / 28</a:t>
            </a:r>
          </a:p>
        </p:txBody>
      </p:sp>
    </p:spTree>
    <p:extLst>
      <p:ext uri="{BB962C8B-B14F-4D97-AF65-F5344CB8AC3E}">
        <p14:creationId xmlns:p14="http://schemas.microsoft.com/office/powerpoint/2010/main" val="3366177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Studies: Lung Disease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Thus, both groups have a significant decline in mean FEV1 over </a:t>
            </a:r>
            <a:r>
              <a:rPr lang="en-US" dirty="0" smtClean="0"/>
              <a:t>time,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with no </a:t>
            </a:r>
            <a:r>
              <a:rPr lang="en-US" dirty="0"/>
              <a:t>discernible difference between the </a:t>
            </a:r>
            <a:r>
              <a:rPr lang="en-US" dirty="0" smtClean="0"/>
              <a:t>exposure groups </a:t>
            </a:r>
            <a:r>
              <a:rPr lang="en-US" dirty="0"/>
              <a:t>in the </a:t>
            </a:r>
            <a:r>
              <a:rPr lang="en-US" dirty="0" smtClean="0"/>
              <a:t>(constant) </a:t>
            </a:r>
            <a:r>
              <a:rPr lang="en-US" dirty="0"/>
              <a:t>rate of </a:t>
            </a:r>
            <a:r>
              <a:rPr lang="en-US" dirty="0" smtClean="0"/>
              <a:t>change (interaction term in the model).</a:t>
            </a:r>
          </a:p>
          <a:p>
            <a:r>
              <a:rPr lang="en-US" dirty="0" smtClean="0"/>
              <a:t>Is the </a:t>
            </a:r>
            <a:r>
              <a:rPr lang="en-US" dirty="0"/>
              <a:t>rate of change constant over time</a:t>
            </a:r>
            <a:r>
              <a:rPr lang="en-US" dirty="0" smtClean="0"/>
              <a:t>?</a:t>
            </a:r>
          </a:p>
          <a:p>
            <a:r>
              <a:rPr lang="en-US" dirty="0" smtClean="0"/>
              <a:t>Adequacy </a:t>
            </a:r>
            <a:r>
              <a:rPr lang="en-US" dirty="0"/>
              <a:t>of linear trend model can be assessed by including </a:t>
            </a:r>
            <a:r>
              <a:rPr lang="en-US" dirty="0" smtClean="0"/>
              <a:t>higher-order polynomial </a:t>
            </a:r>
            <a:r>
              <a:rPr lang="en-US" dirty="0"/>
              <a:t>trends. </a:t>
            </a:r>
            <a:endParaRPr lang="en-US" dirty="0" smtClean="0"/>
          </a:p>
          <a:p>
            <a:r>
              <a:rPr lang="en-US" dirty="0" smtClean="0"/>
              <a:t>We fit a “full” model by including the quadratic term, and compare the log-likelihood with that from the “reduced” model, i.e., the linear trend model.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23 / 28</a:t>
            </a:r>
          </a:p>
        </p:txBody>
      </p:sp>
    </p:spTree>
    <p:extLst>
      <p:ext uri="{BB962C8B-B14F-4D97-AF65-F5344CB8AC3E}">
        <p14:creationId xmlns:p14="http://schemas.microsoft.com/office/powerpoint/2010/main" val="1854615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Studies: Lung Disease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347" y="1779950"/>
            <a:ext cx="8675642" cy="3463701"/>
          </a:xfrm>
          <a:prstGeom prst="rect">
            <a:avLst/>
          </a:prstGeom>
        </p:spPr>
      </p:pic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24 / 28</a:t>
            </a:r>
          </a:p>
        </p:txBody>
      </p:sp>
    </p:spTree>
    <p:extLst>
      <p:ext uri="{BB962C8B-B14F-4D97-AF65-F5344CB8AC3E}">
        <p14:creationId xmlns:p14="http://schemas.microsoft.com/office/powerpoint/2010/main" val="37112865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Case Studies: Lung Disease Study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919" y="2126117"/>
            <a:ext cx="2390775" cy="14668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413" y="2126117"/>
            <a:ext cx="2400300" cy="1466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82239" y="1756785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Linear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636343" y="1723176"/>
            <a:ext cx="1105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Quadratic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9018" y="3714757"/>
            <a:ext cx="6987268" cy="2205478"/>
          </a:xfrm>
          <a:prstGeom prst="rect">
            <a:avLst/>
          </a:prstGeom>
        </p:spPr>
      </p:pic>
      <p:sp>
        <p:nvSpPr>
          <p:cNvPr id="10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11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25 / 28</a:t>
            </a:r>
          </a:p>
        </p:txBody>
      </p:sp>
    </p:spTree>
    <p:extLst>
      <p:ext uri="{BB962C8B-B14F-4D97-AF65-F5344CB8AC3E}">
        <p14:creationId xmlns:p14="http://schemas.microsoft.com/office/powerpoint/2010/main" val="190950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Studies: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324" y="1690688"/>
            <a:ext cx="4907144" cy="4305814"/>
          </a:xfrm>
          <a:prstGeom prst="rect">
            <a:avLst/>
          </a:prstGeom>
        </p:spPr>
      </p:pic>
      <p:sp>
        <p:nvSpPr>
          <p:cNvPr id="5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6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26 / 28</a:t>
            </a:r>
          </a:p>
        </p:txBody>
      </p:sp>
    </p:spTree>
    <p:extLst>
      <p:ext uri="{BB962C8B-B14F-4D97-AF65-F5344CB8AC3E}">
        <p14:creationId xmlns:p14="http://schemas.microsoft.com/office/powerpoint/2010/main" val="21104413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Studies: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289" y="1569857"/>
            <a:ext cx="7303892" cy="4369389"/>
          </a:xfrm>
          <a:prstGeom prst="rect">
            <a:avLst/>
          </a:prstGeom>
        </p:spPr>
      </p:pic>
      <p:sp>
        <p:nvSpPr>
          <p:cNvPr id="4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5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27 / 28</a:t>
            </a:r>
          </a:p>
        </p:txBody>
      </p:sp>
    </p:spTree>
    <p:extLst>
      <p:ext uri="{BB962C8B-B14F-4D97-AF65-F5344CB8AC3E}">
        <p14:creationId xmlns:p14="http://schemas.microsoft.com/office/powerpoint/2010/main" val="659465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 tIns="0" bIns="0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400" b="1">
                <a:solidFill>
                  <a:srgbClr val="0D5F62"/>
                </a:solidFill>
                <a:latin typeface="Calibri"/>
              </a:defRPr>
            </a:pPr>
            <a:r>
              <a:rPr lang="en-US" dirty="0" sz="3400" b="1">
                <a:solidFill>
                  <a:srgbClr val="0D5F62"/>
                </a:solidFill>
                <a:latin typeface="Calibri"/>
              </a:rPr>
              <a:t>Case Studies: </a:t>
            </a:r>
            <a:r>
              <a:rPr lang="en-US" dirty="0" smtClean="0" sz="3400" b="1">
                <a:solidFill>
                  <a:srgbClr val="0D5F62"/>
                </a:solidFill>
                <a:latin typeface="Calibri"/>
              </a:rPr>
              <a:t>The TLC Trial</a:t>
            </a:r>
            <a:endParaRPr lang="en-US" dirty="0" sz="3400" b="1">
              <a:solidFill>
                <a:srgbClr val="0D5F62"/>
              </a:solidFill>
              <a:latin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534" y="1777774"/>
            <a:ext cx="4563218" cy="2315663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4354285"/>
            <a:ext cx="10515600" cy="1591946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The interaction terms are highly significant, indicating difference in the pattern of change between the two arms.</a:t>
            </a:r>
          </a:p>
          <a:p>
            <a:r>
              <a:rPr lang="en-US" dirty="0" smtClean="0"/>
              <a:t>Can construct 2 </a:t>
            </a:r>
            <a:r>
              <a:rPr lang="en-US" dirty="0" err="1" smtClean="0"/>
              <a:t>df</a:t>
            </a:r>
            <a:r>
              <a:rPr lang="en-US" dirty="0" smtClean="0"/>
              <a:t> joint test of interactions using the CONTRAST statement in PROC MIXED.</a:t>
            </a:r>
            <a:endParaRPr lang="en-US" dirty="0"/>
          </a:p>
        </p:txBody>
      </p:sp>
      <p:sp>
        <p:nvSpPr>
          <p:cNvPr id="6" name="Course footer"/>
          <p:cNvSpPr txBox="1"/>
          <p:nvPr/>
        </p:nvSpPr>
        <p:spPr>
          <a:xfrm>
            <a:off x="914400" y="6553200"/>
            <a:ext cx="80962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l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PHS 651   /   Lecture 08</a:t>
            </a:r>
          </a:p>
        </p:txBody>
      </p:sp>
      <p:sp>
        <p:nvSpPr>
          <p:cNvPr id="7" name="Course footer"/>
          <p:cNvSpPr txBox="1"/>
          <p:nvPr/>
        </p:nvSpPr>
        <p:spPr>
          <a:xfrm>
            <a:off x="10572750" y="655320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Autofit/>
          </a:bodyPr>
          <a:lstStyle/>
          <a:p>
            <a:pPr algn="r">
              <a:buNone/>
            </a:pPr>
            <a:r>
              <a:rPr sz="900" lang="en-US">
                <a:solidFill>
                  <a:srgbClr val="6B7B82"/>
                </a:solidFill>
                <a:latin typeface="Calibri"/>
              </a:rPr>
              <a:t>28 / 28</a:t>
            </a:r>
          </a:p>
        </p:txBody>
      </p:sp>
    </p:spTree>
    <p:extLst>
      <p:ext uri="{BB962C8B-B14F-4D97-AF65-F5344CB8AC3E}">
        <p14:creationId xmlns:p14="http://schemas.microsoft.com/office/powerpoint/2010/main" val="1818500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172D38"/>
      </a:dk1>
      <a:lt1>
        <a:srgbClr val="FFFFFF"/>
      </a:lt1>
      <a:dk2>
        <a:srgbClr val="102A35"/>
      </a:dk2>
      <a:lt2>
        <a:srgbClr val="F2F7F6"/>
      </a:lt2>
      <a:accent1>
        <a:srgbClr val="0D5F62"/>
      </a:accent1>
      <a:accent2>
        <a:srgbClr val="BD781B"/>
      </a:accent2>
      <a:accent3>
        <a:srgbClr val="426B8A"/>
      </a:accent3>
      <a:accent4>
        <a:srgbClr val="795E8B"/>
      </a:accent4>
      <a:accent5>
        <a:srgbClr val="538070"/>
      </a:accent5>
      <a:accent6>
        <a:srgbClr val="8A4E4E"/>
      </a:accent6>
      <a:hlink>
        <a:srgbClr val="0D5F62"/>
      </a:hlink>
      <a:folHlink>
        <a:srgbClr val="795E8B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29200</TotalTime>
  <Words>720</Words>
  <Application>Microsoft Office PowerPoint</Application>
  <PresentationFormat>Widescreen</PresentationFormat>
  <Paragraphs>104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Office Theme</vt:lpstr>
      <vt:lpstr>Advanced Regression Methods for Population Health</vt:lpstr>
      <vt:lpstr>Outline</vt:lpstr>
      <vt:lpstr>Modelling the Mean: Parametric Curves </vt:lpstr>
      <vt:lpstr>Modelling the Mean: Linear Curves </vt:lpstr>
      <vt:lpstr>Modelling the Mean: Linear Curves </vt:lpstr>
      <vt:lpstr>Modelling the Mean: Linear Curves </vt:lpstr>
      <vt:lpstr>Modelling the Mean: Quadratic Curves </vt:lpstr>
      <vt:lpstr>Modelling the Mean: Quadratic Curves </vt:lpstr>
      <vt:lpstr>Modelling the Mean: Quadratic Curves </vt:lpstr>
      <vt:lpstr>Modelling the Mean: Quadratic Curves </vt:lpstr>
      <vt:lpstr>Modelling the Mean: Linear Splines</vt:lpstr>
      <vt:lpstr>Modelling the Mean: Linear Splines</vt:lpstr>
      <vt:lpstr>Modelling the Mean: Linear Splines</vt:lpstr>
      <vt:lpstr>Modelling the Mean: Linear Splines</vt:lpstr>
      <vt:lpstr>Modelling the Mean: Linear Splines</vt:lpstr>
      <vt:lpstr>Modelling the Mean: Linear Splines</vt:lpstr>
      <vt:lpstr>Modelling the Mean: Linear Splines</vt:lpstr>
      <vt:lpstr>Modelling the Mean: Linear Splines</vt:lpstr>
      <vt:lpstr>Case Studies: Lung Disease Study</vt:lpstr>
      <vt:lpstr>Case Studies: Lung Disease Study</vt:lpstr>
      <vt:lpstr>Case Studies: Lung Disease Study</vt:lpstr>
      <vt:lpstr>Case Studies: Lung Disease Study</vt:lpstr>
      <vt:lpstr>Case Studies: Lung Disease Study</vt:lpstr>
      <vt:lpstr>Case Studies: Lung Disease Study</vt:lpstr>
      <vt:lpstr>Case Studies: Lung Disease Study</vt:lpstr>
      <vt:lpstr>Case Studies: The TLC Trial</vt:lpstr>
      <vt:lpstr>Case Studies: The TLC Trial</vt:lpstr>
      <vt:lpstr>Case Studies: The TLC Trial</vt:lpstr>
    </vt:vector>
  </TitlesOfParts>
  <Company>University of Wisconsin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Regression Methods for Population Health</dc:title>
  <dc:creator>Lu Mao</dc:creator>
  <cp:lastModifiedBy>Lu Mao</cp:lastModifiedBy>
  <cp:revision>625</cp:revision>
  <dcterms:created xsi:type="dcterms:W3CDTF">2019-01-16T21:45:55Z</dcterms:created>
  <dcterms:modified xsi:type="dcterms:W3CDTF">2019-02-27T05:19:10Z</dcterms:modified>
</cp:coreProperties>
</file>