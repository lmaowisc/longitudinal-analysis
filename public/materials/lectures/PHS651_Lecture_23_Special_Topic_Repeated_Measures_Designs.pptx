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  <p:sldId id="268" r:id="rId14"/>
    <p:sldId id="269" r:id="rId15"/>
    <p:sldId id="270" r:id="rId16"/>
    <p:sldId id="273" r:id="rId17"/>
    <p:sldId id="272" r:id="rId18"/>
    <p:sldId id="271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68BB4-D429-4D9F-9A88-1E15C9ECB8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5"/>
            <p14:sldId id="266"/>
            <p14:sldId id="267"/>
            <p14:sldId id="263"/>
            <p14:sldId id="264"/>
            <p14:sldId id="268"/>
            <p14:sldId id="269"/>
            <p14:sldId id="270"/>
            <p14:sldId id="273"/>
            <p14:sldId id="272"/>
            <p14:sldId id="271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357E7-D7FB-4433-BE5A-D4B8360B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95DE5-C8F3-44B8-9510-5057ECA1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Special Topic: Repeated-Measures Designs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2A283-B8C1-47C0-9766-DFA5BDDC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68734-BB41-4AE2-9A45-B392AAE1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45CCF-0D2A-416F-A5FD-A9B7974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5844A-C0EC-46F1-9FA0-19EF108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67567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Features of repeated-measures designs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Mixed effects modeling of randomized block designs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a cross-over trial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Classical Repeated-Measures Designs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We discuss application of methods for longitudinal data to closely related designs.</a:t>
            </a:r>
          </a:p>
          <a:p>
            <a:r>
              <a:rPr lang="en-US" sz="3000" dirty="0" smtClean="0"/>
              <a:t>One such design is the so-called </a:t>
            </a:r>
            <a:r>
              <a:rPr lang="en-US" sz="3000" u="sng" dirty="0" smtClean="0"/>
              <a:t>classical repeated-measures design</a:t>
            </a:r>
            <a:r>
              <a:rPr lang="en-US" sz="3000" dirty="0" smtClean="0"/>
              <a:t>, where each subject (or “block”) is measured under different conditions, which often correspond to different treatments.</a:t>
            </a:r>
          </a:p>
          <a:p>
            <a:r>
              <a:rPr lang="en-US" sz="3000" dirty="0" smtClean="0"/>
              <a:t>The major interest is not in changes over time </a:t>
            </a:r>
            <a:r>
              <a:rPr lang="en-US" sz="3000" dirty="0" smtClean="0"/>
              <a:t>but in the </a:t>
            </a:r>
            <a:r>
              <a:rPr lang="en-US" sz="3000" dirty="0" smtClean="0"/>
              <a:t>difference between circumstances of treatment within the subject.</a:t>
            </a:r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2347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Classical Repeated-Measures Designs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Unlike a longitudinal study, treatment varies </a:t>
            </a:r>
            <a:r>
              <a:rPr lang="en-US" sz="3000" u="sng" dirty="0" smtClean="0"/>
              <a:t>within</a:t>
            </a:r>
            <a:r>
              <a:rPr lang="en-US" sz="3000" dirty="0" smtClean="0"/>
              <a:t> the subject rather than </a:t>
            </a:r>
            <a:r>
              <a:rPr lang="en-US" sz="3000" u="sng" dirty="0" smtClean="0"/>
              <a:t>between</a:t>
            </a:r>
            <a:r>
              <a:rPr lang="en-US" sz="3000" dirty="0" smtClean="0"/>
              <a:t> subjects.</a:t>
            </a:r>
          </a:p>
          <a:p>
            <a:r>
              <a:rPr lang="en-US" sz="3000" dirty="0" smtClean="0"/>
              <a:t>That is, “treatment” in a classical repeated-measures study is analogous to “time” in a longitudinal study. Hence, </a:t>
            </a:r>
            <a:r>
              <a:rPr lang="en-US" sz="3000" u="sng" dirty="0" smtClean="0"/>
              <a:t>treatment effect</a:t>
            </a:r>
            <a:r>
              <a:rPr lang="en-US" sz="3000" dirty="0" smtClean="0"/>
              <a:t> is derived by </a:t>
            </a:r>
            <a:r>
              <a:rPr lang="en-US" sz="3000" u="sng" dirty="0" smtClean="0"/>
              <a:t>within-subject contrasts</a:t>
            </a:r>
            <a:r>
              <a:rPr lang="en-US" sz="3000" dirty="0" smtClean="0"/>
              <a:t>.</a:t>
            </a:r>
          </a:p>
          <a:p>
            <a:r>
              <a:rPr lang="en-US" sz="3000" dirty="0" smtClean="0"/>
              <a:t>Each subject serves as his/her own control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Free of systematic bias due to between-subject difference (validity)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Free of between-subject variation (efficiency)</a:t>
            </a:r>
            <a:endParaRPr lang="en-US" sz="2600" dirty="0" smtClean="0"/>
          </a:p>
          <a:p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52228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Randomized Block Design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 smtClean="0"/>
                  <a:t>In the experimental context, the classical repeated-measures design is often called a </a:t>
                </a:r>
                <a:r>
                  <a:rPr lang="en-US" sz="3000" i="1" u="sng" dirty="0" smtClean="0"/>
                  <a:t>randomized block design</a:t>
                </a:r>
                <a:r>
                  <a:rPr lang="en-US" sz="3000" dirty="0" smtClean="0"/>
                  <a:t>.</a:t>
                </a:r>
              </a:p>
              <a:p>
                <a:r>
                  <a:rPr lang="en-US" sz="3000" dirty="0"/>
                  <a:t>E</a:t>
                </a:r>
                <a:r>
                  <a:rPr lang="en-US" sz="3000" dirty="0" smtClean="0"/>
                  <a:t>ach subject is measured 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 smtClean="0"/>
                  <a:t> “occasions” (to co-opt the terminology for longitudinal data), </a:t>
                </a:r>
                <a:r>
                  <a:rPr lang="en-US" sz="3000" dirty="0" smtClean="0"/>
                  <a:t>each </a:t>
                </a:r>
                <a:r>
                  <a:rPr lang="en-US" sz="3000" dirty="0"/>
                  <a:t>corresponding to a different treatment, giving rise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000" i="1" dirty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3000" i="1" dirty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000" b="0" dirty="0" smtClean="0"/>
              </a:p>
              <a:p>
                <a:r>
                  <a:rPr lang="en-US" sz="3000" dirty="0" smtClean="0"/>
                  <a:t>The “occasion” may be </a:t>
                </a:r>
                <a:r>
                  <a:rPr lang="en-US" sz="3000" u="sng" dirty="0" smtClean="0"/>
                  <a:t>time</a:t>
                </a:r>
                <a:r>
                  <a:rPr lang="en-US" sz="3000" dirty="0" smtClean="0"/>
                  <a:t> -- treatments are given sequentially; or </a:t>
                </a:r>
                <a:r>
                  <a:rPr lang="en-US" sz="3000" u="sng" dirty="0" smtClean="0"/>
                  <a:t>location</a:t>
                </a:r>
                <a:r>
                  <a:rPr lang="en-US" sz="3000" dirty="0" smtClean="0"/>
                  <a:t> -- treatments are applied simultaneously to different locations of the body (e.g., a classical study on tropical treatment for leprosy).</a:t>
                </a:r>
                <a:endParaRPr lang="en-US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853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338912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Randomized Block Design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Typically, the treatments are </a:t>
            </a:r>
            <a:r>
              <a:rPr lang="en-US" sz="3000" u="sng" dirty="0" smtClean="0"/>
              <a:t>randomized</a:t>
            </a:r>
            <a:r>
              <a:rPr lang="en-US" sz="3000" dirty="0" smtClean="0"/>
              <a:t> to the different “occasions” to eliminate confounding due to systematic difference between the latter.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Treatments received in random order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Random assignment of location to treatment</a:t>
            </a:r>
          </a:p>
          <a:p>
            <a:r>
              <a:rPr lang="en-US" sz="3000" dirty="0" smtClean="0"/>
              <a:t>Note that the difference </a:t>
            </a:r>
            <a:r>
              <a:rPr lang="en-US" sz="3000" dirty="0"/>
              <a:t>with </a:t>
            </a:r>
            <a:r>
              <a:rPr lang="en-US" sz="3000" dirty="0" smtClean="0"/>
              <a:t>“cluster randomization” discussed in Lecture 22 is that here randomization is done </a:t>
            </a:r>
            <a:r>
              <a:rPr lang="en-US" sz="3000" u="sng" dirty="0" smtClean="0"/>
              <a:t>in</a:t>
            </a:r>
            <a:r>
              <a:rPr lang="en-US" sz="3000" dirty="0" smtClean="0"/>
              <a:t> the unit (subject/block/cluster) rather than </a:t>
            </a:r>
            <a:r>
              <a:rPr lang="en-US" sz="3000" u="sng" dirty="0" smtClean="0"/>
              <a:t>on</a:t>
            </a:r>
            <a:r>
              <a:rPr lang="en-US" sz="3000" dirty="0" smtClean="0"/>
              <a:t> the unit.</a:t>
            </a:r>
            <a:endParaRPr lang="en-US" sz="3000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154653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Efficiency Gain in Repeated Measures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 smtClean="0"/>
                  <a:t>Repeated-measures designs are popular because subject differences in the response are naturally excluded from treatment effects, leading to more efficient estimators.</a:t>
                </a:r>
              </a:p>
              <a:p>
                <a:r>
                  <a:rPr lang="en-US" sz="3000" dirty="0" smtClean="0"/>
                  <a:t>To illustrate, consider the simple case with 2 treatments randomly assigned to 2 occasions. </a:t>
                </a:r>
                <a:endParaRPr lang="en-US" sz="3000" dirty="0"/>
              </a:p>
              <a:p>
                <a:r>
                  <a:rPr lang="en-US" sz="3000" dirty="0" smtClean="0"/>
                  <a:t>The estimate for treatment effect, denoted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US" sz="3000" dirty="0" smtClean="0"/>
                  <a:t>, is the average of within-subject differences between treatments,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 smtClean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 smtClean="0"/>
                  <a:t> depending the assignment.</a:t>
                </a:r>
              </a:p>
              <a:p>
                <a:endParaRPr lang="en-US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273829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Efficiency Gain in Repeated Measures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 smtClean="0"/>
                  <a:t>It can be easily shown that, if the variances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 smtClean="0"/>
                  <a:t> are both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000" dirty="0" smtClean="0"/>
                  <a:t> and if the correlation between them is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3000" dirty="0" smtClean="0"/>
                  <a:t>, then the variance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US" sz="3000" dirty="0" smtClean="0"/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3000" dirty="0" smtClean="0"/>
              </a:p>
              <a:p>
                <a:r>
                  <a:rPr lang="en-US" sz="3000" dirty="0" smtClean="0"/>
                  <a:t>In the two-sample setting, the variance of the treatment effect estimate is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000" dirty="0" smtClean="0"/>
                  <a:t>.</a:t>
                </a:r>
              </a:p>
              <a:p>
                <a:r>
                  <a:rPr lang="en-US" sz="3000" dirty="0" smtClean="0"/>
                  <a:t>So the </a:t>
                </a:r>
                <a:r>
                  <a:rPr lang="en-US" sz="3000" u="sng" dirty="0" smtClean="0"/>
                  <a:t>ratio</a:t>
                </a:r>
                <a:r>
                  <a:rPr lang="en-US" sz="3000" dirty="0" smtClean="0"/>
                  <a:t> between the variances of estimates in the repeated-measures and two-samples designs is </a:t>
                </a:r>
                <a14:m>
                  <m:oMath xmlns:m="http://schemas.openxmlformats.org/officeDocument/2006/math">
                    <m:r>
                      <a:rPr lang="en-US" sz="3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 smtClean="0"/>
                  <a:t>.</a:t>
                </a:r>
                <a:endParaRPr lang="en-US" sz="3000" dirty="0"/>
              </a:p>
              <a:p>
                <a:endParaRPr lang="en-US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156416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Efficiency Gain in Repeated Measures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 smtClean="0"/>
                  <a:t>This is also the ratio of sample sizes needed  to achieve the same level of precision in the estimate (relative efficiency).</a:t>
                </a:r>
              </a:p>
              <a:p>
                <a:r>
                  <a:rPr lang="en-US" sz="3000" dirty="0" smtClean="0"/>
                  <a:t>If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US" sz="3000" dirty="0" smtClean="0"/>
                  <a:t>, then the relative efficiency is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3000" dirty="0" smtClean="0"/>
                  <a:t>. So the repeated measures design needs only one quarter of the sample size needed by the two-sample set-up.</a:t>
                </a:r>
              </a:p>
              <a:p>
                <a:r>
                  <a:rPr lang="en-US" sz="3000" dirty="0" smtClean="0"/>
                  <a:t>This is analogous to the efficiency gain in estimating the time trend in longitudinal studies (cf. Lecture 4).</a:t>
                </a:r>
                <a:endParaRPr lang="en-US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853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186694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4663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Effects Modeling of Randomized Block Designs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9046"/>
            <a:ext cx="10515600" cy="4297681"/>
          </a:xfrm>
        </p:spPr>
        <p:txBody>
          <a:bodyPr>
            <a:normAutofit lnSpcReduction="10000"/>
          </a:bodyPr>
          <a:lstStyle/>
          <a:p>
            <a:r>
              <a:rPr lang="en-US" sz="3000" dirty="0" smtClean="0"/>
              <a:t>In randomized block designs, because treatments are randomly assigned to occasions, each occasion contains a mixture of different treatments.</a:t>
            </a:r>
          </a:p>
          <a:p>
            <a:r>
              <a:rPr lang="en-US" sz="3000" dirty="0" smtClean="0"/>
              <a:t>Moreover, thanks to randomization, the proportions of treatments are expected to be identical across occasions.</a:t>
            </a:r>
          </a:p>
          <a:p>
            <a:r>
              <a:rPr lang="en-US" sz="3000" dirty="0" smtClean="0"/>
              <a:t>This implies that responses from different occasions are exchangeable, resulting in a compound symmetric covariance structure.</a:t>
            </a:r>
            <a:endParaRPr lang="en-US" sz="3000" dirty="0"/>
          </a:p>
          <a:p>
            <a:r>
              <a:rPr lang="en-US" sz="3000" dirty="0" smtClean="0"/>
              <a:t>In mixed effects models, this amounts to including a random intercept for the subject/block.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414205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r>
              <a:rPr lang="en-US" sz="3000" dirty="0"/>
              <a:t>The study was designed to compare two active drugs </a:t>
            </a:r>
            <a:r>
              <a:rPr lang="en-US" sz="3000" dirty="0" smtClean="0"/>
              <a:t>and placebo for relief </a:t>
            </a:r>
            <a:r>
              <a:rPr lang="en-US" sz="3000" dirty="0"/>
              <a:t>of </a:t>
            </a:r>
            <a:r>
              <a:rPr lang="en-US" sz="3000" u="sng" dirty="0"/>
              <a:t>tension headache</a:t>
            </a:r>
            <a:r>
              <a:rPr lang="en-US" sz="3000" dirty="0"/>
              <a:t>. </a:t>
            </a:r>
            <a:endParaRPr lang="en-US" sz="3000" dirty="0" smtClean="0"/>
          </a:p>
          <a:p>
            <a:r>
              <a:rPr lang="en-US" sz="3000" dirty="0" smtClean="0"/>
              <a:t>The </a:t>
            </a:r>
            <a:r>
              <a:rPr lang="en-US" sz="3000" dirty="0"/>
              <a:t>two analgesic drugs were identical in </a:t>
            </a:r>
            <a:r>
              <a:rPr lang="en-US" sz="3000" dirty="0" smtClean="0"/>
              <a:t>their active </a:t>
            </a:r>
            <a:r>
              <a:rPr lang="en-US" sz="3000" dirty="0"/>
              <a:t>ingredients except that one contained caffeine. </a:t>
            </a:r>
            <a:endParaRPr lang="en-US" sz="3000" dirty="0" smtClean="0"/>
          </a:p>
          <a:p>
            <a:r>
              <a:rPr lang="en-US" sz="3000" dirty="0" smtClean="0"/>
              <a:t>The </a:t>
            </a:r>
            <a:r>
              <a:rPr lang="en-US" sz="3000" dirty="0"/>
              <a:t>primary </a:t>
            </a:r>
            <a:r>
              <a:rPr lang="en-US" sz="3000" dirty="0" smtClean="0"/>
              <a:t>comparison of </a:t>
            </a:r>
            <a:r>
              <a:rPr lang="en-US" sz="3000" dirty="0"/>
              <a:t>interest was </a:t>
            </a:r>
            <a:r>
              <a:rPr lang="en-US" sz="3000" u="sng" dirty="0"/>
              <a:t>between the two active drugs</a:t>
            </a:r>
            <a:r>
              <a:rPr lang="en-US" sz="3000" dirty="0"/>
              <a:t>; the placebo was included </a:t>
            </a:r>
            <a:r>
              <a:rPr lang="en-US" sz="3000" dirty="0" smtClean="0"/>
              <a:t>for regulatory </a:t>
            </a:r>
            <a:r>
              <a:rPr lang="en-US" sz="3000" dirty="0"/>
              <a:t>purposes</a:t>
            </a:r>
            <a:r>
              <a:rPr lang="en-US" sz="3000" dirty="0" smtClean="0"/>
              <a:t>.</a:t>
            </a:r>
          </a:p>
          <a:p>
            <a:r>
              <a:rPr lang="en-US" sz="3000" dirty="0" smtClean="0"/>
              <a:t>Each </a:t>
            </a:r>
            <a:r>
              <a:rPr lang="en-US" sz="3000" dirty="0"/>
              <a:t>subject received only </a:t>
            </a:r>
            <a:r>
              <a:rPr lang="en-US" sz="3000" u="sng" dirty="0"/>
              <a:t>two</a:t>
            </a:r>
            <a:r>
              <a:rPr lang="en-US" sz="3000" dirty="0"/>
              <a:t> of the three treatments in a </a:t>
            </a:r>
            <a:r>
              <a:rPr lang="en-US" sz="3000" dirty="0" smtClean="0"/>
              <a:t>random order.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429432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With </a:t>
            </a:r>
            <a:r>
              <a:rPr lang="en-US" sz="3000" dirty="0"/>
              <a:t>three treatments and two periods, </a:t>
            </a:r>
            <a:r>
              <a:rPr lang="en-US" sz="3000" dirty="0" smtClean="0"/>
              <a:t>this </a:t>
            </a:r>
            <a:r>
              <a:rPr lang="en-US" sz="3000" dirty="0"/>
              <a:t>is an </a:t>
            </a:r>
            <a:r>
              <a:rPr lang="en-US" sz="3000" i="1" u="sng" dirty="0"/>
              <a:t>incomplete</a:t>
            </a:r>
            <a:r>
              <a:rPr lang="en-US" sz="3000" u="sng" dirty="0"/>
              <a:t> randomized block </a:t>
            </a:r>
            <a:r>
              <a:rPr lang="en-US" sz="3000" u="sng" dirty="0" smtClean="0"/>
              <a:t>design</a:t>
            </a:r>
            <a:r>
              <a:rPr lang="en-US" sz="3000" dirty="0" smtClean="0"/>
              <a:t>, i.e., each subject receives an incomplete set of treatments.</a:t>
            </a:r>
          </a:p>
          <a:p>
            <a:r>
              <a:rPr lang="en-US" sz="3000" dirty="0" smtClean="0"/>
              <a:t>There </a:t>
            </a:r>
            <a:r>
              <a:rPr lang="en-US" sz="3000" dirty="0"/>
              <a:t>are six possible treatment sequences, AB, BA, AP, PA, BP, </a:t>
            </a:r>
            <a:r>
              <a:rPr lang="en-US" sz="3000" dirty="0" smtClean="0"/>
              <a:t>PB:</a:t>
            </a:r>
            <a:endParaRPr lang="en-US" sz="3000" dirty="0"/>
          </a:p>
          <a:p>
            <a:pPr lvl="1"/>
            <a:r>
              <a:rPr lang="en-US" sz="2600" dirty="0"/>
              <a:t>A, B and P denote the two active drugs and placebo</a:t>
            </a:r>
            <a:r>
              <a:rPr lang="en-US" sz="2600" dirty="0" smtClean="0"/>
              <a:t>.</a:t>
            </a:r>
            <a:endParaRPr lang="en-US" sz="3000" dirty="0"/>
          </a:p>
          <a:p>
            <a:r>
              <a:rPr lang="en-US" sz="3000" dirty="0" smtClean="0"/>
              <a:t>In </a:t>
            </a:r>
            <a:r>
              <a:rPr lang="en-US" sz="3000" dirty="0"/>
              <a:t>this study the AB and BA sequences were assigned three times </a:t>
            </a:r>
            <a:r>
              <a:rPr lang="en-US" sz="3000" dirty="0" smtClean="0"/>
              <a:t>as many </a:t>
            </a:r>
            <a:r>
              <a:rPr lang="en-US" sz="3000" dirty="0"/>
              <a:t>subjects as the remaining four because of the interest in the </a:t>
            </a:r>
            <a:r>
              <a:rPr lang="en-US" sz="3000" dirty="0" smtClean="0"/>
              <a:t>A versus </a:t>
            </a:r>
            <a:r>
              <a:rPr lang="en-US" sz="3000" dirty="0"/>
              <a:t>B </a:t>
            </a:r>
            <a:r>
              <a:rPr lang="en-US" sz="3000" dirty="0" smtClean="0"/>
              <a:t>comparison.</a:t>
            </a:r>
            <a:endParaRPr lang="en-US" sz="3000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70846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id: Subject id; </a:t>
            </a:r>
            <a:r>
              <a:rPr lang="en-US" dirty="0" err="1" smtClean="0"/>
              <a:t>seq</a:t>
            </a:r>
            <a:r>
              <a:rPr lang="en-US" dirty="0" smtClean="0"/>
              <a:t>: Sequence of treatments for the subject; period: 0=first, 1=second; </a:t>
            </a:r>
            <a:r>
              <a:rPr lang="en-US" dirty="0" err="1" smtClean="0"/>
              <a:t>trt</a:t>
            </a:r>
            <a:r>
              <a:rPr lang="en-US" dirty="0" smtClean="0"/>
              <a:t>=A, B, P, indicating treatment received; y: Self-reported pain relief.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903" y="1825625"/>
            <a:ext cx="4929210" cy="263756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81864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Summary statistics by treatment sequence and period</a:t>
            </a:r>
            <a:endParaRPr lang="en-US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12" y="2424271"/>
            <a:ext cx="5838740" cy="3300157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381718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An important issue in cross-over designs is the possibility of </a:t>
            </a:r>
            <a:r>
              <a:rPr lang="en-US" sz="2800" u="sng" dirty="0" smtClean="0"/>
              <a:t>carry-over effects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This means that the treatment taken in the first period may influence that in the second period. </a:t>
            </a:r>
          </a:p>
          <a:p>
            <a:r>
              <a:rPr lang="en-US" dirty="0" smtClean="0"/>
              <a:t>We account for the carry-over effects by including in the model a period term and terms for previous treatments.</a:t>
            </a:r>
          </a:p>
          <a:p>
            <a:r>
              <a:rPr lang="en-US" sz="2800" dirty="0" smtClean="0"/>
              <a:t>We </a:t>
            </a:r>
            <a:r>
              <a:rPr lang="en-US" dirty="0" smtClean="0"/>
              <a:t>make the simplifying assumption that the carry-over effects depend only on the first treatment and not on second (</a:t>
            </a:r>
            <a:r>
              <a:rPr lang="en-US" sz="2800" dirty="0" smtClean="0"/>
              <a:t>two-way interactions between </a:t>
            </a:r>
            <a:r>
              <a:rPr lang="en-US" dirty="0"/>
              <a:t>first treatment </a:t>
            </a:r>
            <a:r>
              <a:rPr lang="en-US" dirty="0" smtClean="0"/>
              <a:t>and period).</a:t>
            </a:r>
            <a:r>
              <a:rPr lang="en-US" sz="2800" dirty="0"/>
              <a:t/>
            </a:r>
            <a:br>
              <a:rPr lang="en-US" sz="2800" dirty="0"/>
            </a:br>
            <a:endParaRPr lang="en-US" sz="2600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94425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3000" dirty="0" smtClean="0"/>
                  <a:t> denote the response from the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 err="1" smtClean="0"/>
                  <a:t>th</a:t>
                </a:r>
                <a:r>
                  <a:rPr lang="en-US" sz="3000" dirty="0" smtClean="0"/>
                  <a:t> subject in the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 err="1"/>
                  <a:t>th</a:t>
                </a:r>
                <a:r>
                  <a:rPr lang="en-US" sz="3000" dirty="0"/>
                  <a:t/>
                </a:r>
                <a:r>
                  <a:rPr lang="en-US" sz="3000" dirty="0" smtClean="0"/>
                  <a:t>period. We model the mean response by</a:t>
                </a:r>
              </a:p>
              <a:p>
                <a:pPr marL="0" indent="0">
                  <a:buNone/>
                </a:pPr>
                <a:endParaRPr lang="en-US" sz="30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are dummy variable indicators of </a:t>
                </a:r>
                <a:r>
                  <a:rPr lang="en-US" dirty="0" smtClean="0"/>
                  <a:t>treatments </a:t>
                </a:r>
                <a:r>
                  <a:rPr lang="en-US" dirty="0"/>
                  <a:t>A and B (</a:t>
                </a:r>
                <a:r>
                  <a:rPr lang="en-US" dirty="0" smtClean="0"/>
                  <a:t>P is </a:t>
                </a:r>
                <a:r>
                  <a:rPr lang="en-US" dirty="0"/>
                  <a:t>the reference condition</a:t>
                </a:r>
                <a:r>
                  <a:rPr lang="en-US" dirty="0" smtClean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is a </a:t>
                </a:r>
                <a:r>
                  <a:rPr lang="en-US" dirty="0" smtClean="0"/>
                  <a:t>dummy variable </a:t>
                </a:r>
                <a:r>
                  <a:rPr lang="en-US" dirty="0"/>
                  <a:t>indicator </a:t>
                </a:r>
                <a:r>
                  <a:rPr lang="en-US" dirty="0" smtClean="0"/>
                  <a:t>of the second period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are </a:t>
                </a:r>
                <a:r>
                  <a:rPr lang="en-US" dirty="0"/>
                  <a:t>dummy variable indicators of the carryover effects </a:t>
                </a:r>
                <a:r>
                  <a:rPr lang="en-US" dirty="0" smtClean="0"/>
                  <a:t>of </a:t>
                </a:r>
                <a:r>
                  <a:rPr lang="en-US" dirty="0"/>
                  <a:t>A and B, </a:t>
                </a:r>
                <a:r>
                  <a:rPr lang="en-US" dirty="0" smtClean="0"/>
                  <a:t>respectively (equal to 1 if in the second period and was treated with A or B, respectively, in the first period).</a:t>
                </a:r>
                <a:r>
                  <a:rPr lang="en-US" sz="2800" dirty="0" smtClean="0"/>
                  <a:t/>
                </a:r>
                <a:r>
                  <a:rPr lang="en-US" sz="2800" dirty="0"/>
                  <a:t/>
                </a:r>
                <a:br>
                  <a:rPr lang="en-US" sz="2800" dirty="0"/>
                </a:br>
                <a:endParaRPr lang="en-US" sz="2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568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08" y="2391640"/>
            <a:ext cx="6743700" cy="49530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218690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: A;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: B;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: period;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: CO_A;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: CO_B.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71" y="1825625"/>
            <a:ext cx="7177920" cy="2920942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2658341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r>
                  <a:rPr lang="en-US" sz="3000" dirty="0" smtClean="0"/>
                  <a:t>The difference in treatment effect between A and B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3000" dirty="0" smtClean="0"/>
              </a:p>
              <a:p>
                <a:r>
                  <a:rPr lang="en-US" sz="3000" dirty="0" smtClean="0"/>
                  <a:t>We use a mixed effects model with a subject-specific random intercept, as justified by the randomized design.</a:t>
                </a:r>
                <a:endParaRPr lang="en-US" sz="2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080" y="2985135"/>
            <a:ext cx="7870097" cy="2675833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260113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An Example with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729942"/>
          </a:xfrm>
        </p:spPr>
        <p:txBody>
          <a:bodyPr>
            <a:normAutofit lnSpcReduction="10000"/>
          </a:bodyPr>
          <a:lstStyle/>
          <a:p>
            <a:endParaRPr lang="en-US" sz="2600" dirty="0" smtClean="0"/>
          </a:p>
          <a:p>
            <a:endParaRPr lang="en-US" sz="2600" dirty="0"/>
          </a:p>
          <a:p>
            <a:endParaRPr lang="en-US" sz="2600" dirty="0" smtClean="0"/>
          </a:p>
          <a:p>
            <a:endParaRPr lang="en-US" sz="2600" dirty="0"/>
          </a:p>
          <a:p>
            <a:endParaRPr lang="en-US" sz="2600" dirty="0" smtClean="0"/>
          </a:p>
          <a:p>
            <a:endParaRPr lang="en-US" sz="2600" dirty="0"/>
          </a:p>
          <a:p>
            <a:r>
              <a:rPr lang="en-US" sz="2600" dirty="0" smtClean="0"/>
              <a:t>The average difference in pain relief between treatments A and B is 0.5538 (</a:t>
            </a:r>
            <a:r>
              <a:rPr lang="en-US" sz="2600" i="1" dirty="0" smtClean="0"/>
              <a:t>p</a:t>
            </a:r>
            <a:r>
              <a:rPr lang="en-US" sz="2600" dirty="0" smtClean="0"/>
              <a:t>=0.089).</a:t>
            </a:r>
          </a:p>
          <a:p>
            <a:r>
              <a:rPr lang="en-US" sz="2600" dirty="0" smtClean="0"/>
              <a:t>The test for carry-over effects yields a </a:t>
            </a:r>
            <a:r>
              <a:rPr lang="en-US" sz="2600" i="1" dirty="0" smtClean="0"/>
              <a:t>p</a:t>
            </a:r>
            <a:r>
              <a:rPr lang="en-US" sz="2600" dirty="0" smtClean="0"/>
              <a:t> value of 0.094. Because of the magnitudes of the estimated </a:t>
            </a:r>
            <a:r>
              <a:rPr lang="en-US" sz="2600" dirty="0"/>
              <a:t>carry-over </a:t>
            </a:r>
            <a:r>
              <a:rPr lang="en-US" sz="2600" dirty="0" smtClean="0"/>
              <a:t>effects, we keep them in the model.</a:t>
            </a:r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6292"/>
            <a:ext cx="4064922" cy="26185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930" y="1658390"/>
            <a:ext cx="5941061" cy="2294312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371176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72994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The main difference between </a:t>
            </a:r>
            <a:r>
              <a:rPr lang="en-US" sz="3000" u="sng" dirty="0" smtClean="0"/>
              <a:t>classical repeated-measures</a:t>
            </a:r>
            <a:r>
              <a:rPr lang="en-US" sz="3000" dirty="0" smtClean="0"/>
              <a:t> designs and the </a:t>
            </a:r>
            <a:r>
              <a:rPr lang="en-US" sz="3000" u="sng" dirty="0" smtClean="0"/>
              <a:t>longitudinal study</a:t>
            </a:r>
            <a:r>
              <a:rPr lang="en-US" sz="3000" dirty="0" smtClean="0"/>
              <a:t> designs is that treatment varies within the subject in the former but usually between subjects in the latter.</a:t>
            </a:r>
          </a:p>
          <a:p>
            <a:r>
              <a:rPr lang="en-US" sz="3000" dirty="0" smtClean="0"/>
              <a:t>In the special case of randomized block design, treatments are randomly assigned to different occasions, justifying the use of a within-block (within-subject) </a:t>
            </a:r>
            <a:r>
              <a:rPr lang="en-US" sz="3000" u="sng" dirty="0" smtClean="0"/>
              <a:t>random-intercept model</a:t>
            </a:r>
            <a:r>
              <a:rPr lang="en-US" sz="3000" dirty="0" smtClean="0"/>
              <a:t>.</a:t>
            </a:r>
          </a:p>
          <a:p>
            <a:r>
              <a:rPr lang="en-US" sz="3000" dirty="0" smtClean="0"/>
              <a:t>This can be implemented in SAS procedures </a:t>
            </a:r>
            <a:r>
              <a:rPr lang="en-US" sz="3000" u="sng" dirty="0" smtClean="0"/>
              <a:t>PROC MIXED/GLIMMIX</a:t>
            </a:r>
            <a:r>
              <a:rPr lang="en-US" sz="3000" dirty="0" smtClean="0"/>
              <a:t> the same way as for a random-intercept model for longitudinal data.</a:t>
            </a:r>
            <a:endParaRPr lang="en-US" sz="3000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256479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71103</TotalTime>
  <Words>1004</Words>
  <Application>Microsoft Office PowerPoint</Application>
  <PresentationFormat>Widescreen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Classical Repeated-Measures Designs</vt:lpstr>
      <vt:lpstr>Classical Repeated-Measures Designs</vt:lpstr>
      <vt:lpstr>Randomized Block Design</vt:lpstr>
      <vt:lpstr>Randomized Block Design</vt:lpstr>
      <vt:lpstr>Efficiency Gain in Repeated Measures</vt:lpstr>
      <vt:lpstr>Efficiency Gain in Repeated Measures</vt:lpstr>
      <vt:lpstr>Efficiency Gain in Repeated Measures</vt:lpstr>
      <vt:lpstr>Mixed Effects Modeling of Randomized Block Designs</vt:lpstr>
      <vt:lpstr>An Example with a Cross-Over Trial</vt:lpstr>
      <vt:lpstr>An Example with a Cross-Over Trial</vt:lpstr>
      <vt:lpstr>An Example with a Cross-Over Trial</vt:lpstr>
      <vt:lpstr>An Example with a Cross-Over Trial</vt:lpstr>
      <vt:lpstr>An Example with a Cross-Over Trial</vt:lpstr>
      <vt:lpstr>An Example with a Cross-Over Trial</vt:lpstr>
      <vt:lpstr>An Example with a Cross-Over Trial</vt:lpstr>
      <vt:lpstr>An Example with a Cross-Over Trial</vt:lpstr>
      <vt:lpstr>An Example with a Cross-Over Trial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1917</cp:revision>
  <dcterms:created xsi:type="dcterms:W3CDTF">2019-01-16T21:45:55Z</dcterms:created>
  <dcterms:modified xsi:type="dcterms:W3CDTF">2019-04-29T05:21:19Z</dcterms:modified>
</cp:coreProperties>
</file>