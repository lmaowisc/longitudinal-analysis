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4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8BDB-A79D-4E03-ABCF-25C1D6B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F59BC-A71F-4C4C-8B67-79EA93A7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Marginal Models: Generalized Estimating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03540-B986-405E-B139-336A426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E3595-FC24-4CEA-8DA1-B8761EEC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794F3-E2BC-48CA-99A2-5588C4C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E4A67-F0F6-483F-90B1-AB873BDC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4684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Overview of </a:t>
            </a:r>
            <a:r>
              <a:rPr lang="en-US" sz="2800" u="sng" dirty="0" smtClean="0"/>
              <a:t>three approaches</a:t>
            </a:r>
            <a:r>
              <a:rPr lang="en-US" sz="2800" dirty="0" smtClean="0"/>
              <a:t> to GLM for longitudinal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Marginal models by </a:t>
            </a:r>
            <a:r>
              <a:rPr lang="en-US" sz="2800" u="sng" dirty="0" smtClean="0"/>
              <a:t>Generalized Estimating Equations</a:t>
            </a:r>
            <a:r>
              <a:rPr lang="en-US" sz="2800" dirty="0" smtClean="0"/>
              <a:t> (GEE)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GEE by PROC GENMOD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the Toenail Trial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GLM for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</a:t>
            </a:r>
            <a:r>
              <a:rPr lang="en-US" u="sng" dirty="0" smtClean="0"/>
              <a:t>three main approaches</a:t>
            </a:r>
            <a:r>
              <a:rPr lang="en-US" dirty="0" smtClean="0"/>
              <a:t> to </a:t>
            </a:r>
            <a:r>
              <a:rPr lang="en-US" dirty="0"/>
              <a:t>analyzing </a:t>
            </a:r>
            <a:r>
              <a:rPr lang="en-US" dirty="0" smtClean="0"/>
              <a:t>longitudinal responses.</a:t>
            </a:r>
          </a:p>
          <a:p>
            <a:r>
              <a:rPr lang="en-US" dirty="0"/>
              <a:t>These approaches can be considered extensions of generalized linear </a:t>
            </a:r>
            <a:r>
              <a:rPr lang="en-US" dirty="0" smtClean="0"/>
              <a:t>models to </a:t>
            </a:r>
            <a:r>
              <a:rPr lang="en-US" dirty="0"/>
              <a:t>correlated </a:t>
            </a:r>
            <a:r>
              <a:rPr lang="en-US" dirty="0" smtClean="0"/>
              <a:t>data, with emphasis on </a:t>
            </a:r>
            <a:r>
              <a:rPr lang="en-US" u="sng" dirty="0"/>
              <a:t>discrete response </a:t>
            </a:r>
            <a:r>
              <a:rPr lang="en-US" u="sng" dirty="0" smtClean="0"/>
              <a:t>data</a:t>
            </a:r>
            <a:r>
              <a:rPr lang="en-US" dirty="0" smtClean="0"/>
              <a:t>, e.g</a:t>
            </a:r>
            <a:r>
              <a:rPr lang="en-US" dirty="0"/>
              <a:t>., count data </a:t>
            </a:r>
            <a:r>
              <a:rPr lang="en-US" dirty="0" smtClean="0"/>
              <a:t>or binary </a:t>
            </a:r>
            <a:r>
              <a:rPr lang="en-US" dirty="0"/>
              <a:t>responses. </a:t>
            </a:r>
            <a:endParaRPr lang="en-US" dirty="0" smtClean="0"/>
          </a:p>
          <a:p>
            <a:pPr marL="914400" lvl="1" indent="-457200">
              <a:buAutoNum type="arabicPeriod"/>
            </a:pPr>
            <a:r>
              <a:rPr lang="en-US" dirty="0" smtClean="0"/>
              <a:t>Marginal Models (Generalized Estimating Equations, or GEE)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 smtClean="0"/>
              <a:t>Mixed </a:t>
            </a:r>
            <a:r>
              <a:rPr lang="en-US" dirty="0"/>
              <a:t>Effects </a:t>
            </a:r>
            <a:r>
              <a:rPr lang="en-US" dirty="0" smtClean="0"/>
              <a:t>Models </a:t>
            </a:r>
            <a:r>
              <a:rPr lang="en-US" dirty="0"/>
              <a:t>(Generalized </a:t>
            </a:r>
            <a:r>
              <a:rPr lang="en-US" dirty="0" smtClean="0"/>
              <a:t>Linear Mixed Effects Models, or GLIMIX)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 smtClean="0"/>
              <a:t>Transitional Models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GLM for Longitudinal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u="sng" dirty="0" smtClean="0"/>
                  <a:t>M</a:t>
                </a:r>
                <a:r>
                  <a:rPr lang="en-US" u="sng" dirty="0" smtClean="0"/>
                  <a:t>arginal models</a:t>
                </a:r>
                <a:r>
                  <a:rPr lang="en-US" dirty="0" smtClean="0"/>
                  <a:t>: make </a:t>
                </a:r>
                <a:r>
                  <a:rPr lang="en-US" dirty="0"/>
                  <a:t>inferences </a:t>
                </a:r>
                <a:r>
                  <a:rPr lang="en-US" dirty="0" smtClean="0"/>
                  <a:t>about population </a:t>
                </a:r>
                <a:r>
                  <a:rPr lang="en-US" dirty="0" smtClean="0"/>
                  <a:t>averages (with “empirically” estimated covariance structure)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term </a:t>
                </a:r>
                <a:r>
                  <a:rPr lang="en-US" dirty="0" smtClean="0"/>
                  <a:t>“marginal” </a:t>
                </a:r>
                <a:r>
                  <a:rPr lang="en-US" dirty="0" smtClean="0"/>
                  <a:t>emphasizes </a:t>
                </a:r>
                <a:r>
                  <a:rPr lang="en-US" dirty="0"/>
                  <a:t>that the mean </a:t>
                </a:r>
                <a:r>
                  <a:rPr lang="en-US" dirty="0" smtClean="0"/>
                  <a:t>response </a:t>
                </a:r>
                <a:r>
                  <a:rPr lang="en-US" dirty="0" smtClean="0"/>
                  <a:t>is modeled only </a:t>
                </a:r>
                <a:r>
                  <a:rPr lang="en-US" dirty="0"/>
                  <a:t>on covariates and not </a:t>
                </a:r>
                <a:r>
                  <a:rPr lang="en-US" dirty="0" smtClean="0"/>
                  <a:t>on random </a:t>
                </a:r>
                <a:r>
                  <a:rPr lang="en-US" dirty="0" smtClean="0"/>
                  <a:t>effects</a:t>
                </a:r>
                <a:endParaRPr lang="en-US" dirty="0" smtClean="0"/>
              </a:p>
              <a:p>
                <a:r>
                  <a:rPr lang="en-US" u="sng" dirty="0"/>
                  <a:t>Mixed Effects </a:t>
                </a:r>
                <a:r>
                  <a:rPr lang="en-US" u="sng" dirty="0" smtClean="0"/>
                  <a:t>Models</a:t>
                </a:r>
                <a:r>
                  <a:rPr lang="en-US" dirty="0" smtClean="0"/>
                  <a:t>: Like the </a:t>
                </a:r>
                <a:r>
                  <a:rPr lang="en-US" u="sng" dirty="0" smtClean="0"/>
                  <a:t>linear mixed effects model</a:t>
                </a:r>
                <a:r>
                  <a:rPr lang="en-US" dirty="0" smtClean="0"/>
                  <a:t>, assume that responses from a particular subject are independent but with regression parameters vary from subject to subject.</a:t>
                </a:r>
              </a:p>
              <a:p>
                <a:pPr marL="685800" lvl="2">
                  <a:spcBef>
                    <a:spcPts val="1000"/>
                  </a:spcBef>
                </a:pPr>
                <a:r>
                  <a:rPr lang="en-US" sz="2400" dirty="0"/>
                  <a:t>These </a:t>
                </a:r>
                <a:r>
                  <a:rPr lang="en-US" sz="2400" dirty="0" smtClean="0"/>
                  <a:t>are “conditional” models in that they are conditioning on subject-specific random effects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en-US" sz="2800" u="sng" dirty="0" smtClean="0"/>
                  <a:t>Transitional Models</a:t>
                </a:r>
                <a:r>
                  <a:rPr lang="en-US" sz="2800" dirty="0" smtClean="0"/>
                  <a:t>: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 smtClean="0"/>
                  <a:t> conditioning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 smtClean="0"/>
                  <a:t>; generally </a:t>
                </a:r>
                <a:r>
                  <a:rPr lang="en-US" sz="2800" u="sng" dirty="0" smtClean="0"/>
                  <a:t>not</a:t>
                </a:r>
                <a:r>
                  <a:rPr lang="en-US" sz="2800" dirty="0" smtClean="0"/>
                  <a:t> suitable for assessing effect of baseline treatment/exposure.</a:t>
                </a:r>
                <a:endParaRPr lang="en-US" sz="2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239508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Marginal GLM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As always,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response variable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i="1" dirty="0"/>
                  <a:t/>
                </a:r>
                <a:r>
                  <a:rPr lang="en-US" dirty="0" smtClean="0"/>
                  <a:t>occasion,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 But 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 smtClean="0"/>
                  <a:t/>
                </a:r>
                <a:r>
                  <a:rPr lang="en-US" dirty="0"/>
                  <a:t>can be </a:t>
                </a:r>
                <a:r>
                  <a:rPr lang="en-US" u="sng" dirty="0"/>
                  <a:t>continuous, binary, or a </a:t>
                </a:r>
                <a:r>
                  <a:rPr lang="en-US" u="sng" dirty="0" smtClean="0"/>
                  <a:t>count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Associated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a </a:t>
                </a:r>
                <a:r>
                  <a:rPr lang="en-US" i="1" dirty="0" smtClean="0"/>
                  <a:t>p-</a:t>
                </a:r>
                <a:r>
                  <a:rPr lang="en-US" dirty="0" smtClean="0"/>
                  <a:t>vector </a:t>
                </a:r>
                <a:r>
                  <a:rPr lang="en-US" dirty="0"/>
                  <a:t>of covariates,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 smtClean="0"/>
                  <a:t>Again we are interested in modeling the mean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against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42529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Marginal GLM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As in the GLM for univariate response, we specify that the mean response depends on the covariates through a known link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:</a:t>
                </a:r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dirty="0" smtClean="0"/>
                  <a:t>variance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depends on the marginal mean </a:t>
                </a:r>
                <a:r>
                  <a:rPr lang="en-US" dirty="0" smtClean="0"/>
                  <a:t>according to 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238" y="2676785"/>
            <a:ext cx="4810125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20" y="3831387"/>
            <a:ext cx="9104159" cy="1156249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347218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Difficulty in Specifying Covariance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 far, the GLM for longitudinal data is not much different from that for univariate response.</a:t>
            </a:r>
          </a:p>
          <a:p>
            <a:r>
              <a:rPr lang="en-US" dirty="0" smtClean="0"/>
              <a:t>The difficulty with longitudinal data lies in the specification of a </a:t>
            </a:r>
            <a:r>
              <a:rPr lang="en-US" u="sng" dirty="0" smtClean="0"/>
              <a:t>covariance/correlation structure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non-normal response (e.g., binary, count), the correlations, like the variances, are constrained by the means.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3618894"/>
            <a:ext cx="6343650" cy="100012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358709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Difficulty in Specifying Covariance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instance, for binary response, the </a:t>
            </a:r>
            <a:r>
              <a:rPr lang="en-US" dirty="0"/>
              <a:t>correlations must satisfy </a:t>
            </a:r>
            <a:r>
              <a:rPr lang="en-US" dirty="0" smtClean="0"/>
              <a:t>certain inequalities </a:t>
            </a:r>
            <a:r>
              <a:rPr lang="en-US" dirty="0"/>
              <a:t>determined by </a:t>
            </a:r>
            <a:r>
              <a:rPr lang="en-US" dirty="0" smtClean="0"/>
              <a:t>the marginal </a:t>
            </a:r>
            <a:r>
              <a:rPr lang="en-US" dirty="0"/>
              <a:t>probabilities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/>
            </a:r>
          </a:p>
          <a:p>
            <a:pPr lvl="1"/>
            <a:endParaRPr lang="en-US" dirty="0"/>
          </a:p>
          <a:p>
            <a:r>
              <a:rPr lang="en-US" dirty="0" smtClean="0"/>
              <a:t>These </a:t>
            </a:r>
            <a:r>
              <a:rPr lang="en-US" dirty="0"/>
              <a:t>constraints are likely to cause difficulties for </a:t>
            </a:r>
            <a:r>
              <a:rPr lang="en-US" dirty="0" smtClean="0"/>
              <a:t>modelling of the </a:t>
            </a:r>
            <a:r>
              <a:rPr lang="en-US" dirty="0"/>
              <a:t>association.</a:t>
            </a:r>
            <a:r>
              <a:rPr lang="en-US" dirty="0"/>
              <a:t/>
            </a:r>
            <a:endParaRPr lang="en-US" dirty="0" smtClean="0"/>
          </a:p>
          <a:p>
            <a:r>
              <a:rPr lang="en-US" dirty="0"/>
              <a:t>With binary </a:t>
            </a:r>
            <a:r>
              <a:rPr lang="en-US" dirty="0" smtClean="0"/>
              <a:t>response, this difficulty can be partially circumvented by using the </a:t>
            </a:r>
            <a:r>
              <a:rPr lang="en-US" u="sng" dirty="0"/>
              <a:t>odds </a:t>
            </a:r>
            <a:r>
              <a:rPr lang="en-US" u="sng" dirty="0" smtClean="0"/>
              <a:t>ratio</a:t>
            </a:r>
            <a:r>
              <a:rPr lang="en-US" dirty="0" smtClean="0"/>
              <a:t> (instead of correlation) as the measure of association.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59" y="2645525"/>
            <a:ext cx="8658225" cy="68580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3983002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Difficulty in Specifying Covariance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odds ratio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box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sepChr m:val="∣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box>
                    </m:oMath>
                  </m:oMathPara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∈[0,∞)</m:t>
                    </m:r>
                  </m:oMath>
                </a14:m>
                <a:r>
                  <a:rPr lang="en-US" dirty="0" smtClean="0"/>
                  <a:t> regardless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However, even if we specify a OR matrix for the responses, it is still not enough to fix the </a:t>
                </a:r>
                <a:r>
                  <a:rPr lang="en-US" u="sng" dirty="0" smtClean="0"/>
                  <a:t>joint likelihood</a:t>
                </a:r>
                <a:r>
                  <a:rPr lang="en-US" dirty="0" smtClean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 smtClean="0"/>
                  <a:t>unable</a:t>
                </a:r>
                <a:r>
                  <a:rPr lang="en-US" dirty="0" smtClean="0"/>
                  <a:t> to do </a:t>
                </a:r>
                <a:r>
                  <a:rPr lang="en-US" u="sng" dirty="0" smtClean="0"/>
                  <a:t>ML estimation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025741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Generalized Estimating Equations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Solution</a:t>
                </a:r>
                <a:r>
                  <a:rPr lang="en-US" dirty="0" smtClean="0"/>
                  <a:t>: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Focus on the mean model only, and specify a correlation/OR structure only as a </a:t>
                </a:r>
                <a:r>
                  <a:rPr lang="en-US" u="sng" dirty="0" smtClean="0"/>
                  <a:t>working model</a:t>
                </a:r>
                <a:r>
                  <a:rPr lang="en-US" dirty="0" smtClean="0"/>
                  <a:t> (usually independence model);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Construct a </a:t>
                </a:r>
                <a:r>
                  <a:rPr lang="en-US" u="sng" dirty="0" smtClean="0"/>
                  <a:t>Generalized Estimating Equation (GEE)</a:t>
                </a:r>
                <a:r>
                  <a:rPr lang="en-US" dirty="0" smtClean="0"/>
                  <a:t> using the specified mean model and the working correlation model and obtain an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 smtClean="0"/>
                  <a:t>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Estimate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 smtClean="0"/>
                  <a:t> via an empirical “</a:t>
                </a:r>
                <a:r>
                  <a:rPr lang="en-US" u="sng" dirty="0" smtClean="0"/>
                  <a:t>sandwich estimator</a:t>
                </a:r>
                <a:r>
                  <a:rPr lang="en-US" dirty="0" smtClean="0"/>
                  <a:t>”.</a:t>
                </a:r>
              </a:p>
              <a:p>
                <a:r>
                  <a:rPr lang="en-US" u="sng" dirty="0" smtClean="0"/>
                  <a:t>Properties of GEE</a:t>
                </a:r>
                <a:r>
                  <a:rPr lang="en-US" dirty="0" smtClean="0"/>
                  <a:t>:</a:t>
                </a:r>
              </a:p>
              <a:p>
                <a:pPr lvl="1"/>
                <a:r>
                  <a:rPr lang="en-US" dirty="0" smtClean="0"/>
                  <a:t>The validity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(in large samples,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&gt;50</m:t>
                    </m:r>
                  </m:oMath>
                </a14:m>
                <a:r>
                  <a:rPr lang="en-US" dirty="0" smtClean="0"/>
                  <a:t>) does not depend on correctness of the working model for correlation;</a:t>
                </a:r>
              </a:p>
              <a:p>
                <a:pPr lvl="1"/>
                <a:r>
                  <a:rPr lang="en-US" dirty="0" smtClean="0"/>
                  <a:t>The sandwich estimator always correctly estimates the covariance matrix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regardless of the working model.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416171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*Details about the GEE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46" y="1834179"/>
            <a:ext cx="7410623" cy="434278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11351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Advantages of GEE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“working model” may be viewed as an </a:t>
                </a:r>
                <a:r>
                  <a:rPr lang="en-US" u="sng" dirty="0" smtClean="0"/>
                  <a:t>initial guess</a:t>
                </a:r>
                <a:r>
                  <a:rPr lang="en-US" dirty="0" smtClean="0"/>
                  <a:t> at the correlation structure. An iterative procedure in the GEE will update this initial guess until it approximates the truth at convergence.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is most </a:t>
                </a:r>
                <a:r>
                  <a:rPr lang="en-US" u="sng" dirty="0" smtClean="0"/>
                  <a:t>efficient</a:t>
                </a:r>
                <a:r>
                  <a:rPr lang="en-US" dirty="0" smtClean="0"/>
                  <a:t> (having the smallest variance) if the working model happens to be correct.</a:t>
                </a:r>
              </a:p>
              <a:p>
                <a:r>
                  <a:rPr lang="en-US" dirty="0" smtClean="0"/>
                  <a:t>One </a:t>
                </a:r>
                <a:r>
                  <a:rPr lang="en-US" u="sng" dirty="0" smtClean="0"/>
                  <a:t>does not</a:t>
                </a:r>
                <a:r>
                  <a:rPr lang="en-US" dirty="0" smtClean="0"/>
                  <a:t> have to specify the joint distribution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 in order to make valid inference (i.e., robustness).</a:t>
                </a:r>
              </a:p>
              <a:p>
                <a:r>
                  <a:rPr lang="en-US" dirty="0"/>
                  <a:t>The GEE approach has become an extremely popular method for </a:t>
                </a:r>
                <a:r>
                  <a:rPr lang="en-US" dirty="0" smtClean="0"/>
                  <a:t>analyzing discrete </a:t>
                </a:r>
                <a:r>
                  <a:rPr lang="en-US" dirty="0"/>
                  <a:t>longitudinal data.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1358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Interpretations of Marginal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focus of marginal models is on inferences about population averages.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regression parameters,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have </a:t>
                </a:r>
                <a:r>
                  <a:rPr lang="en-US" dirty="0" smtClean="0"/>
                  <a:t>“population-averaged” interpretation:</a:t>
                </a:r>
              </a:p>
              <a:p>
                <a:pPr lvl="1"/>
                <a:r>
                  <a:rPr lang="en-US" dirty="0" smtClean="0"/>
                  <a:t>describe effect of covariates on marginal expectations or average</a:t>
                </a:r>
                <a:br>
                  <a:rPr lang="en-US" dirty="0" smtClean="0"/>
                </a:br>
                <a:r>
                  <a:rPr lang="en-US" dirty="0" smtClean="0"/>
                  <a:t>responses</a:t>
                </a:r>
                <a:endParaRPr lang="en-US" dirty="0"/>
              </a:p>
              <a:p>
                <a:pPr lvl="1"/>
                <a:r>
                  <a:rPr lang="en-US" dirty="0" smtClean="0"/>
                  <a:t>contrast means in sub-populations that share common covariate values</a:t>
                </a:r>
              </a:p>
              <a:p>
                <a:r>
                  <a:rPr lang="en-US" dirty="0" smtClean="0"/>
                  <a:t>Except for the linear model with (identity link function), population-level and subject-level inferences are not the same.</a:t>
                </a:r>
                <a:endParaRPr lang="en-US" dirty="0"/>
              </a:p>
              <a:p>
                <a:r>
                  <a:rPr lang="en-US" dirty="0" smtClean="0"/>
                  <a:t>Marginal </a:t>
                </a:r>
                <a:r>
                  <a:rPr lang="en-US" dirty="0"/>
                  <a:t>models are most useful for population-level inferences.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3645460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GEE in SAS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PROC GENMOD</a:t>
            </a:r>
            <a:r>
              <a:rPr lang="en-US" dirty="0"/>
              <a:t> in SAS </a:t>
            </a:r>
            <a:r>
              <a:rPr lang="en-US" dirty="0" smtClean="0"/>
              <a:t>can fit generalized</a:t>
            </a:r>
            <a:r>
              <a:rPr lang="en-US" dirty="0"/>
              <a:t/>
            </a:r>
            <a:r>
              <a:rPr lang="en-US" dirty="0" smtClean="0"/>
              <a:t>linear </a:t>
            </a:r>
            <a:r>
              <a:rPr lang="en-US" dirty="0"/>
              <a:t>models to a single </a:t>
            </a:r>
            <a:r>
              <a:rPr lang="en-US" dirty="0" smtClean="0"/>
              <a:t>response.</a:t>
            </a:r>
          </a:p>
          <a:p>
            <a:r>
              <a:rPr lang="en-US" dirty="0" smtClean="0"/>
              <a:t>It can also implement the GEE </a:t>
            </a:r>
            <a:r>
              <a:rPr lang="en-US" dirty="0"/>
              <a:t>approach using a </a:t>
            </a:r>
            <a:r>
              <a:rPr lang="en-US" u="sng" dirty="0"/>
              <a:t>REPEATED</a:t>
            </a:r>
            <a:r>
              <a:rPr lang="en-US" dirty="0"/>
              <a:t> statement (similar to PROC </a:t>
            </a:r>
            <a:r>
              <a:rPr lang="en-US" dirty="0" smtClean="0"/>
              <a:t>MIXED but the there a few differences in the syntax).</a:t>
            </a:r>
          </a:p>
          <a:p>
            <a:r>
              <a:rPr lang="en-US" dirty="0" smtClean="0"/>
              <a:t>PROC </a:t>
            </a:r>
            <a:r>
              <a:rPr lang="en-US" dirty="0"/>
              <a:t>GENMOD, as with almost all software for longitudinal </a:t>
            </a:r>
            <a:r>
              <a:rPr lang="en-US" dirty="0" smtClean="0"/>
              <a:t>analyses, requires that the dataset be in the “long” format.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395735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GEE in SAS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070571"/>
          </a:xfrm>
        </p:spPr>
        <p:txBody>
          <a:bodyPr>
            <a:normAutofit/>
          </a:bodyPr>
          <a:lstStyle/>
          <a:p>
            <a:r>
              <a:rPr lang="en-US" dirty="0" smtClean="0"/>
              <a:t>For example, the code for a GEE logistic regression looks like this:</a:t>
            </a:r>
          </a:p>
          <a:p>
            <a:pPr marL="0" indent="0">
              <a:buNone/>
            </a:pPr>
            <a:r>
              <a:rPr lang="en-US" dirty="0" smtClean="0"/>
              <a:t>PROC </a:t>
            </a:r>
            <a:r>
              <a:rPr lang="en-US" dirty="0"/>
              <a:t>GENMOD DESCENDING;</a:t>
            </a:r>
            <a:br>
              <a:rPr lang="en-US" dirty="0"/>
            </a:br>
            <a:r>
              <a:rPr lang="en-US" dirty="0" smtClean="0"/>
              <a:t>	CLASS </a:t>
            </a:r>
            <a:r>
              <a:rPr lang="en-US" dirty="0"/>
              <a:t>id </a:t>
            </a:r>
            <a:r>
              <a:rPr lang="en-US" dirty="0" smtClean="0"/>
              <a:t>group time;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MODEL </a:t>
            </a:r>
            <a:r>
              <a:rPr lang="en-US" dirty="0"/>
              <a:t>y=group time group*time / DIST=BINOMIAL LINK=LOGIT;</a:t>
            </a:r>
            <a:br>
              <a:rPr lang="en-US" dirty="0"/>
            </a:br>
            <a:r>
              <a:rPr lang="en-US" dirty="0" smtClean="0"/>
              <a:t>	REPEATED </a:t>
            </a:r>
            <a:r>
              <a:rPr lang="en-US" dirty="0"/>
              <a:t>SUBJECT=id / </a:t>
            </a:r>
            <a:r>
              <a:rPr lang="en-US" dirty="0" smtClean="0"/>
              <a:t>WITHIN=time TYPE=IND; </a:t>
            </a:r>
          </a:p>
          <a:p>
            <a:pPr marL="0" indent="0">
              <a:buNone/>
            </a:pPr>
            <a:r>
              <a:rPr lang="en-US" dirty="0" smtClean="0"/>
              <a:t>RUN;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28800" y="3532909"/>
            <a:ext cx="7140633" cy="3990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3499659" y="3931920"/>
            <a:ext cx="598516" cy="340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77193" y="4327942"/>
            <a:ext cx="7448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Two differences with PROC MIXED:</a:t>
            </a:r>
          </a:p>
          <a:p>
            <a:pPr marL="342900" indent="-342900">
              <a:buAutoNum type="arabicPeriod"/>
            </a:pPr>
            <a:r>
              <a:rPr lang="en-US" dirty="0" smtClean="0"/>
              <a:t>“SUBJECT=“ follows the REPEATED statement immediately, not after “/”;</a:t>
            </a:r>
          </a:p>
          <a:p>
            <a:pPr marL="342900" indent="-342900">
              <a:buAutoNum type="arabicPeriod"/>
            </a:pPr>
            <a:r>
              <a:rPr lang="en-US" dirty="0" smtClean="0"/>
              <a:t>The class variable for time occasion is specified by the option “WITHIN=“;</a:t>
            </a:r>
          </a:p>
          <a:p>
            <a:r>
              <a:rPr lang="en-US" dirty="0" smtClean="0"/>
              <a:t>If this statement were from PROC MIXED, it would have been</a:t>
            </a:r>
          </a:p>
          <a:p>
            <a:r>
              <a:rPr lang="en-US" dirty="0"/>
              <a:t>REPEATED </a:t>
            </a:r>
            <a:r>
              <a:rPr lang="en-US" dirty="0" smtClean="0"/>
              <a:t>time / </a:t>
            </a:r>
            <a:r>
              <a:rPr lang="en-US" dirty="0"/>
              <a:t>SUBJECT=id</a:t>
            </a:r>
            <a:r>
              <a:rPr lang="en-US" dirty="0" smtClean="0"/>
              <a:t/>
            </a:r>
            <a:r>
              <a:rPr lang="en-US" dirty="0"/>
              <a:t>TYPE=IND;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500953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Randomized, double-blind, parallel-group, multicenter study of 294 </a:t>
            </a:r>
            <a:r>
              <a:rPr lang="en-US" dirty="0" smtClean="0"/>
              <a:t>patients comparing </a:t>
            </a:r>
            <a:r>
              <a:rPr lang="en-US" dirty="0"/>
              <a:t>2 oral treatments (denoted A and B) for toe-nail </a:t>
            </a:r>
            <a:r>
              <a:rPr lang="en-US" dirty="0" smtClean="0"/>
              <a:t>infection.</a:t>
            </a:r>
          </a:p>
          <a:p>
            <a:r>
              <a:rPr lang="en-US" dirty="0" smtClean="0"/>
              <a:t>Outcome </a:t>
            </a:r>
            <a:r>
              <a:rPr lang="en-US" dirty="0"/>
              <a:t>variable: </a:t>
            </a:r>
            <a:r>
              <a:rPr lang="en-US" u="sng" dirty="0"/>
              <a:t>Binary variable</a:t>
            </a:r>
            <a:r>
              <a:rPr lang="en-US" dirty="0"/>
              <a:t> indicating presence of </a:t>
            </a:r>
            <a:r>
              <a:rPr lang="en-US" u="sng" dirty="0" err="1"/>
              <a:t>onycholysis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(separation of the nail plate from the nail bed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Patients </a:t>
            </a:r>
            <a:r>
              <a:rPr lang="en-US" dirty="0"/>
              <a:t>evaluated for </a:t>
            </a:r>
            <a:r>
              <a:rPr lang="en-US" dirty="0" err="1" smtClean="0"/>
              <a:t>onycholysis</a:t>
            </a:r>
            <a:r>
              <a:rPr lang="en-US" dirty="0" smtClean="0"/>
              <a:t/>
            </a:r>
            <a:r>
              <a:rPr lang="en-US" dirty="0" smtClean="0"/>
              <a:t>at </a:t>
            </a:r>
            <a:r>
              <a:rPr lang="en-US" dirty="0"/>
              <a:t>baseline (week 0) and at weeks 4, 8, 12, 24, 36, </a:t>
            </a:r>
            <a:r>
              <a:rPr lang="en-US" dirty="0" smtClean="0"/>
              <a:t>and 48.</a:t>
            </a:r>
          </a:p>
          <a:p>
            <a:r>
              <a:rPr lang="en-US" dirty="0" smtClean="0"/>
              <a:t>Interested </a:t>
            </a:r>
            <a:r>
              <a:rPr lang="en-US" dirty="0"/>
              <a:t>in the rate of decline of </a:t>
            </a:r>
            <a:r>
              <a:rPr lang="en-US" u="sng" dirty="0"/>
              <a:t>the proportion of patients</a:t>
            </a:r>
            <a:r>
              <a:rPr lang="en-US" dirty="0"/>
              <a:t> with</a:t>
            </a:r>
            <a:br>
              <a:rPr lang="en-US" dirty="0"/>
            </a:br>
            <a:r>
              <a:rPr lang="en-US" dirty="0" err="1"/>
              <a:t>onycholysis</a:t>
            </a:r>
            <a:r>
              <a:rPr lang="en-US" dirty="0"/>
              <a:t> over time and the effects of treatment on that rate.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3462770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883" y="1782127"/>
            <a:ext cx="5408443" cy="372089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819847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15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4011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40359</TotalTime>
  <Words>679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GLM for Longitudinal Data</vt:lpstr>
      <vt:lpstr>GLM for Longitudinal Data</vt:lpstr>
      <vt:lpstr>Marginal GLM</vt:lpstr>
      <vt:lpstr>Marginal GLM</vt:lpstr>
      <vt:lpstr>Difficulty in Specifying Covariance </vt:lpstr>
      <vt:lpstr>Difficulty in Specifying Covariance </vt:lpstr>
      <vt:lpstr>Difficulty in Specifying Covariance </vt:lpstr>
      <vt:lpstr>Generalized Estimating Equations</vt:lpstr>
      <vt:lpstr>*Details about the GEE</vt:lpstr>
      <vt:lpstr>Advantages of GEE</vt:lpstr>
      <vt:lpstr>Interpretations of Marginal Models</vt:lpstr>
      <vt:lpstr>GEE in SAS</vt:lpstr>
      <vt:lpstr>GEE in SAS</vt:lpstr>
      <vt:lpstr>Oral Treatment of Toenail Infection</vt:lpstr>
      <vt:lpstr>Oral Treatment of Toenail Infection</vt:lpstr>
      <vt:lpstr>Oral Treatment of Toenail Infection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1065</cp:revision>
  <dcterms:created xsi:type="dcterms:W3CDTF">2019-01-16T21:45:55Z</dcterms:created>
  <dcterms:modified xsi:type="dcterms:W3CDTF">2019-04-01T01:51:46Z</dcterms:modified>
</cp:coreProperties>
</file>