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8" r:id="rId14"/>
    <p:sldId id="269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AFE3B-044C-403B-A5F1-94E70C8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25104-1DE7-4468-B480-BF43D9A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Generalized Linear Mixed Effects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1B3F7-65BF-4082-ABA1-94577EBE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93A83-15FA-40C3-9574-404BD296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3F7CD-8E69-41FA-A1E5-551DF17F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95347-BC8E-4236-A247-045502F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6002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Subject-Level Models and Interpretations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PROC GLIMMIX in SAS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Examples with Binary and Count Responses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Generalized Linear Mixed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far, we have discussed </a:t>
            </a:r>
            <a:r>
              <a:rPr lang="en-US" i="1" u="sng" dirty="0"/>
              <a:t>marginal models</a:t>
            </a:r>
            <a:r>
              <a:rPr lang="en-US" i="1" dirty="0"/>
              <a:t/>
            </a:r>
            <a:r>
              <a:rPr lang="en-US" dirty="0"/>
              <a:t>for longitudinal </a:t>
            </a:r>
            <a:r>
              <a:rPr lang="en-US" dirty="0" smtClean="0"/>
              <a:t>data.</a:t>
            </a:r>
          </a:p>
          <a:p>
            <a:r>
              <a:rPr lang="en-US" dirty="0" smtClean="0"/>
              <a:t>Next</a:t>
            </a:r>
            <a:r>
              <a:rPr lang="en-US" dirty="0"/>
              <a:t>, we consider a second type of extension, </a:t>
            </a:r>
            <a:r>
              <a:rPr lang="en-US" i="1" u="sng" dirty="0"/>
              <a:t>generalized linear mixed </a:t>
            </a:r>
            <a:r>
              <a:rPr lang="en-US" i="1" u="sng" dirty="0" smtClean="0"/>
              <a:t>models </a:t>
            </a:r>
            <a:r>
              <a:rPr lang="en-US" u="sng" dirty="0" smtClean="0"/>
              <a:t>(GLMM)</a:t>
            </a:r>
            <a:r>
              <a:rPr lang="en-US" dirty="0"/>
              <a:t>,</a:t>
            </a:r>
            <a:r>
              <a:rPr lang="en-US" dirty="0" smtClean="0"/>
              <a:t> which extend </a:t>
            </a:r>
            <a:r>
              <a:rPr lang="en-US" dirty="0"/>
              <a:t>the conceptual approach </a:t>
            </a:r>
            <a:r>
              <a:rPr lang="en-US" dirty="0" smtClean="0"/>
              <a:t>of the </a:t>
            </a:r>
            <a:r>
              <a:rPr lang="en-US" dirty="0"/>
              <a:t>linear mixed effects model (Lectures </a:t>
            </a:r>
            <a:r>
              <a:rPr lang="en-US" dirty="0" smtClean="0"/>
              <a:t>10 &amp; 11).</a:t>
            </a:r>
          </a:p>
          <a:p>
            <a:r>
              <a:rPr lang="en-US" dirty="0" smtClean="0"/>
              <a:t>We </a:t>
            </a:r>
            <a:r>
              <a:rPr lang="en-US" dirty="0"/>
              <a:t>also highlight their greater degree of </a:t>
            </a:r>
            <a:r>
              <a:rPr lang="en-US" u="sng" dirty="0"/>
              <a:t>conceptual and analytic </a:t>
            </a:r>
            <a:r>
              <a:rPr lang="en-US" u="sng" dirty="0" smtClean="0"/>
              <a:t>complexity</a:t>
            </a:r>
            <a:r>
              <a:rPr lang="en-US" dirty="0" smtClean="0"/>
              <a:t> relative </a:t>
            </a:r>
            <a:r>
              <a:rPr lang="en-US" dirty="0"/>
              <a:t>to marginal models.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Generalized Linear Mixed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 in the linear mixed effects models, a </a:t>
            </a:r>
            <a:r>
              <a:rPr lang="en-US" dirty="0"/>
              <a:t>subset of the regression coefficients (e.g., intercepts and </a:t>
            </a:r>
            <a:r>
              <a:rPr lang="en-US" dirty="0" smtClean="0"/>
              <a:t>slopes) in the GLMM are </a:t>
            </a:r>
            <a:r>
              <a:rPr lang="en-US" dirty="0"/>
              <a:t>assumed to vary across individuals according to some </a:t>
            </a:r>
            <a:r>
              <a:rPr lang="en-US" dirty="0" smtClean="0"/>
              <a:t>distribution (multivariate normal).</a:t>
            </a:r>
          </a:p>
          <a:p>
            <a:r>
              <a:rPr lang="en-US" dirty="0" smtClean="0"/>
              <a:t>Then</a:t>
            </a:r>
            <a:r>
              <a:rPr lang="en-US" dirty="0"/>
              <a:t>, </a:t>
            </a:r>
            <a:r>
              <a:rPr lang="en-US" u="sng" dirty="0"/>
              <a:t>conditional on the random effects</a:t>
            </a:r>
            <a:r>
              <a:rPr lang="en-US" dirty="0"/>
              <a:t>, it is assumed that the </a:t>
            </a:r>
            <a:r>
              <a:rPr lang="en-US" dirty="0" smtClean="0"/>
              <a:t>responses for </a:t>
            </a:r>
            <a:r>
              <a:rPr lang="en-US" dirty="0"/>
              <a:t>a single individual are </a:t>
            </a:r>
            <a:r>
              <a:rPr lang="en-US" u="sng" dirty="0"/>
              <a:t>independent observations</a:t>
            </a:r>
            <a:r>
              <a:rPr lang="en-US" dirty="0"/>
              <a:t> from a </a:t>
            </a:r>
            <a:r>
              <a:rPr lang="en-US" dirty="0" smtClean="0"/>
              <a:t>distribution belonging </a:t>
            </a:r>
            <a:r>
              <a:rPr lang="en-US" dirty="0"/>
              <a:t>to the </a:t>
            </a:r>
            <a:r>
              <a:rPr lang="en-US" u="sng" dirty="0"/>
              <a:t>exponential family</a:t>
            </a:r>
            <a:r>
              <a:rPr lang="en-US" dirty="0"/>
              <a:t>.</a:t>
            </a:r>
            <a:r>
              <a:rPr lang="en-US" dirty="0"/>
              <a:t/>
            </a:r>
            <a:endParaRPr lang="en-US" dirty="0" smtClean="0"/>
          </a:p>
          <a:p>
            <a:r>
              <a:rPr lang="en-US" dirty="0" smtClean="0"/>
              <a:t>The subject-level random effects account for the </a:t>
            </a:r>
            <a:r>
              <a:rPr lang="en-US" u="sng" dirty="0" smtClean="0"/>
              <a:t>heterogeneity</a:t>
            </a:r>
            <a:r>
              <a:rPr lang="en-US" dirty="0" smtClean="0"/>
              <a:t> in the population and induce </a:t>
            </a:r>
            <a:r>
              <a:rPr lang="en-US" u="sng" dirty="0" smtClean="0"/>
              <a:t>correlation</a:t>
            </a:r>
            <a:r>
              <a:rPr lang="en-US" dirty="0" smtClean="0"/>
              <a:t> among measurements within each subject.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357758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Generalized Linear Mixed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Recall tha</a:t>
                </a:r>
                <a:r>
                  <a:rPr lang="en-US" dirty="0" smtClean="0"/>
                  <a:t>t in the </a:t>
                </a:r>
                <a:r>
                  <a:rPr lang="en-US" u="sng" dirty="0" smtClean="0"/>
                  <a:t>linear mixed effects model</a:t>
                </a:r>
                <a:r>
                  <a:rPr lang="en-US" dirty="0" smtClean="0"/>
                  <a:t>, </a:t>
                </a:r>
              </a:p>
              <a:p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 is a subset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contains the random effects.</a:t>
                </a:r>
              </a:p>
              <a:p>
                <a:r>
                  <a:rPr lang="en-US" dirty="0" smtClean="0"/>
                  <a:t>The conditional (subject-specific) mean model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Likewise, with GLM for non-continuous response, we assume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sepChr m:val="∣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 is a known link function.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4145820" y="2281903"/>
                <a:ext cx="3670609" cy="572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8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20" y="2281903"/>
                <a:ext cx="3670609" cy="572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46171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Generalized Linear Mixed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We also assume that conditioning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the responses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 smtClean="0"/>
                  <a:t> are </a:t>
                </a:r>
                <a:r>
                  <a:rPr lang="en-US" u="sng" dirty="0" smtClean="0"/>
                  <a:t>independent.</a:t>
                </a:r>
              </a:p>
              <a:p>
                <a:r>
                  <a:rPr lang="en-US" dirty="0" smtClean="0"/>
                  <a:t>The </a:t>
                </a:r>
                <a:r>
                  <a:rPr lang="en-US" u="sng" dirty="0" smtClean="0"/>
                  <a:t>conditional independence</a:t>
                </a:r>
                <a:r>
                  <a:rPr lang="en-US" dirty="0" smtClean="0"/>
                  <a:t> structure circumvents the need to specify a joint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We only need to specify the (conditional) distribution of </a:t>
                </a:r>
                <a:r>
                  <a:rPr lang="en-US" u="sng" dirty="0" smtClean="0"/>
                  <a:t>each measurement</a:t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(e.g., Bernoulli, multinomial, Poisson, etc.), and their joint distribution will be determined naturally by the random effects.</a:t>
                </a:r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58426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Generalized Linear Mixed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are assumed to vary independently from one individual</a:t>
                </a:r>
                <a:br>
                  <a:rPr lang="en-US" dirty="0"/>
                </a:br>
                <a:r>
                  <a:rPr lang="en-US" dirty="0"/>
                  <a:t>to another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∼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the covariance matrix for the random </a:t>
                </a:r>
                <a:r>
                  <a:rPr lang="en-US" dirty="0" smtClean="0"/>
                  <a:t>effects.</a:t>
                </a:r>
              </a:p>
              <a:p>
                <a:r>
                  <a:rPr lang="en-US" dirty="0"/>
                  <a:t>Recall that marginal models </a:t>
                </a:r>
                <a:r>
                  <a:rPr lang="en-US" dirty="0" smtClean="0"/>
                  <a:t>estimate the dependence</a:t>
                </a:r>
                <a:r>
                  <a:rPr lang="en-US" dirty="0"/>
                  <a:t/>
                </a:r>
                <a:r>
                  <a:rPr lang="en-US" dirty="0" smtClean="0"/>
                  <a:t>among </a:t>
                </a:r>
                <a:r>
                  <a:rPr lang="en-US" dirty="0"/>
                  <a:t>the repeated measures </a:t>
                </a:r>
                <a:r>
                  <a:rPr lang="en-US" dirty="0" smtClean="0"/>
                  <a:t>empirically via </a:t>
                </a:r>
                <a:r>
                  <a:rPr lang="en-US" dirty="0"/>
                  <a:t>a </a:t>
                </a:r>
                <a:r>
                  <a:rPr lang="en-US" dirty="0" smtClean="0"/>
                  <a:t>“working” correlation.</a:t>
                </a:r>
              </a:p>
              <a:p>
                <a:r>
                  <a:rPr lang="en-US" dirty="0" smtClean="0"/>
                  <a:t>In </a:t>
                </a:r>
                <a:r>
                  <a:rPr lang="en-US" dirty="0"/>
                  <a:t>contrast, GLMMs </a:t>
                </a:r>
                <a:r>
                  <a:rPr lang="en-US" dirty="0" smtClean="0"/>
                  <a:t>induce dependence via the inclusion </a:t>
                </a:r>
                <a:r>
                  <a:rPr lang="en-US" dirty="0"/>
                  <a:t>of random </a:t>
                </a:r>
                <a:r>
                  <a:rPr lang="en-US" dirty="0" smtClean="0"/>
                  <a:t>effects.</a:t>
                </a:r>
              </a:p>
              <a:p>
                <a:r>
                  <a:rPr lang="en-US" dirty="0" smtClean="0"/>
                  <a:t>However</a:t>
                </a:r>
                <a:r>
                  <a:rPr lang="en-US" dirty="0"/>
                  <a:t>, the introduction of random effects also has important </a:t>
                </a:r>
                <a:r>
                  <a:rPr lang="en-US" dirty="0" smtClean="0"/>
                  <a:t>implications for </a:t>
                </a:r>
                <a:r>
                  <a:rPr lang="en-US" dirty="0"/>
                  <a:t>the </a:t>
                </a:r>
                <a:r>
                  <a:rPr lang="en-US" u="sng" dirty="0"/>
                  <a:t>interpretation</a:t>
                </a:r>
                <a:r>
                  <a:rPr lang="en-US" dirty="0"/>
                  <a:t> of the regression parameters in GLMMs.</a:t>
                </a:r>
                <a:r>
                  <a:rPr lang="en-US" dirty="0"/>
                  <a:t/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263002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Interpretation of Fixed Effects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GLMMs are most useful when the scientific objective is to make inferences about </a:t>
                </a:r>
                <a:r>
                  <a:rPr lang="en-US" u="sng" dirty="0"/>
                  <a:t>individuals</a:t>
                </a:r>
                <a:r>
                  <a:rPr lang="en-US" dirty="0"/>
                  <a:t> rather than population </a:t>
                </a:r>
                <a:r>
                  <a:rPr lang="en-US" dirty="0" smtClean="0"/>
                  <a:t>averages.</a:t>
                </a:r>
              </a:p>
              <a:p>
                <a:r>
                  <a:rPr lang="en-US" dirty="0" smtClean="0"/>
                  <a:t>Main </a:t>
                </a:r>
                <a:r>
                  <a:rPr lang="en-US" dirty="0"/>
                  <a:t>focus is on the individual and the influence of covariates on a </a:t>
                </a:r>
                <a:r>
                  <a:rPr lang="en-US" i="1" dirty="0" smtClean="0"/>
                  <a:t>typical 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dirty="0"/>
                  <a:t>) individual’s </a:t>
                </a:r>
                <a:r>
                  <a:rPr lang="en-US" dirty="0" smtClean="0"/>
                  <a:t>responses.</a:t>
                </a:r>
              </a:p>
              <a:p>
                <a:r>
                  <a:rPr lang="en-US" dirty="0" smtClean="0"/>
                  <a:t>Regression </a:t>
                </a:r>
                <a:r>
                  <a:rPr lang="en-US" dirty="0"/>
                  <a:t>parameters,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measure the change in expected value of </a:t>
                </a:r>
                <a:r>
                  <a:rPr lang="en-US" dirty="0" smtClean="0"/>
                  <a:t>response while </a:t>
                </a:r>
                <a:r>
                  <a:rPr lang="en-US" dirty="0"/>
                  <a:t>holding constant other covariates and the random effects.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375527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Interpretation of Fixed Effects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example, consider the following logistic model,</a:t>
                </a:r>
                <a:br>
                  <a:rPr lang="en-US" dirty="0" smtClean="0"/>
                </a:br>
                <a:endParaRPr lang="en-US" dirty="0"/>
              </a:p>
              <a:p>
                <a:r>
                  <a:rPr lang="en-US" dirty="0" smtClean="0"/>
                  <a:t>Each </a:t>
                </a:r>
                <a:r>
                  <a:rPr lang="en-US" dirty="0"/>
                  <a:t>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 smtClean="0"/>
                  <a:t/>
                </a:r>
                <a:r>
                  <a:rPr lang="en-US" dirty="0" smtClean="0"/>
                  <a:t>measures </a:t>
                </a:r>
                <a:r>
                  <a:rPr lang="en-US" dirty="0"/>
                  <a:t>the change in the log odds of </a:t>
                </a:r>
                <a:r>
                  <a:rPr lang="en-US" dirty="0" smtClean="0"/>
                  <a:t>the “event” </a:t>
                </a:r>
                <a:r>
                  <a:rPr lang="en-US" dirty="0"/>
                  <a:t>per unit change in the respective </a:t>
                </a:r>
                <a:r>
                  <a:rPr lang="en-US" dirty="0" smtClean="0"/>
                  <a:t>covariate for </a:t>
                </a:r>
                <a:r>
                  <a:rPr lang="en-US" u="sng" dirty="0" smtClean="0"/>
                  <a:t>the same individual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Because this </a:t>
                </a:r>
                <a:r>
                  <a:rPr lang="en-US" i="1" dirty="0"/>
                  <a:t>subject-specific </a:t>
                </a:r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</a:t>
                </a:r>
                <a:r>
                  <a:rPr lang="en-US" dirty="0" smtClean="0"/>
                  <a:t>based on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dirty="0" smtClean="0"/>
                  <a:t> on </a:t>
                </a:r>
                <a:r>
                  <a:rPr lang="en-US" u="sng" dirty="0" smtClean="0"/>
                  <a:t>the same individual</a:t>
                </a:r>
                <a:r>
                  <a:rPr lang="en-US" dirty="0" smtClean="0"/>
                  <a:t>, it is most straightforward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dirty="0" smtClean="0"/>
                  <a:t> can indeed change on the same individual (e.g., a time variable).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56933"/>
          <a:stretch/>
        </p:blipFill>
        <p:spPr>
          <a:xfrm>
            <a:off x="1562620" y="2304271"/>
            <a:ext cx="6838950" cy="438929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32619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Interpretation of Fixed Effects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dirty="0" smtClean="0"/>
                  <a:t> is a baseline (time-constant) variable</a:t>
                </a:r>
              </a:p>
              <a:p>
                <a:pPr lvl="1"/>
                <a:r>
                  <a:rPr lang="en-US" dirty="0" smtClean="0"/>
                  <a:t>Also </a:t>
                </a:r>
                <a:r>
                  <a:rPr lang="en-US" u="sng" dirty="0" smtClean="0"/>
                  <a:t>straightforward</a:t>
                </a:r>
                <a:r>
                  <a:rPr lang="en-US" dirty="0" smtClean="0"/>
                  <a:t> if it relates to a </a:t>
                </a:r>
                <a:r>
                  <a:rPr lang="en-US" u="sng" dirty="0" smtClean="0"/>
                  <a:t>well-defined intervention/action</a:t>
                </a:r>
                <a:r>
                  <a:rPr lang="en-US" dirty="0" smtClean="0"/>
                  <a:t>, e.g., treatment assignment (e.g., the odds ratio of the event had the subject been assigned to one treatment as opposed to another)</a:t>
                </a:r>
              </a:p>
              <a:p>
                <a:pPr lvl="1"/>
                <a:r>
                  <a:rPr lang="en-US" dirty="0" smtClean="0"/>
                  <a:t>More </a:t>
                </a:r>
                <a:r>
                  <a:rPr lang="en-US" u="sng" dirty="0" smtClean="0"/>
                  <a:t>difficult</a:t>
                </a:r>
                <a:r>
                  <a:rPr lang="en-US" dirty="0" smtClean="0"/>
                  <a:t> if it merely describes a </a:t>
                </a:r>
                <a:r>
                  <a:rPr lang="en-US" u="sng" dirty="0" smtClean="0"/>
                  <a:t>status</a:t>
                </a:r>
                <a:r>
                  <a:rPr lang="en-US" dirty="0" smtClean="0"/>
                  <a:t> of the subject, especially an immutable characteristic (e.g., race and gender).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magnitude of the regression coefficient </a:t>
                </a:r>
                <a:r>
                  <a:rPr lang="en-US" dirty="0" smtClean="0"/>
                  <a:t>is usually </a:t>
                </a:r>
                <a:r>
                  <a:rPr lang="en-US" u="sng" dirty="0"/>
                  <a:t>different</a:t>
                </a:r>
                <a:r>
                  <a:rPr lang="en-US" dirty="0"/>
                  <a:t/>
                </a:r>
                <a:r>
                  <a:rPr lang="en-US" dirty="0" smtClean="0"/>
                  <a:t>from that in marginal </a:t>
                </a:r>
                <a:r>
                  <a:rPr lang="en-US" dirty="0"/>
                  <a:t>models fit by </a:t>
                </a:r>
                <a:r>
                  <a:rPr lang="en-US" dirty="0" smtClean="0"/>
                  <a:t>GEE.</a:t>
                </a:r>
              </a:p>
              <a:p>
                <a:pPr lvl="1"/>
                <a:r>
                  <a:rPr lang="en-US" dirty="0" smtClean="0"/>
                  <a:t>For example, in logistic regression, the subject-level odds ratio tends </a:t>
                </a:r>
                <a:r>
                  <a:rPr lang="en-US" dirty="0"/>
                  <a:t>to be </a:t>
                </a:r>
                <a:r>
                  <a:rPr lang="en-US"/>
                  <a:t>further </a:t>
                </a:r>
                <a:r>
                  <a:rPr lang="en-US" smtClean="0"/>
                  <a:t>away from 1</a:t>
                </a:r>
                <a:r>
                  <a:rPr lang="en-US" dirty="0" smtClean="0"/>
                  <a:t>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69448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Interpretation of Fixed Effects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smtClean="0"/>
              <a:t>some (but </a:t>
            </a:r>
            <a:r>
              <a:rPr lang="en-US" dirty="0"/>
              <a:t>not </a:t>
            </a:r>
            <a:r>
              <a:rPr lang="en-US" dirty="0" smtClean="0"/>
              <a:t>all) </a:t>
            </a:r>
            <a:r>
              <a:rPr lang="en-US" dirty="0"/>
              <a:t>link functions, 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55912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Estimation in 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ML estimation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(and possibly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)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 smtClean="0"/>
                  <a:t>based </a:t>
                </a:r>
                <a:r>
                  <a:rPr lang="en-US" dirty="0"/>
                  <a:t>on the </a:t>
                </a:r>
                <a:r>
                  <a:rPr lang="en-US" dirty="0" smtClean="0"/>
                  <a:t>marginal</a:t>
                </a:r>
                <a:r>
                  <a:rPr lang="en-US" dirty="0"/>
                  <a:t/>
                </a:r>
                <a:r>
                  <a:rPr lang="en-US" dirty="0" smtClean="0"/>
                  <a:t>likelihood </a:t>
                </a:r>
                <a:r>
                  <a:rPr lang="en-US" dirty="0"/>
                  <a:t>of </a:t>
                </a:r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’s.</a:t>
                </a:r>
              </a:p>
              <a:p>
                <a:r>
                  <a:rPr lang="en-US" dirty="0"/>
                  <a:t>In general, </a:t>
                </a:r>
                <a:r>
                  <a:rPr lang="en-US" dirty="0" smtClean="0"/>
                  <a:t>it </a:t>
                </a:r>
                <a:r>
                  <a:rPr lang="en-US" dirty="0"/>
                  <a:t>requires numerical or Monte </a:t>
                </a:r>
                <a:r>
                  <a:rPr lang="en-US" dirty="0" smtClean="0"/>
                  <a:t>Carlo integration techniques </a:t>
                </a:r>
                <a:r>
                  <a:rPr lang="en-US" dirty="0"/>
                  <a:t>that can be computationally quite </a:t>
                </a:r>
                <a:r>
                  <a:rPr lang="en-US" dirty="0" smtClean="0"/>
                  <a:t>intensive (usually much more so than a GEE counterpart). 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15141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Randomized, double-blind, parallel-group, multicenter study of 294 </a:t>
            </a:r>
            <a:r>
              <a:rPr lang="en-US" dirty="0" smtClean="0"/>
              <a:t>patients comparing </a:t>
            </a:r>
            <a:r>
              <a:rPr lang="en-US" dirty="0"/>
              <a:t>2 oral treatments (denoted A and B) for toe-nail </a:t>
            </a:r>
            <a:r>
              <a:rPr lang="en-US" dirty="0" smtClean="0"/>
              <a:t>infection.</a:t>
            </a:r>
          </a:p>
          <a:p>
            <a:r>
              <a:rPr lang="en-US" dirty="0" smtClean="0"/>
              <a:t>Outcome </a:t>
            </a:r>
            <a:r>
              <a:rPr lang="en-US" dirty="0"/>
              <a:t>variable: </a:t>
            </a:r>
            <a:r>
              <a:rPr lang="en-US" u="sng" dirty="0"/>
              <a:t>Binary variable</a:t>
            </a:r>
            <a:r>
              <a:rPr lang="en-US" dirty="0"/>
              <a:t> indicating presence of </a:t>
            </a:r>
            <a:r>
              <a:rPr lang="en-US" u="sng" dirty="0" err="1"/>
              <a:t>onycholysis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(separation of the nail plate from the nail bed</a:t>
            </a:r>
            <a:r>
              <a:rPr lang="en-US" dirty="0" smtClean="0"/>
              <a:t>).</a:t>
            </a:r>
          </a:p>
          <a:p>
            <a:r>
              <a:rPr lang="en-US" dirty="0" smtClean="0"/>
              <a:t>Patients </a:t>
            </a:r>
            <a:r>
              <a:rPr lang="en-US" dirty="0"/>
              <a:t>evaluated for </a:t>
            </a:r>
            <a:r>
              <a:rPr lang="en-US" dirty="0" err="1" smtClean="0"/>
              <a:t>onycholysis</a:t>
            </a:r>
            <a:r>
              <a:rPr lang="en-US" dirty="0" smtClean="0"/>
              <a:t/>
            </a:r>
            <a:r>
              <a:rPr lang="en-US" dirty="0"/>
              <a:t>(separation of the nail plate</a:t>
            </a:r>
            <a:br>
              <a:rPr lang="en-US" dirty="0"/>
            </a:br>
            <a:r>
              <a:rPr lang="en-US" dirty="0"/>
              <a:t>from the nail-bed) at baseline (week 0) and at weeks 4, 8, 12, 24, 36, </a:t>
            </a:r>
            <a:r>
              <a:rPr lang="en-US" dirty="0" smtClean="0"/>
              <a:t>and 48.</a:t>
            </a:r>
          </a:p>
          <a:p>
            <a:r>
              <a:rPr lang="en-US" dirty="0" smtClean="0"/>
              <a:t>Interested </a:t>
            </a:r>
            <a:r>
              <a:rPr lang="en-US" dirty="0"/>
              <a:t>in the rate of decline of </a:t>
            </a:r>
            <a:r>
              <a:rPr lang="en-US" u="sng" dirty="0"/>
              <a:t>the proportion of patients</a:t>
            </a:r>
            <a:r>
              <a:rPr lang="en-US" dirty="0"/>
              <a:t> with</a:t>
            </a:r>
            <a:br>
              <a:rPr lang="en-US" dirty="0"/>
            </a:br>
            <a:r>
              <a:rPr lang="en-US" dirty="0" err="1"/>
              <a:t>onycholysis</a:t>
            </a:r>
            <a:r>
              <a:rPr lang="en-US" dirty="0"/>
              <a:t> over time and the effects of treatment on that rate.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243224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883" y="1782127"/>
            <a:ext cx="5408443" cy="372089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61772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Estimation in 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47331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43749</TotalTime>
  <Words>378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Generalized Linear Mixed Models</vt:lpstr>
      <vt:lpstr>Generalized Linear Mixed Models</vt:lpstr>
      <vt:lpstr>Generalized Linear Mixed Models</vt:lpstr>
      <vt:lpstr>Generalized Linear Mixed Models</vt:lpstr>
      <vt:lpstr>Generalized Linear Mixed Models</vt:lpstr>
      <vt:lpstr>Interpretation of Fixed Effects in GLMM</vt:lpstr>
      <vt:lpstr>Interpretation of Fixed Effects in GLMM</vt:lpstr>
      <vt:lpstr>Interpretation of Fixed Effects in GLMM</vt:lpstr>
      <vt:lpstr>Interpretation of Fixed Effects in GLMM</vt:lpstr>
      <vt:lpstr>Estimation in GLMM</vt:lpstr>
      <vt:lpstr>Oral Treatment of Toenail Infection</vt:lpstr>
      <vt:lpstr>Oral Treatment of Toenail Infection</vt:lpstr>
      <vt:lpstr>Estimation in GLMM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1226</cp:revision>
  <dcterms:created xsi:type="dcterms:W3CDTF">2019-01-16T21:45:55Z</dcterms:created>
  <dcterms:modified xsi:type="dcterms:W3CDTF">2019-04-05T00:12:28Z</dcterms:modified>
</cp:coreProperties>
</file>