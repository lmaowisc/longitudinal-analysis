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6D88B-91D0-49D6-8821-8509CDDB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57114-C1C6-424C-80F2-7AC5DFFE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Modeling the Covariance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8D1AD-6078-43D7-8DD8-AA6A2385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A2E3A-3978-449A-B770-633C0F4B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B5BDB-37DF-4929-85E6-CAC7168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01DDA-F923-4B50-A796-09BF4222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16480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Different covariance pattern 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Choice of </a:t>
            </a:r>
            <a:r>
              <a:rPr lang="en-US" sz="2800" dirty="0"/>
              <a:t>covariance pattern </a:t>
            </a:r>
            <a:r>
              <a:rPr lang="en-US" sz="2800" dirty="0" smtClean="0"/>
              <a:t>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An Example with </a:t>
            </a:r>
            <a:r>
              <a:rPr lang="en-US" sz="2800" dirty="0"/>
              <a:t>Exercise Therapy Trial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33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Covariance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Two aspects </a:t>
                </a:r>
                <a:r>
                  <a:rPr lang="en-US" dirty="0"/>
                  <a:t>of </a:t>
                </a:r>
                <a:r>
                  <a:rPr lang="en-US" dirty="0" smtClean="0"/>
                  <a:t>longitudinal </a:t>
                </a:r>
                <a:r>
                  <a:rPr lang="en-US" dirty="0"/>
                  <a:t>data </a:t>
                </a:r>
                <a:r>
                  <a:rPr lang="en-US" dirty="0" smtClean="0"/>
                  <a:t>require modelling: </a:t>
                </a:r>
                <a:r>
                  <a:rPr lang="en-US" u="sng" dirty="0" smtClean="0"/>
                  <a:t>mean </a:t>
                </a:r>
                <a:r>
                  <a:rPr lang="en-US" u="sng" dirty="0"/>
                  <a:t>response</a:t>
                </a:r>
                <a:r>
                  <a:rPr lang="en-US" dirty="0"/>
                  <a:t> over time and </a:t>
                </a:r>
                <a:r>
                  <a:rPr lang="en-US" u="sng" dirty="0"/>
                  <a:t>covariance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Although these two aspects of the data can be modelled separately, </a:t>
                </a:r>
                <a:r>
                  <a:rPr lang="en-US" dirty="0" smtClean="0"/>
                  <a:t>they are interrelated: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var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}′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Choice </a:t>
                </a:r>
                <a:r>
                  <a:rPr lang="en-US" dirty="0"/>
                  <a:t>of models for mean response and covariance are </a:t>
                </a:r>
                <a:r>
                  <a:rPr lang="en-US" u="sng" dirty="0" smtClean="0"/>
                  <a:t>interdependent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A </a:t>
                </a:r>
                <a:r>
                  <a:rPr lang="en-US" dirty="0"/>
                  <a:t>model for the covariance must be chosen on the basis of some </a:t>
                </a:r>
                <a:r>
                  <a:rPr lang="en-US" dirty="0" smtClean="0"/>
                  <a:t>assumed mean model.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33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Covariance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Three broad approaches can be </a:t>
            </a:r>
            <a:r>
              <a:rPr lang="en-US" sz="3200" dirty="0" smtClean="0"/>
              <a:t>distinguished: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Unstructured covariance (“saturated” model)</a:t>
            </a: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u="sng" dirty="0"/>
              <a:t>Covariance pattern 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Random </a:t>
            </a:r>
            <a:r>
              <a:rPr lang="en-US" sz="2800" dirty="0"/>
              <a:t>effects covariance </a:t>
            </a:r>
            <a:r>
              <a:rPr lang="en-US" sz="2800" dirty="0" smtClean="0"/>
              <a:t>structure</a:t>
            </a:r>
            <a:endParaRPr lang="en-US" sz="2800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33</a:t>
            </a:r>
          </a:p>
        </p:txBody>
      </p:sp>
    </p:spTree>
    <p:extLst>
      <p:ext uri="{BB962C8B-B14F-4D97-AF65-F5344CB8AC3E}">
        <p14:creationId xmlns:p14="http://schemas.microsoft.com/office/powerpoint/2010/main" val="159705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Unstructured Covariance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Appropriate only when </a:t>
                </a:r>
                <a:r>
                  <a:rPr lang="en-US" dirty="0"/>
                  <a:t>design is </a:t>
                </a:r>
                <a:r>
                  <a:rPr lang="en-US" u="sng" dirty="0" smtClean="0"/>
                  <a:t>balanced</a:t>
                </a:r>
                <a:r>
                  <a:rPr lang="en-US" dirty="0" smtClean="0"/>
                  <a:t/>
                </a:r>
                <a:r>
                  <a:rPr lang="en-US" dirty="0"/>
                  <a:t>and </a:t>
                </a:r>
                <a:r>
                  <a:rPr lang="en-US" dirty="0" smtClean="0"/>
                  <a:t>the number </a:t>
                </a:r>
                <a:r>
                  <a:rPr lang="en-US" dirty="0"/>
                  <a:t>of </a:t>
                </a:r>
                <a:r>
                  <a:rPr lang="en-US" dirty="0" smtClean="0"/>
                  <a:t>measurement occasions </a:t>
                </a:r>
                <a:r>
                  <a:rPr lang="en-US" dirty="0"/>
                  <a:t>is relatively </a:t>
                </a:r>
                <a:r>
                  <a:rPr lang="en-US" dirty="0" smtClean="0"/>
                  <a:t>small.</a:t>
                </a:r>
              </a:p>
              <a:p>
                <a:r>
                  <a:rPr lang="en-US" dirty="0" smtClean="0"/>
                  <a:t>No </a:t>
                </a:r>
                <a:r>
                  <a:rPr lang="en-US" dirty="0"/>
                  <a:t>explicit structure is assumed other than homogeneity of </a:t>
                </a:r>
                <a:r>
                  <a:rPr lang="en-US" dirty="0" smtClean="0"/>
                  <a:t>covariance across </a:t>
                </a:r>
                <a:r>
                  <a:rPr lang="en-US" dirty="0"/>
                  <a:t>different individuals</a:t>
                </a:r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ov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err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i="1" u="sng" dirty="0" smtClean="0"/>
                  <a:t>Chief </a:t>
                </a:r>
                <a:r>
                  <a:rPr lang="en-US" i="1" u="sng" dirty="0"/>
                  <a:t>advantage</a:t>
                </a:r>
                <a:r>
                  <a:rPr lang="en-US" dirty="0"/>
                  <a:t>: no assumptions made </a:t>
                </a:r>
                <a:r>
                  <a:rPr lang="en-US" dirty="0" smtClean="0"/>
                  <a:t>about </a:t>
                </a:r>
                <a:r>
                  <a:rPr lang="en-US" dirty="0"/>
                  <a:t>the patterns of variances </a:t>
                </a:r>
                <a:r>
                  <a:rPr lang="en-US" dirty="0" smtClean="0"/>
                  <a:t>and </a:t>
                </a:r>
                <a:r>
                  <a:rPr lang="en-US" dirty="0" err="1" smtClean="0"/>
                  <a:t>covariances</a:t>
                </a:r>
                <a:r>
                  <a:rPr lang="en-US" dirty="0" smtClean="0"/>
                  <a:t>, i.e., </a:t>
                </a:r>
                <a:r>
                  <a:rPr lang="en-US" u="sng" dirty="0" smtClean="0"/>
                  <a:t>maximal robustness</a:t>
                </a:r>
                <a:r>
                  <a:rPr lang="en-US" dirty="0" smtClean="0"/>
                  <a:t>.</a:t>
                </a:r>
                <a:r>
                  <a:rPr lang="en-US" sz="3200" dirty="0" smtClean="0"/>
                  <a:t/>
                </a:r>
                <a:r>
                  <a:rPr lang="en-US" sz="3200" dirty="0"/>
                  <a:t/>
                </a:r>
                <a:br>
                  <a:rPr lang="en-US" sz="3200" dirty="0"/>
                </a:b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33</a:t>
            </a:r>
          </a:p>
        </p:txBody>
      </p:sp>
    </p:spTree>
    <p:extLst>
      <p:ext uri="{BB962C8B-B14F-4D97-AF65-F5344CB8AC3E}">
        <p14:creationId xmlns:p14="http://schemas.microsoft.com/office/powerpoint/2010/main" val="402413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Unstructured Covariance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measurement occasions, </a:t>
                </a:r>
                <a:r>
                  <a:rPr lang="en-US" dirty="0" smtClean="0"/>
                  <a:t>unstructured </a:t>
                </a:r>
                <a:r>
                  <a:rPr lang="en-US" dirty="0"/>
                  <a:t>covariance matrix has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+1)/2 </m:t>
                    </m:r>
                  </m:oMath>
                </a14:m>
                <a:r>
                  <a:rPr lang="en-US" dirty="0" smtClean="0"/>
                  <a:t>parameters.</a:t>
                </a:r>
              </a:p>
              <a:p>
                <a:r>
                  <a:rPr lang="en-US" dirty="0" smtClean="0"/>
                  <a:t>That is,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 variances plus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1)/2</m:t>
                    </m:r>
                  </m:oMath>
                </a14:m>
                <a:r>
                  <a:rPr lang="en-US" sz="3200" dirty="0" smtClean="0"/>
                  <a:t/>
                </a:r>
                <a:r>
                  <a:rPr lang="en-US" sz="3200" dirty="0" err="1" smtClean="0"/>
                  <a:t>covariances</a:t>
                </a:r>
                <a:r>
                  <a:rPr lang="en-US" sz="32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sz="3200" dirty="0"/>
                  <a:t/>
                </a:r>
                <a:br>
                  <a:rPr lang="en-US" sz="3200" dirty="0"/>
                </a:b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076" y="3720193"/>
            <a:ext cx="5238750" cy="194310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33</a:t>
            </a:r>
          </a:p>
        </p:txBody>
      </p:sp>
    </p:spTree>
    <p:extLst>
      <p:ext uri="{BB962C8B-B14F-4D97-AF65-F5344CB8AC3E}">
        <p14:creationId xmlns:p14="http://schemas.microsoft.com/office/powerpoint/2010/main" val="4035468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Unstructured Covariance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i="1" u="sng" dirty="0" smtClean="0"/>
                  <a:t>Potential drawbacks</a:t>
                </a:r>
                <a:r>
                  <a:rPr lang="en-US" dirty="0" smtClean="0"/>
                  <a:t>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 smtClean="0"/>
                  <a:t>Not applicable to </a:t>
                </a:r>
                <a:r>
                  <a:rPr lang="en-US" u="sng" dirty="0" smtClean="0"/>
                  <a:t>unbalanced data</a:t>
                </a:r>
                <a:r>
                  <a:rPr lang="en-US" dirty="0" smtClean="0"/>
                  <a:t> (including balanced design with </a:t>
                </a:r>
                <a:r>
                  <a:rPr lang="en-US" dirty="0" err="1" smtClean="0"/>
                  <a:t>mis</a:t>
                </a:r>
                <a:r>
                  <a:rPr lang="en-US" dirty="0" smtClean="0"/>
                  <a:t>-timed measurements);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 smtClean="0"/>
                  <a:t>Number </a:t>
                </a:r>
                <a:r>
                  <a:rPr lang="en-US" dirty="0"/>
                  <a:t>of covariance </a:t>
                </a:r>
                <a:r>
                  <a:rPr lang="en-US" dirty="0" smtClean="0"/>
                  <a:t>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 smtClean="0"/>
                  <a:t/>
                </a:r>
                <a:r>
                  <a:rPr lang="en-US" dirty="0"/>
                  <a:t>grows rapidly with the number of</a:t>
                </a:r>
                <a:br>
                  <a:rPr lang="en-US" dirty="0"/>
                </a:br>
                <a:r>
                  <a:rPr lang="en-US" dirty="0" smtClean="0"/>
                  <a:t>measurement occasions:</a:t>
                </a:r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/>
                </a:r>
                <a:br>
                  <a:rPr lang="en-US" dirty="0" smtClean="0"/>
                </a:b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</a:p>
              <a:p>
                <a:pPr marL="0" indent="0">
                  <a:buNone/>
                </a:pPr>
                <a:r>
                  <a:rPr lang="en-US" sz="2400" dirty="0"/>
                  <a:t/>
                </a:r>
                <a:r>
                  <a:rPr lang="en-US" sz="2400" dirty="0" smtClean="0"/>
                  <a:t>When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is large, relative to sample </a:t>
                </a:r>
                <a:r>
                  <a:rPr lang="en-US" sz="2400" dirty="0" smtClean="0"/>
                  <a:t>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 smtClean="0"/>
                  <a:t>, </a:t>
                </a:r>
                <a:r>
                  <a:rPr lang="en-US" sz="2400" dirty="0"/>
                  <a:t>estimation is likely to be very </a:t>
                </a:r>
                <a:r>
                  <a:rPr lang="en-US" sz="2400" u="sng" dirty="0" smtClean="0"/>
                  <a:t>unstable</a:t>
                </a:r>
                <a:r>
                  <a:rPr lang="en-US" sz="2400" dirty="0" smtClean="0"/>
                  <a:t> 	(In TLC trial,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400" dirty="0" smtClean="0"/>
                  <a:t>)	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0894935"/>
                  </p:ext>
                </p:extLst>
              </p:nvPr>
            </p:nvGraphicFramePr>
            <p:xfrm>
              <a:off x="3225073" y="3367071"/>
              <a:ext cx="488260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4538">
                      <a:extLst>
                        <a:ext uri="{9D8B030D-6E8A-4147-A177-3AD203B41FA5}">
                          <a16:colId xmlns:a16="http://schemas.microsoft.com/office/drawing/2014/main" val="686195577"/>
                        </a:ext>
                      </a:extLst>
                    </a:gridCol>
                    <a:gridCol w="2508068">
                      <a:extLst>
                        <a:ext uri="{9D8B030D-6E8A-4147-A177-3AD203B41FA5}">
                          <a16:colId xmlns:a16="http://schemas.microsoft.com/office/drawing/2014/main" val="3897929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+1)/2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1131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64672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0368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27298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0894935"/>
                  </p:ext>
                </p:extLst>
              </p:nvPr>
            </p:nvGraphicFramePr>
            <p:xfrm>
              <a:off x="3225073" y="3367071"/>
              <a:ext cx="488260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4538">
                      <a:extLst>
                        <a:ext uri="{9D8B030D-6E8A-4147-A177-3AD203B41FA5}">
                          <a16:colId xmlns:a16="http://schemas.microsoft.com/office/drawing/2014/main" val="686195577"/>
                        </a:ext>
                      </a:extLst>
                    </a:gridCol>
                    <a:gridCol w="2508068">
                      <a:extLst>
                        <a:ext uri="{9D8B030D-6E8A-4147-A177-3AD203B41FA5}">
                          <a16:colId xmlns:a16="http://schemas.microsoft.com/office/drawing/2014/main" val="3897929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6" t="-1639" r="-106667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5134" t="-1639" r="-1217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1131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64672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0368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27298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33</a:t>
            </a:r>
          </a:p>
        </p:txBody>
      </p:sp>
    </p:spTree>
    <p:extLst>
      <p:ext uri="{BB962C8B-B14F-4D97-AF65-F5344CB8AC3E}">
        <p14:creationId xmlns:p14="http://schemas.microsoft.com/office/powerpoint/2010/main" val="2137544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Pattern Models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When attempting to impose some structure on the covariance, a subtle balance </a:t>
                </a:r>
                <a:r>
                  <a:rPr lang="en-US" dirty="0"/>
                  <a:t>needs to be </a:t>
                </a:r>
                <a:r>
                  <a:rPr lang="en-US" dirty="0" smtClean="0"/>
                  <a:t>struck.</a:t>
                </a:r>
              </a:p>
              <a:p>
                <a:pPr lvl="1"/>
                <a:r>
                  <a:rPr lang="en-US" dirty="0" smtClean="0"/>
                  <a:t>Too little </a:t>
                </a:r>
                <a:r>
                  <a:rPr lang="en-US" dirty="0"/>
                  <a:t>structure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too </a:t>
                </a:r>
                <a:r>
                  <a:rPr lang="en-US" dirty="0"/>
                  <a:t>many </a:t>
                </a:r>
                <a:r>
                  <a:rPr lang="en-US" dirty="0" smtClean="0"/>
                  <a:t>parameters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imprecise estimate (large variance)</a:t>
                </a:r>
              </a:p>
              <a:p>
                <a:pPr lvl="1"/>
                <a:r>
                  <a:rPr lang="en-US" dirty="0"/>
                  <a:t>Too </a:t>
                </a:r>
                <a:r>
                  <a:rPr lang="en-US" dirty="0" smtClean="0"/>
                  <a:t>much </a:t>
                </a:r>
                <a:r>
                  <a:rPr lang="en-US" dirty="0"/>
                  <a:t>structure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m</a:t>
                </a:r>
                <a:r>
                  <a:rPr lang="en-US" dirty="0" smtClean="0"/>
                  <a:t>is-specification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/>
                </a:r>
                <a:r>
                  <a:rPr lang="en-US" dirty="0" smtClean="0"/>
                  <a:t>inaccurate estimate (large bias)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	--- Classic </a:t>
                </a:r>
                <a:r>
                  <a:rPr lang="en-US" dirty="0"/>
                  <a:t>tradeoff between </a:t>
                </a:r>
                <a:r>
                  <a:rPr lang="en-US" u="sng" dirty="0"/>
                  <a:t>bias</a:t>
                </a:r>
                <a:r>
                  <a:rPr lang="en-US" dirty="0"/>
                  <a:t> and </a:t>
                </a:r>
                <a:r>
                  <a:rPr lang="en-US" u="sng" dirty="0" smtClean="0"/>
                  <a:t>variance</a:t>
                </a:r>
                <a:r>
                  <a:rPr lang="en-US" dirty="0" smtClean="0"/>
                  <a:t>. </a:t>
                </a:r>
              </a:p>
              <a:p>
                <a:r>
                  <a:rPr lang="en-US" dirty="0" smtClean="0"/>
                  <a:t>Covariance </a:t>
                </a:r>
                <a:r>
                  <a:rPr lang="en-US" dirty="0"/>
                  <a:t>pattern models have their basis in models for serial </a:t>
                </a:r>
                <a:r>
                  <a:rPr lang="en-US" dirty="0" smtClean="0"/>
                  <a:t>correlation originally </a:t>
                </a:r>
                <a:r>
                  <a:rPr lang="en-US" dirty="0"/>
                  <a:t>developed for time series data. 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33</a:t>
            </a:r>
          </a:p>
        </p:txBody>
      </p:sp>
    </p:spTree>
    <p:extLst>
      <p:ext uri="{BB962C8B-B14F-4D97-AF65-F5344CB8AC3E}">
        <p14:creationId xmlns:p14="http://schemas.microsoft.com/office/powerpoint/2010/main" val="339525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Pattern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Models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– </a:t>
            </a:r>
            <a:r>
              <a:rPr lang="en-US" sz="3400" u="sng" dirty="0" smtClean="0" b="1">
                <a:solidFill>
                  <a:srgbClr val="0D5F62"/>
                </a:solidFill>
                <a:latin typeface="Calibri"/>
              </a:rPr>
              <a:t>Compound Symmetry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Compound symmetry</a:t>
                </a:r>
                <a:r>
                  <a:rPr lang="en-US" dirty="0" smtClean="0"/>
                  <a:t> (CS) assumes variance is constant across occasions,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and</a:t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orr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endParaRPr lang="en-US" dirty="0" smtClean="0"/>
              </a:p>
              <a:p>
                <a:endParaRPr lang="en-US" sz="2800" dirty="0"/>
              </a:p>
              <a:p>
                <a:endParaRPr lang="en-US" dirty="0" smtClean="0"/>
              </a:p>
              <a:p>
                <a:endParaRPr lang="en-US" sz="2800" dirty="0"/>
              </a:p>
              <a:p>
                <a:r>
                  <a:rPr lang="en-US" dirty="0"/>
                  <a:t>Parsimonious: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parameters regardless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r>
                  <a:rPr lang="en-US" dirty="0"/>
                  <a:t>Strong </a:t>
                </a:r>
                <a:r>
                  <a:rPr lang="en-US" dirty="0" smtClean="0"/>
                  <a:t>assumptions (measurements are </a:t>
                </a:r>
                <a:r>
                  <a:rPr lang="en-US" u="sng" dirty="0" smtClean="0"/>
                  <a:t>exchangeable</a:t>
                </a:r>
                <a:r>
                  <a:rPr lang="en-US" dirty="0" smtClean="0"/>
                  <a:t>), usually </a:t>
                </a:r>
                <a:r>
                  <a:rPr lang="en-US" u="sng" dirty="0"/>
                  <a:t>not </a:t>
                </a:r>
                <a:r>
                  <a:rPr lang="en-US" u="sng" dirty="0" smtClean="0"/>
                  <a:t>valid</a:t>
                </a:r>
                <a:r>
                  <a:rPr lang="en-US" dirty="0" smtClean="0"/>
                  <a:t> with </a:t>
                </a:r>
                <a:r>
                  <a:rPr lang="en-US" dirty="0"/>
                  <a:t>longitudinal data.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501" y="2696070"/>
            <a:ext cx="4980351" cy="19461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501" y="2696070"/>
            <a:ext cx="4980351" cy="1946141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33</a:t>
            </a:r>
          </a:p>
        </p:txBody>
      </p:sp>
    </p:spTree>
    <p:extLst>
      <p:ext uri="{BB962C8B-B14F-4D97-AF65-F5344CB8AC3E}">
        <p14:creationId xmlns:p14="http://schemas.microsoft.com/office/powerpoint/2010/main" val="3368121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Pattern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Models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– </a:t>
            </a:r>
            <a:r>
              <a:rPr lang="en-US" sz="3400" u="sng" dirty="0" b="1">
                <a:solidFill>
                  <a:srgbClr val="0D5F62"/>
                </a:solidFill>
                <a:latin typeface="Calibri"/>
              </a:rPr>
              <a:t>Toeplitz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/>
                  <a:t>Toeplitz</a:t>
                </a:r>
                <a:r>
                  <a:rPr lang="en-US" dirty="0"/>
                  <a:t/>
                </a:r>
                <a:r>
                  <a:rPr lang="en-US" dirty="0" smtClean="0"/>
                  <a:t>assumes variance is constant across occasions,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and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orr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Correlation between two measurements depends only on the </a:t>
                </a:r>
                <a:r>
                  <a:rPr lang="en-US" u="sng" dirty="0" smtClean="0"/>
                  <a:t>number of occasions</a:t>
                </a:r>
                <a:r>
                  <a:rPr lang="en-US" dirty="0" smtClean="0"/>
                  <a:t> separating them.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endParaRPr lang="en-US" sz="2800" dirty="0"/>
              </a:p>
              <a:p>
                <a:endParaRPr lang="en-US" dirty="0" smtClean="0"/>
              </a:p>
              <a:p>
                <a:endParaRPr lang="en-US" sz="280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6828"/>
          <a:stretch/>
        </p:blipFill>
        <p:spPr>
          <a:xfrm>
            <a:off x="2313418" y="2734492"/>
            <a:ext cx="6955564" cy="1993381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33</a:t>
            </a:r>
          </a:p>
        </p:txBody>
      </p:sp>
    </p:spTree>
    <p:extLst>
      <p:ext uri="{BB962C8B-B14F-4D97-AF65-F5344CB8AC3E}">
        <p14:creationId xmlns:p14="http://schemas.microsoft.com/office/powerpoint/2010/main" val="2517032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Pattern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Models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– </a:t>
            </a:r>
            <a:r>
              <a:rPr lang="en-US" sz="3400" u="sng" dirty="0" b="1">
                <a:solidFill>
                  <a:srgbClr val="0D5F62"/>
                </a:solidFill>
                <a:latin typeface="Calibri"/>
              </a:rPr>
              <a:t>Toeplitz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Toeplitz is appropriate </a:t>
                </a:r>
                <a:r>
                  <a:rPr lang="en-US" dirty="0"/>
                  <a:t>only </a:t>
                </a:r>
                <a:r>
                  <a:rPr lang="en-US" dirty="0" smtClean="0"/>
                  <a:t>when </a:t>
                </a:r>
                <a:r>
                  <a:rPr lang="en-US" dirty="0"/>
                  <a:t>measurements are made </a:t>
                </a:r>
                <a:r>
                  <a:rPr lang="en-US" dirty="0" smtClean="0"/>
                  <a:t>at (approximately) </a:t>
                </a:r>
                <a:r>
                  <a:rPr lang="en-US" dirty="0"/>
                  <a:t>equal </a:t>
                </a:r>
                <a:r>
                  <a:rPr lang="en-US" dirty="0" smtClean="0"/>
                  <a:t>intervals </a:t>
                </a:r>
                <a:r>
                  <a:rPr lang="en-US" dirty="0"/>
                  <a:t>of </a:t>
                </a:r>
                <a:r>
                  <a:rPr lang="en-US" dirty="0" smtClean="0"/>
                  <a:t>time.</a:t>
                </a:r>
              </a:p>
              <a:p>
                <a:r>
                  <a:rPr lang="en-US" dirty="0" smtClean="0"/>
                  <a:t>Toeplitz </a:t>
                </a:r>
                <a:r>
                  <a:rPr lang="en-US" dirty="0"/>
                  <a:t>covariance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parameters (1 variance parameter,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correlation parameters</a:t>
                </a:r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The CS structure is a special case of</a:t>
                </a:r>
                <a:r>
                  <a:rPr lang="en-US" dirty="0"/>
                  <a:t/>
                </a:r>
                <a:r>
                  <a:rPr lang="en-US" dirty="0" smtClean="0"/>
                  <a:t>Toeplitz. Another special case of the latter is </a:t>
                </a:r>
                <a:r>
                  <a:rPr lang="en-US" dirty="0"/>
                  <a:t>the (first-order) </a:t>
                </a:r>
                <a:r>
                  <a:rPr lang="en-US" dirty="0" smtClean="0"/>
                  <a:t>autoregressive (AR) covariance</a:t>
                </a:r>
                <a:r>
                  <a:rPr lang="en-US" dirty="0"/>
                  <a:t>. </a:t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endParaRPr lang="en-US" sz="2800" dirty="0"/>
              </a:p>
              <a:p>
                <a:endParaRPr lang="en-US" dirty="0" smtClean="0"/>
              </a:p>
              <a:p>
                <a:endParaRPr lang="en-US" sz="280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33</a:t>
            </a:r>
          </a:p>
        </p:txBody>
      </p:sp>
    </p:spTree>
    <p:extLst>
      <p:ext uri="{BB962C8B-B14F-4D97-AF65-F5344CB8AC3E}">
        <p14:creationId xmlns:p14="http://schemas.microsoft.com/office/powerpoint/2010/main" val="3182284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Pattern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Models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– </a:t>
            </a:r>
            <a:r>
              <a:rPr lang="en-US" sz="3400" u="sng" dirty="0" smtClean="0" b="1">
                <a:solidFill>
                  <a:srgbClr val="0D5F62"/>
                </a:solidFill>
                <a:latin typeface="Calibri"/>
              </a:rPr>
              <a:t>AR </a:t>
            </a:r>
            <a:endParaRPr lang="en-US" sz="3400" u="sng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Autoregressive structure assumes </a:t>
                </a:r>
                <a:r>
                  <a:rPr lang="en-US" dirty="0"/>
                  <a:t>variance is constant across occasions,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and</a:t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Corr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/>
                  <a:t>, with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 smtClean="0"/>
                  <a:t>.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r>
                  <a:rPr lang="en-US" dirty="0"/>
                  <a:t>Parsimonious: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parameters regardless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smtClean="0"/>
                  <a:t>Less correlation for measurements taken farther apart; but only </a:t>
                </a:r>
                <a:r>
                  <a:rPr lang="en-US" dirty="0"/>
                  <a:t>appropriate when the measurements are made at </a:t>
                </a:r>
                <a:r>
                  <a:rPr lang="en-US" dirty="0" smtClean="0"/>
                  <a:t>(approximately) equal intervals </a:t>
                </a:r>
                <a:r>
                  <a:rPr lang="en-US" dirty="0"/>
                  <a:t>of </a:t>
                </a:r>
                <a:r>
                  <a:rPr lang="en-US" dirty="0" smtClean="0"/>
                  <a:t>time.</a:t>
                </a:r>
              </a:p>
              <a:p>
                <a:endParaRPr lang="en-US" sz="280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7565"/>
          <a:stretch/>
        </p:blipFill>
        <p:spPr>
          <a:xfrm>
            <a:off x="2725510" y="2708366"/>
            <a:ext cx="5991769" cy="166306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33</a:t>
            </a:r>
          </a:p>
        </p:txBody>
      </p:sp>
    </p:spTree>
    <p:extLst>
      <p:ext uri="{BB962C8B-B14F-4D97-AF65-F5344CB8AC3E}">
        <p14:creationId xmlns:p14="http://schemas.microsoft.com/office/powerpoint/2010/main" val="3757614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Pattern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Models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– Heteroscedastic versions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Compound symmetry, Toeplitz and autoregressive </a:t>
                </a:r>
                <a:r>
                  <a:rPr lang="en-US" dirty="0" err="1"/>
                  <a:t>covariances</a:t>
                </a:r>
                <a:r>
                  <a:rPr lang="en-US" dirty="0"/>
                  <a:t/>
                </a:r>
                <a:r>
                  <a:rPr lang="en-US" dirty="0" smtClean="0"/>
                  <a:t>assume variances </a:t>
                </a:r>
                <a:r>
                  <a:rPr lang="en-US" dirty="0"/>
                  <a:t>are constant across time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This </a:t>
                </a:r>
                <a:r>
                  <a:rPr lang="en-US" dirty="0"/>
                  <a:t>assumption can be relaxed by considering versions of these </a:t>
                </a:r>
                <a:r>
                  <a:rPr lang="en-US" dirty="0" smtClean="0"/>
                  <a:t>models with </a:t>
                </a:r>
                <a:r>
                  <a:rPr lang="en-US" u="sng" dirty="0"/>
                  <a:t>heterogeneous variances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For example, a </a:t>
                </a:r>
                <a:r>
                  <a:rPr lang="en-US" dirty="0"/>
                  <a:t>heterogeneous </a:t>
                </a:r>
                <a:r>
                  <a:rPr lang="en-US" dirty="0" smtClean="0"/>
                  <a:t>AR </a:t>
                </a:r>
                <a:r>
                  <a:rPr lang="en-US" dirty="0"/>
                  <a:t>covariance pattern: </a:t>
                </a:r>
                <a:br>
                  <a:rPr lang="en-US" dirty="0"/>
                </a:b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111" y="4337603"/>
            <a:ext cx="7547066" cy="165729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33</a:t>
            </a:r>
          </a:p>
        </p:txBody>
      </p:sp>
    </p:spTree>
    <p:extLst>
      <p:ext uri="{BB962C8B-B14F-4D97-AF65-F5344CB8AC3E}">
        <p14:creationId xmlns:p14="http://schemas.microsoft.com/office/powerpoint/2010/main" val="3956186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Pattern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Models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– Banded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banded structure assumes </a:t>
                </a:r>
                <a:r>
                  <a:rPr lang="en-US" dirty="0"/>
                  <a:t>correlation is zero beyond some specified </a:t>
                </a:r>
                <a:r>
                  <a:rPr lang="en-US" dirty="0" smtClean="0"/>
                  <a:t>interval.</a:t>
                </a:r>
              </a:p>
              <a:p>
                <a:r>
                  <a:rPr lang="en-US" dirty="0"/>
                  <a:t>For example, a banded covariance pattern with a band size of 3 </a:t>
                </a:r>
                <a:r>
                  <a:rPr lang="en-US" dirty="0" smtClean="0"/>
                  <a:t>assumes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/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3</m:t>
                    </m:r>
                  </m:oMath>
                </a14:m>
                <a:r>
                  <a:rPr lang="en-US" dirty="0"/>
                  <a:t>. </a:t>
                </a:r>
                <a:endParaRPr lang="en-US" dirty="0" smtClean="0"/>
              </a:p>
              <a:p>
                <a:r>
                  <a:rPr lang="en-US" dirty="0"/>
                  <a:t>It is possible to apply a banded pattern to </a:t>
                </a:r>
                <a:r>
                  <a:rPr lang="en-US" u="sng" dirty="0"/>
                  <a:t>any</a:t>
                </a:r>
                <a:r>
                  <a:rPr lang="en-US" dirty="0"/>
                  <a:t> of the covariance </a:t>
                </a:r>
                <a:r>
                  <a:rPr lang="en-US" dirty="0" smtClean="0"/>
                  <a:t>pattern models </a:t>
                </a:r>
                <a:r>
                  <a:rPr lang="en-US" dirty="0"/>
                  <a:t>considered so far. </a:t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33</a:t>
            </a:r>
          </a:p>
        </p:txBody>
      </p:sp>
    </p:spTree>
    <p:extLst>
      <p:ext uri="{BB962C8B-B14F-4D97-AF65-F5344CB8AC3E}">
        <p14:creationId xmlns:p14="http://schemas.microsoft.com/office/powerpoint/2010/main" val="36189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Pattern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Models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– Banded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banded Toeplitz covariance pattern with a band size of 2 is given </a:t>
            </a:r>
            <a:r>
              <a:rPr lang="en-US" dirty="0" smtClean="0"/>
              <a:t>by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Banding assumes that correlation decays </a:t>
            </a:r>
            <a:r>
              <a:rPr lang="en-US" dirty="0"/>
              <a:t>to zero with increasing time separation. </a:t>
            </a:r>
            <a:br>
              <a:rPr lang="en-US" dirty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168" y="2522220"/>
            <a:ext cx="5407478" cy="1959757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33</a:t>
            </a:r>
          </a:p>
        </p:txBody>
      </p:sp>
    </p:spTree>
    <p:extLst>
      <p:ext uri="{BB962C8B-B14F-4D97-AF65-F5344CB8AC3E}">
        <p14:creationId xmlns:p14="http://schemas.microsoft.com/office/powerpoint/2010/main" val="2610942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Pattern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Models </a:t>
            </a:r>
            <a:r>
              <a:rPr lang="en-US" sz="3400" dirty="0" smtClean="0" b="1">
                <a:solidFill>
                  <a:srgbClr val="0D5F62"/>
                </a:solidFill>
                <a:latin typeface="Calibri"/>
              </a:rPr>
              <a:t>– Exponential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When measurement occasions are not equally-spaced over time,</a:t>
                </a:r>
                <a:br>
                  <a:rPr lang="en-US" dirty="0" smtClean="0"/>
                </a:br>
                <a:r>
                  <a:rPr lang="en-US" dirty="0" smtClean="0"/>
                  <a:t>autoregressive model can be generalized as follows.</a:t>
                </a:r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 smtClean="0"/>
                  <a:t> denote </a:t>
                </a:r>
                <a:r>
                  <a:rPr lang="en-US" dirty="0"/>
                  <a:t>the observation times for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 err="1"/>
                  <a:t>th</a:t>
                </a:r>
                <a:r>
                  <a:rPr lang="en-US" i="1" dirty="0"/>
                  <a:t/>
                </a:r>
                <a:r>
                  <a:rPr lang="en-US" dirty="0" smtClean="0"/>
                  <a:t>individual. For simplicity, assume </a:t>
                </a:r>
                <a:r>
                  <a:rPr lang="en-US" dirty="0"/>
                  <a:t>that the </a:t>
                </a:r>
                <a:r>
                  <a:rPr lang="en-US" dirty="0" smtClean="0"/>
                  <a:t>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/>
                </a:r>
                <a:r>
                  <a:rPr lang="en-US" dirty="0"/>
                  <a:t>is constant </a:t>
                </a:r>
                <a:r>
                  <a:rPr lang="en-US" dirty="0" smtClean="0"/>
                  <a:t>over time. The correlations are given by</a:t>
                </a:r>
              </a:p>
              <a:p>
                <a:endParaRPr lang="en-US" dirty="0"/>
              </a:p>
              <a:p>
                <a:r>
                  <a:rPr lang="en-US" dirty="0" smtClean="0"/>
                  <a:t>Exponential </a:t>
                </a:r>
                <a:r>
                  <a:rPr lang="en-US" dirty="0"/>
                  <a:t>covariance model is invariant under linear transformation </a:t>
                </a:r>
                <a:r>
                  <a:rPr lang="en-US" dirty="0" smtClean="0"/>
                  <a:t>of the </a:t>
                </a:r>
                <a:r>
                  <a:rPr lang="en-US" dirty="0"/>
                  <a:t>time </a:t>
                </a:r>
                <a:r>
                  <a:rPr lang="en-US" dirty="0" smtClean="0"/>
                  <a:t>scale.</a:t>
                </a:r>
              </a:p>
              <a:p>
                <a:r>
                  <a:rPr lang="en-US" dirty="0" smtClean="0"/>
                  <a:t>Unlike Toeplitz and AR, the exponential can easily handle </a:t>
                </a:r>
                <a:r>
                  <a:rPr lang="en-US" u="sng" dirty="0" smtClean="0"/>
                  <a:t>unbalanced data</a:t>
                </a:r>
                <a:r>
                  <a:rPr lang="en-US" dirty="0" smtClean="0"/>
                  <a:t> because it is based on time as a </a:t>
                </a:r>
                <a:r>
                  <a:rPr lang="en-US" u="sng" dirty="0" smtClean="0"/>
                  <a:t>continuum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2647"/>
          <a:stretch/>
        </p:blipFill>
        <p:spPr>
          <a:xfrm>
            <a:off x="4913539" y="3688842"/>
            <a:ext cx="3202850" cy="624904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33</a:t>
            </a:r>
          </a:p>
        </p:txBody>
      </p:sp>
    </p:spTree>
    <p:extLst>
      <p:ext uri="{BB962C8B-B14F-4D97-AF65-F5344CB8AC3E}">
        <p14:creationId xmlns:p14="http://schemas.microsoft.com/office/powerpoint/2010/main" val="262917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Relationships between the Covariance Models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05692" y="3228753"/>
                <a:ext cx="1881052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Unstructured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+1)/2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92" y="3228753"/>
                <a:ext cx="1881052" cy="738664"/>
              </a:xfrm>
              <a:prstGeom prst="rect">
                <a:avLst/>
              </a:prstGeom>
              <a:blipFill>
                <a:blip r:embed="rId2"/>
                <a:stretch>
                  <a:fillRect l="-4839" t="-5691" r="-1290" b="-48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2781217" y="3611820"/>
            <a:ext cx="2121709" cy="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905348" y="3228753"/>
                <a:ext cx="1140397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Toeplitz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48" y="3228753"/>
                <a:ext cx="1140397" cy="738664"/>
              </a:xfrm>
              <a:prstGeom prst="rect">
                <a:avLst/>
              </a:prstGeom>
              <a:blipFill>
                <a:blip r:embed="rId3"/>
                <a:stretch>
                  <a:fillRect l="-7937" t="-5691" r="-6878" b="-16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713181" y="3288654"/>
            <a:ext cx="2104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Covariance depends only on separation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071665" y="2194560"/>
            <a:ext cx="1612124" cy="137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055259" y="3598085"/>
            <a:ext cx="1542209" cy="2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071665" y="3628416"/>
            <a:ext cx="1571601" cy="1494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721547" y="1600313"/>
                <a:ext cx="1579210" cy="11079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Compound Symmetry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1547" y="1600313"/>
                <a:ext cx="1579210" cy="1107996"/>
              </a:xfrm>
              <a:prstGeom prst="rect">
                <a:avLst/>
              </a:prstGeom>
              <a:blipFill>
                <a:blip r:embed="rId4"/>
                <a:stretch>
                  <a:fillRect l="-5747" t="-3825" r="-7663" b="-10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 rot="19026110">
            <a:off x="6541526" y="2318164"/>
            <a:ext cx="1237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Covariance constant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285976" y="3259354"/>
            <a:ext cx="1377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Exponential decay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597468" y="3363843"/>
                <a:ext cx="204245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Autoregressive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468" y="3363843"/>
                <a:ext cx="2042455" cy="738664"/>
              </a:xfrm>
              <a:prstGeom prst="rect">
                <a:avLst/>
              </a:prstGeom>
              <a:blipFill>
                <a:blip r:embed="rId5"/>
                <a:stretch>
                  <a:fillRect l="-4154" t="-5691" r="-3858" b="-16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 rot="2601081">
            <a:off x="6431053" y="4246806"/>
            <a:ext cx="1237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Decays to zero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663310" y="4878497"/>
                <a:ext cx="2151249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Banded (size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 smtClean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310" y="4878497"/>
                <a:ext cx="2151249" cy="738664"/>
              </a:xfrm>
              <a:prstGeom prst="rect">
                <a:avLst/>
              </a:prstGeom>
              <a:blipFill>
                <a:blip r:embed="rId6"/>
                <a:stretch>
                  <a:fillRect l="-3944" t="-5691" r="-1127" b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31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32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33</a:t>
            </a:r>
          </a:p>
        </p:txBody>
      </p:sp>
    </p:spTree>
    <p:extLst>
      <p:ext uri="{BB962C8B-B14F-4D97-AF65-F5344CB8AC3E}">
        <p14:creationId xmlns:p14="http://schemas.microsoft.com/office/powerpoint/2010/main" val="234366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Choice among Covariance Pattern Models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Choice of models for covariance and mean are interdependent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var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}′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Choice </a:t>
                </a:r>
                <a:r>
                  <a:rPr lang="en-US" dirty="0"/>
                  <a:t>of model for covariance should be based on a </a:t>
                </a:r>
                <a:r>
                  <a:rPr lang="en-US" dirty="0" smtClean="0"/>
                  <a:t>“maximal</a:t>
                </a:r>
                <a:r>
                  <a:rPr lang="en-US" dirty="0"/>
                  <a:t>" model for</a:t>
                </a:r>
                <a:br>
                  <a:rPr lang="en-US" dirty="0"/>
                </a:br>
                <a:r>
                  <a:rPr lang="en-US" dirty="0"/>
                  <a:t>the mean that minimizes any potential </a:t>
                </a:r>
                <a:r>
                  <a:rPr lang="en-US" dirty="0" smtClean="0"/>
                  <a:t>misspecification.</a:t>
                </a:r>
              </a:p>
              <a:p>
                <a:r>
                  <a:rPr lang="en-US" dirty="0" smtClean="0"/>
                  <a:t>With </a:t>
                </a:r>
                <a:r>
                  <a:rPr lang="en-US" dirty="0"/>
                  <a:t>balanced designs and a very small number of discrete covariates,</a:t>
                </a:r>
                <a:br>
                  <a:rPr lang="en-US" dirty="0"/>
                </a:br>
                <a:r>
                  <a:rPr lang="en-US" dirty="0"/>
                  <a:t>choose </a:t>
                </a:r>
                <a:r>
                  <a:rPr lang="en-US" u="sng" dirty="0" smtClean="0"/>
                  <a:t>saturated model</a:t>
                </a:r>
                <a:r>
                  <a:rPr lang="en-US" dirty="0" smtClean="0"/>
                  <a:t/>
                </a:r>
                <a:r>
                  <a:rPr lang="en-US" dirty="0"/>
                  <a:t>for the mean response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Saturated </a:t>
                </a:r>
                <a:r>
                  <a:rPr lang="en-US" dirty="0"/>
                  <a:t>model: includes main effects of time (regarded as a </a:t>
                </a:r>
                <a:r>
                  <a:rPr lang="en-US" dirty="0" smtClean="0"/>
                  <a:t>within-subject factor</a:t>
                </a:r>
                <a:r>
                  <a:rPr lang="en-US" dirty="0"/>
                  <a:t>) and all other main </a:t>
                </a:r>
                <a:r>
                  <a:rPr lang="en-US" dirty="0" smtClean="0"/>
                  <a:t>effects along with interactions (like in an analysis of response profiles).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33</a:t>
            </a:r>
          </a:p>
        </p:txBody>
      </p:sp>
    </p:spTree>
    <p:extLst>
      <p:ext uri="{BB962C8B-B14F-4D97-AF65-F5344CB8AC3E}">
        <p14:creationId xmlns:p14="http://schemas.microsoft.com/office/powerpoint/2010/main" val="542001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Choice among Covariance Pattern Models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Maximal </a:t>
            </a:r>
            <a:r>
              <a:rPr lang="en-US" dirty="0" smtClean="0"/>
              <a:t>mean model </a:t>
            </a:r>
            <a:r>
              <a:rPr lang="en-US" dirty="0"/>
              <a:t>should be in a certain sense the most elaborate model </a:t>
            </a:r>
            <a:r>
              <a:rPr lang="en-US" dirty="0" smtClean="0"/>
              <a:t>for the </a:t>
            </a:r>
            <a:r>
              <a:rPr lang="en-US" dirty="0"/>
              <a:t>mean response that we would consider from a </a:t>
            </a:r>
            <a:r>
              <a:rPr lang="en-US" u="sng" dirty="0"/>
              <a:t>subject-matter</a:t>
            </a:r>
            <a:r>
              <a:rPr lang="en-US" dirty="0"/>
              <a:t> point </a:t>
            </a:r>
            <a:r>
              <a:rPr lang="en-US" dirty="0" smtClean="0"/>
              <a:t>of view.</a:t>
            </a:r>
          </a:p>
          <a:p>
            <a:r>
              <a:rPr lang="en-US" dirty="0" smtClean="0"/>
              <a:t>Once </a:t>
            </a:r>
            <a:r>
              <a:rPr lang="en-US" dirty="0"/>
              <a:t>maximal model has been chosen, residual variation and </a:t>
            </a:r>
            <a:r>
              <a:rPr lang="en-US" dirty="0" smtClean="0"/>
              <a:t>covariation can </a:t>
            </a:r>
            <a:r>
              <a:rPr lang="en-US" dirty="0"/>
              <a:t>be used to select appropriate model for </a:t>
            </a:r>
            <a:r>
              <a:rPr lang="en-US" dirty="0" smtClean="0"/>
              <a:t>covariance.</a:t>
            </a:r>
          </a:p>
          <a:p>
            <a:r>
              <a:rPr lang="en-US" dirty="0" smtClean="0"/>
              <a:t>For </a:t>
            </a:r>
            <a:r>
              <a:rPr lang="en-US" dirty="0"/>
              <a:t>nested covariance pattern models, a likelihood ratio test statistic </a:t>
            </a:r>
            <a:r>
              <a:rPr lang="en-US" dirty="0" smtClean="0"/>
              <a:t>can be </a:t>
            </a:r>
            <a:r>
              <a:rPr lang="en-US" dirty="0"/>
              <a:t>constructed that compares </a:t>
            </a:r>
            <a:r>
              <a:rPr lang="en-US" dirty="0" smtClean="0"/>
              <a:t>“full” </a:t>
            </a:r>
            <a:r>
              <a:rPr lang="en-US" dirty="0"/>
              <a:t>and </a:t>
            </a:r>
            <a:r>
              <a:rPr lang="en-US" dirty="0" smtClean="0"/>
              <a:t>“reduced</a:t>
            </a:r>
            <a:r>
              <a:rPr lang="en-US" dirty="0"/>
              <a:t>" models. </a:t>
            </a:r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33</a:t>
            </a:r>
          </a:p>
        </p:txBody>
      </p:sp>
    </p:spTree>
    <p:extLst>
      <p:ext uri="{BB962C8B-B14F-4D97-AF65-F5344CB8AC3E}">
        <p14:creationId xmlns:p14="http://schemas.microsoft.com/office/powerpoint/2010/main" val="4029855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Choice among Covariance Pattern Models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For example, compound symmetry model is special case of the Toeplitz model with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· · ·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 smtClean="0"/>
              </a:p>
              <a:p>
                <a:r>
                  <a:rPr lang="en-US" u="sng" dirty="0" smtClean="0"/>
                  <a:t>Likelihood </a:t>
                </a:r>
                <a:r>
                  <a:rPr lang="en-US" u="sng" dirty="0"/>
                  <a:t>ratio test</a:t>
                </a:r>
                <a:r>
                  <a:rPr lang="en-US" dirty="0"/>
                  <a:t> is obtained by taking twice the difference in the</a:t>
                </a:r>
                <a:br>
                  <a:rPr lang="en-US" dirty="0"/>
                </a:br>
                <a:r>
                  <a:rPr lang="en-US" dirty="0"/>
                  <a:t>respective maximized REML log-likelihoods</a:t>
                </a:r>
                <a:r>
                  <a:rPr lang="en-US" dirty="0" smtClean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𝑓𝑢𝑙𝑙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 smtClean="0"/>
                  <a:t>	and comparing statistic to a chi-squared distribution with </a:t>
                </a:r>
                <a:r>
                  <a:rPr lang="en-US" dirty="0" err="1" smtClean="0"/>
                  <a:t>df</a:t>
                </a:r>
                <a:r>
                  <a:rPr lang="en-US" dirty="0" smtClean="0"/>
                  <a:t> equal to</a:t>
                </a:r>
                <a:br>
                  <a:rPr lang="en-US" dirty="0" smtClean="0"/>
                </a:br>
                <a:r>
                  <a:rPr lang="en-US" dirty="0" smtClean="0"/>
                  <a:t>	difference between the number of covariance parameters in full and 	reduced</a:t>
                </a:r>
                <a:r>
                  <a:rPr lang="en-US" dirty="0"/>
                  <a:t/>
                </a:r>
                <a:r>
                  <a:rPr lang="en-US" dirty="0" smtClean="0"/>
                  <a:t>models.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33</a:t>
            </a:r>
          </a:p>
        </p:txBody>
      </p:sp>
    </p:spTree>
    <p:extLst>
      <p:ext uri="{BB962C8B-B14F-4D97-AF65-F5344CB8AC3E}">
        <p14:creationId xmlns:p14="http://schemas.microsoft.com/office/powerpoint/2010/main" val="3485389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Choice among Covariance Pattern Models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compare non-nested model, an alternative approach is the </a:t>
            </a:r>
            <a:r>
              <a:rPr lang="en-US" u="sng" dirty="0" err="1"/>
              <a:t>Akaike</a:t>
            </a:r>
            <a:r>
              <a:rPr lang="en-US" u="sng" dirty="0"/>
              <a:t/>
            </a:r>
            <a:br>
              <a:rPr lang="en-US" u="sng" dirty="0"/>
            </a:br>
            <a:r>
              <a:rPr lang="en-US" u="sng" dirty="0"/>
              <a:t>Information Criterion</a:t>
            </a:r>
            <a:r>
              <a:rPr lang="en-US" dirty="0"/>
              <a:t> (AIC</a:t>
            </a:r>
            <a:r>
              <a:rPr lang="en-US" dirty="0" smtClean="0"/>
              <a:t>).</a:t>
            </a:r>
          </a:p>
          <a:p>
            <a:r>
              <a:rPr lang="en-US" dirty="0" smtClean="0"/>
              <a:t>According </a:t>
            </a:r>
            <a:r>
              <a:rPr lang="en-US" dirty="0"/>
              <a:t>to the AIC, given a set of competing models for the </a:t>
            </a:r>
            <a:r>
              <a:rPr lang="en-US" dirty="0" smtClean="0"/>
              <a:t>covariance, one </a:t>
            </a:r>
            <a:r>
              <a:rPr lang="en-US" dirty="0"/>
              <a:t>should select the model that minimizes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Note that a larger number of parameters is penalized in the interest of a parsimonious model.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691" y="3653756"/>
            <a:ext cx="8220075" cy="69507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33</a:t>
            </a:r>
          </a:p>
        </p:txBody>
      </p:sp>
    </p:spTree>
    <p:extLst>
      <p:ext uri="{BB962C8B-B14F-4D97-AF65-F5344CB8AC3E}">
        <p14:creationId xmlns:p14="http://schemas.microsoft.com/office/powerpoint/2010/main" val="2664752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Subjects </a:t>
            </a:r>
            <a:r>
              <a:rPr lang="en-US" dirty="0"/>
              <a:t>were assigned to one of two weightlifting programs to </a:t>
            </a:r>
            <a:r>
              <a:rPr lang="en-US" dirty="0" smtClean="0"/>
              <a:t>increase muscle strength.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treatment </a:t>
            </a:r>
            <a:r>
              <a:rPr lang="en-US" dirty="0"/>
              <a:t>1: number of repetitions of the exercises was increased as</a:t>
            </a:r>
            <a:br>
              <a:rPr lang="en-US" dirty="0"/>
            </a:br>
            <a:r>
              <a:rPr lang="en-US" dirty="0"/>
              <a:t>subjects became </a:t>
            </a:r>
            <a:r>
              <a:rPr lang="en-US" dirty="0" smtClean="0"/>
              <a:t>stronger.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treatment 2: </a:t>
            </a:r>
            <a:r>
              <a:rPr lang="en-US" dirty="0"/>
              <a:t>number of repetitions was held constant but amount </a:t>
            </a:r>
            <a:r>
              <a:rPr lang="en-US" dirty="0" smtClean="0"/>
              <a:t>of</a:t>
            </a:r>
            <a:r>
              <a:rPr lang="en-US" dirty="0"/>
              <a:t/>
            </a:r>
            <a:r>
              <a:rPr lang="en-US" dirty="0" smtClean="0"/>
              <a:t>weight </a:t>
            </a:r>
            <a:r>
              <a:rPr lang="en-US" dirty="0"/>
              <a:t>was increased as subjects became stronger</a:t>
            </a:r>
            <a:r>
              <a:rPr lang="en-US" dirty="0" smtClean="0"/>
              <a:t>.</a:t>
            </a:r>
            <a:endParaRPr lang="en-US" i="1" dirty="0" smtClean="0"/>
          </a:p>
          <a:p>
            <a:r>
              <a:rPr lang="en-US" dirty="0" smtClean="0"/>
              <a:t>Measurements </a:t>
            </a:r>
            <a:r>
              <a:rPr lang="en-US" dirty="0"/>
              <a:t>of body strength were taken at baseline and on days 2, </a:t>
            </a:r>
            <a:r>
              <a:rPr lang="en-US" dirty="0" smtClean="0"/>
              <a:t>4, 6</a:t>
            </a:r>
            <a:r>
              <a:rPr lang="en-US" dirty="0"/>
              <a:t>, 8, 10, and </a:t>
            </a:r>
            <a:r>
              <a:rPr lang="en-US" dirty="0" smtClean="0"/>
              <a:t>12.</a:t>
            </a:r>
            <a:endParaRPr lang="en-US" dirty="0"/>
          </a:p>
          <a:p>
            <a:r>
              <a:rPr lang="en-US" dirty="0" smtClean="0"/>
              <a:t>We </a:t>
            </a:r>
            <a:r>
              <a:rPr lang="en-US" dirty="0"/>
              <a:t>focus only on measures of strength obtained at baseline (or day 0)</a:t>
            </a:r>
            <a:br>
              <a:rPr lang="en-US" dirty="0"/>
            </a:br>
            <a:r>
              <a:rPr lang="en-US" dirty="0"/>
              <a:t>and on days 4, 6, 8, and 12.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33</a:t>
            </a:r>
          </a:p>
        </p:txBody>
      </p:sp>
    </p:spTree>
    <p:extLst>
      <p:ext uri="{BB962C8B-B14F-4D97-AF65-F5344CB8AC3E}">
        <p14:creationId xmlns:p14="http://schemas.microsoft.com/office/powerpoint/2010/main" val="2997536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Before </a:t>
            </a:r>
            <a:r>
              <a:rPr lang="en-US" dirty="0"/>
              <a:t>considering models for the covariance, it is necessary to choose </a:t>
            </a:r>
            <a:r>
              <a:rPr lang="en-US" dirty="0" smtClean="0"/>
              <a:t>a maximal (saturated) </a:t>
            </a:r>
            <a:r>
              <a:rPr lang="en-US" dirty="0"/>
              <a:t>model for the mean </a:t>
            </a:r>
            <a:r>
              <a:rPr lang="en-US" dirty="0" smtClean="0"/>
              <a:t>response.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293" y="1542641"/>
            <a:ext cx="7713731" cy="3308033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33</a:t>
            </a:r>
          </a:p>
        </p:txBody>
      </p:sp>
    </p:spTree>
    <p:extLst>
      <p:ext uri="{BB962C8B-B14F-4D97-AF65-F5344CB8AC3E}">
        <p14:creationId xmlns:p14="http://schemas.microsoft.com/office/powerpoint/2010/main" val="2899767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First</a:t>
            </a:r>
            <a:r>
              <a:rPr lang="en-US" dirty="0"/>
              <a:t>, we consider an unstructured covariance matrix.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80" y="2757056"/>
            <a:ext cx="11645764" cy="1771401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33</a:t>
            </a:r>
          </a:p>
        </p:txBody>
      </p:sp>
    </p:spTree>
    <p:extLst>
      <p:ext uri="{BB962C8B-B14F-4D97-AF65-F5344CB8AC3E}">
        <p14:creationId xmlns:p14="http://schemas.microsoft.com/office/powerpoint/2010/main" val="2960744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variance appears to be larger by the end of the study when</a:t>
            </a:r>
            <a:br>
              <a:rPr lang="en-US" dirty="0"/>
            </a:br>
            <a:r>
              <a:rPr lang="en-US" dirty="0"/>
              <a:t>compared to the variance at baseline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Correlations </a:t>
            </a:r>
            <a:r>
              <a:rPr lang="en-US" dirty="0"/>
              <a:t>decrease as the time separation between the repeated </a:t>
            </a:r>
            <a:r>
              <a:rPr lang="en-US" dirty="0" smtClean="0"/>
              <a:t>measures increases</a:t>
            </a:r>
            <a:r>
              <a:rPr lang="en-US" dirty="0"/>
              <a:t>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654" y="1825625"/>
            <a:ext cx="4383102" cy="23849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695" y="1852079"/>
            <a:ext cx="3847284" cy="2332013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33</a:t>
            </a:r>
          </a:p>
        </p:txBody>
      </p:sp>
    </p:spTree>
    <p:extLst>
      <p:ext uri="{BB962C8B-B14F-4D97-AF65-F5344CB8AC3E}">
        <p14:creationId xmlns:p14="http://schemas.microsoft.com/office/powerpoint/2010/main" val="2809326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Despite </a:t>
            </a:r>
            <a:r>
              <a:rPr lang="en-US" dirty="0"/>
              <a:t>apparent increase in variance over time, we consider </a:t>
            </a:r>
            <a:r>
              <a:rPr lang="en-US" dirty="0" smtClean="0"/>
              <a:t>a </a:t>
            </a:r>
            <a:r>
              <a:rPr lang="en-US" u="sng" dirty="0" smtClean="0"/>
              <a:t>homogenous autoregressive</a:t>
            </a:r>
            <a:r>
              <a:rPr lang="en-US" dirty="0" smtClean="0"/>
              <a:t/>
            </a:r>
            <a:r>
              <a:rPr lang="en-US" dirty="0"/>
              <a:t>model for the correlation</a:t>
            </a:r>
            <a:r>
              <a:rPr lang="en-US" dirty="0" smtClean="0"/>
              <a:t>.</a:t>
            </a:r>
          </a:p>
          <a:p>
            <a:r>
              <a:rPr lang="en-US" u="sng" dirty="0" smtClean="0"/>
              <a:t>Heterogeneous autoregressive</a:t>
            </a:r>
            <a:r>
              <a:rPr lang="en-US" dirty="0" smtClean="0"/>
              <a:t> model can be specified using type=ARH(1) (See SAS documentation for a list of options for covariance structure).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256"/>
          <a:stretch/>
        </p:blipFill>
        <p:spPr>
          <a:xfrm>
            <a:off x="2157955" y="4001294"/>
            <a:ext cx="7662869" cy="243840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33</a:t>
            </a:r>
          </a:p>
        </p:txBody>
      </p:sp>
    </p:spTree>
    <p:extLst>
      <p:ext uri="{BB962C8B-B14F-4D97-AF65-F5344CB8AC3E}">
        <p14:creationId xmlns:p14="http://schemas.microsoft.com/office/powerpoint/2010/main" val="2872600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This results in the following estimates of the variance and correlation</a:t>
                </a:r>
                <a:br>
                  <a:rPr lang="en-US" dirty="0" smtClean="0"/>
                </a:br>
                <a:r>
                  <a:rPr lang="en-US" dirty="0" smtClean="0"/>
                  <a:t>parameters,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 11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87 </m:t>
                    </m:r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94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This model was fit primarily for illustrative purposes; the model is not very appropriate as data are unequally spaced over time.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928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632" y="2143261"/>
            <a:ext cx="4243795" cy="195752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27 / 33</a:t>
            </a:r>
          </a:p>
        </p:txBody>
      </p:sp>
    </p:spTree>
    <p:extLst>
      <p:ext uri="{BB962C8B-B14F-4D97-AF65-F5344CB8AC3E}">
        <p14:creationId xmlns:p14="http://schemas.microsoft.com/office/powerpoint/2010/main" val="2365260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Instead, consider exponential model for the covariance, where</a:t>
                </a:r>
                <a:br>
                  <a:rPr lang="en-US" dirty="0" smtClean="0"/>
                </a:br>
                <a:r>
                  <a:rPr lang="en-US" i="1" dirty="0"/>
                  <a:t/>
                </a:r>
                <a:br>
                  <a:rPr lang="en-US" i="1" dirty="0"/>
                </a:br>
                <a:endParaRPr lang="en-US" i="1" dirty="0" smtClean="0"/>
              </a:p>
              <a:p>
                <a:pPr marL="457200" lvl="1" indent="0">
                  <a:buNone/>
                </a:pPr>
                <a:r>
                  <a:rPr lang="en-US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(0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12) </m:t>
                    </m:r>
                  </m:oMath>
                </a14:m>
                <a:r>
                  <a:rPr lang="en-US" dirty="0"/>
                  <a:t>for all subjects. </a:t>
                </a:r>
                <a:r>
                  <a:rPr lang="en-US" dirty="0" smtClean="0"/>
                  <a:t>s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2647"/>
          <a:stretch/>
        </p:blipFill>
        <p:spPr>
          <a:xfrm>
            <a:off x="4321355" y="2316480"/>
            <a:ext cx="3229081" cy="6300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225" y="3550376"/>
            <a:ext cx="7954562" cy="25743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84320" y="5242560"/>
            <a:ext cx="2325189" cy="3222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409509" y="4484914"/>
            <a:ext cx="1680754" cy="757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86131" y="3817281"/>
            <a:ext cx="350084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sp</a:t>
            </a:r>
            <a:r>
              <a:rPr lang="en-US" dirty="0" smtClean="0"/>
              <a:t>(</a:t>
            </a:r>
            <a:r>
              <a:rPr lang="en-US" dirty="0" err="1" smtClean="0"/>
              <a:t>exp</a:t>
            </a:r>
            <a:r>
              <a:rPr lang="en-US" dirty="0" smtClean="0"/>
              <a:t>): Spatial structure by exponential rule;</a:t>
            </a:r>
          </a:p>
          <a:p>
            <a:r>
              <a:rPr lang="en-US" dirty="0" smtClean="0"/>
              <a:t>day: quantitative variable of time</a:t>
            </a:r>
            <a:endParaRPr lang="en-US" dirty="0"/>
          </a:p>
        </p:txBody>
      </p:sp>
      <p:sp>
        <p:nvSpPr>
          <p:cNvPr id="11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12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28 / 33</a:t>
            </a:r>
          </a:p>
        </p:txBody>
      </p:sp>
    </p:spTree>
    <p:extLst>
      <p:ext uri="{BB962C8B-B14F-4D97-AF65-F5344CB8AC3E}">
        <p14:creationId xmlns:p14="http://schemas.microsoft.com/office/powerpoint/2010/main" val="1311717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There </a:t>
            </a:r>
            <a:r>
              <a:rPr lang="en-US" dirty="0"/>
              <a:t>is a hierarchy among the models: autoregressive and exponential </a:t>
            </a:r>
            <a:r>
              <a:rPr lang="en-US" dirty="0" smtClean="0"/>
              <a:t>are both </a:t>
            </a:r>
            <a:r>
              <a:rPr lang="en-US" dirty="0"/>
              <a:t>nested within </a:t>
            </a:r>
            <a:r>
              <a:rPr lang="en-US" dirty="0" smtClean="0"/>
              <a:t>unstructured.</a:t>
            </a:r>
          </a:p>
          <a:p>
            <a:r>
              <a:rPr lang="en-US" dirty="0" smtClean="0"/>
              <a:t>The </a:t>
            </a:r>
            <a:r>
              <a:rPr lang="en-US" dirty="0"/>
              <a:t>autoregressive and exponential models are not nested but have </a:t>
            </a:r>
            <a:r>
              <a:rPr lang="en-US" dirty="0" smtClean="0"/>
              <a:t>the same </a:t>
            </a:r>
            <a:r>
              <a:rPr lang="en-US" dirty="0"/>
              <a:t>number of parameters.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924" y="1515840"/>
            <a:ext cx="7989842" cy="291001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29 / 33</a:t>
            </a:r>
          </a:p>
        </p:txBody>
      </p:sp>
    </p:spTree>
    <p:extLst>
      <p:ext uri="{BB962C8B-B14F-4D97-AF65-F5344CB8AC3E}">
        <p14:creationId xmlns:p14="http://schemas.microsoft.com/office/powerpoint/2010/main" val="1192082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comparison between these two models can be made directly in </a:t>
            </a:r>
            <a:r>
              <a:rPr lang="en-US" dirty="0" smtClean="0"/>
              <a:t>terms of </a:t>
            </a:r>
            <a:r>
              <a:rPr lang="en-US" dirty="0"/>
              <a:t>their maximized </a:t>
            </a:r>
            <a:r>
              <a:rPr lang="en-US" dirty="0" smtClean="0"/>
              <a:t>log-likelihoods.</a:t>
            </a:r>
          </a:p>
          <a:p>
            <a:r>
              <a:rPr lang="en-US" dirty="0" smtClean="0"/>
              <a:t>LRT </a:t>
            </a:r>
            <a:r>
              <a:rPr lang="en-US" dirty="0"/>
              <a:t>comparing autoregressive </a:t>
            </a:r>
            <a:r>
              <a:rPr lang="en-US" dirty="0" smtClean="0"/>
              <a:t>vs </a:t>
            </a:r>
            <a:r>
              <a:rPr lang="en-US" dirty="0"/>
              <a:t>unstructured covariance,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There is evidence that the autoregressive model does not provide an</a:t>
            </a:r>
            <a:br>
              <a:rPr lang="en-US" dirty="0"/>
            </a:br>
            <a:r>
              <a:rPr lang="en-US" dirty="0"/>
              <a:t>adequate fit to the covariance.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008" y="3248819"/>
            <a:ext cx="7000875" cy="1504950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30 / 33</a:t>
            </a:r>
          </a:p>
        </p:txBody>
      </p:sp>
    </p:spTree>
    <p:extLst>
      <p:ext uri="{BB962C8B-B14F-4D97-AF65-F5344CB8AC3E}">
        <p14:creationId xmlns:p14="http://schemas.microsoft.com/office/powerpoint/2010/main" val="1735559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Trial 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LRT comparing exponential </a:t>
            </a:r>
            <a:r>
              <a:rPr lang="en-US" dirty="0" smtClean="0"/>
              <a:t>vs </a:t>
            </a:r>
            <a:r>
              <a:rPr lang="en-US" dirty="0"/>
              <a:t>unstructured covariance, yields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Exponential covariance provides an adequate fit to the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Also</a:t>
            </a:r>
            <a:r>
              <a:rPr lang="en-US" dirty="0"/>
              <a:t>, in terms of AIC, the exponential model minimizes this criterion.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557304"/>
            <a:ext cx="10210800" cy="150495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31 / 33</a:t>
            </a:r>
          </a:p>
        </p:txBody>
      </p:sp>
    </p:spTree>
    <p:extLst>
      <p:ext uri="{BB962C8B-B14F-4D97-AF65-F5344CB8AC3E}">
        <p14:creationId xmlns:p14="http://schemas.microsoft.com/office/powerpoint/2010/main" val="517480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 of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Covariance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Pattern Models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Covariance pattern models attempt to characterize the covariance with a</a:t>
            </a:r>
            <a:br>
              <a:rPr lang="en-US" dirty="0"/>
            </a:br>
            <a:r>
              <a:rPr lang="en-US" u="sng" dirty="0"/>
              <a:t>relatively small</a:t>
            </a:r>
            <a:r>
              <a:rPr lang="en-US" dirty="0"/>
              <a:t> number of </a:t>
            </a:r>
            <a:r>
              <a:rPr lang="en-US" dirty="0" smtClean="0"/>
              <a:t>parameters.</a:t>
            </a:r>
          </a:p>
          <a:p>
            <a:r>
              <a:rPr lang="en-US" dirty="0" smtClean="0"/>
              <a:t>However</a:t>
            </a:r>
            <a:r>
              <a:rPr lang="en-US" dirty="0"/>
              <a:t>, many models (e.g., autoregressive, Toeplitz, and banded)</a:t>
            </a:r>
            <a:br>
              <a:rPr lang="en-US" dirty="0"/>
            </a:br>
            <a:r>
              <a:rPr lang="en-US" dirty="0"/>
              <a:t>appropriate only when repeated measurements are obtained at </a:t>
            </a:r>
            <a:r>
              <a:rPr lang="en-US" u="sng" dirty="0"/>
              <a:t>equal</a:t>
            </a:r>
            <a:br>
              <a:rPr lang="en-US" u="sng" dirty="0"/>
            </a:br>
            <a:r>
              <a:rPr lang="en-US" u="sng" dirty="0"/>
              <a:t>intervals</a:t>
            </a:r>
            <a:r>
              <a:rPr lang="en-US" dirty="0"/>
              <a:t> and cannot handle irregularly timed </a:t>
            </a:r>
            <a:r>
              <a:rPr lang="en-US" dirty="0" smtClean="0"/>
              <a:t>measurements.</a:t>
            </a:r>
          </a:p>
          <a:p>
            <a:r>
              <a:rPr lang="en-US" dirty="0" smtClean="0"/>
              <a:t>While </a:t>
            </a:r>
            <a:r>
              <a:rPr lang="en-US" dirty="0"/>
              <a:t>there is a large selection of models for correlations, choice of models</a:t>
            </a:r>
            <a:br>
              <a:rPr lang="en-US" dirty="0"/>
            </a:br>
            <a:r>
              <a:rPr lang="en-US" dirty="0"/>
              <a:t>for variances is </a:t>
            </a:r>
            <a:r>
              <a:rPr lang="en-US" dirty="0" smtClean="0"/>
              <a:t>limited.</a:t>
            </a:r>
          </a:p>
          <a:p>
            <a:r>
              <a:rPr lang="en-US" dirty="0" smtClean="0"/>
              <a:t>They </a:t>
            </a:r>
            <a:r>
              <a:rPr lang="en-US" dirty="0"/>
              <a:t>are not well-suited for modelling data from </a:t>
            </a:r>
            <a:r>
              <a:rPr lang="en-US" u="sng" dirty="0"/>
              <a:t>inherently unbalanced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longitudinal designs.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32 / 33</a:t>
            </a:r>
          </a:p>
        </p:txBody>
      </p:sp>
    </p:spTree>
    <p:extLst>
      <p:ext uri="{BB962C8B-B14F-4D97-AF65-F5344CB8AC3E}">
        <p14:creationId xmlns:p14="http://schemas.microsoft.com/office/powerpoint/2010/main" val="3967344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8074" cy="13255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HW2 (Due Mar 13)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6.1 of FLW</a:t>
            </a:r>
          </a:p>
          <a:p>
            <a:r>
              <a:rPr lang="en-US" smtClean="0"/>
              <a:t>Problem 7.1 (7.1.1—7.1.4) of FLW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09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33 / 33</a:t>
            </a:r>
          </a:p>
        </p:txBody>
      </p:sp>
    </p:spTree>
    <p:extLst>
      <p:ext uri="{BB962C8B-B14F-4D97-AF65-F5344CB8AC3E}">
        <p14:creationId xmlns:p14="http://schemas.microsoft.com/office/powerpoint/2010/main" val="391172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29685</TotalTime>
  <Words>971</Words>
  <Application>Microsoft Office PowerPoint</Application>
  <PresentationFormat>Widescreen</PresentationFormat>
  <Paragraphs>210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Modelling the Covariance</vt:lpstr>
      <vt:lpstr>Modelling the Covariance</vt:lpstr>
      <vt:lpstr>Unstructured Covariance</vt:lpstr>
      <vt:lpstr>Unstructured Covariance</vt:lpstr>
      <vt:lpstr>Unstructured Covariance</vt:lpstr>
      <vt:lpstr>Covariance Pattern Models </vt:lpstr>
      <vt:lpstr>Covariance Pattern Models – Compound Symmetry </vt:lpstr>
      <vt:lpstr>Covariance Pattern Models – Toeplitz </vt:lpstr>
      <vt:lpstr>Covariance Pattern Models – Toeplitz </vt:lpstr>
      <vt:lpstr>Covariance Pattern Models – AR </vt:lpstr>
      <vt:lpstr>Covariance Pattern Models – Heteroscedastic versions</vt:lpstr>
      <vt:lpstr>Covariance Pattern Models – Banded</vt:lpstr>
      <vt:lpstr>Covariance Pattern Models – Banded</vt:lpstr>
      <vt:lpstr>Covariance Pattern Models – Exponential</vt:lpstr>
      <vt:lpstr>Relationships between the Covariance Models</vt:lpstr>
      <vt:lpstr>Choice among Covariance Pattern Models </vt:lpstr>
      <vt:lpstr>Choice among Covariance Pattern Models </vt:lpstr>
      <vt:lpstr>Choice among Covariance Pattern Models </vt:lpstr>
      <vt:lpstr>Choice among Covariance Pattern Models </vt:lpstr>
      <vt:lpstr>Example: Exercise Therapy Trial </vt:lpstr>
      <vt:lpstr>Example: Exercise Therapy Trial </vt:lpstr>
      <vt:lpstr>Example: Exercise Therapy Trial </vt:lpstr>
      <vt:lpstr>Example: Exercise Therapy Trial </vt:lpstr>
      <vt:lpstr>Example: Exercise Therapy Trial </vt:lpstr>
      <vt:lpstr>Example: Exercise Therapy Trial </vt:lpstr>
      <vt:lpstr>Example: Exercise Therapy Trial </vt:lpstr>
      <vt:lpstr>Example: Exercise Therapy Trial </vt:lpstr>
      <vt:lpstr>Example: Exercise Therapy Trial </vt:lpstr>
      <vt:lpstr>Example: Exercise Therapy Trial </vt:lpstr>
      <vt:lpstr>Summary of Covariance Pattern Models </vt:lpstr>
      <vt:lpstr>HW2 (Due Mar 13)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745</cp:revision>
  <dcterms:created xsi:type="dcterms:W3CDTF">2019-01-16T21:45:55Z</dcterms:created>
  <dcterms:modified xsi:type="dcterms:W3CDTF">2019-03-04T19:42:40Z</dcterms:modified>
</cp:coreProperties>
</file>