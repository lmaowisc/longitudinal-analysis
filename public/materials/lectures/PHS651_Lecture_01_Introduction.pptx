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5" r:id="rId8"/>
    <p:sldId id="266" r:id="rId9"/>
    <p:sldId id="260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3" r:id="rId24"/>
    <p:sldId id="279" r:id="rId25"/>
    <p:sldId id="280" r:id="rId26"/>
    <p:sldId id="281" r:id="rId27"/>
    <p:sldId id="283" r:id="rId28"/>
    <p:sldId id="282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82218-0974-45EF-B1D0-9792F692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6C635-FD50-4BAB-B0EC-30DB9BE1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56BAE-22DE-4605-9117-6503BC51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4FDE3-EC29-49CC-9981-72777BF4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89B54-F22C-4658-94EB-91A9F5DB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6E7BA-5F61-4FE7-B5D6-B4AC7BDD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2047553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Introduction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u="sng" dirty="0" smtClean="0"/>
              <a:t>Longitudinal </a:t>
            </a:r>
            <a:r>
              <a:rPr lang="en-US" u="sng" dirty="0"/>
              <a:t>Studies</a:t>
            </a:r>
            <a:r>
              <a:rPr lang="en-US" dirty="0"/>
              <a:t>: Studies in which individuals are measured </a:t>
            </a:r>
            <a:r>
              <a:rPr lang="en-US" dirty="0" smtClean="0"/>
              <a:t>repeatedly through </a:t>
            </a:r>
            <a:r>
              <a:rPr lang="en-US" dirty="0"/>
              <a:t>time.</a:t>
            </a:r>
          </a:p>
          <a:p>
            <a:r>
              <a:rPr lang="en-US" dirty="0"/>
              <a:t>This course will cover the </a:t>
            </a:r>
            <a:r>
              <a:rPr lang="en-US" u="sng" dirty="0"/>
              <a:t>analysis</a:t>
            </a:r>
            <a:r>
              <a:rPr lang="en-US" dirty="0"/>
              <a:t> and </a:t>
            </a:r>
            <a:r>
              <a:rPr lang="en-US" u="sng" dirty="0"/>
              <a:t>interpretation</a:t>
            </a:r>
            <a:r>
              <a:rPr lang="en-US" dirty="0"/>
              <a:t> of results </a:t>
            </a:r>
            <a:r>
              <a:rPr lang="en-US" dirty="0" smtClean="0"/>
              <a:t>from longitudinal </a:t>
            </a:r>
            <a:r>
              <a:rPr lang="en-US" dirty="0"/>
              <a:t>studies.</a:t>
            </a:r>
          </a:p>
          <a:p>
            <a:r>
              <a:rPr lang="en-US" dirty="0"/>
              <a:t>Emphasis will be on </a:t>
            </a:r>
            <a:r>
              <a:rPr lang="en-US" u="sng" dirty="0"/>
              <a:t>model development</a:t>
            </a:r>
            <a:r>
              <a:rPr lang="en-US" dirty="0"/>
              <a:t>, </a:t>
            </a:r>
            <a:r>
              <a:rPr lang="en-US" u="sng" dirty="0"/>
              <a:t>use of statistical software</a:t>
            </a:r>
            <a:r>
              <a:rPr lang="en-US" dirty="0"/>
              <a:t>, </a:t>
            </a:r>
            <a:r>
              <a:rPr lang="en-US" dirty="0" smtClean="0"/>
              <a:t>and </a:t>
            </a:r>
            <a:r>
              <a:rPr lang="en-US" u="sng" dirty="0" smtClean="0"/>
              <a:t>interpretation </a:t>
            </a:r>
            <a:r>
              <a:rPr lang="en-US" u="sng" dirty="0"/>
              <a:t>of results</a:t>
            </a:r>
            <a:r>
              <a:rPr lang="en-US" dirty="0"/>
              <a:t>.</a:t>
            </a:r>
          </a:p>
          <a:p>
            <a:r>
              <a:rPr lang="en-US" dirty="0"/>
              <a:t>Theoretical basis for results mentioned but not developed.</a:t>
            </a:r>
          </a:p>
          <a:p>
            <a:r>
              <a:rPr lang="en-US" dirty="0"/>
              <a:t>No calculus or matrix algebra is assumed.</a:t>
            </a:r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29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Why collecting longitudinal data?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primary goal of a longitudinal study is to characterize the </a:t>
            </a:r>
            <a:r>
              <a:rPr lang="en-US" u="sng" dirty="0" smtClean="0"/>
              <a:t>change in response over time</a:t>
            </a:r>
            <a:r>
              <a:rPr lang="en-US" dirty="0" smtClean="0"/>
              <a:t> and to study the factors that influence change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What is wrong with cross-sectional study?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Correlation not causation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No temporal trend for response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2951016" y="3325091"/>
            <a:ext cx="1055717" cy="665018"/>
            <a:chOff x="2951016" y="3325091"/>
            <a:chExt cx="1055717" cy="665018"/>
          </a:xfrm>
        </p:grpSpPr>
        <p:sp>
          <p:nvSpPr>
            <p:cNvPr id="11" name="Rectangle 10"/>
            <p:cNvSpPr/>
            <p:nvPr/>
          </p:nvSpPr>
          <p:spPr>
            <a:xfrm>
              <a:off x="3000894" y="3325091"/>
              <a:ext cx="955963" cy="6650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51016" y="3472934"/>
              <a:ext cx="10557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Exposure</a:t>
              </a:r>
              <a:endParaRPr 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169427" y="3366654"/>
            <a:ext cx="1143694" cy="581891"/>
            <a:chOff x="6169427" y="3366654"/>
            <a:chExt cx="1143694" cy="581891"/>
          </a:xfrm>
        </p:grpSpPr>
        <p:sp>
          <p:nvSpPr>
            <p:cNvPr id="15" name="Oval 14"/>
            <p:cNvSpPr/>
            <p:nvPr/>
          </p:nvSpPr>
          <p:spPr>
            <a:xfrm>
              <a:off x="6196444" y="3366654"/>
              <a:ext cx="989215" cy="5818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169427" y="3472933"/>
              <a:ext cx="1143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Outcome</a:t>
              </a:r>
              <a:endParaRPr lang="en-US" dirty="0"/>
            </a:p>
          </p:txBody>
        </p:sp>
      </p:grpSp>
      <p:cxnSp>
        <p:nvCxnSpPr>
          <p:cNvPr id="18" name="Straight Arrow Connector 17"/>
          <p:cNvCxnSpPr>
            <a:stCxn id="14" idx="3"/>
            <a:endCxn id="16" idx="1"/>
          </p:cNvCxnSpPr>
          <p:nvPr/>
        </p:nvCxnSpPr>
        <p:spPr>
          <a:xfrm flipV="1">
            <a:off x="4006733" y="3657599"/>
            <a:ext cx="21626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23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29</a:t>
            </a:r>
          </a:p>
        </p:txBody>
      </p:sp>
    </p:spTree>
    <p:extLst>
      <p:ext uri="{BB962C8B-B14F-4D97-AF65-F5344CB8AC3E}">
        <p14:creationId xmlns:p14="http://schemas.microsoft.com/office/powerpoint/2010/main" val="218062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Why collecting longitudinal data?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temporal trend in response, why not taking multiple cross-sectional samples at different time points?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u="sng" dirty="0" smtClean="0"/>
              <a:t>Systematic difference</a:t>
            </a:r>
            <a:r>
              <a:rPr lang="en-US" dirty="0" smtClean="0"/>
              <a:t> between cohorts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Between-individual </a:t>
            </a:r>
            <a:r>
              <a:rPr lang="en-US" u="sng" dirty="0" smtClean="0"/>
              <a:t>variability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No info on </a:t>
            </a:r>
            <a:r>
              <a:rPr lang="en-US" u="sng" dirty="0" smtClean="0"/>
              <a:t>individual-level trajectory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Cost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 smtClean="0"/>
              <a:t>By comparing responses at different time points from the same subject, longitudinal </a:t>
            </a:r>
            <a:r>
              <a:rPr lang="en-US" sz="2800" dirty="0"/>
              <a:t>analysis removes </a:t>
            </a:r>
            <a:r>
              <a:rPr lang="en-US" sz="2800" u="sng" dirty="0"/>
              <a:t>systematic</a:t>
            </a:r>
            <a:r>
              <a:rPr lang="en-US" sz="2800" dirty="0"/>
              <a:t> and </a:t>
            </a:r>
            <a:r>
              <a:rPr lang="en-US" sz="2800" u="sng" dirty="0"/>
              <a:t>random</a:t>
            </a:r>
            <a:r>
              <a:rPr lang="en-US" sz="2800" dirty="0"/>
              <a:t> difference between </a:t>
            </a:r>
            <a:r>
              <a:rPr lang="en-US" sz="2800" dirty="0" smtClean="0"/>
              <a:t>individuals</a:t>
            </a:r>
            <a:r>
              <a:rPr lang="en-US" sz="2800" dirty="0"/>
              <a:t>, provides direct info on </a:t>
            </a:r>
            <a:r>
              <a:rPr lang="en-US" sz="2800" u="sng" dirty="0"/>
              <a:t>individual-level trajectory</a:t>
            </a:r>
            <a:r>
              <a:rPr lang="en-US" sz="2800" dirty="0"/>
              <a:t>, </a:t>
            </a:r>
            <a:r>
              <a:rPr lang="en-US" sz="2800" dirty="0" smtClean="0"/>
              <a:t>and </a:t>
            </a:r>
            <a:r>
              <a:rPr lang="en-US" sz="2800" u="sng" dirty="0" smtClean="0"/>
              <a:t>reduces study cost</a:t>
            </a:r>
            <a:endParaRPr lang="en-US" sz="2800" u="sng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11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12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29</a:t>
            </a:r>
          </a:p>
        </p:txBody>
      </p:sp>
    </p:spTree>
    <p:extLst>
      <p:ext uri="{BB962C8B-B14F-4D97-AF65-F5344CB8AC3E}">
        <p14:creationId xmlns:p14="http://schemas.microsoft.com/office/powerpoint/2010/main" val="65371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Longitudinal data structure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A typical longitudinal study design: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lvl="1"/>
            <a:r>
              <a:rPr lang="en-US" dirty="0" smtClean="0"/>
              <a:t>In some studies, not all subjects are measured at the same time points</a:t>
            </a:r>
          </a:p>
          <a:p>
            <a:pPr lvl="1"/>
            <a:r>
              <a:rPr lang="en-US" dirty="0" smtClean="0"/>
              <a:t>Some subjects may dropout during study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1314450" y="2398779"/>
            <a:ext cx="8530425" cy="2347788"/>
            <a:chOff x="1314450" y="2398779"/>
            <a:chExt cx="8530425" cy="2347788"/>
          </a:xfrm>
        </p:grpSpPr>
        <p:grpSp>
          <p:nvGrpSpPr>
            <p:cNvPr id="26" name="Group 25"/>
            <p:cNvGrpSpPr/>
            <p:nvPr/>
          </p:nvGrpSpPr>
          <p:grpSpPr>
            <a:xfrm>
              <a:off x="1314450" y="3429000"/>
              <a:ext cx="3748001" cy="665018"/>
              <a:chOff x="1314450" y="3429000"/>
              <a:chExt cx="3748001" cy="665018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1314450" y="3429000"/>
                <a:ext cx="2467841" cy="665018"/>
                <a:chOff x="1314450" y="3429000"/>
                <a:chExt cx="2467841" cy="665018"/>
              </a:xfrm>
            </p:grpSpPr>
            <p:grpSp>
              <p:nvGrpSpPr>
                <p:cNvPr id="15" name="Group 14"/>
                <p:cNvGrpSpPr/>
                <p:nvPr/>
              </p:nvGrpSpPr>
              <p:grpSpPr>
                <a:xfrm>
                  <a:off x="1314450" y="3470564"/>
                  <a:ext cx="1143694" cy="581891"/>
                  <a:chOff x="1314450" y="3470564"/>
                  <a:chExt cx="1143694" cy="581891"/>
                </a:xfrm>
              </p:grpSpPr>
              <p:sp>
                <p:nvSpPr>
                  <p:cNvPr id="6" name="Oval 5"/>
                  <p:cNvSpPr/>
                  <p:nvPr/>
                </p:nvSpPr>
                <p:spPr>
                  <a:xfrm>
                    <a:off x="1341811" y="3470564"/>
                    <a:ext cx="989215" cy="58189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" name="TextBox 6"/>
                  <p:cNvSpPr txBox="1"/>
                  <p:nvPr/>
                </p:nvSpPr>
                <p:spPr>
                  <a:xfrm>
                    <a:off x="1314450" y="3576843"/>
                    <a:ext cx="114369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 smtClean="0"/>
                      <a:t>Outcome</a:t>
                    </a:r>
                    <a:endParaRPr lang="en-US" dirty="0"/>
                  </a:p>
                </p:txBody>
              </p:sp>
            </p:grpSp>
            <p:grpSp>
              <p:nvGrpSpPr>
                <p:cNvPr id="8" name="Group 7"/>
                <p:cNvGrpSpPr/>
                <p:nvPr/>
              </p:nvGrpSpPr>
              <p:grpSpPr>
                <a:xfrm>
                  <a:off x="2331026" y="3429000"/>
                  <a:ext cx="1055717" cy="665018"/>
                  <a:chOff x="2951016" y="3325091"/>
                  <a:chExt cx="1055717" cy="665018"/>
                </a:xfrm>
              </p:grpSpPr>
              <p:sp>
                <p:nvSpPr>
                  <p:cNvPr id="9" name="Rectangle 8"/>
                  <p:cNvSpPr/>
                  <p:nvPr/>
                </p:nvSpPr>
                <p:spPr>
                  <a:xfrm>
                    <a:off x="3000894" y="3325091"/>
                    <a:ext cx="955963" cy="665018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2951016" y="3472934"/>
                    <a:ext cx="105571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 smtClean="0"/>
                      <a:t>Exposure</a:t>
                    </a:r>
                    <a:endParaRPr lang="en-US" dirty="0"/>
                  </a:p>
                </p:txBody>
              </p:sp>
            </p:grpSp>
            <p:cxnSp>
              <p:nvCxnSpPr>
                <p:cNvPr id="11" name="Straight Arrow Connector 10"/>
                <p:cNvCxnSpPr/>
                <p:nvPr/>
              </p:nvCxnSpPr>
              <p:spPr>
                <a:xfrm flipV="1">
                  <a:off x="3336867" y="3761507"/>
                  <a:ext cx="445424" cy="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/>
            </p:nvGrpSpPr>
            <p:grpSpPr>
              <a:xfrm>
                <a:off x="3782291" y="3466406"/>
                <a:ext cx="1280160" cy="581891"/>
                <a:chOff x="4174026" y="3470563"/>
                <a:chExt cx="1280160" cy="581891"/>
              </a:xfrm>
            </p:grpSpPr>
            <p:sp>
              <p:nvSpPr>
                <p:cNvPr id="14" name="Oval 13"/>
                <p:cNvSpPr/>
                <p:nvPr/>
              </p:nvSpPr>
              <p:spPr>
                <a:xfrm>
                  <a:off x="4206240" y="3470563"/>
                  <a:ext cx="989215" cy="58189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4174026" y="3576843"/>
                  <a:ext cx="12801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 smtClean="0"/>
                    <a:t>Outcome</a:t>
                  </a:r>
                  <a:endParaRPr lang="en-US" dirty="0"/>
                </a:p>
              </p:txBody>
            </p:sp>
          </p:grpSp>
        </p:grpSp>
        <p:grpSp>
          <p:nvGrpSpPr>
            <p:cNvPr id="21" name="Group 20"/>
            <p:cNvGrpSpPr/>
            <p:nvPr/>
          </p:nvGrpSpPr>
          <p:grpSpPr>
            <a:xfrm>
              <a:off x="5262306" y="3466406"/>
              <a:ext cx="1476210" cy="581891"/>
              <a:chOff x="4174026" y="3470563"/>
              <a:chExt cx="1476210" cy="581891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4206240" y="3470563"/>
                <a:ext cx="989215" cy="58189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174026" y="3576843"/>
                <a:ext cx="14762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Outcome</a:t>
                </a:r>
              </a:p>
            </p:txBody>
          </p:sp>
        </p:grpSp>
        <p:cxnSp>
          <p:nvCxnSpPr>
            <p:cNvPr id="27" name="Straight Arrow Connector 26"/>
            <p:cNvCxnSpPr/>
            <p:nvPr/>
          </p:nvCxnSpPr>
          <p:spPr>
            <a:xfrm flipV="1">
              <a:off x="4820345" y="3757347"/>
              <a:ext cx="445424" cy="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6293092" y="3757343"/>
              <a:ext cx="445424" cy="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7923241" y="3757339"/>
              <a:ext cx="445424" cy="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7048489" y="3572686"/>
              <a:ext cx="5249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……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8377932" y="3466406"/>
              <a:ext cx="989215" cy="58189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68665" y="3572673"/>
              <a:ext cx="14762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Outcome</a:t>
              </a:r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3559579" y="2768138"/>
              <a:ext cx="0" cy="197842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5043057" y="2768138"/>
              <a:ext cx="0" cy="197842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6515804" y="2768138"/>
              <a:ext cx="0" cy="197842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8142142" y="2768138"/>
              <a:ext cx="0" cy="197842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9530888" y="2768138"/>
              <a:ext cx="0" cy="197842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1905682" y="2436201"/>
              <a:ext cx="128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Baseline</a:t>
              </a:r>
              <a:endParaRPr lang="en-US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814505" y="2434415"/>
              <a:ext cx="128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Time 1</a:t>
              </a:r>
              <a:endParaRPr lang="en-US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349590" y="2434415"/>
              <a:ext cx="128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Time 2</a:t>
              </a:r>
              <a:endParaRPr lang="en-US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022183" y="2469143"/>
              <a:ext cx="577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……</a:t>
              </a:r>
              <a:endParaRPr lang="en-US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466690" y="2398779"/>
              <a:ext cx="128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Time </a:t>
              </a:r>
              <a:r>
                <a:rPr lang="en-US" i="1" dirty="0" smtClean="0"/>
                <a:t>p</a:t>
              </a:r>
              <a:endParaRPr lang="en-US" i="1" dirty="0"/>
            </a:p>
          </p:txBody>
        </p:sp>
      </p:grpSp>
      <p:sp>
        <p:nvSpPr>
          <p:cNvPr id="4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4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29</a:t>
            </a:r>
          </a:p>
        </p:txBody>
      </p:sp>
    </p:spTree>
    <p:extLst>
      <p:ext uri="{BB962C8B-B14F-4D97-AF65-F5344CB8AC3E}">
        <p14:creationId xmlns:p14="http://schemas.microsoft.com/office/powerpoint/2010/main" val="428237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Complications of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 smtClean="0"/>
                  <a:t>Repeated measures on individuals are </a:t>
                </a:r>
                <a:r>
                  <a:rPr lang="en-US" u="sng" dirty="0" smtClean="0"/>
                  <a:t>correlated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 smtClean="0"/>
                  <a:t>Variability is often heterogeneous across measurement occasions (</a:t>
                </a:r>
                <a:r>
                  <a:rPr lang="en-US" u="sng" dirty="0" smtClean="0"/>
                  <a:t>heteroscedasticity</a:t>
                </a:r>
                <a:r>
                  <a:rPr lang="en-US" dirty="0" smtClean="0"/>
                  <a:t>)</a:t>
                </a:r>
                <a:endParaRPr lang="en-US" dirty="0"/>
              </a:p>
              <a:p>
                <a:pPr marL="0" indent="0" algn="ctr">
                  <a:buNone/>
                </a:pPr>
                <a:endParaRPr lang="en-US" dirty="0" smtClean="0"/>
              </a:p>
              <a:p>
                <a:pPr marL="0" indent="0" algn="ctr">
                  <a:buNone/>
                </a:pPr>
                <a:r>
                  <a:rPr lang="en-US" dirty="0" smtClean="0"/>
                  <a:t>(What does this mean?)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Suppose that for subject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smtClean="0"/>
                  <a:t>, the response measurements taken over time are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217" t="-3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29</a:t>
            </a:r>
          </a:p>
        </p:txBody>
      </p:sp>
    </p:spTree>
    <p:extLst>
      <p:ext uri="{BB962C8B-B14F-4D97-AF65-F5344CB8AC3E}">
        <p14:creationId xmlns:p14="http://schemas.microsoft.com/office/powerpoint/2010/main" val="333188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Complications of longitudinal data - </a:t>
            </a:r>
            <a:r>
              <a:rPr lang="en-US" sz="3400" u="sng" dirty="0" smtClean="0" b="1">
                <a:solidFill>
                  <a:srgbClr val="0D5F62"/>
                </a:solidFill>
                <a:latin typeface="Calibri"/>
              </a:rPr>
              <a:t>Correlation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cannot be viewed as taken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> different subjects</a:t>
                </a:r>
              </a:p>
              <a:p>
                <a:r>
                  <a:rPr lang="en-US" dirty="0" smtClean="0"/>
                  <a:t>These measurements typically tend to be positively correlated </a:t>
                </a:r>
              </a:p>
              <a:p>
                <a:r>
                  <a:rPr lang="en-US" dirty="0" smtClean="0"/>
                  <a:t>Correlation arises due to repeated measures on the same individual, e.g., a hypertensive patient tends to have high blood pressure at all times</a:t>
                </a:r>
              </a:p>
              <a:p>
                <a:r>
                  <a:rPr lang="en-US" dirty="0" smtClean="0"/>
                  <a:t>Sequential nature of the measures implies that certain types of correlation structures are likely to arise</a:t>
                </a:r>
              </a:p>
              <a:p>
                <a:r>
                  <a:rPr lang="en-US" dirty="0" smtClean="0"/>
                  <a:t>Correlation must be accounted for in order to obtain valid inferences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3986"/>
                <a:ext cx="10515600" cy="4015047"/>
              </a:xfrm>
              <a:blipFill>
                <a:blip r:embed="rId2"/>
                <a:stretch>
                  <a:fillRect l="-1043" t="-2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29</a:t>
            </a:r>
          </a:p>
        </p:txBody>
      </p:sp>
    </p:spTree>
    <p:extLst>
      <p:ext uri="{BB962C8B-B14F-4D97-AF65-F5344CB8AC3E}">
        <p14:creationId xmlns:p14="http://schemas.microsoft.com/office/powerpoint/2010/main" val="322642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7727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Complications of longitudinal data - </a:t>
            </a:r>
            <a:r>
              <a:rPr lang="en-US" sz="3400" u="sng" dirty="0" smtClean="0" b="1">
                <a:solidFill>
                  <a:srgbClr val="0D5F62"/>
                </a:solidFill>
                <a:latin typeface="Calibri"/>
              </a:rPr>
              <a:t>Heteroscedasticity</a:t>
            </a:r>
            <a:endParaRPr lang="en-US" sz="3400" dirty="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939038" y="1780381"/>
                <a:ext cx="7500112" cy="40150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/>
                  <a:t>One of the basic assumptions of ordinary linear regression is </a:t>
                </a:r>
                <a:r>
                  <a:rPr lang="en-US" u="sng" dirty="0" smtClean="0"/>
                  <a:t>homoscedasticity</a:t>
                </a:r>
                <a:r>
                  <a:rPr lang="en-US" dirty="0" smtClean="0"/>
                  <a:t>, i.e., constant variance of response given each value of the predictor</a:t>
                </a:r>
              </a:p>
              <a:p>
                <a:r>
                  <a:rPr lang="en-US" dirty="0" smtClean="0"/>
                  <a:t>This is unlikely to hold in longitudinal data with time as a predictor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≠…≠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pPr lvl="1"/>
                <a:r>
                  <a:rPr lang="en-US" dirty="0" smtClean="0"/>
                  <a:t>Think of a drug that increases blood pressure over time for some patients but reduces it over time for others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038" y="1780381"/>
                <a:ext cx="7500112" cy="4015047"/>
              </a:xfrm>
              <a:prstGeom prst="rect">
                <a:avLst/>
              </a:prstGeom>
              <a:blipFill>
                <a:blip r:embed="rId2"/>
                <a:stretch>
                  <a:fillRect l="-1463" t="-2428" b="-2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50" y="2647156"/>
            <a:ext cx="2844038" cy="1962944"/>
          </a:xfr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29</a:t>
            </a:r>
          </a:p>
        </p:txBody>
      </p:sp>
    </p:spTree>
    <p:extLst>
      <p:ext uri="{BB962C8B-B14F-4D97-AF65-F5344CB8AC3E}">
        <p14:creationId xmlns:p14="http://schemas.microsoft.com/office/powerpoint/2010/main" val="331005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Relation to Correlated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Correlated data commonly arise in many applications.</a:t>
            </a:r>
          </a:p>
          <a:p>
            <a:r>
              <a:rPr lang="en-US" u="sng" dirty="0" smtClean="0"/>
              <a:t>Longitudinal Studies</a:t>
            </a:r>
            <a:r>
              <a:rPr lang="en-US" dirty="0" smtClean="0"/>
              <a:t>: designs in which the outcome variable is measured repeatedly over time.</a:t>
            </a:r>
          </a:p>
          <a:p>
            <a:r>
              <a:rPr lang="en-US" u="sng" dirty="0" smtClean="0"/>
              <a:t>Repeated Measures Studies</a:t>
            </a:r>
            <a:r>
              <a:rPr lang="en-US" dirty="0" smtClean="0"/>
              <a:t>: somewhat older terminology applied to special set of longitudinal designs characterized by measurement at a common set of occasions (usually in an experimental setting under diﬀerent conditions or treatments).</a:t>
            </a:r>
          </a:p>
          <a:p>
            <a:r>
              <a:rPr lang="en-US" dirty="0" smtClean="0"/>
              <a:t>This course will emphasize methods for </a:t>
            </a:r>
            <a:r>
              <a:rPr lang="en-US" u="sng" dirty="0" smtClean="0"/>
              <a:t>analyzing</a:t>
            </a:r>
            <a:r>
              <a:rPr lang="en-US" dirty="0" smtClean="0"/>
              <a:t> and </a:t>
            </a:r>
            <a:r>
              <a:rPr lang="en-US" u="sng" dirty="0" smtClean="0"/>
              <a:t>interpreting</a:t>
            </a:r>
            <a:r>
              <a:rPr lang="en-US" dirty="0" smtClean="0"/>
              <a:t> the results from longitudinal studies.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29</a:t>
            </a:r>
          </a:p>
        </p:txBody>
      </p:sp>
    </p:spTree>
    <p:extLst>
      <p:ext uri="{BB962C8B-B14F-4D97-AF65-F5344CB8AC3E}">
        <p14:creationId xmlns:p14="http://schemas.microsoft.com/office/powerpoint/2010/main" val="237291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1: Treatment of Lead-Exposed Children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Exposure to lead during infancy is associated with substantial deﬁcits in tests of cognitive ability</a:t>
            </a:r>
          </a:p>
          <a:p>
            <a:r>
              <a:rPr lang="en-US" dirty="0" smtClean="0"/>
              <a:t>Chelation treatment of children with high lead levels usually requires injections and hospitalization</a:t>
            </a:r>
          </a:p>
          <a:p>
            <a:r>
              <a:rPr lang="en-US" dirty="0" smtClean="0"/>
              <a:t>A new agent, </a:t>
            </a:r>
            <a:r>
              <a:rPr lang="en-US" u="sng" dirty="0" err="1" smtClean="0"/>
              <a:t>Succimer</a:t>
            </a:r>
            <a:r>
              <a:rPr lang="en-US" dirty="0" smtClean="0"/>
              <a:t>, can be given orally</a:t>
            </a:r>
          </a:p>
          <a:p>
            <a:r>
              <a:rPr lang="en-US" dirty="0" smtClean="0"/>
              <a:t>Randomized trial examining changes in blood lead level during course of treatment</a:t>
            </a:r>
          </a:p>
          <a:p>
            <a:r>
              <a:rPr lang="en-US" dirty="0" smtClean="0"/>
              <a:t>100 children randomized to </a:t>
            </a:r>
            <a:r>
              <a:rPr lang="en-US" u="sng" dirty="0" smtClean="0"/>
              <a:t>placebo</a:t>
            </a:r>
            <a:r>
              <a:rPr lang="en-US" dirty="0" smtClean="0"/>
              <a:t> or </a:t>
            </a:r>
            <a:r>
              <a:rPr lang="en-US" u="sng" dirty="0" err="1" smtClean="0"/>
              <a:t>Succimer</a:t>
            </a:r>
            <a:endParaRPr lang="en-US" u="sng" dirty="0" smtClean="0"/>
          </a:p>
          <a:p>
            <a:r>
              <a:rPr lang="en-US" dirty="0" smtClean="0"/>
              <a:t>Measures of </a:t>
            </a:r>
            <a:r>
              <a:rPr lang="en-US" u="sng" dirty="0" smtClean="0"/>
              <a:t>blood lead level</a:t>
            </a:r>
            <a:r>
              <a:rPr lang="en-US" dirty="0" smtClean="0"/>
              <a:t> at baseline, 1, 4 and 6 weeks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29</a:t>
            </a:r>
          </a:p>
        </p:txBody>
      </p:sp>
    </p:spTree>
    <p:extLst>
      <p:ext uri="{BB962C8B-B14F-4D97-AF65-F5344CB8AC3E}">
        <p14:creationId xmlns:p14="http://schemas.microsoft.com/office/powerpoint/2010/main" val="292231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1: Treatment of Lead-Exposed Children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798" y="1744270"/>
            <a:ext cx="8715227" cy="4237429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29</a:t>
            </a:r>
          </a:p>
        </p:txBody>
      </p:sp>
    </p:spTree>
    <p:extLst>
      <p:ext uri="{BB962C8B-B14F-4D97-AF65-F5344CB8AC3E}">
        <p14:creationId xmlns:p14="http://schemas.microsoft.com/office/powerpoint/2010/main" val="283297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1: Treatment of Lead-Exposed Children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44" y="1374442"/>
            <a:ext cx="7980283" cy="4762119"/>
          </a:xfrm>
          <a:prstGeom prst="rect">
            <a:avLst/>
          </a:prstGeom>
        </p:spPr>
      </p:pic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29</a:t>
            </a:r>
          </a:p>
        </p:txBody>
      </p:sp>
    </p:spTree>
    <p:extLst>
      <p:ext uri="{BB962C8B-B14F-4D97-AF65-F5344CB8AC3E}">
        <p14:creationId xmlns:p14="http://schemas.microsoft.com/office/powerpoint/2010/main" val="209994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1: Treatment of Lead-Exposed Children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480" y="1428750"/>
            <a:ext cx="7152611" cy="4570473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29</a:t>
            </a:r>
          </a:p>
        </p:txBody>
      </p:sp>
    </p:spTree>
    <p:extLst>
      <p:ext uri="{BB962C8B-B14F-4D97-AF65-F5344CB8AC3E}">
        <p14:creationId xmlns:p14="http://schemas.microsoft.com/office/powerpoint/2010/main" val="96810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2: Six Cities Study of Air Pollution and Health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r>
              <a:rPr lang="en-US" dirty="0" smtClean="0"/>
              <a:t>Longitudinal study designed to characterize lung function growth in children and adolescents.</a:t>
            </a:r>
          </a:p>
          <a:p>
            <a:r>
              <a:rPr lang="en-US" dirty="0" smtClean="0"/>
              <a:t>Most children were enrolled between the ages of six and seven and measurements were obtained annually until graduation from high school.</a:t>
            </a:r>
          </a:p>
          <a:p>
            <a:r>
              <a:rPr lang="en-US" dirty="0" smtClean="0"/>
              <a:t>Focus on a randomly selected subset of the 300 female participants living in Topeka, Kansas.</a:t>
            </a:r>
          </a:p>
          <a:p>
            <a:r>
              <a:rPr lang="en-US" dirty="0" smtClean="0"/>
              <a:t>Response variable: Volume of air exhaled in the ﬁrst second of spirometry </a:t>
            </a:r>
            <a:r>
              <a:rPr lang="en-US" dirty="0" err="1" smtClean="0"/>
              <a:t>manoeuvre</a:t>
            </a:r>
            <a:r>
              <a:rPr lang="en-US" dirty="0" smtClean="0"/>
              <a:t>, </a:t>
            </a:r>
            <a:r>
              <a:rPr lang="en-US" u="sng" dirty="0" smtClean="0"/>
              <a:t>FEV1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29</a:t>
            </a:r>
          </a:p>
        </p:txBody>
      </p:sp>
    </p:spTree>
    <p:extLst>
      <p:ext uri="{BB962C8B-B14F-4D97-AF65-F5344CB8AC3E}">
        <p14:creationId xmlns:p14="http://schemas.microsoft.com/office/powerpoint/2010/main" val="245950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2: Six Cities Study of Air Pollution and Health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3120" y="1754188"/>
            <a:ext cx="7705760" cy="4014787"/>
          </a:xfrm>
          <a:prstGeom prst="rect">
            <a:avLst/>
          </a:prstGeom>
        </p:spPr>
      </p:pic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29</a:t>
            </a:r>
          </a:p>
        </p:txBody>
      </p:sp>
    </p:spTree>
    <p:extLst>
      <p:ext uri="{BB962C8B-B14F-4D97-AF65-F5344CB8AC3E}">
        <p14:creationId xmlns:p14="http://schemas.microsoft.com/office/powerpoint/2010/main" val="285907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2: Six Cities Study of Air Pollution and Health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6482" y="1825625"/>
            <a:ext cx="6259035" cy="4351338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29</a:t>
            </a:r>
          </a:p>
        </p:txBody>
      </p:sp>
    </p:spTree>
    <p:extLst>
      <p:ext uri="{BB962C8B-B14F-4D97-AF65-F5344CB8AC3E}">
        <p14:creationId xmlns:p14="http://schemas.microsoft.com/office/powerpoint/2010/main" val="108643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3: Inﬂuence of Menarche on Changes in Body Fat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Prospective study on body fat accretion in a cohort of 162 girls from the MIT Growth and Development Study.</a:t>
            </a:r>
          </a:p>
          <a:p>
            <a:r>
              <a:rPr lang="en-US" dirty="0" smtClean="0"/>
              <a:t>At start of study, all the girls were </a:t>
            </a:r>
            <a:r>
              <a:rPr lang="en-US" u="sng" dirty="0" smtClean="0"/>
              <a:t>pre-</a:t>
            </a:r>
            <a:r>
              <a:rPr lang="en-US" u="sng" dirty="0" err="1" smtClean="0"/>
              <a:t>menarcheal</a:t>
            </a:r>
            <a:r>
              <a:rPr lang="en-US" dirty="0" smtClean="0"/>
              <a:t> and </a:t>
            </a:r>
            <a:r>
              <a:rPr lang="en-US" u="sng" dirty="0" smtClean="0"/>
              <a:t>non-obese</a:t>
            </a:r>
          </a:p>
          <a:p>
            <a:r>
              <a:rPr lang="en-US" dirty="0" smtClean="0"/>
              <a:t>All girls were followed over time according to a schedule of annual measurements until four years after menarche.</a:t>
            </a:r>
          </a:p>
          <a:p>
            <a:r>
              <a:rPr lang="en-US" dirty="0" smtClean="0"/>
              <a:t>The ﬁnal measurement was scheduled on the fourth anniversary of their reported date of menarche.</a:t>
            </a:r>
          </a:p>
          <a:p>
            <a:r>
              <a:rPr lang="en-US" dirty="0" smtClean="0"/>
              <a:t>At each examination, a measure of </a:t>
            </a:r>
            <a:r>
              <a:rPr lang="en-US" u="sng" dirty="0" smtClean="0"/>
              <a:t>body fatness</a:t>
            </a:r>
            <a:r>
              <a:rPr lang="en-US" dirty="0" smtClean="0"/>
              <a:t> was obtained based on bioelectric impedance analysis.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29</a:t>
            </a:r>
          </a:p>
        </p:txBody>
      </p:sp>
    </p:spTree>
    <p:extLst>
      <p:ext uri="{BB962C8B-B14F-4D97-AF65-F5344CB8AC3E}">
        <p14:creationId xmlns:p14="http://schemas.microsoft.com/office/powerpoint/2010/main" val="418364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3: Inﬂuence of Menarche on Changes in Body Fat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7950" y="1624264"/>
            <a:ext cx="6419849" cy="4259011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29</a:t>
            </a:r>
          </a:p>
        </p:txBody>
      </p:sp>
    </p:spTree>
    <p:extLst>
      <p:ext uri="{BB962C8B-B14F-4D97-AF65-F5344CB8AC3E}">
        <p14:creationId xmlns:p14="http://schemas.microsoft.com/office/powerpoint/2010/main" val="139605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3: Inﬂuence of Menarche on Changes in Body Fat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an analysis of the changes in percent body fat before and after menarche.</a:t>
            </a:r>
          </a:p>
          <a:p>
            <a:r>
              <a:rPr lang="en-US" dirty="0" smtClean="0"/>
              <a:t>For the purposes of these analyses “time” is coded as time since menarche and can be positive or negative.</a:t>
            </a:r>
          </a:p>
          <a:p>
            <a:r>
              <a:rPr lang="en-US" dirty="0" smtClean="0"/>
              <a:t>Note: measurement protocol is the same for all girls.</a:t>
            </a:r>
          </a:p>
          <a:p>
            <a:r>
              <a:rPr lang="en-US" dirty="0" smtClean="0"/>
              <a:t>Study design is almost “balanced” if timing of measurement is deﬁned as time since baseline measurement.</a:t>
            </a:r>
          </a:p>
          <a:p>
            <a:r>
              <a:rPr lang="en-US" dirty="0" smtClean="0"/>
              <a:t>It is inherently unbalanced when timing of measurements is deﬁned as time since a girl experienced menarche.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29</a:t>
            </a:r>
          </a:p>
        </p:txBody>
      </p:sp>
    </p:spTree>
    <p:extLst>
      <p:ext uri="{BB962C8B-B14F-4D97-AF65-F5344CB8AC3E}">
        <p14:creationId xmlns:p14="http://schemas.microsoft.com/office/powerpoint/2010/main" val="27963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3: Inﬂuence of Menarche on Changes in Body Fat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6929" y="1509535"/>
            <a:ext cx="7220946" cy="4657903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29</a:t>
            </a:r>
          </a:p>
        </p:txBody>
      </p:sp>
    </p:spTree>
    <p:extLst>
      <p:ext uri="{BB962C8B-B14F-4D97-AF65-F5344CB8AC3E}">
        <p14:creationId xmlns:p14="http://schemas.microsoft.com/office/powerpoint/2010/main" val="43316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4: Oral Treatment of Toenail Infection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Randomized, double-blind, parallel-group, multicenter study of 294 patients comparing </a:t>
            </a:r>
            <a:r>
              <a:rPr lang="en-US" u="sng" dirty="0" smtClean="0"/>
              <a:t>2 oral treatments </a:t>
            </a:r>
            <a:r>
              <a:rPr lang="en-US" dirty="0" smtClean="0"/>
              <a:t>(denoted A and B) for </a:t>
            </a:r>
            <a:r>
              <a:rPr lang="en-US" u="sng" dirty="0" smtClean="0"/>
              <a:t>toenail infection</a:t>
            </a:r>
            <a:r>
              <a:rPr lang="en-US" dirty="0" smtClean="0"/>
              <a:t>.</a:t>
            </a:r>
          </a:p>
          <a:p>
            <a:r>
              <a:rPr lang="en-US" u="sng" dirty="0" smtClean="0"/>
              <a:t>Outcome variable</a:t>
            </a:r>
            <a:r>
              <a:rPr lang="en-US" dirty="0" smtClean="0"/>
              <a:t>: Binary variable indicating presence of </a:t>
            </a:r>
            <a:r>
              <a:rPr lang="en-US" dirty="0" err="1" smtClean="0"/>
              <a:t>onycholysis</a:t>
            </a:r>
            <a:r>
              <a:rPr lang="en-US" dirty="0" smtClean="0"/>
              <a:t> (separation of the nail plate from the nail bed).</a:t>
            </a:r>
          </a:p>
          <a:p>
            <a:r>
              <a:rPr lang="en-US" dirty="0" smtClean="0"/>
              <a:t>Patients evaluated for degree of </a:t>
            </a:r>
            <a:r>
              <a:rPr lang="en-US" dirty="0" err="1" smtClean="0"/>
              <a:t>onycholysis</a:t>
            </a:r>
            <a:r>
              <a:rPr lang="en-US" dirty="0" smtClean="0"/>
              <a:t> (separation of the nail plate from the nail-bed) at baseline (week 0) and at weeks 4, 8, 12, 24, 36, and 48.</a:t>
            </a:r>
          </a:p>
          <a:p>
            <a:r>
              <a:rPr lang="en-US" dirty="0" smtClean="0"/>
              <a:t>Interested in the rate of decline of the proportion of patients with </a:t>
            </a:r>
            <a:r>
              <a:rPr lang="en-US" dirty="0" err="1" smtClean="0"/>
              <a:t>onycholysis</a:t>
            </a:r>
            <a:r>
              <a:rPr lang="en-US" dirty="0" smtClean="0"/>
              <a:t> over time and the eﬀects of treatment on that rate.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29</a:t>
            </a:r>
          </a:p>
        </p:txBody>
      </p:sp>
    </p:spTree>
    <p:extLst>
      <p:ext uri="{BB962C8B-B14F-4D97-AF65-F5344CB8AC3E}">
        <p14:creationId xmlns:p14="http://schemas.microsoft.com/office/powerpoint/2010/main" val="191001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925175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5: Clinical Trial of Anti-Epileptic Drug </a:t>
            </a:r>
            <a:r>
              <a:rPr lang="en-US" dirty="0" err="1" smtClean="0" sz="3400" b="1">
                <a:solidFill>
                  <a:srgbClr val="0D5F62"/>
                </a:solidFill>
                <a:latin typeface="Calibri"/>
              </a:rPr>
              <a:t>Progabide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Randomized, placebo-controlled study of treatment of </a:t>
            </a:r>
            <a:r>
              <a:rPr lang="en-US" u="sng" dirty="0" smtClean="0"/>
              <a:t>epileptic</a:t>
            </a:r>
            <a:r>
              <a:rPr lang="en-US" dirty="0" smtClean="0"/>
              <a:t/>
            </a:r>
            <a:r>
              <a:rPr lang="en-US" u="sng" dirty="0" smtClean="0"/>
              <a:t>seizures</a:t>
            </a:r>
            <a:r>
              <a:rPr lang="en-US" dirty="0" smtClean="0"/>
              <a:t> with </a:t>
            </a:r>
            <a:r>
              <a:rPr lang="en-US" u="sng" dirty="0" err="1" smtClean="0"/>
              <a:t>progabide</a:t>
            </a:r>
            <a:r>
              <a:rPr lang="en-US" dirty="0" smtClean="0"/>
              <a:t>.</a:t>
            </a:r>
          </a:p>
          <a:p>
            <a:r>
              <a:rPr lang="en-US" dirty="0" smtClean="0"/>
              <a:t>Patients were randomized to treatment with </a:t>
            </a:r>
            <a:r>
              <a:rPr lang="en-US" dirty="0" err="1" smtClean="0"/>
              <a:t>progabide</a:t>
            </a:r>
            <a:r>
              <a:rPr lang="en-US" dirty="0" smtClean="0"/>
              <a:t>, or to placebo in addition to standard therapy.</a:t>
            </a:r>
          </a:p>
          <a:p>
            <a:r>
              <a:rPr lang="en-US" u="sng" dirty="0" smtClean="0"/>
              <a:t>Outcome variable</a:t>
            </a:r>
            <a:r>
              <a:rPr lang="en-US" dirty="0" smtClean="0"/>
              <a:t>: Count of number of seizures.</a:t>
            </a:r>
          </a:p>
          <a:p>
            <a:r>
              <a:rPr lang="en-US" dirty="0" smtClean="0"/>
              <a:t>Measurement schedule: Baseline measurement during 8 weeks prior to randomization. Four measurements during consecutive two-week intervals.</a:t>
            </a:r>
          </a:p>
          <a:p>
            <a:r>
              <a:rPr lang="en-US" dirty="0" smtClean="0"/>
              <a:t>Sample size: 28 epileptics on placebo; 31 epileptics on </a:t>
            </a:r>
            <a:r>
              <a:rPr lang="en-US" dirty="0" err="1" smtClean="0"/>
              <a:t>progabide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29</a:t>
            </a:r>
          </a:p>
        </p:txBody>
      </p:sp>
    </p:spTree>
    <p:extLst>
      <p:ext uri="{BB962C8B-B14F-4D97-AF65-F5344CB8AC3E}">
        <p14:creationId xmlns:p14="http://schemas.microsoft.com/office/powerpoint/2010/main" val="105412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Example 5: Clinical Trial of Anti-Epileptic Drug </a:t>
            </a:r>
            <a:r>
              <a:rPr lang="en-US" dirty="0" err="1" smtClean="0" sz="3400" b="1">
                <a:solidFill>
                  <a:srgbClr val="0D5F62"/>
                </a:solidFill>
                <a:latin typeface="Calibri"/>
              </a:rPr>
              <a:t>Progabide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4605" y="1763713"/>
            <a:ext cx="6822789" cy="4353279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29</a:t>
            </a:r>
          </a:p>
        </p:txBody>
      </p:sp>
    </p:spTree>
    <p:extLst>
      <p:ext uri="{BB962C8B-B14F-4D97-AF65-F5344CB8AC3E}">
        <p14:creationId xmlns:p14="http://schemas.microsoft.com/office/powerpoint/2010/main" val="267310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Terminology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u="sng" dirty="0" smtClean="0"/>
              <a:t>Individuals/Subjects</a:t>
            </a:r>
            <a:r>
              <a:rPr lang="en-US" dirty="0" smtClean="0"/>
              <a:t>: Participants in a longitudinal study are referred to as individuals or subjects.</a:t>
            </a:r>
          </a:p>
          <a:p>
            <a:r>
              <a:rPr lang="en-US" u="sng" dirty="0" smtClean="0"/>
              <a:t>Occasions</a:t>
            </a:r>
            <a:r>
              <a:rPr lang="en-US" dirty="0" smtClean="0"/>
              <a:t>: In a longitudinal study individuals are measured repeatedly at diﬀerent occasions or times.</a:t>
            </a:r>
          </a:p>
          <a:p>
            <a:r>
              <a:rPr lang="en-US" dirty="0" smtClean="0"/>
              <a:t>The number of repeated observations, and their timing, can vary widely from one longitudinal study to another.</a:t>
            </a:r>
          </a:p>
          <a:p>
            <a:r>
              <a:rPr lang="en-US" dirty="0" smtClean="0"/>
              <a:t>When number and timing of the repeated measurements are the same for all individuals, study design is said to be “</a:t>
            </a:r>
            <a:r>
              <a:rPr lang="en-US" u="sng" dirty="0" smtClean="0"/>
              <a:t>balanced</a:t>
            </a:r>
            <a:r>
              <a:rPr lang="en-US" dirty="0" smtClean="0"/>
              <a:t>” over time.</a:t>
            </a:r>
          </a:p>
          <a:p>
            <a:r>
              <a:rPr lang="en-US" dirty="0" smtClean="0"/>
              <a:t>Note: Designs can be balanced, although studies may have incompleteness in data collection.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29</a:t>
            </a:r>
          </a:p>
        </p:txBody>
      </p:sp>
    </p:spTree>
    <p:extLst>
      <p:ext uri="{BB962C8B-B14F-4D97-AF65-F5344CB8AC3E}">
        <p14:creationId xmlns:p14="http://schemas.microsoft.com/office/powerpoint/2010/main" val="138980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Features of Longitudinal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 longitudinal studies the outcome variable can be:</a:t>
            </a:r>
          </a:p>
          <a:p>
            <a:pPr lvl="1"/>
            <a:r>
              <a:rPr lang="en-US" dirty="0" smtClean="0"/>
              <a:t>continuous (e.g., blood lead levels)</a:t>
            </a:r>
          </a:p>
          <a:p>
            <a:pPr lvl="1"/>
            <a:r>
              <a:rPr lang="en-US" dirty="0" smtClean="0"/>
              <a:t>binary (e.g., presence/absence of </a:t>
            </a:r>
            <a:r>
              <a:rPr lang="en-US" dirty="0" err="1" smtClean="0"/>
              <a:t>onycholysis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count (e.g., number of epileptic seizures)</a:t>
            </a:r>
          </a:p>
          <a:p>
            <a:r>
              <a:rPr lang="en-US" dirty="0" smtClean="0"/>
              <a:t>The data set can be incomplete (</a:t>
            </a:r>
            <a:r>
              <a:rPr lang="en-US" u="sng" dirty="0" smtClean="0"/>
              <a:t>missing data/dropout</a:t>
            </a:r>
            <a:r>
              <a:rPr lang="en-US" dirty="0" smtClean="0"/>
              <a:t>).</a:t>
            </a:r>
          </a:p>
          <a:p>
            <a:r>
              <a:rPr lang="en-US" dirty="0" smtClean="0"/>
              <a:t>Subjects may be measured at </a:t>
            </a:r>
            <a:r>
              <a:rPr lang="en-US" u="sng" dirty="0" smtClean="0"/>
              <a:t>diﬀerent occasions</a:t>
            </a:r>
            <a:r>
              <a:rPr lang="en-US" dirty="0" smtClean="0"/>
              <a:t> (e.g., due to mistimed measurements).</a:t>
            </a:r>
          </a:p>
          <a:p>
            <a:r>
              <a:rPr lang="en-US" dirty="0" smtClean="0"/>
              <a:t>In this course we will develop a set of statistical tools that can handle all of these cases.</a:t>
            </a:r>
          </a:p>
          <a:p>
            <a:r>
              <a:rPr lang="en-US" dirty="0" smtClean="0"/>
              <a:t>Emphasis on </a:t>
            </a:r>
            <a:r>
              <a:rPr lang="en-US" u="sng" dirty="0" smtClean="0"/>
              <a:t>concepts</a:t>
            </a:r>
            <a:r>
              <a:rPr lang="en-US" dirty="0" smtClean="0"/>
              <a:t>, </a:t>
            </a:r>
            <a:r>
              <a:rPr lang="en-US" u="sng" dirty="0" smtClean="0"/>
              <a:t>model building</a:t>
            </a:r>
            <a:r>
              <a:rPr lang="en-US" dirty="0" smtClean="0"/>
              <a:t>, </a:t>
            </a:r>
            <a:r>
              <a:rPr lang="en-US" u="sng" dirty="0" smtClean="0"/>
              <a:t>software</a:t>
            </a:r>
            <a:r>
              <a:rPr lang="en-US" dirty="0" smtClean="0"/>
              <a:t>, and </a:t>
            </a:r>
            <a:r>
              <a:rPr lang="en-US" u="sng" dirty="0" smtClean="0"/>
              <a:t>interpretation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29</a:t>
            </a:r>
          </a:p>
        </p:txBody>
      </p:sp>
    </p:spTree>
    <p:extLst>
      <p:ext uri="{BB962C8B-B14F-4D97-AF65-F5344CB8AC3E}">
        <p14:creationId xmlns:p14="http://schemas.microsoft.com/office/powerpoint/2010/main" val="189265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Organization of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Review</a:t>
            </a:r>
            <a:r>
              <a:rPr lang="en-US" dirty="0" smtClean="0"/>
              <a:t> of Ordinary Regression/One-Way ANOVA/Matrix algebra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Descriptive statistics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/>
              <a:t>V</a:t>
            </a:r>
            <a:r>
              <a:rPr lang="en-US" u="sng" dirty="0" smtClean="0"/>
              <a:t>isualization</a:t>
            </a:r>
            <a:r>
              <a:rPr lang="en-US" dirty="0" smtClean="0"/>
              <a:t> of longitudinal data</a:t>
            </a:r>
          </a:p>
          <a:p>
            <a:r>
              <a:rPr lang="en-US" dirty="0" smtClean="0"/>
              <a:t>Linear Models for Longitudinal 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Outcome</a:t>
            </a:r>
            <a:r>
              <a:rPr lang="en-US" dirty="0" smtClean="0"/>
              <a:t>: Continuous (unbalanced and incomplete) data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Class of models</a:t>
            </a:r>
            <a:r>
              <a:rPr lang="en-US" dirty="0" smtClean="0"/>
              <a:t>: Linear models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Software</a:t>
            </a:r>
            <a:r>
              <a:rPr lang="en-US" dirty="0" smtClean="0"/>
              <a:t>: PROC MIXED in SAS</a:t>
            </a:r>
          </a:p>
          <a:p>
            <a:pPr lvl="1"/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26 / 29</a:t>
            </a:r>
          </a:p>
        </p:txBody>
      </p:sp>
    </p:spTree>
    <p:extLst>
      <p:ext uri="{BB962C8B-B14F-4D97-AF65-F5344CB8AC3E}">
        <p14:creationId xmlns:p14="http://schemas.microsoft.com/office/powerpoint/2010/main" val="403485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Organization of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Generalized Linear Models (GLM) for Longitudinal 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Outcome</a:t>
            </a:r>
            <a:r>
              <a:rPr lang="en-US" dirty="0" smtClean="0"/>
              <a:t>: Continuous, binary, count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Class of models</a:t>
            </a:r>
            <a:r>
              <a:rPr lang="en-US" dirty="0" smtClean="0"/>
              <a:t>: Generalized linear models (GLM; e.g. logistic regression, Poisson regression) 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GLM for non-longitudinal data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Two approaches to GLM with longitudinal data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Population-level inference: Generalized Estimating Equations (</a:t>
            </a:r>
            <a:r>
              <a:rPr lang="en-US" u="sng" dirty="0" smtClean="0"/>
              <a:t>GEE</a:t>
            </a:r>
            <a:r>
              <a:rPr lang="en-US" dirty="0" smtClean="0"/>
              <a:t>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 smtClean="0"/>
              <a:t>Subject-level inference: Generalized linear mixed models (</a:t>
            </a:r>
            <a:r>
              <a:rPr lang="en-US" u="sng" dirty="0" smtClean="0"/>
              <a:t>GLMM</a:t>
            </a:r>
            <a:r>
              <a:rPr lang="en-US" dirty="0" smtClean="0"/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Accounting for </a:t>
            </a:r>
            <a:r>
              <a:rPr lang="en-US" u="sng" dirty="0" smtClean="0"/>
              <a:t>missing data/dropout</a:t>
            </a:r>
            <a:r>
              <a:rPr lang="en-US" dirty="0" smtClean="0"/>
              <a:t> in each approach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Software</a:t>
            </a:r>
            <a:r>
              <a:rPr lang="en-US" dirty="0" smtClean="0"/>
              <a:t>: PROC GENMOD/NLMIXED in SAS</a:t>
            </a:r>
          </a:p>
          <a:p>
            <a:pPr marL="1371600" lvl="2" indent="-457200">
              <a:buFont typeface="+mj-lt"/>
              <a:buAutoNum type="arabicPeriod"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27 / 29</a:t>
            </a:r>
          </a:p>
        </p:txBody>
      </p:sp>
    </p:spTree>
    <p:extLst>
      <p:ext uri="{BB962C8B-B14F-4D97-AF65-F5344CB8AC3E}">
        <p14:creationId xmlns:p14="http://schemas.microsoft.com/office/powerpoint/2010/main" val="19064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Organization of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Multilevel Models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Outcome and regression model</a:t>
            </a:r>
            <a:r>
              <a:rPr lang="en-US" dirty="0" smtClean="0"/>
              <a:t>: All kinds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Methods</a:t>
            </a:r>
            <a:r>
              <a:rPr lang="en-US" dirty="0" smtClean="0"/>
              <a:t> for ﬁtting mixed models to multilevel data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Example</a:t>
            </a:r>
            <a:r>
              <a:rPr lang="en-US" dirty="0" smtClean="0"/>
              <a:t>: Longitudinal data for each subject, while subjects are clustered by location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u="sng" dirty="0" smtClean="0"/>
              <a:t>Software</a:t>
            </a:r>
            <a:r>
              <a:rPr lang="en-US" dirty="0" smtClean="0"/>
              <a:t>: PROC MIXED in SAS, using multiple RANDOM statement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 smtClean="0"/>
          </a:p>
          <a:p>
            <a:pPr marL="1371600" lvl="2" indent="-457200">
              <a:buFont typeface="+mj-lt"/>
              <a:buAutoNum type="arabicPeriod"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28 / 29</a:t>
            </a:r>
          </a:p>
        </p:txBody>
      </p:sp>
    </p:spTree>
    <p:extLst>
      <p:ext uri="{BB962C8B-B14F-4D97-AF65-F5344CB8AC3E}">
        <p14:creationId xmlns:p14="http://schemas.microsoft.com/office/powerpoint/2010/main" val="205535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Background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Samples and populations</a:t>
            </a:r>
          </a:p>
          <a:p>
            <a:r>
              <a:rPr lang="en-US" dirty="0" smtClean="0"/>
              <a:t>Population values: parameters (Greek); Sample values: estimates</a:t>
            </a:r>
          </a:p>
          <a:p>
            <a:r>
              <a:rPr lang="en-US" dirty="0" smtClean="0"/>
              <a:t>Variables: </a:t>
            </a:r>
          </a:p>
          <a:p>
            <a:pPr lvl="1"/>
            <a:r>
              <a:rPr lang="en-US" i="1" dirty="0" smtClean="0"/>
              <a:t>Y</a:t>
            </a:r>
            <a:r>
              <a:rPr lang="en-US" dirty="0" smtClean="0"/>
              <a:t> : Outcome, response, dependent variable; </a:t>
            </a:r>
          </a:p>
          <a:p>
            <a:pPr lvl="1"/>
            <a:r>
              <a:rPr lang="en-US" i="1" dirty="0" smtClean="0"/>
              <a:t>X</a:t>
            </a:r>
            <a:r>
              <a:rPr lang="en-US" dirty="0" smtClean="0"/>
              <a:t>: Covariates, independent variables</a:t>
            </a:r>
          </a:p>
          <a:p>
            <a:r>
              <a:rPr lang="en-US" dirty="0" smtClean="0"/>
              <a:t>Regression Models</a:t>
            </a:r>
          </a:p>
          <a:p>
            <a:endParaRPr lang="en-US" dirty="0" smtClean="0"/>
          </a:p>
          <a:p>
            <a:r>
              <a:rPr lang="en-US" dirty="0" smtClean="0"/>
              <a:t>Have some basic knowledge of</a:t>
            </a:r>
          </a:p>
          <a:p>
            <a:pPr lvl="1"/>
            <a:r>
              <a:rPr lang="en-US" dirty="0" smtClean="0"/>
              <a:t>Inference: Estimation, testing, and conﬁdence intervals</a:t>
            </a:r>
          </a:p>
          <a:p>
            <a:pPr lvl="1"/>
            <a:r>
              <a:rPr lang="en-US" dirty="0" smtClean="0"/>
              <a:t>Multiple linear regression/ANOVA </a:t>
            </a:r>
          </a:p>
          <a:p>
            <a:pPr lvl="1"/>
            <a:r>
              <a:rPr lang="en-US" dirty="0" smtClean="0"/>
              <a:t>Logistic regression</a:t>
            </a:r>
          </a:p>
          <a:p>
            <a:r>
              <a:rPr lang="en-US" dirty="0" smtClean="0"/>
              <a:t>No calculus or matrix algebra is assumed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650" y="4001294"/>
            <a:ext cx="3468975" cy="392121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01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29 / 29</a:t>
            </a:r>
          </a:p>
        </p:txBody>
      </p:sp>
    </p:spTree>
    <p:extLst>
      <p:ext uri="{BB962C8B-B14F-4D97-AF65-F5344CB8AC3E}">
        <p14:creationId xmlns:p14="http://schemas.microsoft.com/office/powerpoint/2010/main" val="207846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7121</TotalTime>
  <Words>1445</Words>
  <Application>Microsoft Office PowerPoint</Application>
  <PresentationFormat>Widescreen</PresentationFormat>
  <Paragraphs>169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Wingdings</vt:lpstr>
      <vt:lpstr>Office Theme</vt:lpstr>
      <vt:lpstr>Advanced Regression Methods for Population Health</vt:lpstr>
      <vt:lpstr>Introduction</vt:lpstr>
      <vt:lpstr>Why collecting longitudinal data?</vt:lpstr>
      <vt:lpstr>Why collecting longitudinal data?</vt:lpstr>
      <vt:lpstr>Longitudinal data structure</vt:lpstr>
      <vt:lpstr>Complications of longitudinal data</vt:lpstr>
      <vt:lpstr>Complications of longitudinal data - Correlation</vt:lpstr>
      <vt:lpstr>Complications of longitudinal data - Heteroscedasticity</vt:lpstr>
      <vt:lpstr>Relation to Correlated Data</vt:lpstr>
      <vt:lpstr>Example 1: Treatment of Lead-Exposed Children Trial</vt:lpstr>
      <vt:lpstr>Example 1: Treatment of Lead-Exposed Children Trial</vt:lpstr>
      <vt:lpstr>Example 1: Treatment of Lead-Exposed Children Trial</vt:lpstr>
      <vt:lpstr>Example 1: Treatment of Lead-Exposed Children Trial</vt:lpstr>
      <vt:lpstr>Example 2: Six Cities Study of Air Pollution and Health</vt:lpstr>
      <vt:lpstr>Example 2: Six Cities Study of Air Pollution and Health</vt:lpstr>
      <vt:lpstr>Example 2: Six Cities Study of Air Pollution and Health</vt:lpstr>
      <vt:lpstr>Example 3: Inﬂuence of Menarche on Changes in Body Fat</vt:lpstr>
      <vt:lpstr>Example 3: Inﬂuence of Menarche on Changes in Body Fat</vt:lpstr>
      <vt:lpstr>Example 3: Inﬂuence of Menarche on Changes in Body Fat</vt:lpstr>
      <vt:lpstr>Example 3: Inﬂuence of Menarche on Changes in Body Fat</vt:lpstr>
      <vt:lpstr>Example 4: Oral Treatment of Toenail Infection</vt:lpstr>
      <vt:lpstr>Example 5: Clinical Trial of Anti-Epileptic Drug Progabide</vt:lpstr>
      <vt:lpstr>Example 5: Clinical Trial of Anti-Epileptic Drug Progabide</vt:lpstr>
      <vt:lpstr>Terminology</vt:lpstr>
      <vt:lpstr>Features of Longitudinal Data</vt:lpstr>
      <vt:lpstr>Organization of Course</vt:lpstr>
      <vt:lpstr>Organization of Course</vt:lpstr>
      <vt:lpstr>Organization of Course</vt:lpstr>
      <vt:lpstr>Background Assumed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92</cp:revision>
  <dcterms:created xsi:type="dcterms:W3CDTF">2019-01-16T21:45:55Z</dcterms:created>
  <dcterms:modified xsi:type="dcterms:W3CDTF">2019-01-21T20:27:09Z</dcterms:modified>
</cp:coreProperties>
</file>