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90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62C9A-1B62-458B-9718-B80A8F8D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8E51E-A9C3-4109-8160-91688F99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Linear Regression, Maximum Likelihood, and ANOVA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8A646-A7BC-43D6-A5AD-6AE1240F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4628D-1EB8-4068-9958-CC1C1068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538A5-59A4-4948-8E07-B1FC1B53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1C696-7A2B-4AB9-BDF2-613FC747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1079346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Outline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 smtClean="0"/>
              <a:t>As background for our future study of longitudinal data, we review the following</a:t>
            </a:r>
          </a:p>
          <a:p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Standard linear regression model for independent observations.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</a:t>
            </a:r>
            <a:r>
              <a:rPr lang="en-US" dirty="0" smtClean="0"/>
              <a:t>aximum likelihood (ML) and least squares estimation.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Vector and matrix notation and algebra.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Analysis of variance (ANOVA) and its connection with linear regression.</a:t>
            </a: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35</a:t>
            </a:r>
          </a:p>
        </p:txBody>
      </p:sp>
    </p:spTree>
    <p:extLst>
      <p:ext uri="{BB962C8B-B14F-4D97-AF65-F5344CB8AC3E}">
        <p14:creationId xmlns:p14="http://schemas.microsoft.com/office/powerpoint/2010/main" val="4543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Linear regression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 smtClean="0"/>
              <a:t>Consider a cross-sectional data set of 300 measurements of the logarithm of FEV1, age, and logarithm of height of children living in Topeka, Kansas.</a:t>
            </a:r>
          </a:p>
          <a:p>
            <a:r>
              <a:rPr lang="en-US" dirty="0" smtClean="0"/>
              <a:t>We will ﬁt a model describing how the value of </a:t>
            </a:r>
            <a:r>
              <a:rPr lang="en-US" u="sng" dirty="0" smtClean="0"/>
              <a:t>log(FEV1)</a:t>
            </a:r>
            <a:r>
              <a:rPr lang="en-US" dirty="0" smtClean="0"/>
              <a:t> varies linearly with </a:t>
            </a:r>
            <a:r>
              <a:rPr lang="en-US" u="sng" dirty="0" smtClean="0"/>
              <a:t>age</a:t>
            </a:r>
            <a:r>
              <a:rPr lang="en-US" dirty="0" smtClean="0"/>
              <a:t> and </a:t>
            </a:r>
            <a:r>
              <a:rPr lang="en-US" u="sng" dirty="0" smtClean="0"/>
              <a:t>log(height)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children varied in age from 6 to 18 years.</a:t>
            </a:r>
          </a:p>
          <a:p>
            <a:r>
              <a:rPr lang="en-US" dirty="0" smtClean="0"/>
              <a:t>We will ﬁt a multiple linear regression model, </a:t>
            </a:r>
            <a:r>
              <a:rPr lang="en-US" u="sng" dirty="0" smtClean="0"/>
              <a:t>estimate the regression coeﬃcients</a:t>
            </a:r>
            <a:r>
              <a:rPr lang="en-US" dirty="0" smtClean="0"/>
              <a:t> for age and log(height), and </a:t>
            </a:r>
            <a:r>
              <a:rPr lang="en-US" u="sng" dirty="0" smtClean="0"/>
              <a:t>test the hypothesis</a:t>
            </a:r>
            <a:r>
              <a:rPr lang="en-US" dirty="0" smtClean="0"/>
              <a:t> that these coeﬃcients are not signiﬁcantly diﬀerent from 0.</a:t>
            </a: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35</a:t>
            </a:r>
          </a:p>
        </p:txBody>
      </p:sp>
    </p:spTree>
    <p:extLst>
      <p:ext uri="{BB962C8B-B14F-4D97-AF65-F5344CB8AC3E}">
        <p14:creationId xmlns:p14="http://schemas.microsoft.com/office/powerpoint/2010/main" val="27204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Linear regression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 smtClean="0"/>
              <a:t>Structure of the six-cities data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137" y="2308553"/>
            <a:ext cx="6122363" cy="3746171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35</a:t>
            </a:r>
          </a:p>
        </p:txBody>
      </p:sp>
    </p:spTree>
    <p:extLst>
      <p:ext uri="{BB962C8B-B14F-4D97-AF65-F5344CB8AC3E}">
        <p14:creationId xmlns:p14="http://schemas.microsoft.com/office/powerpoint/2010/main" val="1746151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Linear regression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u="sng" dirty="0" smtClean="0"/>
                  <a:t>Multiple linear regression</a:t>
                </a:r>
                <a:r>
                  <a:rPr lang="en-US" dirty="0" smtClean="0"/>
                  <a:t>: describes how the expected value (mean) of an </a:t>
                </a:r>
                <a:r>
                  <a:rPr lang="en-US" u="sng" dirty="0" smtClean="0"/>
                  <a:t>outcome variable</a:t>
                </a:r>
                <a:r>
                  <a:rPr lang="en-US" dirty="0" smtClean="0"/>
                  <a:t> depends on a set of </a:t>
                </a:r>
                <a:r>
                  <a:rPr lang="en-US" u="sng" dirty="0" smtClean="0"/>
                  <a:t>covariates</a:t>
                </a:r>
                <a:r>
                  <a:rPr lang="en-US" dirty="0" smtClean="0"/>
                  <a:t>, or </a:t>
                </a:r>
                <a:r>
                  <a:rPr lang="en-US" u="sng" dirty="0" smtClean="0"/>
                  <a:t>predictors</a:t>
                </a:r>
              </a:p>
              <a:p>
                <a:r>
                  <a:rPr lang="en-US" dirty="0" smtClean="0"/>
                  <a:t>Suppose that we have observations on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 individuals</a:t>
                </a:r>
              </a:p>
              <a:p>
                <a:r>
                  <a:rPr lang="en-US" dirty="0" smtClean="0"/>
                  <a:t>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 smtClean="0"/>
                  <a:t>th</a:t>
                </a:r>
                <a:r>
                  <a:rPr lang="en-US" dirty="0" smtClean="0"/>
                  <a:t> subject has an outcome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r>
                  <a:rPr lang="en-US" dirty="0" smtClean="0"/>
                  <a:t>  and a set of covariates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5171" r="84693" b="2"/>
          <a:stretch/>
        </p:blipFill>
        <p:spPr>
          <a:xfrm>
            <a:off x="5607787" y="3812792"/>
            <a:ext cx="316763" cy="3993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450" y="4748428"/>
            <a:ext cx="2167800" cy="3832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499" y="4769683"/>
            <a:ext cx="1602880" cy="340780"/>
          </a:xfrm>
          <a:prstGeom prst="rect">
            <a:avLst/>
          </a:prstGeom>
        </p:spPr>
      </p:pic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5 / 35</a:t>
            </a:r>
          </a:p>
        </p:txBody>
      </p:sp>
    </p:spTree>
    <p:extLst>
      <p:ext uri="{BB962C8B-B14F-4D97-AF65-F5344CB8AC3E}">
        <p14:creationId xmlns:p14="http://schemas.microsoft.com/office/powerpoint/2010/main" val="101251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Linear regression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8796" y="2507508"/>
            <a:ext cx="4401957" cy="45005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637" y="4992603"/>
            <a:ext cx="7264726" cy="4144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/>
              <p:cNvSpPr txBox="1">
                <a:spLocks/>
              </p:cNvSpPr>
              <p:nvPr/>
            </p:nvSpPr>
            <p:spPr>
              <a:xfrm>
                <a:off x="838200" y="1833969"/>
                <a:ext cx="10515600" cy="438585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 smtClean="0"/>
                  <a:t>The linear regression model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can be written as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/>
                </a:r>
              </a:p>
              <a:p>
                <a:pPr marL="0" indent="0">
                  <a:buNone/>
                </a:pPr>
                <a:r>
                  <a:rPr lang="en-US" dirty="0" smtClean="0"/>
                  <a:t>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is a mean-zero error</a:t>
                </a:r>
              </a:p>
              <a:p>
                <a:r>
                  <a:rPr lang="en-US" dirty="0" smtClean="0"/>
                  <a:t>Typically,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 </m:t>
                    </m:r>
                  </m:oMath>
                </a14:m>
                <a:r>
                  <a:rPr lang="en-US" dirty="0" smtClean="0"/>
                  <a:t>for all individuals so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is the intercept</a:t>
                </a:r>
              </a:p>
              <a:p>
                <a:r>
                  <a:rPr lang="en-US" dirty="0" smtClean="0"/>
                  <a:t>This model can be equivalently expressed as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r>
                  <a:rPr lang="en-US" dirty="0" smtClean="0"/>
                  <a:t>One-unit increase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 smtClean="0"/>
                  <a:t> increases the mean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 smtClean="0"/>
                  <a:t>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 smtClean="0"/>
                  <a:t>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=1,…,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 smtClean="0"/>
                  <a:t>).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0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969"/>
                <a:ext cx="10515600" cy="4385856"/>
              </a:xfrm>
              <a:prstGeom prst="rect">
                <a:avLst/>
              </a:prstGeom>
              <a:blipFill>
                <a:blip r:embed="rId4"/>
                <a:stretch>
                  <a:fillRect l="-1043" t="-3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11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12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35</a:t>
            </a:r>
          </a:p>
        </p:txBody>
      </p:sp>
    </p:spTree>
    <p:extLst>
      <p:ext uri="{BB962C8B-B14F-4D97-AF65-F5344CB8AC3E}">
        <p14:creationId xmlns:p14="http://schemas.microsoft.com/office/powerpoint/2010/main" val="1570784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Assumptions of multiple linear regression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7825" y="1776250"/>
            <a:ext cx="8287592" cy="4354675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35</a:t>
            </a:r>
          </a:p>
        </p:txBody>
      </p:sp>
    </p:spTree>
    <p:extLst>
      <p:ext uri="{BB962C8B-B14F-4D97-AF65-F5344CB8AC3E}">
        <p14:creationId xmlns:p14="http://schemas.microsoft.com/office/powerpoint/2010/main" val="1480284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Estimation in linear regression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u="sng" dirty="0" smtClean="0"/>
                  <a:t>Basic Idea</a:t>
                </a:r>
                <a:r>
                  <a:rPr lang="en-US" dirty="0" smtClean="0"/>
                  <a:t>: Among all possible estimates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. . . 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 smtClean="0"/>
                  <a:t>) of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. . . 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 smtClean="0"/>
                  <a:t>) choose the estimates such that the ﬁtted regression model “deviates” the least from the data.</a:t>
                </a:r>
              </a:p>
              <a:p>
                <a:pPr marL="0" indent="0">
                  <a:buNone/>
                </a:pPr>
                <a:r>
                  <a:rPr lang="en-US" dirty="0" smtClean="0"/>
                  <a:t>	⇒ Least Squares Estimation</a:t>
                </a:r>
              </a:p>
              <a:p>
                <a:r>
                  <a:rPr lang="en-US" dirty="0" smtClean="0"/>
                  <a:t>“</a:t>
                </a:r>
                <a:r>
                  <a:rPr lang="en-US" u="sng" dirty="0" smtClean="0"/>
                  <a:t>Deviation</a:t>
                </a:r>
                <a:r>
                  <a:rPr lang="en-US" dirty="0" smtClean="0"/>
                  <a:t>” of ﬁtted model from the data is deﬁned as: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    where </a:t>
                </a:r>
              </a:p>
              <a:p>
                <a:r>
                  <a:rPr lang="en-US" u="sng" dirty="0" smtClean="0"/>
                  <a:t>Least Squares Estimates</a:t>
                </a:r>
                <a:r>
                  <a:rPr lang="en-US" dirty="0" smtClean="0"/>
                  <a:t> (LSE) are those values that minimize these deviations, i.e., minimize the residual sums of squares.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 r="-1391"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51649" b="42060"/>
          <a:stretch/>
        </p:blipFill>
        <p:spPr>
          <a:xfrm>
            <a:off x="4676775" y="3868551"/>
            <a:ext cx="2990849" cy="10415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5775" y="4972843"/>
            <a:ext cx="3002026" cy="332355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8 / 35</a:t>
            </a:r>
          </a:p>
        </p:txBody>
      </p:sp>
    </p:spTree>
    <p:extLst>
      <p:ext uri="{BB962C8B-B14F-4D97-AF65-F5344CB8AC3E}">
        <p14:creationId xmlns:p14="http://schemas.microsoft.com/office/powerpoint/2010/main" val="2295982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Maximum Likelihood Estimation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In the multiple regression model, the values of the covariates are assumed to be ﬁxed.</a:t>
                </a:r>
              </a:p>
              <a:p>
                <a:r>
                  <a:rPr lang="en-US" dirty="0" smtClean="0"/>
                  <a:t>Only the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are random (due to the random error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).</a:t>
                </a:r>
              </a:p>
              <a:p>
                <a:r>
                  <a:rPr lang="en-US" dirty="0" smtClean="0"/>
                  <a:t>The probability distribution (density function) corresponding to the linear regression model is given by: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986" y="4446540"/>
            <a:ext cx="6884027" cy="812053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35</a:t>
            </a:r>
          </a:p>
        </p:txBody>
      </p:sp>
    </p:spTree>
    <p:extLst>
      <p:ext uri="{BB962C8B-B14F-4D97-AF65-F5344CB8AC3E}">
        <p14:creationId xmlns:p14="http://schemas.microsoft.com/office/powerpoint/2010/main" val="2243232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Maximum Likelihood Estimation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In the multiple regression model, the values of the </a:t>
                </a:r>
                <a:r>
                  <a:rPr lang="en-US" u="sng" dirty="0" smtClean="0"/>
                  <a:t>covariates are assumed to be ﬁxed</a:t>
                </a:r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Only the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are random (due to the random error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).</a:t>
                </a:r>
              </a:p>
              <a:p>
                <a:r>
                  <a:rPr lang="en-US" dirty="0" smtClean="0"/>
                  <a:t>We have assumed that 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   whose </a:t>
                </a:r>
                <a:r>
                  <a:rPr lang="en-US" u="sng" dirty="0" smtClean="0"/>
                  <a:t>likelihood</a:t>
                </a:r>
                <a:r>
                  <a:rPr lang="en-US" dirty="0" smtClean="0"/>
                  <a:t> or </a:t>
                </a:r>
                <a:r>
                  <a:rPr lang="en-US" u="sng" dirty="0" smtClean="0"/>
                  <a:t>density function </a:t>
                </a:r>
                <a:r>
                  <a:rPr lang="en-US" dirty="0" smtClean="0"/>
                  <a:t>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775" y="3693553"/>
            <a:ext cx="1666275" cy="4688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4" y="3336658"/>
            <a:ext cx="3471676" cy="3051442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35</a:t>
            </a:r>
          </a:p>
        </p:txBody>
      </p:sp>
    </p:spTree>
    <p:extLst>
      <p:ext uri="{BB962C8B-B14F-4D97-AF65-F5344CB8AC3E}">
        <p14:creationId xmlns:p14="http://schemas.microsoft.com/office/powerpoint/2010/main" val="1222243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Maximum Likelihood Estimation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Therefore, we have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   whose likelihood (density function) is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r>
                  <a:rPr lang="en-US" dirty="0" smtClean="0"/>
                  <a:t>With N independent subjects, the likelihood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+…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𝑖𝑝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736" y="3417840"/>
            <a:ext cx="6884027" cy="812053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11 / 35</a:t>
            </a:r>
          </a:p>
        </p:txBody>
      </p:sp>
    </p:spTree>
    <p:extLst>
      <p:ext uri="{BB962C8B-B14F-4D97-AF65-F5344CB8AC3E}">
        <p14:creationId xmlns:p14="http://schemas.microsoft.com/office/powerpoint/2010/main" val="1161110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Maximum Likelihood Estimation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 smtClean="0"/>
                  <a:t>By the rule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   we have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𝑌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𝛽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  <m:sSub>
                                                    <m:sSubPr>
                                                      <m:ctrlP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𝑋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+…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𝛽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𝑝</m:t>
                                                      </m:r>
                                                    </m:sub>
                                                  </m:sSub>
                                                  <m:sSub>
                                                    <m:sSubPr>
                                                      <m:ctrlP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𝑋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𝑖𝑝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e>
                                <m:sup/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The </a:t>
                </a:r>
                <a:r>
                  <a:rPr lang="en-US" u="sng" dirty="0" smtClean="0"/>
                  <a:t>maximum likelihood estimate (MLE)</a:t>
                </a:r>
                <a:r>
                  <a:rPr lang="en-US" dirty="0" smtClean="0"/>
                  <a:t> is the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that maximizes the likelihood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Clearly in this case,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𝑀𝐿𝐸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𝐿𝑆𝐸</m:t>
                    </m:r>
                  </m:oMath>
                </a14:m>
                <a:r>
                  <a:rPr lang="en-US" dirty="0" smtClean="0"/>
                  <a:t> !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35</a:t>
            </a:r>
          </a:p>
        </p:txBody>
      </p:sp>
    </p:spTree>
    <p:extLst>
      <p:ext uri="{BB962C8B-B14F-4D97-AF65-F5344CB8AC3E}">
        <p14:creationId xmlns:p14="http://schemas.microsoft.com/office/powerpoint/2010/main" val="246791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Matrix and vector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u="sng" dirty="0" smtClean="0"/>
                  <a:t>Matrix dimension</a:t>
                </a:r>
                <a:r>
                  <a:rPr lang="en-US" dirty="0" smtClean="0"/>
                  <a:t/>
                </a:r>
                <a:r>
                  <a:rPr lang="en-US" dirty="0"/>
                  <a:t>refers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 smtClean="0"/>
                  <a:t>#rows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 smtClean="0"/>
                  <a:t>#columns</a:t>
                </a:r>
                <a:r>
                  <a:rPr lang="en-US" dirty="0"/>
                  <a:t>.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the </a:t>
                </a:r>
                <a:r>
                  <a:rPr lang="en-US" dirty="0" smtClean="0"/>
                  <a:t>matrix is </a:t>
                </a:r>
                <a:r>
                  <a:rPr lang="en-US" dirty="0"/>
                  <a:t>a </a:t>
                </a:r>
                <a:r>
                  <a:rPr lang="en-US" i="1" dirty="0"/>
                  <a:t>square matrix</a:t>
                </a:r>
                <a:r>
                  <a:rPr lang="en-US" dirty="0" smtClean="0"/>
                  <a:t/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 smtClean="0"/>
              </a:p>
              <a:p>
                <a:r>
                  <a:rPr lang="en-US" u="sng" dirty="0" err="1" smtClean="0"/>
                  <a:t>Symmetrix</a:t>
                </a:r>
                <a:r>
                  <a:rPr lang="en-US" u="sng" dirty="0" smtClean="0"/>
                  <a:t> matrix: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endParaRPr lang="en-US" u="sng" dirty="0" smtClean="0"/>
              </a:p>
              <a:p>
                <a:r>
                  <a:rPr lang="en-US" u="sng" dirty="0" smtClean="0"/>
                  <a:t>Matrix addition</a:t>
                </a:r>
                <a:r>
                  <a:rPr lang="en-US" dirty="0" smtClean="0"/>
                  <a:t>: component-wise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13 / 35</a:t>
            </a:r>
          </a:p>
        </p:txBody>
      </p:sp>
    </p:spTree>
    <p:extLst>
      <p:ext uri="{BB962C8B-B14F-4D97-AF65-F5344CB8AC3E}">
        <p14:creationId xmlns:p14="http://schemas.microsoft.com/office/powerpoint/2010/main" val="351949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Matrix and vector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u="sng" dirty="0" smtClean="0"/>
                  <a:t>Matrix multiplication</a:t>
                </a:r>
                <a:r>
                  <a:rPr lang="en-US" dirty="0" smtClean="0"/>
                  <a:t>: Given two </a:t>
                </a:r>
                <a:r>
                  <a:rPr lang="en-US" i="1" dirty="0" smtClean="0"/>
                  <a:t>commensurate</a:t>
                </a:r>
                <a:r>
                  <a:rPr lang="en-US" dirty="0" smtClean="0"/>
                  <a:t> matrices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 smtClean="0"/>
                  <a:t/>
                </a: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We have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𝑖𝑝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mr>
                            <m:m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𝑖𝑝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14 / 35</a:t>
            </a:r>
          </a:p>
        </p:txBody>
      </p:sp>
    </p:spTree>
    <p:extLst>
      <p:ext uri="{BB962C8B-B14F-4D97-AF65-F5344CB8AC3E}">
        <p14:creationId xmlns:p14="http://schemas.microsoft.com/office/powerpoint/2010/main" val="101389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Matrix and vector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That is, the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err="1" smtClean="0"/>
                  <a:t>th</a:t>
                </a:r>
                <a:r>
                  <a:rPr lang="en-US" dirty="0" smtClean="0"/>
                  <a:t> element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US" dirty="0" smtClean="0"/>
                  <a:t>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r>
                  <a:rPr lang="en-US" u="sng" dirty="0" smtClean="0"/>
                  <a:t>Exercise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r>
                  <a:rPr lang="en-US" b="0" dirty="0" smtClean="0"/>
                  <a:t/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 smtClean="0"/>
                  <a:t>?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15 / 35</a:t>
            </a:r>
          </a:p>
        </p:txBody>
      </p:sp>
    </p:spTree>
    <p:extLst>
      <p:ext uri="{BB962C8B-B14F-4D97-AF65-F5344CB8AC3E}">
        <p14:creationId xmlns:p14="http://schemas.microsoft.com/office/powerpoint/2010/main" val="2945743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Matrix and vector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u="sng" dirty="0" smtClean="0"/>
                  <a:t>Multiplication of a matrix by a constant </a:t>
                </a:r>
                <a:r>
                  <a:rPr lang="en-US" dirty="0" smtClean="0"/>
                  <a:t>is to multiply each component by that constant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 smtClean="0"/>
              </a:p>
              <a:p>
                <a:r>
                  <a:rPr lang="en-US" u="sng" dirty="0" smtClean="0"/>
                  <a:t>Matrix transpose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i.e., the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err="1" smtClean="0"/>
                  <a:t>th</a:t>
                </a:r>
                <a:r>
                  <a:rPr lang="en-US" dirty="0" smtClean="0"/>
                  <a:t> element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 smtClean="0"/>
                  <a:t>is the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err="1" smtClean="0"/>
                  <a:t>th</a:t>
                </a:r>
                <a:r>
                  <a:rPr lang="en-US" dirty="0" smtClean="0"/>
                  <a:t> element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16 / 35</a:t>
            </a:r>
          </a:p>
        </p:txBody>
      </p:sp>
    </p:spTree>
    <p:extLst>
      <p:ext uri="{BB962C8B-B14F-4D97-AF65-F5344CB8AC3E}">
        <p14:creationId xmlns:p14="http://schemas.microsoft.com/office/powerpoint/2010/main" val="220603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Matrix and vector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u="sng" dirty="0" smtClean="0"/>
                  <a:t>Vector</a:t>
                </a:r>
                <a:r>
                  <a:rPr lang="en-US" dirty="0" smtClean="0"/>
                  <a:t> is a special kind of matrix, with only one column (column vector). </a:t>
                </a:r>
              </a:p>
              <a:p>
                <a:r>
                  <a:rPr lang="en-US" dirty="0" smtClean="0"/>
                  <a:t>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 smtClean="0"/>
                  <a:t>-vector 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en-US" dirty="0" smtClean="0"/>
                  <a:t> matrix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)′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Multiplication between a matrix and a (commensurate) vector conforms to the </a:t>
                </a:r>
                <a:r>
                  <a:rPr lang="en-US" u="sng" dirty="0" smtClean="0"/>
                  <a:t>same rule</a:t>
                </a:r>
                <a:r>
                  <a:rPr lang="en-US" dirty="0" smtClean="0"/>
                  <a:t> as in matrix multiplication </a:t>
                </a:r>
              </a:p>
              <a:p>
                <a:r>
                  <a:rPr lang="en-US" u="sng" dirty="0" smtClean="0"/>
                  <a:t>Exercise:</a:t>
                </a:r>
                <a:r>
                  <a:rPr lang="en-US" dirty="0" smtClean="0"/>
                  <a:t/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 smtClean="0"/>
                  <a:t>?</a:t>
                </a:r>
                <a:endParaRPr lang="en-US" dirty="0"/>
              </a:p>
              <a:p>
                <a:pPr marL="0" indent="0">
                  <a:buNone/>
                </a:pPr>
                <a:endParaRPr lang="en-US" u="sn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17 / 35</a:t>
            </a:r>
          </a:p>
        </p:txBody>
      </p:sp>
    </p:spTree>
    <p:extLst>
      <p:ext uri="{BB962C8B-B14F-4D97-AF65-F5344CB8AC3E}">
        <p14:creationId xmlns:p14="http://schemas.microsoft.com/office/powerpoint/2010/main" val="376203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Matrix and vector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u="sng" dirty="0" smtClean="0"/>
                  <a:t>Exercise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r>
                  <a:rPr lang="en-US" b="0" dirty="0" smtClean="0"/>
                  <a:t/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 smtClean="0"/>
                  <a:t>?</a:t>
                </a:r>
                <a:endParaRPr lang="en-US" dirty="0"/>
              </a:p>
              <a:p>
                <a:r>
                  <a:rPr lang="en-US" u="sng" dirty="0" smtClean="0"/>
                  <a:t>Identity matrix:</a:t>
                </a:r>
                <a:r>
                  <a:rPr lang="en-US" dirty="0" smtClean="0"/>
                  <a:t> one with diagonal elements equal to 1 and off-diagonal elements equal to 0, e.g.,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 smtClean="0"/>
              </a:p>
              <a:p>
                <a:r>
                  <a:rPr lang="en-US" u="sng" dirty="0" smtClean="0"/>
                  <a:t>Matrix inverse:</a:t>
                </a:r>
                <a:r>
                  <a:rPr lang="en-US" dirty="0" smtClean="0"/>
                  <a:t> for a square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, its inverse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 smtClean="0"/>
                  <a:t> is such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18 / 35</a:t>
            </a:r>
          </a:p>
        </p:txBody>
      </p:sp>
    </p:spTree>
    <p:extLst>
      <p:ext uri="{BB962C8B-B14F-4D97-AF65-F5344CB8AC3E}">
        <p14:creationId xmlns:p14="http://schemas.microsoft.com/office/powerpoint/2010/main" val="184829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Matrix and vector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u="sng" dirty="0" smtClean="0"/>
                  <a:t>Some properties:</a:t>
                </a:r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 smtClean="0"/>
                  <a:t>(provided that all inverses exist)</a:t>
                </a:r>
              </a:p>
              <a:p>
                <a:pPr lvl="1"/>
                <a:r>
                  <a:rPr lang="en-US" dirty="0" smtClean="0"/>
                  <a:t>True or false: for any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 smtClean="0"/>
                  <a:t>,</a:t>
                </a:r>
              </a:p>
              <a:p>
                <a:pPr marL="137160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 smtClean="0"/>
                  <a:t> is always well defined</a:t>
                </a:r>
              </a:p>
              <a:p>
                <a:pPr marL="137160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 smtClean="0"/>
                  <a:t> is always a square matrix</a:t>
                </a:r>
              </a:p>
              <a:p>
                <a:pPr marL="137160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 smtClean="0"/>
                  <a:t> is always a symmetric matrix</a:t>
                </a:r>
              </a:p>
              <a:p>
                <a:r>
                  <a:rPr lang="en-US" dirty="0" smtClean="0"/>
                  <a:t>For more on matrices, refer to “Appendix. Matrix operations”</a:t>
                </a:r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19 / 35</a:t>
            </a:r>
          </a:p>
        </p:txBody>
      </p:sp>
    </p:spTree>
    <p:extLst>
      <p:ext uri="{BB962C8B-B14F-4D97-AF65-F5344CB8AC3E}">
        <p14:creationId xmlns:p14="http://schemas.microsoft.com/office/powerpoint/2010/main" val="227220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Linear regression in matrix form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2692" y="1825625"/>
            <a:ext cx="8226615" cy="4351338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20 / 35</a:t>
            </a:r>
          </a:p>
        </p:txBody>
      </p:sp>
    </p:spTree>
    <p:extLst>
      <p:ext uri="{BB962C8B-B14F-4D97-AF65-F5344CB8AC3E}">
        <p14:creationId xmlns:p14="http://schemas.microsoft.com/office/powerpoint/2010/main" val="165237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Linear regression in matrix form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If we write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,…,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>a</a:t>
                </a:r>
                <a:r>
                  <a:rPr lang="en-US" dirty="0" smtClean="0"/>
                  <a:t>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,…,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,…,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b="0" dirty="0" smtClean="0"/>
              </a:p>
              <a:p>
                <a:pPr marL="0" indent="0">
                  <a:buNone/>
                </a:pPr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21 / 35</a:t>
            </a:r>
          </a:p>
        </p:txBody>
      </p:sp>
    </p:spTree>
    <p:extLst>
      <p:ext uri="{BB962C8B-B14F-4D97-AF65-F5344CB8AC3E}">
        <p14:creationId xmlns:p14="http://schemas.microsoft.com/office/powerpoint/2010/main" val="125304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Linear regression in matrix form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Using simple calculus, the LSE/MLE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 smtClean="0"/>
                  <a:t> can be derived as</a:t>
                </a:r>
                <a:endParaRPr lang="en-US" dirty="0"/>
              </a:p>
              <a:p>
                <a:endParaRPr lang="en-US" dirty="0" smtClean="0"/>
              </a:p>
              <a:p>
                <a:pPr lvl="1"/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This least squares estimate is the value that </a:t>
                </a:r>
                <a:r>
                  <a:rPr lang="en-US" u="sng" dirty="0" smtClean="0"/>
                  <a:t>PROC GLM</a:t>
                </a:r>
                <a:r>
                  <a:rPr lang="en-US" dirty="0" smtClean="0"/>
                  <a:t> or </a:t>
                </a:r>
                <a:r>
                  <a:rPr lang="en-US" u="sng" dirty="0" smtClean="0"/>
                  <a:t>PROC REG </a:t>
                </a:r>
                <a:r>
                  <a:rPr lang="en-US" dirty="0" smtClean="0"/>
                  <a:t>in SAS or any least squares regression program will produce</a:t>
                </a:r>
                <a:endParaRPr lang="en-US" dirty="0"/>
              </a:p>
            </p:txBody>
          </p:sp>
        </mc:Choice>
        <mc:Fallback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594" y="2650329"/>
            <a:ext cx="4049701" cy="12107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572158" y="3017519"/>
                <a:ext cx="223706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3200" dirty="0"/>
                            <m:t> 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158" y="3017519"/>
                <a:ext cx="2237061" cy="584775"/>
              </a:xfrm>
              <a:prstGeom prst="rect">
                <a:avLst/>
              </a:prstGeom>
              <a:blipFill>
                <a:blip r:embed="rId4"/>
                <a:stretch>
                  <a:fillRect r="-24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9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10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22 / 35</a:t>
            </a:r>
          </a:p>
        </p:txBody>
      </p:sp>
    </p:spTree>
    <p:extLst>
      <p:ext uri="{BB962C8B-B14F-4D97-AF65-F5344CB8AC3E}">
        <p14:creationId xmlns:p14="http://schemas.microsoft.com/office/powerpoint/2010/main" val="1177724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Properties of LSE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125" y="1555908"/>
            <a:ext cx="8297776" cy="4429725"/>
          </a:xfrm>
          <a:prstGeom prst="rect">
            <a:avLst/>
          </a:prstGeom>
        </p:spPr>
      </p:pic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23 / 35</a:t>
            </a:r>
          </a:p>
        </p:txBody>
      </p:sp>
    </p:spTree>
    <p:extLst>
      <p:ext uri="{BB962C8B-B14F-4D97-AF65-F5344CB8AC3E}">
        <p14:creationId xmlns:p14="http://schemas.microsoft.com/office/powerpoint/2010/main" val="35013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Regression using PROC GLM in SAS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72888" y="1815584"/>
            <a:ext cx="5577168" cy="42473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Profont"/>
              </a:rPr>
              <a:t>/* read in data from file topeka.txt */</a:t>
            </a:r>
          </a:p>
          <a:p>
            <a:r>
              <a:rPr lang="en-US" dirty="0" smtClean="0">
                <a:latin typeface="Profont"/>
              </a:rPr>
              <a:t>DATA </a:t>
            </a:r>
            <a:r>
              <a:rPr lang="en-US" dirty="0" err="1" smtClean="0">
                <a:latin typeface="Profont"/>
              </a:rPr>
              <a:t>topeka</a:t>
            </a:r>
            <a:r>
              <a:rPr lang="en-US" dirty="0" smtClean="0">
                <a:latin typeface="Profont"/>
              </a:rPr>
              <a:t>;</a:t>
            </a:r>
          </a:p>
          <a:p>
            <a:r>
              <a:rPr lang="en-US" dirty="0" smtClean="0">
                <a:latin typeface="Profont"/>
              </a:rPr>
              <a:t>	INFILE ’g\shared\bio226\topeka.txt’; </a:t>
            </a:r>
          </a:p>
          <a:p>
            <a:r>
              <a:rPr lang="en-US" dirty="0">
                <a:latin typeface="Profont"/>
              </a:rPr>
              <a:t/>
            </a:r>
            <a:r>
              <a:rPr lang="en-US" dirty="0" smtClean="0">
                <a:latin typeface="Profont"/>
              </a:rPr>
              <a:t>INPUT id height age </a:t>
            </a:r>
            <a:r>
              <a:rPr lang="en-US" dirty="0" err="1" smtClean="0">
                <a:latin typeface="Profont"/>
              </a:rPr>
              <a:t>logfev</a:t>
            </a:r>
            <a:r>
              <a:rPr lang="en-US" dirty="0" smtClean="0">
                <a:latin typeface="Profont"/>
              </a:rPr>
              <a:t>;</a:t>
            </a:r>
          </a:p>
          <a:p>
            <a:r>
              <a:rPr lang="en-US" dirty="0">
                <a:latin typeface="Profont"/>
              </a:rPr>
              <a:t/>
            </a:r>
            <a:r>
              <a:rPr lang="en-US" dirty="0" err="1" smtClean="0">
                <a:latin typeface="Profont"/>
              </a:rPr>
              <a:t>loght</a:t>
            </a:r>
            <a:r>
              <a:rPr lang="en-US" dirty="0" smtClean="0">
                <a:latin typeface="Profont"/>
              </a:rPr>
              <a:t> = log(height); /*define a new variable*/</a:t>
            </a:r>
          </a:p>
          <a:p>
            <a:r>
              <a:rPr lang="en-US" dirty="0" smtClean="0">
                <a:latin typeface="Profont"/>
              </a:rPr>
              <a:t>RUN;</a:t>
            </a:r>
          </a:p>
          <a:p>
            <a:endParaRPr lang="en-US" dirty="0">
              <a:latin typeface="Profont"/>
            </a:endParaRPr>
          </a:p>
          <a:p>
            <a:endParaRPr lang="en-US" dirty="0" smtClean="0">
              <a:latin typeface="Profont"/>
            </a:endParaRPr>
          </a:p>
          <a:p>
            <a:r>
              <a:rPr lang="en-US" dirty="0" smtClean="0">
                <a:latin typeface="Profont"/>
              </a:rPr>
              <a:t>/* analysis */</a:t>
            </a:r>
          </a:p>
          <a:p>
            <a:r>
              <a:rPr lang="en-US" dirty="0" smtClean="0">
                <a:latin typeface="Profont"/>
              </a:rPr>
              <a:t>PROC GLM DATA=</a:t>
            </a:r>
            <a:r>
              <a:rPr lang="en-US" dirty="0" err="1" smtClean="0">
                <a:latin typeface="Profont"/>
              </a:rPr>
              <a:t>topeka</a:t>
            </a:r>
            <a:r>
              <a:rPr lang="en-US" dirty="0" smtClean="0">
                <a:latin typeface="Profont"/>
              </a:rPr>
              <a:t>;</a:t>
            </a:r>
          </a:p>
          <a:p>
            <a:r>
              <a:rPr lang="en-US" dirty="0">
                <a:latin typeface="Profont"/>
              </a:rPr>
              <a:t/>
            </a:r>
            <a:r>
              <a:rPr lang="en-US" dirty="0" smtClean="0">
                <a:latin typeface="Profont"/>
              </a:rPr>
              <a:t>MODEL </a:t>
            </a:r>
            <a:r>
              <a:rPr lang="en-US" dirty="0" err="1" smtClean="0">
                <a:latin typeface="Profont"/>
              </a:rPr>
              <a:t>logfev</a:t>
            </a:r>
            <a:r>
              <a:rPr lang="en-US" dirty="0" smtClean="0">
                <a:latin typeface="Profont"/>
              </a:rPr>
              <a:t> = age </a:t>
            </a:r>
            <a:r>
              <a:rPr lang="en-US" dirty="0" err="1" smtClean="0">
                <a:latin typeface="Profont"/>
              </a:rPr>
              <a:t>loght</a:t>
            </a:r>
            <a:r>
              <a:rPr lang="en-US" dirty="0" smtClean="0">
                <a:latin typeface="Profont"/>
              </a:rPr>
              <a:t>;</a:t>
            </a:r>
          </a:p>
          <a:p>
            <a:r>
              <a:rPr lang="en-US" dirty="0" smtClean="0">
                <a:latin typeface="Profont"/>
              </a:rPr>
              <a:t>RUN;</a:t>
            </a:r>
          </a:p>
          <a:p>
            <a:endParaRPr lang="en-US" dirty="0">
              <a:latin typeface="Profont"/>
            </a:endParaRPr>
          </a:p>
          <a:p>
            <a:endParaRPr lang="en-US" dirty="0" smtClean="0">
              <a:latin typeface="Profont"/>
            </a:endParaRPr>
          </a:p>
          <a:p>
            <a:endParaRPr lang="en-US" dirty="0">
              <a:latin typeface="Profont"/>
            </a:endParaRPr>
          </a:p>
        </p:txBody>
      </p:sp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24 / 35</a:t>
            </a:r>
          </a:p>
        </p:txBody>
      </p:sp>
    </p:spTree>
    <p:extLst>
      <p:ext uri="{BB962C8B-B14F-4D97-AF65-F5344CB8AC3E}">
        <p14:creationId xmlns:p14="http://schemas.microsoft.com/office/powerpoint/2010/main" val="137043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Regression using PROC GLM in SAS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98" y="1527298"/>
            <a:ext cx="6003751" cy="4241677"/>
          </a:xfrm>
          <a:prstGeom prst="rect">
            <a:avLst/>
          </a:prstGeom>
        </p:spPr>
      </p:pic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25 / 35</a:t>
            </a:r>
          </a:p>
        </p:txBody>
      </p:sp>
    </p:spTree>
    <p:extLst>
      <p:ext uri="{BB962C8B-B14F-4D97-AF65-F5344CB8AC3E}">
        <p14:creationId xmlns:p14="http://schemas.microsoft.com/office/powerpoint/2010/main" val="1918513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Interpretation of regression results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878" y="1628776"/>
            <a:ext cx="7382244" cy="3981450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26 / 35</a:t>
            </a:r>
          </a:p>
        </p:txBody>
      </p:sp>
    </p:spTree>
    <p:extLst>
      <p:ext uri="{BB962C8B-B14F-4D97-AF65-F5344CB8AC3E}">
        <p14:creationId xmlns:p14="http://schemas.microsoft.com/office/powerpoint/2010/main" val="184977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Analysis of variance (ANOVA)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u="sng" dirty="0" smtClean="0"/>
                  <a:t>ANOVA</a:t>
                </a:r>
                <a:r>
                  <a:rPr lang="en-US" dirty="0" smtClean="0"/>
                  <a:t>: Describes how the mean of a continuous dependent variable depends on a </a:t>
                </a:r>
                <a:r>
                  <a:rPr lang="en-US" u="sng" dirty="0" smtClean="0"/>
                  <a:t>nominal (categorical, class) </a:t>
                </a:r>
                <a:r>
                  <a:rPr lang="en-US" dirty="0" smtClean="0"/>
                  <a:t>independent variable.</a:t>
                </a:r>
              </a:p>
              <a:p>
                <a:r>
                  <a:rPr lang="en-US" dirty="0" smtClean="0"/>
                  <a:t>Analyzing samples from each of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 smtClean="0"/>
                  <a:t> populations, we ask:</a:t>
                </a:r>
              </a:p>
              <a:p>
                <a:pPr lvl="1"/>
                <a:r>
                  <a:rPr lang="en-US" dirty="0" smtClean="0"/>
                  <a:t>Are there any diﬀerences in the p population means?</a:t>
                </a:r>
              </a:p>
              <a:p>
                <a:pPr lvl="1"/>
                <a:r>
                  <a:rPr lang="en-US" dirty="0" smtClean="0"/>
                  <a:t>If so, which of the means diﬀer?</a:t>
                </a:r>
              </a:p>
              <a:p>
                <a:r>
                  <a:rPr lang="en-US" u="sng" dirty="0" smtClean="0"/>
                  <a:t>Objective</a:t>
                </a:r>
                <a:r>
                  <a:rPr lang="en-US" dirty="0" smtClean="0"/>
                  <a:t>: To estimate and test hypotheses about the population group means,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µ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µ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. . . 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µ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5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241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050" y="4984978"/>
            <a:ext cx="2846925" cy="669696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27 / 35</a:t>
            </a:r>
          </a:p>
        </p:txBody>
      </p:sp>
    </p:spTree>
    <p:extLst>
      <p:ext uri="{BB962C8B-B14F-4D97-AF65-F5344CB8AC3E}">
        <p14:creationId xmlns:p14="http://schemas.microsoft.com/office/powerpoint/2010/main" val="2910235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000" b="1">
                <a:solidFill>
                  <a:srgbClr val="0D5F62"/>
                </a:solidFill>
                <a:latin typeface="Calibri"/>
              </a:rPr>
              <a:t>Example: Dosages of four </a:t>
            </a:r>
            <a:r>
              <a:rPr lang="en-US" dirty="0" err="1" smtClean="0" sz="3000" b="1">
                <a:solidFill>
                  <a:srgbClr val="0D5F62"/>
                </a:solidFill>
                <a:latin typeface="Calibri"/>
              </a:rPr>
              <a:t>cardiotoxic</a:t>
            </a:r>
            <a:r>
              <a:rPr lang="en-US" dirty="0" smtClean="0" sz="3000" b="1">
                <a:solidFill>
                  <a:srgbClr val="0D5F62"/>
                </a:solidFill>
                <a:latin typeface="Calibri"/>
              </a:rPr>
              <a:t> drugs at death of infused guinea pigs</a:t>
            </a:r>
            <a:endParaRPr lang="en-US" dirty="0" sz="30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5" name="Content Placeholder 5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 smtClean="0"/>
              <a:t>Evaluating potencies of </a:t>
            </a:r>
            <a:r>
              <a:rPr lang="en-US" u="sng" dirty="0" smtClean="0"/>
              <a:t>four cardiac treatments</a:t>
            </a:r>
          </a:p>
          <a:p>
            <a:r>
              <a:rPr lang="en-US" dirty="0" smtClean="0"/>
              <a:t>Observe </a:t>
            </a:r>
            <a:r>
              <a:rPr lang="en-US" u="sng" dirty="0" smtClean="0"/>
              <a:t>dosage</a:t>
            </a:r>
            <a:r>
              <a:rPr lang="en-US" dirty="0" smtClean="0"/>
              <a:t> at which animals (guinea pigs) die for each treatment</a:t>
            </a:r>
          </a:p>
          <a:p>
            <a:r>
              <a:rPr lang="en-US" dirty="0" smtClean="0"/>
              <a:t>10 guinea pigs per treatment (40 observations in all)</a:t>
            </a:r>
          </a:p>
          <a:p>
            <a:r>
              <a:rPr lang="en-US" dirty="0" smtClean="0"/>
              <a:t>Assess any diﬀerences in toxicity of four treatments, i.e., </a:t>
            </a:r>
            <a:r>
              <a:rPr lang="en-US" u="sng" dirty="0" smtClean="0"/>
              <a:t>diﬀerences in mean dosage required to kill animal</a:t>
            </a:r>
            <a:endParaRPr lang="en-US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325" y="4535021"/>
            <a:ext cx="6065476" cy="408454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28 / 35</a:t>
            </a:r>
          </a:p>
        </p:txBody>
      </p:sp>
    </p:spTree>
    <p:extLst>
      <p:ext uri="{BB962C8B-B14F-4D97-AF65-F5344CB8AC3E}">
        <p14:creationId xmlns:p14="http://schemas.microsoft.com/office/powerpoint/2010/main" val="2454574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000" b="1">
                <a:solidFill>
                  <a:srgbClr val="0D5F62"/>
                </a:solidFill>
                <a:latin typeface="Calibri"/>
              </a:rPr>
              <a:t>Example: Dosages of four </a:t>
            </a:r>
            <a:r>
              <a:rPr lang="en-US" dirty="0" err="1" smtClean="0" sz="3000" b="1">
                <a:solidFill>
                  <a:srgbClr val="0D5F62"/>
                </a:solidFill>
                <a:latin typeface="Calibri"/>
              </a:rPr>
              <a:t>cardiotoxic</a:t>
            </a:r>
            <a:r>
              <a:rPr lang="en-US" dirty="0" smtClean="0" sz="3000" b="1">
                <a:solidFill>
                  <a:srgbClr val="0D5F62"/>
                </a:solidFill>
                <a:latin typeface="Calibri"/>
              </a:rPr>
              <a:t> drugs at death of infused guinea pigs</a:t>
            </a:r>
            <a:endParaRPr lang="en-US" dirty="0" sz="30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72888" y="1815584"/>
            <a:ext cx="4057521" cy="3970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Profont"/>
              </a:rPr>
              <a:t>/* read in data from file tox.txt */</a:t>
            </a:r>
          </a:p>
          <a:p>
            <a:r>
              <a:rPr lang="en-US" dirty="0" smtClean="0">
                <a:latin typeface="Monaco"/>
              </a:rPr>
              <a:t>DATA toxic;</a:t>
            </a:r>
          </a:p>
          <a:p>
            <a:pPr lvl="1"/>
            <a:r>
              <a:rPr lang="en-US" dirty="0" smtClean="0">
                <a:latin typeface="Monaco"/>
              </a:rPr>
              <a:t>INFILE ’g:\shared\bio226\tox.txt’; </a:t>
            </a:r>
          </a:p>
          <a:p>
            <a:pPr lvl="1"/>
            <a:r>
              <a:rPr lang="en-US" dirty="0" smtClean="0">
                <a:latin typeface="Monaco"/>
              </a:rPr>
              <a:t>INPUT y drug;</a:t>
            </a:r>
            <a:endParaRPr lang="en-US" dirty="0">
              <a:latin typeface="Monaco"/>
            </a:endParaRPr>
          </a:p>
          <a:p>
            <a:r>
              <a:rPr lang="en-US" dirty="0" smtClean="0">
                <a:latin typeface="Monaco"/>
              </a:rPr>
              <a:t>RUN;</a:t>
            </a:r>
          </a:p>
          <a:p>
            <a:endParaRPr lang="en-US" dirty="0">
              <a:latin typeface="Monaco"/>
            </a:endParaRPr>
          </a:p>
          <a:p>
            <a:r>
              <a:rPr lang="en-US" dirty="0" smtClean="0">
                <a:latin typeface="Profont"/>
              </a:rPr>
              <a:t>/* analysis */</a:t>
            </a:r>
            <a:endParaRPr lang="en-US" dirty="0" smtClean="0">
              <a:latin typeface="Monaco"/>
            </a:endParaRPr>
          </a:p>
          <a:p>
            <a:r>
              <a:rPr lang="en-US" dirty="0" smtClean="0">
                <a:latin typeface="Monaco"/>
              </a:rPr>
              <a:t>PROC GLM DATA=toxic;</a:t>
            </a:r>
            <a:endParaRPr lang="en-US" u="sng" dirty="0" smtClean="0">
              <a:latin typeface="Monaco"/>
            </a:endParaRPr>
          </a:p>
          <a:p>
            <a:pPr lvl="1"/>
            <a:r>
              <a:rPr lang="en-US" dirty="0" smtClean="0">
                <a:latin typeface="Profont"/>
              </a:rPr>
              <a:t>CLASS drug; </a:t>
            </a:r>
          </a:p>
          <a:p>
            <a:pPr lvl="1"/>
            <a:r>
              <a:rPr lang="en-US" dirty="0" smtClean="0">
                <a:latin typeface="Profont"/>
              </a:rPr>
              <a:t>MODEL y=drug;</a:t>
            </a:r>
            <a:endParaRPr lang="en-US" dirty="0">
              <a:latin typeface="Profont"/>
            </a:endParaRPr>
          </a:p>
          <a:p>
            <a:r>
              <a:rPr lang="en-US" dirty="0" smtClean="0">
                <a:latin typeface="Profont"/>
              </a:rPr>
              <a:t>RUN;</a:t>
            </a:r>
          </a:p>
          <a:p>
            <a:endParaRPr lang="en-US" dirty="0">
              <a:latin typeface="Profont"/>
            </a:endParaRPr>
          </a:p>
          <a:p>
            <a:endParaRPr lang="en-US" dirty="0" smtClean="0">
              <a:latin typeface="Profont"/>
            </a:endParaRPr>
          </a:p>
          <a:p>
            <a:endParaRPr lang="en-US" dirty="0">
              <a:latin typeface="Profont"/>
            </a:endParaRPr>
          </a:p>
        </p:txBody>
      </p:sp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29 / 35</a:t>
            </a:r>
          </a:p>
        </p:txBody>
      </p:sp>
    </p:spTree>
    <p:extLst>
      <p:ext uri="{BB962C8B-B14F-4D97-AF65-F5344CB8AC3E}">
        <p14:creationId xmlns:p14="http://schemas.microsoft.com/office/powerpoint/2010/main" val="3180854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000" b="1">
                <a:solidFill>
                  <a:srgbClr val="0D5F62"/>
                </a:solidFill>
                <a:latin typeface="Calibri"/>
              </a:rPr>
              <a:t>Example: Dosages of four </a:t>
            </a:r>
            <a:r>
              <a:rPr lang="en-US" dirty="0" err="1" smtClean="0" sz="3000" b="1">
                <a:solidFill>
                  <a:srgbClr val="0D5F62"/>
                </a:solidFill>
                <a:latin typeface="Calibri"/>
              </a:rPr>
              <a:t>cardiotoxic</a:t>
            </a:r>
            <a:r>
              <a:rPr lang="en-US" dirty="0" smtClean="0" sz="3000" b="1">
                <a:solidFill>
                  <a:srgbClr val="0D5F62"/>
                </a:solidFill>
                <a:latin typeface="Calibri"/>
              </a:rPr>
              <a:t> drugs at death of infused guinea pigs</a:t>
            </a:r>
            <a:endParaRPr lang="en-US" dirty="0" sz="30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362" y="1577916"/>
            <a:ext cx="4475063" cy="204793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974" y="3915712"/>
            <a:ext cx="7404226" cy="1684987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30 / 35</a:t>
            </a:r>
          </a:p>
        </p:txBody>
      </p:sp>
    </p:spTree>
    <p:extLst>
      <p:ext uri="{BB962C8B-B14F-4D97-AF65-F5344CB8AC3E}">
        <p14:creationId xmlns:p14="http://schemas.microsoft.com/office/powerpoint/2010/main" val="86473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Relationship between ANOVA and regression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7" name="Content Placeholder 5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 smtClean="0"/>
              <a:t>Essentially identical, although often obscured by diﬀerences in terminology.</a:t>
            </a:r>
          </a:p>
          <a:p>
            <a:r>
              <a:rPr lang="en-US" dirty="0" smtClean="0"/>
              <a:t>The ANOVA model can be represented as a multiple regression model with dummy (or indicator) variables.</a:t>
            </a:r>
          </a:p>
          <a:p>
            <a:r>
              <a:rPr lang="en-US" dirty="0" smtClean="0"/>
              <a:t>⇒ A multiple regression analysis with dummy-variable coded factors will yield the same results as an ANOVA.</a:t>
            </a:r>
            <a:endParaRPr lang="en-US" u="sng" dirty="0"/>
          </a:p>
        </p:txBody>
      </p:sp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31 / 35</a:t>
            </a:r>
          </a:p>
        </p:txBody>
      </p:sp>
    </p:spTree>
    <p:extLst>
      <p:ext uri="{BB962C8B-B14F-4D97-AF65-F5344CB8AC3E}">
        <p14:creationId xmlns:p14="http://schemas.microsoft.com/office/powerpoint/2010/main" val="292897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Relationship between ANOVA and regression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 smtClean="0"/>
                  <a:t>Consider a factor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 smtClean="0"/>
                  <a:t> levels:</a:t>
                </a:r>
              </a:p>
              <a:p>
                <a:r>
                  <a:rPr lang="en-US" dirty="0" smtClean="0"/>
                  <a:t>Deﬁne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 </m:t>
                    </m:r>
                  </m:oMath>
                </a14:m>
                <a:r>
                  <a:rPr lang="en-US" dirty="0" smtClean="0"/>
                  <a:t>if subject belongs to level 2, and 0 otherwise; deﬁne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r>
                  <a:rPr lang="en-US" dirty="0" smtClean="0"/>
                  <a:t> if subject belongs to level 3, and 0 otherwise; and deﬁne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 smtClean="0"/>
                  <a:t> similarly.</a:t>
                </a:r>
              </a:p>
              <a:p>
                <a:pPr lvl="1"/>
                <a:r>
                  <a:rPr lang="en-US" dirty="0" smtClean="0"/>
                  <a:t>By omission, the ﬁrst level of the factor is selected as a “reference”.</a:t>
                </a:r>
              </a:p>
              <a:p>
                <a:pPr lvl="1"/>
                <a:r>
                  <a:rPr lang="en-US" dirty="0" smtClean="0"/>
                  <a:t>Default option in many procedures in SAS is to use last level as a “reference”.</a:t>
                </a:r>
              </a:p>
              <a:p>
                <a:endParaRPr lang="en-US" u="sng" dirty="0"/>
              </a:p>
            </p:txBody>
          </p:sp>
        </mc:Choice>
        <mc:Fallback xmlns="">
          <p:sp>
            <p:nvSpPr>
              <p:cNvPr id="7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0050" y="4374165"/>
            <a:ext cx="3871876" cy="1802798"/>
          </a:xfrm>
          <a:prstGeom prst="rect">
            <a:avLst/>
          </a:prstGeom>
        </p:spPr>
      </p:pic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32 / 35</a:t>
            </a:r>
          </a:p>
        </p:txBody>
      </p:sp>
    </p:spTree>
    <p:extLst>
      <p:ext uri="{BB962C8B-B14F-4D97-AF65-F5344CB8AC3E}">
        <p14:creationId xmlns:p14="http://schemas.microsoft.com/office/powerpoint/2010/main" val="61171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Relationship between ANOVA and regression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7" name="Content Placeholder 5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 smtClean="0"/>
              <a:t>This leads to a simple way of representing the ANOVA model</a:t>
            </a:r>
          </a:p>
          <a:p>
            <a:endParaRPr lang="en-US" dirty="0"/>
          </a:p>
          <a:p>
            <a:r>
              <a:rPr lang="en-US" dirty="0" smtClean="0"/>
              <a:t>Note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Or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224" y="2354432"/>
            <a:ext cx="4649401" cy="3974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780" y="2968767"/>
            <a:ext cx="1412287" cy="14956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373" y="4829096"/>
            <a:ext cx="4043100" cy="1100100"/>
          </a:xfrm>
          <a:prstGeom prst="rect">
            <a:avLst/>
          </a:prstGeom>
        </p:spPr>
      </p:pic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33 / 35</a:t>
            </a:r>
          </a:p>
        </p:txBody>
      </p:sp>
    </p:spTree>
    <p:extLst>
      <p:ext uri="{BB962C8B-B14F-4D97-AF65-F5344CB8AC3E}">
        <p14:creationId xmlns:p14="http://schemas.microsoft.com/office/powerpoint/2010/main" val="3859958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Relationship between ANOVA and regression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 smtClean="0"/>
                  <a:t>Therefore, the null and alternative hypotheses can be equivalently expressed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=…=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not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equal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Choice of reference level</a:t>
                </a:r>
              </a:p>
              <a:p>
                <a:pPr lvl="1"/>
                <a:r>
                  <a:rPr lang="en-US" dirty="0" smtClean="0"/>
                  <a:t>A natural baseline or comparison group, and/or</a:t>
                </a:r>
              </a:p>
              <a:p>
                <a:pPr lvl="1"/>
                <a:r>
                  <a:rPr lang="en-US" dirty="0" smtClean="0"/>
                  <a:t>Group with largest sample size</a:t>
                </a:r>
              </a:p>
              <a:p>
                <a:pPr lvl="1"/>
                <a:r>
                  <a:rPr lang="en-US" dirty="0" smtClean="0"/>
                  <a:t>Does </a:t>
                </a:r>
                <a:r>
                  <a:rPr lang="en-US" u="sng" dirty="0" smtClean="0"/>
                  <a:t>not</a:t>
                </a:r>
                <a:r>
                  <a:rPr lang="en-US" dirty="0" smtClean="0"/>
                  <a:t> impact the result of the global test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against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 smtClean="0"/>
                  <a:t>)</a:t>
                </a:r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34 / 35</a:t>
            </a:r>
          </a:p>
        </p:txBody>
      </p:sp>
    </p:spTree>
    <p:extLst>
      <p:ext uri="{BB962C8B-B14F-4D97-AF65-F5344CB8AC3E}">
        <p14:creationId xmlns:p14="http://schemas.microsoft.com/office/powerpoint/2010/main" val="3275160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Relationship between ANOVA and regression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7" name="Content Placeholder 5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 smtClean="0"/>
              <a:t>The regression representation of ANOVA is more attractive because:</a:t>
            </a:r>
          </a:p>
          <a:p>
            <a:pPr lvl="1"/>
            <a:r>
              <a:rPr lang="en-US" dirty="0" smtClean="0"/>
              <a:t>It can handle balanced (i.e., equal cell sizes) and unbalanced data in a seamless fashion.</a:t>
            </a:r>
          </a:p>
          <a:p>
            <a:pPr lvl="1"/>
            <a:r>
              <a:rPr lang="en-US" dirty="0" smtClean="0"/>
              <a:t>In addition to the usual ANOVA table summaries, it provides other useful and interpretable results, e.g., estimates of eﬀects and standard errors.</a:t>
            </a:r>
          </a:p>
          <a:p>
            <a:pPr lvl="1"/>
            <a:r>
              <a:rPr lang="en-US" dirty="0" smtClean="0"/>
              <a:t>Generalizations of ANOVA to include continuous predictors (and interactions among nominal and continuous predictors) are straightforward.</a:t>
            </a:r>
          </a:p>
          <a:p>
            <a:endParaRPr lang="en-US" dirty="0"/>
          </a:p>
        </p:txBody>
      </p:sp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02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35 / 35</a:t>
            </a:r>
          </a:p>
        </p:txBody>
      </p:sp>
    </p:spTree>
    <p:extLst>
      <p:ext uri="{BB962C8B-B14F-4D97-AF65-F5344CB8AC3E}">
        <p14:creationId xmlns:p14="http://schemas.microsoft.com/office/powerpoint/2010/main" val="1429742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7497</TotalTime>
  <Words>919</Words>
  <Application>Microsoft Office PowerPoint</Application>
  <PresentationFormat>Widescreen</PresentationFormat>
  <Paragraphs>208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Monaco</vt:lpstr>
      <vt:lpstr>Profont</vt:lpstr>
      <vt:lpstr>Arial</vt:lpstr>
      <vt:lpstr>Calibri</vt:lpstr>
      <vt:lpstr>Calibri Light</vt:lpstr>
      <vt:lpstr>Cambria Math</vt:lpstr>
      <vt:lpstr>Office Theme</vt:lpstr>
      <vt:lpstr>Advanced Regression Methods for Population Health</vt:lpstr>
      <vt:lpstr>Outline</vt:lpstr>
      <vt:lpstr>Linear regression</vt:lpstr>
      <vt:lpstr>Linear regression</vt:lpstr>
      <vt:lpstr>Linear regression</vt:lpstr>
      <vt:lpstr>Linear regression</vt:lpstr>
      <vt:lpstr>Assumptions of multiple linear regression</vt:lpstr>
      <vt:lpstr>Estimation in linear regression</vt:lpstr>
      <vt:lpstr>Maximum Likelihood Estimation</vt:lpstr>
      <vt:lpstr>Maximum Likelihood Estimation</vt:lpstr>
      <vt:lpstr>Maximum Likelihood Estimation</vt:lpstr>
      <vt:lpstr>Maximum Likelihood Estimation</vt:lpstr>
      <vt:lpstr>Matrix and vector</vt:lpstr>
      <vt:lpstr>Matrix and vector</vt:lpstr>
      <vt:lpstr>Matrix and vector</vt:lpstr>
      <vt:lpstr>Matrix and vector</vt:lpstr>
      <vt:lpstr>Matrix and vector</vt:lpstr>
      <vt:lpstr>Matrix and vector</vt:lpstr>
      <vt:lpstr>Matrix and vector</vt:lpstr>
      <vt:lpstr>Linear regression in matrix form</vt:lpstr>
      <vt:lpstr>Linear regression in matrix form</vt:lpstr>
      <vt:lpstr>Linear regression in matrix form</vt:lpstr>
      <vt:lpstr>Properties of LSE</vt:lpstr>
      <vt:lpstr>Regression using PROC GLM in SAS</vt:lpstr>
      <vt:lpstr>Regression using PROC GLM in SAS</vt:lpstr>
      <vt:lpstr>Interpretation of regression results</vt:lpstr>
      <vt:lpstr>Analysis of variance (ANOVA)</vt:lpstr>
      <vt:lpstr>Example: Dosages of four cardiotoxic drugs at death of infused guinea pigs</vt:lpstr>
      <vt:lpstr>Example: Dosages of four cardiotoxic drugs at death of infused guinea pigs</vt:lpstr>
      <vt:lpstr>Example: Dosages of four cardiotoxic drugs at death of infused guinea pigs</vt:lpstr>
      <vt:lpstr>Relationship between ANOVA and regression</vt:lpstr>
      <vt:lpstr>Relationship between ANOVA and regression</vt:lpstr>
      <vt:lpstr>Relationship between ANOVA and regression</vt:lpstr>
      <vt:lpstr>Relationship between ANOVA and regression</vt:lpstr>
      <vt:lpstr>Relationship between ANOVA and regression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230</cp:revision>
  <dcterms:created xsi:type="dcterms:W3CDTF">2019-01-16T21:45:55Z</dcterms:created>
  <dcterms:modified xsi:type="dcterms:W3CDTF">2019-02-04T10:21:18Z</dcterms:modified>
</cp:coreProperties>
</file>