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2" r:id="rId7"/>
    <p:sldId id="261" r:id="rId8"/>
    <p:sldId id="264" r:id="rId9"/>
    <p:sldId id="263" r:id="rId10"/>
    <p:sldId id="265" r:id="rId11"/>
    <p:sldId id="266" r:id="rId12"/>
    <p:sldId id="267" r:id="rId13"/>
    <p:sldId id="268" r:id="rId14"/>
    <p:sldId id="270" r:id="rId15"/>
    <p:sldId id="271" r:id="rId16"/>
    <p:sldId id="269"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D68BB4-D429-4D9F-9A88-1E15C9ECB80D}">
          <p14:sldIdLst>
            <p14:sldId id="256"/>
            <p14:sldId id="257"/>
            <p14:sldId id="258"/>
            <p14:sldId id="259"/>
            <p14:sldId id="260"/>
            <p14:sldId id="262"/>
            <p14:sldId id="261"/>
            <p14:sldId id="264"/>
            <p14:sldId id="263"/>
            <p14:sldId id="265"/>
            <p14:sldId id="266"/>
            <p14:sldId id="267"/>
            <p14:sldId id="268"/>
            <p14:sldId id="270"/>
            <p14:sldId id="271"/>
            <p14:sldId id="269"/>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8" d="100"/>
          <a:sy n="88" d="100"/>
        </p:scale>
        <p:origin x="45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FDA3A-CD22-4026-84C1-034A7EF76A98}" type="datetimeFigureOut">
              <a:rPr lang="en-US" smtClean="0"/>
              <a:t>4/13/2019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D7C35D-060E-435E-9BFC-11636728C5CA}" type="slidenum">
              <a:rPr lang="en-US" smtClean="0"/>
              <a:t>‹#›</a:t>
            </a:fld>
            <a:endParaRPr lang="en-US"/>
          </a:p>
        </p:txBody>
      </p:sp>
    </p:spTree>
    <p:extLst>
      <p:ext uri="{BB962C8B-B14F-4D97-AF65-F5344CB8AC3E}">
        <p14:creationId xmlns:p14="http://schemas.microsoft.com/office/powerpoint/2010/main" val="214230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C67D58-E64F-42FB-A354-3FB5C93E4E64}" type="datetimeFigureOut">
              <a:rPr lang="en-US" smtClean="0"/>
              <a:t>4/13/2019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68630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C67D58-E64F-42FB-A354-3FB5C93E4E64}" type="datetimeFigureOut">
              <a:rPr lang="en-US" smtClean="0"/>
              <a:t>4/13/2019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84891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5C67D58-E64F-42FB-A354-3FB5C93E4E64}" type="datetimeFigureOut">
              <a:rPr lang="en-US" smtClean="0"/>
              <a:t>4/13/2019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388267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C67D58-E64F-42FB-A354-3FB5C93E4E64}" type="datetimeFigureOut">
              <a:rPr lang="en-US" smtClean="0"/>
              <a:t>4/13/2019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181871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C67D58-E64F-42FB-A354-3FB5C93E4E64}" type="datetimeFigureOut">
              <a:rPr lang="en-US" smtClean="0"/>
              <a:t>4/13/2019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321446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C67D58-E64F-42FB-A354-3FB5C93E4E64}" type="datetimeFigureOut">
              <a:rPr lang="en-US" smtClean="0"/>
              <a:t>4/13/2019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74683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C67D58-E64F-42FB-A354-3FB5C93E4E64}" type="datetimeFigureOut">
              <a:rPr lang="en-US" smtClean="0"/>
              <a:t>4/13/2019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3093401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C67D58-E64F-42FB-A354-3FB5C93E4E64}" type="datetimeFigureOut">
              <a:rPr lang="en-US" smtClean="0"/>
              <a:t>4/13/2019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816577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C67D58-E64F-42FB-A354-3FB5C93E4E64}" type="datetimeFigureOut">
              <a:rPr lang="en-US" smtClean="0"/>
              <a:t>4/13/2019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265202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C67D58-E64F-42FB-A354-3FB5C93E4E64}" type="datetimeFigureOut">
              <a:rPr lang="en-US" smtClean="0"/>
              <a:t>4/13/2019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347939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C67D58-E64F-42FB-A354-3FB5C93E4E64}" type="datetimeFigureOut">
              <a:rPr lang="en-US" smtClean="0"/>
              <a:t>4/13/2019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1FCA7E-16A7-44B9-B6F6-2700C6118F81}" type="slidenum">
              <a:rPr lang="en-US" smtClean="0"/>
              <a:t>‹#›</a:t>
            </a:fld>
            <a:endParaRPr lang="en-US"/>
          </a:p>
        </p:txBody>
      </p:sp>
    </p:spTree>
    <p:extLst>
      <p:ext uri="{BB962C8B-B14F-4D97-AF65-F5344CB8AC3E}">
        <p14:creationId xmlns:p14="http://schemas.microsoft.com/office/powerpoint/2010/main" val="1194712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C67D58-E64F-42FB-A354-3FB5C93E4E64}" type="datetimeFigureOut">
              <a:rPr lang="en-US" smtClean="0"/>
              <a:t>4/13/2019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1FCA7E-16A7-44B9-B6F6-2700C6118F81}" type="slidenum">
              <a:rPr lang="en-US" smtClean="0"/>
              <a:t>‹#›</a:t>
            </a:fld>
            <a:endParaRPr lang="en-US"/>
          </a:p>
        </p:txBody>
      </p:sp>
    </p:spTree>
    <p:extLst>
      <p:ext uri="{BB962C8B-B14F-4D97-AF65-F5344CB8AC3E}">
        <p14:creationId xmlns:p14="http://schemas.microsoft.com/office/powerpoint/2010/main" val="2215952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840DC3-3D4C-436D-94F8-D2272F9103A4}"/>
              </a:ext>
            </a:extLst>
          </p:cNvPr>
          <p:cNvSpPr>
            <a:spLocks xmlns:a="http://schemas.openxmlformats.org/drawingml/2006/main" noGrp="1"/>
          </p:cNvSpPr>
          <p:nvPr/>
        </p:nvSpPr>
        <p:spPr>
          <a:xfrm xmlns:a="http://schemas.openxmlformats.org/drawingml/2006/main">
            <a:off x="838200" y="495300"/>
            <a:ext cx="1051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7AD1C8"/>
                </a:solidFill>
                <a:latin typeface="Calibri"/>
                <a:ea typeface="Calibri"/>
                <a:cs typeface="Calibri"/>
              </a:defRPr>
            </a:pPr>
            <a:r>
              <a:rPr sz="1650" b="1">
                <a:solidFill>
                  <a:srgbClr val="7AD1C8"/>
                </a:solidFill>
                <a:latin typeface="Calibri"/>
                <a:ea typeface="Calibri"/>
                <a:cs typeface="Calibri"/>
              </a:rPr>
              <a:t>PHS 651     /     LECTURE 19</a:t>
            </a:r>
          </a:p>
        </p:txBody>
      </p:sp>
      <p:sp>
        <p:nvSpPr>
          <p:cNvPr id="2" name="">
            <a:extLst xmlns:a="http://schemas.openxmlformats.org/drawingml/2006/main">
              <a:ext uri="{FF2B5EF4-FFF2-40B4-BE49-F238E27FC236}">
                <a16:creationId xmlns:a16="http://schemas.microsoft.com/office/drawing/2014/main" id="{84DC7E4D-E339-4A52-8143-5EF5440F4D15}"/>
              </a:ext>
            </a:extLst>
          </p:cNvPr>
          <p:cNvSpPr>
            <a:spLocks xmlns:a="http://schemas.openxmlformats.org/drawingml/2006/main" noGrp="1"/>
          </p:cNvSpPr>
          <p:nvPr/>
        </p:nvSpPr>
        <p:spPr>
          <a:xfrm xmlns:a="http://schemas.openxmlformats.org/drawingml/2006/main">
            <a:off x="838200" y="1571625"/>
            <a:ext cx="10191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FFFFFF"/>
                </a:solidFill>
                <a:latin typeface="Calibri"/>
                <a:ea typeface="Calibri"/>
                <a:cs typeface="Calibri"/>
              </a:defRPr>
            </a:pPr>
            <a:r>
              <a:rPr sz="5400" b="1">
                <a:solidFill>
                  <a:srgbClr val="FFFFFF"/>
                </a:solidFill>
                <a:latin typeface="Calibri"/>
                <a:ea typeface="Calibri"/>
                <a:cs typeface="Calibri"/>
              </a:rPr>
              <a:t>Missing Data and Multiple Imputation</a:t>
            </a:r>
          </a:p>
        </p:txBody>
      </p:sp>
      <p:sp>
        <p:nvSpPr>
          <p:cNvPr id="3" name="">
            <a:extLst xmlns:a="http://schemas.openxmlformats.org/drawingml/2006/main">
              <a:ext uri="{FF2B5EF4-FFF2-40B4-BE49-F238E27FC236}">
                <a16:creationId xmlns:a16="http://schemas.microsoft.com/office/drawing/2014/main" id="{DFDB01C8-3ED6-4833-9ADC-FE30239BC596}"/>
              </a:ext>
            </a:extLst>
          </p:cNvPr>
          <p:cNvSpPr>
            <a:spLocks xmlns:a="http://schemas.openxmlformats.org/drawingml/2006/main" noGrp="1"/>
          </p:cNvSpPr>
          <p:nvPr/>
        </p:nvSpPr>
        <p:spPr>
          <a:xfrm xmlns:a="http://schemas.openxmlformats.org/drawingml/2006/main">
            <a:off x="838200" y="401002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B7CBCE"/>
                </a:solidFill>
                <a:latin typeface="Calibri"/>
                <a:ea typeface="Calibri"/>
                <a:cs typeface="Calibri"/>
              </a:defRPr>
            </a:pPr>
            <a:r>
              <a:rPr sz="2175" b="0">
                <a:solidFill>
                  <a:srgbClr val="B7CBCE"/>
                </a:solidFill>
                <a:latin typeface="Calibri"/>
                <a:ea typeface="Calibri"/>
                <a:cs typeface="Calibri"/>
              </a:rPr>
              <a:t>Advanced Regression Methods for Population Health</a:t>
            </a:r>
          </a:p>
        </p:txBody>
      </p:sp>
      <p:sp>
        <p:nvSpPr>
          <p:cNvPr id="4" name="">
            <a:extLst xmlns:a="http://schemas.openxmlformats.org/drawingml/2006/main">
              <a:ext uri="{FF2B5EF4-FFF2-40B4-BE49-F238E27FC236}">
                <a16:creationId xmlns:a16="http://schemas.microsoft.com/office/drawing/2014/main" id="{737A27DB-ABE6-478A-BBE7-A6433795785D}"/>
              </a:ext>
            </a:extLst>
          </p:cNvPr>
          <p:cNvSpPr>
            <a:spLocks xmlns:a="http://schemas.openxmlformats.org/drawingml/2006/main" noGrp="1"/>
          </p:cNvSpPr>
          <p:nvPr/>
        </p:nvSpPr>
        <p:spPr>
          <a:xfrm xmlns:a="http://schemas.openxmlformats.org/drawingml/2006/main">
            <a:off x="838200" y="521970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Lu Mao, PhD</a:t>
            </a:r>
          </a:p>
        </p:txBody>
      </p:sp>
      <p:sp>
        <p:nvSpPr>
          <p:cNvPr id="5" name="">
            <a:extLst xmlns:a="http://schemas.openxmlformats.org/drawingml/2006/main">
              <a:ext uri="{FF2B5EF4-FFF2-40B4-BE49-F238E27FC236}">
                <a16:creationId xmlns:a16="http://schemas.microsoft.com/office/drawing/2014/main" id="{61C4E22C-07A9-4897-8E56-7E046B8DBDE2}"/>
              </a:ext>
            </a:extLst>
          </p:cNvPr>
          <p:cNvSpPr>
            <a:spLocks xmlns:a="http://schemas.openxmlformats.org/drawingml/2006/main" noGrp="1"/>
          </p:cNvSpPr>
          <p:nvPr/>
        </p:nvSpPr>
        <p:spPr>
          <a:xfrm xmlns:a="http://schemas.openxmlformats.org/drawingml/2006/main">
            <a:off x="838200" y="5619750"/>
            <a:ext cx="8858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B7CBCE"/>
                </a:solidFill>
                <a:latin typeface="Calibri"/>
                <a:ea typeface="Calibri"/>
                <a:cs typeface="Calibri"/>
              </a:defRPr>
            </a:pPr>
            <a:r>
              <a:rPr sz="1575" b="0">
                <a:solidFill>
                  <a:srgbClr val="B7CBCE"/>
                </a:solidFill>
                <a:latin typeface="Calibri"/>
                <a:ea typeface="Calibri"/>
                <a:cs typeface="Calibri"/>
              </a:rPr>
              <a:t>Department of Biostatistics and Medical Informatics</a:t>
            </a:r>
          </a:p>
          <a:p xmlns:a="http://schemas.openxmlformats.org/drawingml/2006/main">
            <a:pPr>
              <a:defRPr sz="1575" b="0">
                <a:solidFill>
                  <a:srgbClr val="B7CBCE"/>
                </a:solidFill>
                <a:latin typeface="Calibri"/>
                <a:ea typeface="Calibri"/>
                <a:cs typeface="Calibri"/>
              </a:defRPr>
            </a:pPr>
            <a:r>
              <a:rPr sz="1575" b="0">
                <a:solidFill>
                  <a:srgbClr val="B7CBCE"/>
                </a:solidFill>
                <a:latin typeface="Calibri"/>
                <a:ea typeface="Calibri"/>
                <a:cs typeface="Calibri"/>
              </a:rPr>
              <a:t>University of Wisconsin-Madison</a:t>
            </a:r>
          </a:p>
        </p:txBody>
      </p:sp>
      <p:sp>
        <p:nvSpPr>
          <p:cNvPr id="6" name="">
            <a:extLst xmlns:a="http://schemas.openxmlformats.org/drawingml/2006/main">
              <a:ext uri="{FF2B5EF4-FFF2-40B4-BE49-F238E27FC236}">
                <a16:creationId xmlns:a16="http://schemas.microsoft.com/office/drawing/2014/main" id="{AFC7ABCD-D23B-49B5-9051-9EEF86B42111}"/>
              </a:ext>
            </a:extLst>
          </p:cNvPr>
          <p:cNvSpPr>
            <a:spLocks xmlns:a="http://schemas.openxmlformats.org/drawingml/2006/main" noGrp="1"/>
          </p:cNvSpPr>
          <p:nvPr/>
        </p:nvSpPr>
        <p:spPr>
          <a:xfrm xmlns:a="http://schemas.openxmlformats.org/drawingml/2006/main">
            <a:off x="9810750" y="5972175"/>
            <a:ext cx="166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AD1C8"/>
                </a:solidFill>
                <a:latin typeface="Calibri"/>
                <a:ea typeface="Calibri"/>
                <a:cs typeface="Calibri"/>
              </a:defRPr>
            </a:pPr>
            <a:r>
              <a:rPr sz="1200" b="0">
                <a:solidFill>
                  <a:srgbClr val="7AD1C8"/>
                </a:solidFill>
                <a:latin typeface="Calibri"/>
                <a:ea typeface="Calibri"/>
                <a:cs typeface="Calibri"/>
              </a:rPr>
              <a:t>SPRING 2019</a:t>
            </a:r>
          </a:p>
        </p:txBody>
      </p:sp>
    </p:spTree>
    <p:extLst>
      <p:ext uri="{BB962C8B-B14F-4D97-AF65-F5344CB8AC3E}">
        <p14:creationId xmlns:p14="http://schemas.microsoft.com/office/powerpoint/2010/main" val="1694722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30"/>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Outline</a:t>
            </a:r>
            <a:endParaRPr lang="en-US" dirty="0" sz="3400" b="1">
              <a:solidFill>
                <a:srgbClr val="0D5F62"/>
              </a:solidFill>
              <a:latin typeface="Calibri"/>
            </a:endParaRPr>
          </a:p>
        </p:txBody>
      </p:sp>
      <p:sp>
        <p:nvSpPr>
          <p:cNvPr id="3" name="Content Placeholder 2"/>
          <p:cNvSpPr>
            <a:spLocks noGrp="1"/>
          </p:cNvSpPr>
          <p:nvPr>
            <p:ph idx="1"/>
          </p:nvPr>
        </p:nvSpPr>
        <p:spPr>
          <a:xfrm>
            <a:off x="838200" y="1753986"/>
            <a:ext cx="10515600" cy="4015047"/>
          </a:xfrm>
        </p:spPr>
        <p:txBody>
          <a:bodyPr>
            <a:normAutofit/>
          </a:bodyPr>
          <a:lstStyle/>
          <a:p>
            <a:pPr marL="457200" lvl="1" indent="0">
              <a:buNone/>
            </a:pPr>
            <a:endParaRPr lang="en-US" dirty="0"/>
          </a:p>
          <a:p>
            <a:pPr marL="457200" lvl="1" indent="0">
              <a:buNone/>
            </a:pPr>
            <a:endParaRPr lang="en-US" dirty="0" smtClean="0"/>
          </a:p>
          <a:p>
            <a:pPr marL="971550" lvl="1" indent="-514350">
              <a:buFont typeface="+mj-lt"/>
              <a:buAutoNum type="arabicPeriod"/>
            </a:pPr>
            <a:r>
              <a:rPr lang="en-US" sz="2800" dirty="0" smtClean="0"/>
              <a:t>Missing data mechanisms and corresponding methods</a:t>
            </a:r>
            <a:endParaRPr lang="en-US" sz="2800" dirty="0" smtClean="0"/>
          </a:p>
          <a:p>
            <a:pPr marL="971550" lvl="1" indent="-514350">
              <a:buFont typeface="+mj-lt"/>
              <a:buAutoNum type="arabicPeriod"/>
            </a:pPr>
            <a:r>
              <a:rPr lang="en-US" sz="2800" dirty="0" smtClean="0"/>
              <a:t>Multiple imputation by PROC MI</a:t>
            </a:r>
            <a:endParaRPr lang="en-US" sz="2800" dirty="0" smtClean="0"/>
          </a:p>
          <a:p>
            <a:pPr marL="971550" lvl="1" indent="-514350">
              <a:buFont typeface="+mj-lt"/>
              <a:buAutoNum type="arabicPeriod"/>
            </a:pPr>
            <a:r>
              <a:rPr lang="en-US" sz="2800" dirty="0" smtClean="0"/>
              <a:t>An Example with the TLC trial</a:t>
            </a:r>
            <a:r>
              <a:rPr lang="en-US" sz="2800" dirty="0"/>
              <a:t/>
            </a:r>
            <a:br>
              <a:rPr lang="en-US" sz="2800" dirty="0"/>
            </a:br>
            <a:r>
              <a:rPr lang="en-US" sz="2800" dirty="0"/>
              <a:t/>
            </a:r>
            <a:br>
              <a:rPr lang="en-US" sz="2800" dirty="0"/>
            </a:br>
            <a:r>
              <a:rPr lang="en-US" sz="2800" dirty="0"/>
              <a:t/>
            </a:r>
            <a:br>
              <a:rPr lang="en-US" sz="2800" dirty="0"/>
            </a:br>
            <a:endParaRPr lang="en-US" sz="2600" dirty="0" smtClean="0"/>
          </a:p>
          <a:p>
            <a:pPr marL="457200" lvl="1" indent="0">
              <a:buNone/>
            </a:pPr>
            <a:endParaRPr lang="en-US" sz="2600"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 / 33</a:t>
            </a:r>
          </a:p>
        </p:txBody>
      </p:sp>
    </p:spTree>
    <p:extLst>
      <p:ext uri="{BB962C8B-B14F-4D97-AF65-F5344CB8AC3E}">
        <p14:creationId xmlns:p14="http://schemas.microsoft.com/office/powerpoint/2010/main" val="454367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in Longitudinal Studies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a:bodyPr>
          <a:lstStyle/>
          <a:p>
            <a:r>
              <a:rPr lang="en-US" dirty="0" smtClean="0"/>
              <a:t>In longitudinal studies in health sciences, missing data are the norm rather than the exception.</a:t>
            </a:r>
          </a:p>
          <a:p>
            <a:r>
              <a:rPr lang="en-US" dirty="0" smtClean="0"/>
              <a:t>Missing data problem is more serious in longitudinal data than in cross-sectional data.</a:t>
            </a:r>
          </a:p>
          <a:p>
            <a:pPr lvl="1"/>
            <a:r>
              <a:rPr lang="en-US" dirty="0" smtClean="0"/>
              <a:t>Missingness can occur at any of the measurement occasions;</a:t>
            </a:r>
          </a:p>
          <a:p>
            <a:pPr lvl="1"/>
            <a:r>
              <a:rPr lang="en-US" dirty="0" smtClean="0"/>
              <a:t>Attrition/Dropout: patient withdraws before end of study.</a:t>
            </a:r>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3 / 33</a:t>
            </a:r>
          </a:p>
        </p:txBody>
      </p:sp>
    </p:spTree>
    <p:extLst>
      <p:ext uri="{BB962C8B-B14F-4D97-AF65-F5344CB8AC3E}">
        <p14:creationId xmlns:p14="http://schemas.microsoft.com/office/powerpoint/2010/main" val="4123196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in Longitudinal Studies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a:bodyPr>
          <a:lstStyle/>
          <a:p>
            <a:r>
              <a:rPr lang="en-US" dirty="0" smtClean="0"/>
              <a:t>Missing data have important implications in longitudinal analysis</a:t>
            </a:r>
          </a:p>
          <a:p>
            <a:pPr marL="914400" lvl="1" indent="-457200">
              <a:buFont typeface="+mj-lt"/>
              <a:buAutoNum type="arabicPeriod"/>
            </a:pPr>
            <a:r>
              <a:rPr lang="en-US" dirty="0" smtClean="0"/>
              <a:t>Data become </a:t>
            </a:r>
            <a:r>
              <a:rPr lang="en-US" u="sng" dirty="0" smtClean="0"/>
              <a:t>unbalanced</a:t>
            </a:r>
            <a:r>
              <a:rPr lang="en-US" dirty="0" smtClean="0"/>
              <a:t>;</a:t>
            </a:r>
          </a:p>
          <a:p>
            <a:pPr marL="914400" lvl="1" indent="-457200">
              <a:buFont typeface="+mj-lt"/>
              <a:buAutoNum type="arabicPeriod"/>
            </a:pPr>
            <a:r>
              <a:rPr lang="en-US" u="sng" dirty="0" smtClean="0"/>
              <a:t>Information loss</a:t>
            </a:r>
            <a:r>
              <a:rPr lang="en-US" dirty="0" smtClean="0"/>
              <a:t>;</a:t>
            </a:r>
          </a:p>
          <a:p>
            <a:pPr marL="914400" lvl="1" indent="-457200">
              <a:buFont typeface="+mj-lt"/>
              <a:buAutoNum type="arabicPeriod"/>
            </a:pPr>
            <a:r>
              <a:rPr lang="en-US" u="sng" dirty="0" smtClean="0"/>
              <a:t>Bias</a:t>
            </a:r>
            <a:r>
              <a:rPr lang="en-US" dirty="0" smtClean="0"/>
              <a:t> due to </a:t>
            </a:r>
            <a:r>
              <a:rPr lang="en-US" u="sng" dirty="0" smtClean="0"/>
              <a:t>informative </a:t>
            </a:r>
            <a:r>
              <a:rPr lang="en-US" u="sng" dirty="0" err="1" smtClean="0"/>
              <a:t>missingness</a:t>
            </a:r>
            <a:r>
              <a:rPr lang="en-US" u="sng" dirty="0" smtClean="0"/>
              <a:t>/dropout</a:t>
            </a:r>
            <a:r>
              <a:rPr lang="en-US" dirty="0" smtClean="0"/>
              <a:t>. For instance, if greater values tend to be missing, then the available data tend to be smaller than representative of the target population.</a:t>
            </a:r>
          </a:p>
          <a:p>
            <a:r>
              <a:rPr lang="en-US" dirty="0" smtClean="0"/>
              <a:t>If the reason a response is unobserved has to do with its </a:t>
            </a:r>
            <a:r>
              <a:rPr lang="en-US" u="sng" dirty="0" smtClean="0"/>
              <a:t>underlying</a:t>
            </a:r>
            <a:r>
              <a:rPr lang="en-US" u="sng" dirty="0" smtClean="0"/>
              <a:t> value</a:t>
            </a:r>
            <a:r>
              <a:rPr lang="en-US" dirty="0" smtClean="0"/>
              <a:t>, then bias may be introduced in the available data.</a:t>
            </a:r>
            <a:endParaRPr lang="en-US" dirty="0" smtClean="0"/>
          </a:p>
          <a:p>
            <a:r>
              <a:rPr lang="en-US" dirty="0" smtClean="0"/>
              <a:t>Whenever data are missing, we must carefully consider </a:t>
            </a:r>
            <a:r>
              <a:rPr lang="en-US" u="sng" dirty="0" smtClean="0"/>
              <a:t>why they are missing</a:t>
            </a:r>
            <a:r>
              <a:rPr lang="en-US" dirty="0" smtClean="0"/>
              <a:t>.</a:t>
            </a:r>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4 / 33</a:t>
            </a:r>
          </a:p>
        </p:txBody>
      </p:sp>
    </p:spTree>
    <p:extLst>
      <p:ext uri="{BB962C8B-B14F-4D97-AF65-F5344CB8AC3E}">
        <p14:creationId xmlns:p14="http://schemas.microsoft.com/office/powerpoint/2010/main" val="3845704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Reason for Missingness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lnSpcReduction="10000"/>
          </a:bodyPr>
          <a:lstStyle/>
          <a:p>
            <a:r>
              <a:rPr lang="en-US" dirty="0" smtClean="0"/>
              <a:t>Example: </a:t>
            </a:r>
            <a:r>
              <a:rPr lang="en-US" u="sng" dirty="0" smtClean="0"/>
              <a:t>Six Cities Study of Air Pollution</a:t>
            </a:r>
            <a:r>
              <a:rPr lang="en-US" dirty="0" smtClean="0"/>
              <a:t>. </a:t>
            </a:r>
          </a:p>
          <a:p>
            <a:r>
              <a:rPr lang="en-US" dirty="0"/>
              <a:t>Longitudinal study designed to characterize lung function growth in children and adolescents.</a:t>
            </a:r>
          </a:p>
          <a:p>
            <a:r>
              <a:rPr lang="en-US" dirty="0"/>
              <a:t>Most children were enrolled between the ages of six and seven and measurements were obtained </a:t>
            </a:r>
            <a:r>
              <a:rPr lang="en-US" u="sng" dirty="0"/>
              <a:t>annually</a:t>
            </a:r>
            <a:r>
              <a:rPr lang="en-US" dirty="0"/>
              <a:t> until graduation from high school.</a:t>
            </a:r>
          </a:p>
          <a:p>
            <a:r>
              <a:rPr lang="en-US" dirty="0" smtClean="0"/>
              <a:t>Response </a:t>
            </a:r>
            <a:r>
              <a:rPr lang="en-US" dirty="0"/>
              <a:t>variable: Volume of air exhaled in the ﬁrst second of spirometry </a:t>
            </a:r>
            <a:r>
              <a:rPr lang="en-US" dirty="0" err="1"/>
              <a:t>manoeuvre</a:t>
            </a:r>
            <a:r>
              <a:rPr lang="en-US" dirty="0"/>
              <a:t>, </a:t>
            </a:r>
            <a:r>
              <a:rPr lang="en-US" u="sng" dirty="0"/>
              <a:t>FEV1</a:t>
            </a:r>
            <a:r>
              <a:rPr lang="en-US" dirty="0" smtClean="0"/>
              <a:t>.</a:t>
            </a:r>
          </a:p>
          <a:p>
            <a:r>
              <a:rPr lang="en-US" dirty="0" smtClean="0"/>
              <a:t>Due to late entry or loss-to-follow-up, number of measurements varied from 1 to 12.</a:t>
            </a:r>
            <a:endParaRPr lang="en-US" dirty="0"/>
          </a:p>
          <a:p>
            <a:endParaRPr lang="en-US" dirty="0" smtClean="0"/>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5 / 33</a:t>
            </a:r>
          </a:p>
        </p:txBody>
      </p:sp>
    </p:spTree>
    <p:extLst>
      <p:ext uri="{BB962C8B-B14F-4D97-AF65-F5344CB8AC3E}">
        <p14:creationId xmlns:p14="http://schemas.microsoft.com/office/powerpoint/2010/main" val="35647238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Reason for Missingness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a:bodyPr>
          <a:lstStyle/>
          <a:p>
            <a:r>
              <a:rPr lang="en-US" dirty="0" smtClean="0"/>
              <a:t>The main reason for late entry or drop-out is moving in and out of a school district.</a:t>
            </a:r>
          </a:p>
          <a:p>
            <a:r>
              <a:rPr lang="en-US" dirty="0" smtClean="0"/>
              <a:t>If a child changed the school district because of employment relocation of the parents, then missing measurement can be thought of as unrelated to the child’s lung function.</a:t>
            </a:r>
          </a:p>
          <a:p>
            <a:r>
              <a:rPr lang="en-US" dirty="0" smtClean="0"/>
              <a:t>If a child moved out because of deteriorating respiratory health (possibly due to poor air quality of the district), then missingness is related to the response, i.e., lung function, and the available data are a </a:t>
            </a:r>
            <a:r>
              <a:rPr lang="en-US" u="sng" dirty="0" smtClean="0"/>
              <a:t>biased sample</a:t>
            </a:r>
            <a:r>
              <a:rPr lang="en-US" dirty="0" smtClean="0"/>
              <a:t> of the underlying population.</a:t>
            </a:r>
          </a:p>
          <a:p>
            <a:endParaRPr lang="en-US" dirty="0" smtClean="0"/>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6 / 33</a:t>
            </a:r>
          </a:p>
        </p:txBody>
      </p:sp>
    </p:spTree>
    <p:extLst>
      <p:ext uri="{BB962C8B-B14F-4D97-AF65-F5344CB8AC3E}">
        <p14:creationId xmlns:p14="http://schemas.microsoft.com/office/powerpoint/2010/main" val="10214691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in Longitudinal Studies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a:bodyPr>
          <a:lstStyle/>
          <a:p>
            <a:r>
              <a:rPr lang="en-US" dirty="0" smtClean="0"/>
              <a:t>Therefore, </a:t>
            </a:r>
            <a:r>
              <a:rPr lang="en-US" dirty="0"/>
              <a:t>the reasons for missing data, often referred to as </a:t>
            </a:r>
            <a:r>
              <a:rPr lang="en-US" u="sng" dirty="0"/>
              <a:t>missing data </a:t>
            </a:r>
            <a:r>
              <a:rPr lang="en-US" u="sng" dirty="0" smtClean="0"/>
              <a:t>mechanism</a:t>
            </a:r>
            <a:r>
              <a:rPr lang="en-US" dirty="0" smtClean="0"/>
              <a:t>, </a:t>
            </a:r>
            <a:r>
              <a:rPr lang="en-US" dirty="0"/>
              <a:t>must be carefully examined</a:t>
            </a:r>
            <a:r>
              <a:rPr lang="en-US" dirty="0" smtClean="0"/>
              <a:t>.</a:t>
            </a:r>
          </a:p>
          <a:p>
            <a:r>
              <a:rPr lang="en-US" dirty="0" smtClean="0"/>
              <a:t>Missing data mechanism:</a:t>
            </a:r>
          </a:p>
          <a:p>
            <a:pPr marL="971550" lvl="1" indent="-514350">
              <a:buFont typeface="+mj-lt"/>
              <a:buAutoNum type="arabicPeriod"/>
            </a:pPr>
            <a:r>
              <a:rPr lang="en-US" u="sng" dirty="0" smtClean="0"/>
              <a:t>Missing Completely at Random</a:t>
            </a:r>
            <a:r>
              <a:rPr lang="en-US" dirty="0" smtClean="0"/>
              <a:t> (MCAR): missingness does not depend on observed or unobserved responses (a flip of a coin);</a:t>
            </a:r>
          </a:p>
          <a:p>
            <a:pPr marL="971550" lvl="1" indent="-514350">
              <a:buFont typeface="+mj-lt"/>
              <a:buAutoNum type="arabicPeriod"/>
            </a:pPr>
            <a:r>
              <a:rPr lang="en-US" u="sng" dirty="0" smtClean="0"/>
              <a:t>Missing at Random</a:t>
            </a:r>
            <a:r>
              <a:rPr lang="en-US" dirty="0" smtClean="0"/>
              <a:t> (MAR): missingness depends on observed responses but not unobserved ones;</a:t>
            </a:r>
          </a:p>
          <a:p>
            <a:pPr marL="971550" lvl="1" indent="-514350">
              <a:buFont typeface="+mj-lt"/>
              <a:buAutoNum type="arabicPeriod"/>
            </a:pPr>
            <a:r>
              <a:rPr lang="en-US" u="sng" dirty="0" smtClean="0"/>
              <a:t>Not Missing at Random</a:t>
            </a:r>
            <a:r>
              <a:rPr lang="en-US" dirty="0" smtClean="0"/>
              <a:t> (NMAR): missingness depends on unobserved responses.</a:t>
            </a:r>
          </a:p>
          <a:p>
            <a:r>
              <a:rPr lang="en-US" dirty="0" smtClean="0"/>
              <a:t>Severity: MCAR&lt;MAR&lt;NMAR</a:t>
            </a:r>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7 / 33</a:t>
            </a:r>
          </a:p>
        </p:txBody>
      </p:sp>
    </p:spTree>
    <p:extLst>
      <p:ext uri="{BB962C8B-B14F-4D97-AF65-F5344CB8AC3E}">
        <p14:creationId xmlns:p14="http://schemas.microsoft.com/office/powerpoint/2010/main" val="24248729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in Longitudinal Studies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a:bodyPr>
          <a:lstStyle/>
          <a:p>
            <a:r>
              <a:rPr lang="en-US" dirty="0"/>
              <a:t>Usually the missingness mechanism is not under the controlled of the investigator and is not understood with certainty.</a:t>
            </a:r>
          </a:p>
          <a:p>
            <a:r>
              <a:rPr lang="en-US" dirty="0"/>
              <a:t>Instead, </a:t>
            </a:r>
            <a:r>
              <a:rPr lang="en-US" u="sng" dirty="0"/>
              <a:t>assumptions</a:t>
            </a:r>
            <a:r>
              <a:rPr lang="en-US" dirty="0"/>
              <a:t> are made about the missing data mechanism.</a:t>
            </a:r>
          </a:p>
          <a:p>
            <a:r>
              <a:rPr lang="en-US" u="sng" dirty="0" smtClean="0"/>
              <a:t>Assumptions</a:t>
            </a:r>
            <a:r>
              <a:rPr lang="en-US" dirty="0" smtClean="0"/>
              <a:t> on missing data mechanism are derived from substantive knowledge (cf. the Six-Cities Study).</a:t>
            </a:r>
          </a:p>
          <a:p>
            <a:r>
              <a:rPr lang="en-US" dirty="0" smtClean="0"/>
              <a:t>When reporting analysis results based on data with missingness, we should state explicitly the assumption made on the missing data mechanism.</a:t>
            </a:r>
            <a:endParaRPr lang="en-US" dirty="0"/>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8 / 33</a:t>
            </a:r>
          </a:p>
        </p:txBody>
      </p:sp>
    </p:spTree>
    <p:extLst>
      <p:ext uri="{BB962C8B-B14F-4D97-AF65-F5344CB8AC3E}">
        <p14:creationId xmlns:p14="http://schemas.microsoft.com/office/powerpoint/2010/main" val="35591019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Mechanisms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US" dirty="0" smtClean="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sub>
                    </m:sSub>
                    <m:r>
                      <a:rPr lang="en-US" b="0" i="1" smtClean="0">
                        <a:latin typeface="Cambria Math" panose="02040503050406030204" pitchFamily="18" charset="0"/>
                      </a:rPr>
                      <m:t>)′</m:t>
                    </m:r>
                  </m:oMath>
                </a14:m>
                <a:r>
                  <a:rPr lang="en-US" dirty="0" smtClean="0"/>
                  <a:t> be the response vector, </a:t>
                </a: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b="0" i="1" smtClean="0">
                            <a:latin typeface="Cambria Math" panose="02040503050406030204" pitchFamily="18" charset="0"/>
                          </a:rPr>
                          <m:t>𝑂</m:t>
                        </m:r>
                      </m:sup>
                    </m:sSubSup>
                  </m:oMath>
                </a14:m>
                <a:r>
                  <a:rPr lang="en-US" dirty="0" smtClean="0"/>
                  <a:t>the always observed part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r>
                  <a:rPr lang="en-US" dirty="0" smtClean="0"/>
                  <a:t>, and </a:t>
                </a: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b="0" i="1" smtClean="0">
                            <a:latin typeface="Cambria Math" panose="02040503050406030204" pitchFamily="18" charset="0"/>
                          </a:rPr>
                          <m:t>𝑀</m:t>
                        </m:r>
                      </m:sup>
                    </m:sSubSup>
                  </m:oMath>
                </a14:m>
                <a:r>
                  <a:rPr lang="en-US" dirty="0" smtClean="0"/>
                  <a:t> the possibly missing part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r>
                  <a:rPr lang="en-US" dirty="0" smtClean="0"/>
                  <a:t> (missing on some subjects but observed on others).</a:t>
                </a:r>
              </a:p>
              <a:p>
                <a:r>
                  <a:rPr lang="en-US" dirty="0" smtClean="0"/>
                  <a:t>Let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𝑖</m:t>
                        </m:r>
                        <m:r>
                          <a:rPr lang="en-US" b="0" i="1" smtClean="0">
                            <a:latin typeface="Cambria Math" panose="02040503050406030204" pitchFamily="18" charset="0"/>
                          </a:rPr>
                          <m:t>𝑗</m:t>
                        </m:r>
                      </m:sub>
                    </m:sSub>
                    <m:r>
                      <a:rPr lang="en-US" b="0" i="0" smtClean="0">
                        <a:latin typeface="Cambria Math" panose="02040503050406030204" pitchFamily="18" charset="0"/>
                      </a:rPr>
                      <m:t>=1</m:t>
                    </m:r>
                  </m:oMath>
                </a14:m>
                <a:r>
                  <a:rPr lang="en-US" dirty="0" smtClean="0"/>
                  <a: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𝑗</m:t>
                        </m:r>
                      </m:sub>
                    </m:sSub>
                  </m:oMath>
                </a14:m>
                <a:r>
                  <a:rPr lang="en-US" dirty="0" smtClean="0"/>
                  <a:t> is observed and </a:t>
                </a:r>
                <a14:m>
                  <m:oMath xmlns:m="http://schemas.openxmlformats.org/officeDocument/2006/math">
                    <m:r>
                      <a:rPr lang="en-US">
                        <a:latin typeface="Cambria Math" panose="02040503050406030204" pitchFamily="18" charset="0"/>
                      </a:rPr>
                      <m:t>=</m:t>
                    </m:r>
                    <m:r>
                      <a:rPr lang="en-US" b="0" i="0" smtClean="0">
                        <a:latin typeface="Cambria Math" panose="02040503050406030204" pitchFamily="18" charset="0"/>
                      </a:rPr>
                      <m:t>0</m:t>
                    </m:r>
                  </m:oMath>
                </a14:m>
                <a:r>
                  <a:rPr lang="en-US" dirty="0" smtClean="0"/>
                  <a: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𝑗</m:t>
                        </m:r>
                      </m:sub>
                    </m:sSub>
                  </m:oMath>
                </a14:m>
                <a:r>
                  <a:rPr lang="en-US" dirty="0"/>
                  <a:t> is </a:t>
                </a:r>
                <a:r>
                  <a:rPr lang="en-US" dirty="0" smtClean="0"/>
                  <a:t>missing.</a:t>
                </a:r>
              </a:p>
              <a:p>
                <a:r>
                  <a:rPr lang="en-US" dirty="0" smtClean="0"/>
                  <a:t>Write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i="1">
                                    <a:latin typeface="Cambria Math" panose="02040503050406030204" pitchFamily="18" charset="0"/>
                                  </a:rPr>
                                  <m:t>𝑖</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sub>
                            </m:sSub>
                          </m:e>
                        </m:d>
                      </m:e>
                      <m:sup>
                        <m:r>
                          <a:rPr lang="en-US" i="1">
                            <a:latin typeface="Cambria Math" panose="02040503050406030204" pitchFamily="18" charset="0"/>
                          </a:rPr>
                          <m:t>′</m:t>
                        </m:r>
                      </m:sup>
                    </m:sSup>
                  </m:oMath>
                </a14:m>
                <a:r>
                  <a:rPr lang="en-US" dirty="0" smtClean="0"/>
                  <a:t>.</a:t>
                </a:r>
              </a:p>
              <a:p>
                <a:r>
                  <a:rPr lang="en-US" dirty="0" smtClean="0"/>
                  <a:t>The data are </a:t>
                </a:r>
                <a:r>
                  <a:rPr lang="en-US" u="sng" dirty="0" smtClean="0"/>
                  <a:t>MCAR</a:t>
                </a:r>
                <a:r>
                  <a:rPr lang="en-US" dirty="0" smtClean="0"/>
                  <a:t> if </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sep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𝐶𝑜𝑛𝑠𝑡𝑎𝑛𝑡</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dirty="0" smtClean="0"/>
              </a:p>
              <a:p>
                <a:r>
                  <a:rPr lang="en-US" dirty="0" smtClean="0"/>
                  <a:t>That is, the reason some parts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r>
                  <a:rPr lang="en-US" dirty="0" smtClean="0"/>
                  <a:t> are observed and others are missing has nothing to do with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r>
                  <a:rPr lang="en-US" dirty="0" smtClean="0"/>
                  <a:t> itself (e.g., child moving out of district due to parent employment re-location in the six-cities study).</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661" r="-1739" b="-1541"/>
                </a:stretch>
              </a:blipFill>
            </p:spPr>
            <p:txBody>
              <a:bodyPr/>
              <a:lstStyle/>
              <a:p>
                <a:r>
                  <a:rPr lang="en-US">
                    <a:noFill/>
                  </a:rPr>
                  <a:t/>
                </a:r>
              </a:p>
            </p:txBody>
          </p:sp>
        </mc:Fallback>
      </mc:AlternateContent>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9 / 33</a:t>
            </a:r>
          </a:p>
        </p:txBody>
      </p:sp>
    </p:spTree>
    <p:extLst>
      <p:ext uri="{BB962C8B-B14F-4D97-AF65-F5344CB8AC3E}">
        <p14:creationId xmlns:p14="http://schemas.microsoft.com/office/powerpoint/2010/main" val="12004114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Mechanisms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smtClean="0"/>
                  <a:t>The data are </a:t>
                </a:r>
                <a:r>
                  <a:rPr lang="en-US" u="sng" dirty="0" smtClean="0"/>
                  <a:t>MAR</a:t>
                </a:r>
                <a:r>
                  <a:rPr lang="en-US" dirty="0" smtClean="0"/>
                  <a:t> if</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=1</m:t>
                              </m:r>
                            </m:e>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d>
                        </m:e>
                      </m:func>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=1</m:t>
                              </m:r>
                            </m:e>
                            <m:e>
                              <m:sSubSup>
                                <m:sSubSupPr>
                                  <m:ctrlPr>
                                    <a:rPr lang="en-US" b="0" i="1" smtClean="0">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b="0" i="1" smtClean="0">
                                      <a:latin typeface="Cambria Math" panose="02040503050406030204" pitchFamily="18" charset="0"/>
                                    </a:rPr>
                                    <m:t>𝑜</m:t>
                                  </m:r>
                                </m:sup>
                              </m:sSubSup>
                            </m:e>
                          </m:d>
                        </m:e>
                      </m:func>
                      <m:r>
                        <a:rPr lang="en-US" i="1">
                          <a:latin typeface="Cambria Math" panose="02040503050406030204" pitchFamily="18" charset="0"/>
                        </a:rPr>
                        <m:t>.</m:t>
                      </m:r>
                    </m:oMath>
                  </m:oMathPara>
                </a14:m>
                <a:endParaRPr lang="en-US" dirty="0"/>
              </a:p>
              <a:p>
                <a:r>
                  <a:rPr lang="en-US" dirty="0" smtClean="0"/>
                  <a:t>That is, missingness depends 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r>
                  <a:rPr lang="en-US" dirty="0" smtClean="0"/>
                  <a:t> only through the observed data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oMath>
                </a14:m>
                <a:r>
                  <a:rPr lang="en-US" dirty="0" smtClean="0"/>
                  <a:t>.</a:t>
                </a:r>
              </a:p>
              <a:p>
                <a:r>
                  <a:rPr lang="en-US" u="sng" dirty="0" smtClean="0"/>
                  <a:t>Example of MAR</a:t>
                </a:r>
                <a:r>
                  <a:rPr lang="en-US" dirty="0" smtClean="0"/>
                  <a:t>: say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𝑛</m:t>
                        </m:r>
                      </m:e>
                      <m:sub>
                        <m:r>
                          <a:rPr lang="en-US" i="1">
                            <a:latin typeface="Cambria Math" panose="02040503050406030204" pitchFamily="18" charset="0"/>
                          </a:rPr>
                          <m:t>𝑖</m:t>
                        </m:r>
                      </m:sub>
                    </m:sSub>
                    <m:r>
                      <a:rPr lang="en-US" b="0" i="1" smtClean="0">
                        <a:latin typeface="Cambria Math" panose="02040503050406030204" pitchFamily="18" charset="0"/>
                      </a:rPr>
                      <m:t>=3</m:t>
                    </m:r>
                  </m:oMath>
                </a14:m>
                <a:r>
                  <a:rPr lang="en-US" dirty="0" smtClean="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smtClean="0"/>
                  <a:t> is observed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3</m:t>
                        </m:r>
                      </m:sub>
                    </m:sSub>
                  </m:oMath>
                </a14:m>
                <a:r>
                  <a:rPr lang="en-US" dirty="0" smtClean="0"/>
                  <a:t> is missing. Suppose that missingness is more likely if the health outcome, as measured in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𝑖</m:t>
                        </m:r>
                      </m:sub>
                    </m:sSub>
                  </m:oMath>
                </a14:m>
                <a:r>
                  <a:rPr lang="en-US" dirty="0" smtClean="0"/>
                  <a:t>, is poor (and so is not “completely at random”). </a:t>
                </a:r>
              </a:p>
              <a:p>
                <a:r>
                  <a:rPr lang="en-US" dirty="0" smtClean="0"/>
                  <a:t>The data are MAR if</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r>
                                    <a:rPr lang="en-US" b="0" i="1" smtClean="0">
                                      <a:latin typeface="Cambria Math" panose="02040503050406030204" pitchFamily="18" charset="0"/>
                                    </a:rPr>
                                    <m:t>3</m:t>
                                  </m:r>
                                </m:sub>
                              </m:sSub>
                              <m:r>
                                <a:rPr lang="en-US" i="1">
                                  <a:latin typeface="Cambria Math" panose="02040503050406030204" pitchFamily="18" charset="0"/>
                                </a:rPr>
                                <m:t>=1</m:t>
                              </m:r>
                            </m:e>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d>
                        </m:e>
                      </m:func>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r>
                                    <a:rPr lang="en-US" b="0" i="1" smtClean="0">
                                      <a:latin typeface="Cambria Math" panose="02040503050406030204" pitchFamily="18" charset="0"/>
                                    </a:rPr>
                                    <m:t>3</m:t>
                                  </m:r>
                                </m:sub>
                              </m:sSub>
                              <m:r>
                                <a:rPr lang="en-US" i="1">
                                  <a:latin typeface="Cambria Math" panose="02040503050406030204" pitchFamily="18" charset="0"/>
                                </a:rPr>
                                <m:t>=1</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r>
                                    <a:rPr lang="en-US" b="0" i="1" smtClean="0">
                                      <a:latin typeface="Cambria Math" panose="02040503050406030204" pitchFamily="18" charset="0"/>
                                    </a:rPr>
                                    <m:t>2</m:t>
                                  </m:r>
                                </m:sub>
                              </m:sSub>
                            </m:e>
                          </m:d>
                        </m:e>
                      </m:func>
                    </m:oMath>
                  </m:oMathPara>
                </a14:m>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870"/>
                </a:stretch>
              </a:blipFill>
            </p:spPr>
            <p:txBody>
              <a:bodyPr/>
              <a:lstStyle/>
              <a:p>
                <a:r>
                  <a:rPr lang="en-US">
                    <a:noFill/>
                  </a:rPr>
                  <a:t/>
                </a:r>
              </a:p>
            </p:txBody>
          </p:sp>
        </mc:Fallback>
      </mc:AlternateContent>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10 / 33</a:t>
            </a:r>
          </a:p>
        </p:txBody>
      </p:sp>
    </p:spTree>
    <p:extLst>
      <p:ext uri="{BB962C8B-B14F-4D97-AF65-F5344CB8AC3E}">
        <p14:creationId xmlns:p14="http://schemas.microsoft.com/office/powerpoint/2010/main" val="4070528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Mechanisms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US" dirty="0" smtClean="0"/>
                  <a:t>That is, knowing the values of the (observed) responses at the first two occasions is enough to predict the probability of the third being missing.</a:t>
                </a:r>
              </a:p>
              <a:p>
                <a:r>
                  <a:rPr lang="en-US" dirty="0" smtClean="0"/>
                  <a:t>The dependence of missingness on the response is fully captured in the observed part of the response.</a:t>
                </a:r>
              </a:p>
              <a:p>
                <a:r>
                  <a:rPr lang="en-US" dirty="0" smtClean="0"/>
                  <a:t>For instance</a:t>
                </a:r>
                <a:r>
                  <a:rPr lang="en-US" smtClean="0"/>
                  <a:t>, missingness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3</m:t>
                        </m:r>
                      </m:sub>
                    </m:sSub>
                  </m:oMath>
                </a14:m>
                <a:r>
                  <a:rPr lang="en-US" dirty="0" smtClean="0"/>
                  <a:t> may be more likely for smaller values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m:t>
                    </m:r>
                  </m:oMath>
                </a14:m>
                <a:r>
                  <a:rPr lang="en-US" dirty="0"/>
                  <a:t/>
                </a:r>
                <a:r>
                  <a:rPr lang="en-US" dirty="0" smtClean="0"/>
                  <a:t>, but is </a:t>
                </a:r>
                <a:r>
                  <a:rPr lang="en-US" u="sng" dirty="0" smtClean="0"/>
                  <a:t>otherwise random</a:t>
                </a:r>
                <a:r>
                  <a:rPr lang="en-US" dirty="0" smtClean="0"/>
                  <a:t> (i.e., does not depend on the observed true value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3</m:t>
                        </m:r>
                      </m:sub>
                    </m:sSub>
                  </m:oMath>
                </a14:m>
                <a:r>
                  <a:rPr lang="en-US" dirty="0" smtClean="0"/>
                  <a:t>).</a:t>
                </a:r>
              </a:p>
              <a:p>
                <a:r>
                  <a:rPr lang="en-US" dirty="0" smtClean="0"/>
                  <a:t>In case of MAR, fixing </a:t>
                </a:r>
                <a:r>
                  <a:rPr lang="en-US" dirty="0"/>
                  <a:t>the values </a:t>
                </a:r>
                <a:r>
                  <a:rPr lang="en-US" dirty="0" smtClean="0"/>
                  <a:t>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m:t>
                    </m:r>
                  </m:oMath>
                </a14:m>
                <a:r>
                  <a:rPr lang="en-US" dirty="0" smtClean="0"/>
                  <a:t>, if </a:t>
                </a:r>
                <a:r>
                  <a:rPr lang="en-US" dirty="0"/>
                  <a:t>we compare the distributions of </a:t>
                </a:r>
                <a:r>
                  <a:rPr lang="en-US" dirty="0" smtClean="0"/>
                  <a:t>observed and unobserved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3</m:t>
                        </m:r>
                      </m:sub>
                    </m:sSub>
                  </m:oMath>
                </a14:m>
                <a:r>
                  <a:rPr lang="en-US" dirty="0" smtClean="0"/>
                  <a:t>, they should be </a:t>
                </a:r>
                <a:r>
                  <a:rPr lang="en-US" u="sng" dirty="0" smtClean="0"/>
                  <a:t>identical</a:t>
                </a:r>
                <a:r>
                  <a:rPr lang="en-US" dirty="0" smtClean="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r="-290" b="-1401"/>
                </a:stretch>
              </a:blipFill>
            </p:spPr>
            <p:txBody>
              <a:bodyPr/>
              <a:lstStyle/>
              <a:p>
                <a:r>
                  <a:rPr lang="en-US">
                    <a:noFill/>
                  </a:rPr>
                  <a:t/>
                </a:r>
              </a:p>
            </p:txBody>
          </p:sp>
        </mc:Fallback>
      </mc:AlternateContent>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11 / 33</a:t>
            </a:r>
          </a:p>
        </p:txBody>
      </p:sp>
    </p:spTree>
    <p:extLst>
      <p:ext uri="{BB962C8B-B14F-4D97-AF65-F5344CB8AC3E}">
        <p14:creationId xmlns:p14="http://schemas.microsoft.com/office/powerpoint/2010/main" val="3022462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Missing Data Mechanisms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smtClean="0"/>
                  <a:t>Clearly, the MAR assumption is a </a:t>
                </a:r>
                <a:r>
                  <a:rPr lang="en-US" u="sng" dirty="0" smtClean="0"/>
                  <a:t>much relaxed</a:t>
                </a:r>
                <a:r>
                  <a:rPr lang="en-US" dirty="0" smtClean="0"/>
                  <a:t> assumption compared to MCAR.</a:t>
                </a:r>
                <a:endParaRPr lang="en-US" dirty="0" smtClean="0"/>
              </a:p>
              <a:p>
                <a:r>
                  <a:rPr lang="en-US" dirty="0" smtClean="0"/>
                  <a:t>The data are </a:t>
                </a:r>
                <a:r>
                  <a:rPr lang="en-US" u="sng" dirty="0" smtClean="0"/>
                  <a:t>NMAR</a:t>
                </a:r>
                <a:r>
                  <a:rPr lang="en-US" dirty="0" smtClean="0"/>
                  <a:t> if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=1</m:t>
                            </m:r>
                          </m:e>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d>
                      </m:e>
                    </m:func>
                  </m:oMath>
                </a14:m>
                <a:r>
                  <a:rPr lang="en-US" dirty="0" smtClean="0"/>
                  <a:t> depends on both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oMath>
                </a14:m>
                <a:r>
                  <a:rPr lang="en-US" dirty="0" smtClean="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b="0" i="1" smtClean="0">
                            <a:latin typeface="Cambria Math" panose="02040503050406030204" pitchFamily="18" charset="0"/>
                          </a:rPr>
                          <m:t>𝑀</m:t>
                        </m:r>
                      </m:sup>
                    </m:sSubSup>
                  </m:oMath>
                </a14:m>
                <a:r>
                  <a:rPr lang="en-US" dirty="0" smtClean="0"/>
                  <a:t>. That is, information in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oMath>
                </a14:m>
                <a:r>
                  <a:rPr lang="en-US" dirty="0" smtClean="0"/>
                  <a:t> is not enough to explain why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oMath>
                </a14:m>
                <a:r>
                  <a:rPr lang="en-US" dirty="0" smtClean="0"/>
                  <a:t> is missing.</a:t>
                </a:r>
              </a:p>
              <a:p>
                <a:r>
                  <a:rPr lang="en-US" dirty="0" smtClean="0"/>
                  <a:t>In the previous example, the data are </a:t>
                </a:r>
                <a:r>
                  <a:rPr lang="en-US" dirty="0" smtClean="0"/>
                  <a:t>NMAR if, even for fixed values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m:t>
                    </m:r>
                  </m:oMath>
                </a14:m>
                <a:r>
                  <a:rPr lang="en-US" dirty="0" smtClean="0"/>
                  <a:t>,</a:t>
                </a:r>
                <a:r>
                  <a:rPr lang="en-US" dirty="0"/>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3</m:t>
                        </m:r>
                      </m:sub>
                    </m:sSub>
                  </m:oMath>
                </a14:m>
                <a:r>
                  <a:rPr lang="en-US" dirty="0" smtClean="0"/>
                  <a:t> is more likely to be missing if it is smaller. </a:t>
                </a:r>
              </a:p>
              <a:p>
                <a:r>
                  <a:rPr lang="en-US" dirty="0"/>
                  <a:t>In </a:t>
                </a:r>
                <a:r>
                  <a:rPr lang="en-US" dirty="0" smtClean="0"/>
                  <a:t>that case, </a:t>
                </a:r>
                <a:r>
                  <a:rPr lang="en-US" dirty="0"/>
                  <a:t>fixing </a:t>
                </a:r>
                <a:r>
                  <a:rPr lang="en-US" dirty="0"/>
                  <a:t>the values </a:t>
                </a:r>
                <a:r>
                  <a:rPr lang="en-US" dirty="0"/>
                  <a:t>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2</m:t>
                        </m:r>
                      </m:sub>
                    </m:sSub>
                    <m:r>
                      <a:rPr lang="en-US" i="1">
                        <a:latin typeface="Cambria Math" panose="02040503050406030204" pitchFamily="18" charset="0"/>
                      </a:rPr>
                      <m:t>)′</m:t>
                    </m:r>
                  </m:oMath>
                </a14:m>
                <a:r>
                  <a:rPr lang="en-US" dirty="0"/>
                  <a:t>, if </a:t>
                </a:r>
                <a:r>
                  <a:rPr lang="en-US" dirty="0"/>
                  <a:t>we compare the distributions of </a:t>
                </a:r>
                <a:r>
                  <a:rPr lang="en-US" dirty="0"/>
                  <a:t>observed and unobserved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3</m:t>
                        </m:r>
                      </m:sub>
                    </m:sSub>
                  </m:oMath>
                </a14:m>
                <a:r>
                  <a:rPr lang="en-US" dirty="0"/>
                  <a:t>, </a:t>
                </a:r>
                <a:r>
                  <a:rPr lang="en-US" dirty="0" smtClean="0"/>
                  <a:t>they are </a:t>
                </a:r>
                <a:r>
                  <a:rPr lang="en-US" u="sng" dirty="0" smtClean="0"/>
                  <a:t>not identical </a:t>
                </a:r>
                <a:r>
                  <a:rPr lang="en-US" dirty="0" smtClean="0"/>
                  <a:t>(with the former tending to be larger than the latter).</a:t>
                </a:r>
                <a:endParaRPr lang="en-US" dirty="0"/>
              </a:p>
              <a:p>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275"/>
                </a:stretch>
              </a:blipFill>
            </p:spPr>
            <p:txBody>
              <a:bodyPr/>
              <a:lstStyle/>
              <a:p>
                <a:r>
                  <a:rPr lang="en-US">
                    <a:noFill/>
                  </a:rPr>
                  <a:t/>
                </a:r>
              </a:p>
            </p:txBody>
          </p:sp>
        </mc:Fallback>
      </mc:AlternateContent>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12 / 33</a:t>
            </a:r>
          </a:p>
        </p:txBody>
      </p:sp>
    </p:spTree>
    <p:extLst>
      <p:ext uri="{BB962C8B-B14F-4D97-AF65-F5344CB8AC3E}">
        <p14:creationId xmlns:p14="http://schemas.microsoft.com/office/powerpoint/2010/main" val="910922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z="3400" b="1">
                <a:solidFill>
                  <a:srgbClr val="0D5F62"/>
                </a:solidFill>
                <a:latin typeface="Calibri"/>
              </a:rPr>
              <a:t>Missing Data Mechanisms</a:t>
            </a:r>
            <a:endParaRPr lang="en-US" dirty="0" sz="3400" b="1">
              <a:solidFill>
                <a:srgbClr val="0D5F62"/>
              </a:solidFill>
              <a:latin typeface="Calibri"/>
            </a:endParaRPr>
          </a:p>
        </p:txBody>
      </p:sp>
      <p:sp>
        <p:nvSpPr>
          <p:cNvPr id="3" name="Content Placeholder 2"/>
          <p:cNvSpPr>
            <a:spLocks noGrp="1"/>
          </p:cNvSpPr>
          <p:nvPr>
            <p:ph idx="1"/>
          </p:nvPr>
        </p:nvSpPr>
        <p:spPr/>
        <p:txBody>
          <a:bodyPr>
            <a:normAutofit lnSpcReduction="10000"/>
          </a:bodyPr>
          <a:lstStyle/>
          <a:p>
            <a:r>
              <a:rPr lang="en-US" dirty="0" smtClean="0"/>
              <a:t>There are specialized statistical techniques for MCAR and MAR data to adjust for missing data.</a:t>
            </a:r>
          </a:p>
          <a:p>
            <a:r>
              <a:rPr lang="en-US" dirty="0" smtClean="0"/>
              <a:t>Analysis of NMAR data generally lead to biased inference.</a:t>
            </a:r>
          </a:p>
          <a:p>
            <a:r>
              <a:rPr lang="en-US" dirty="0" smtClean="0"/>
              <a:t>What is worse, whether the data are MAR or NMAR cannot be identified from the (observed) data.</a:t>
            </a:r>
          </a:p>
          <a:p>
            <a:r>
              <a:rPr lang="en-US" dirty="0" smtClean="0"/>
              <a:t>So, the assumption of MAR needs to be made and justified on </a:t>
            </a:r>
            <a:r>
              <a:rPr lang="en-US" u="sng" dirty="0" smtClean="0"/>
              <a:t>substantive grounds</a:t>
            </a:r>
            <a:r>
              <a:rPr lang="en-US" dirty="0" smtClean="0"/>
              <a:t>.</a:t>
            </a:r>
          </a:p>
          <a:p>
            <a:r>
              <a:rPr lang="en-US" dirty="0" smtClean="0"/>
              <a:t>For valid inference, one should try to collect all variables believed to be associated with any possible missingness, so that the data are MAR if missingness occur.</a:t>
            </a:r>
          </a:p>
          <a:p>
            <a:endParaRPr lang="en-US" dirty="0" smtClean="0"/>
          </a:p>
        </p:txBody>
      </p:sp>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13 / 33</a:t>
            </a:r>
          </a:p>
        </p:txBody>
      </p:sp>
    </p:spTree>
    <p:extLst>
      <p:ext uri="{BB962C8B-B14F-4D97-AF65-F5344CB8AC3E}">
        <p14:creationId xmlns:p14="http://schemas.microsoft.com/office/powerpoint/2010/main" val="16484265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Methods for Missing Data</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smtClean="0"/>
                  <a:t>In this course, we focus on MAR (and thus MCAR as a special case).</a:t>
                </a:r>
              </a:p>
              <a:p>
                <a:r>
                  <a:rPr lang="en-US" dirty="0" smtClean="0"/>
                  <a:t>Based on the assumptions on the missingness mechanism, different methods are available to obtain </a:t>
                </a:r>
                <a:r>
                  <a:rPr lang="en-US" u="sng" dirty="0" smtClean="0"/>
                  <a:t>valid inference</a:t>
                </a:r>
                <a:r>
                  <a:rPr lang="en-US" dirty="0" smtClean="0"/>
                  <a:t>.</a:t>
                </a:r>
              </a:p>
              <a:p>
                <a:r>
                  <a:rPr lang="en-US" dirty="0" smtClean="0"/>
                  <a:t>If the data are MCAR:</a:t>
                </a:r>
              </a:p>
              <a:p>
                <a:pPr marL="971550" lvl="1" indent="-514350">
                  <a:buFont typeface="+mj-lt"/>
                  <a:buAutoNum type="arabicPeriod"/>
                </a:pPr>
                <a:r>
                  <a:rPr lang="en-US" dirty="0" smtClean="0"/>
                  <a:t>Complete-case (CC) analysis: Analyze the cohort with completely observed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endParaRPr lang="en-US" dirty="0" smtClean="0"/>
              </a:p>
              <a:p>
                <a:pPr marL="971550" lvl="1" indent="-514350">
                  <a:buFont typeface="+mj-lt"/>
                  <a:buAutoNum type="arabicPeriod"/>
                </a:pPr>
                <a:r>
                  <a:rPr lang="en-US" dirty="0" smtClean="0"/>
                  <a:t>Available-data analysis: Analyze all measurements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b="0" i="1" smtClean="0">
                            <a:latin typeface="Cambria Math" panose="02040503050406030204" pitchFamily="18" charset="0"/>
                          </a:rPr>
                          <m:t>𝑗</m:t>
                        </m:r>
                      </m:sub>
                    </m:sSub>
                  </m:oMath>
                </a14:m>
                <a:r>
                  <a:rPr lang="en-US" dirty="0" smtClean="0"/>
                  <a:t> as observed (more efficient than CC analysis).</a:t>
                </a:r>
              </a:p>
              <a:p>
                <a:r>
                  <a:rPr lang="en-US" dirty="0" smtClean="0"/>
                  <a:t>Note that if the data are MAR but not MCAR, both complete-case and available-data analyses lead to </a:t>
                </a:r>
                <a:r>
                  <a:rPr lang="en-US" u="sng" dirty="0" smtClean="0"/>
                  <a:t>biased</a:t>
                </a:r>
                <a:r>
                  <a:rPr lang="en-US" dirty="0" smtClean="0"/>
                  <a:t> results.</a:t>
                </a:r>
              </a:p>
              <a:p>
                <a:endParaRPr lang="en-US" dirty="0" smtClean="0"/>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1043" t="-2241" r="-1391" b="-1541"/>
                </a:stretch>
              </a:blipFill>
            </p:spPr>
            <p:txBody>
              <a:bodyPr/>
              <a:lstStyle/>
              <a:p>
                <a:r>
                  <a:rPr lang="en-US">
                    <a:noFill/>
                  </a:rPr>
                  <a:t/>
                </a:r>
              </a:p>
            </p:txBody>
          </p:sp>
        </mc:Fallback>
      </mc:AlternateContent>
      <p:sp>
        <p:nvSpPr>
          <p:cNvPr id="6"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7"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14 / 33</a:t>
            </a:r>
          </a:p>
        </p:txBody>
      </p:sp>
    </p:spTree>
    <p:extLst>
      <p:ext uri="{BB962C8B-B14F-4D97-AF65-F5344CB8AC3E}">
        <p14:creationId xmlns:p14="http://schemas.microsoft.com/office/powerpoint/2010/main" val="16498400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Methods for Missing Data</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smtClean="0"/>
                  <a:t>If the data are MAR, adjustment is needed to account for the reason for missing data:</a:t>
                </a:r>
              </a:p>
              <a:p>
                <a:pPr marL="971550" lvl="1" indent="-514350">
                  <a:buFont typeface="+mj-lt"/>
                  <a:buAutoNum type="arabicPeriod"/>
                </a:pPr>
                <a:r>
                  <a:rPr lang="en-US" u="sng" dirty="0" smtClean="0"/>
                  <a:t>Maximum likelihood estimation (MLE)</a:t>
                </a:r>
                <a:r>
                  <a:rPr lang="en-US" dirty="0" smtClean="0"/>
                  <a:t>: use the observed-data likelihood;</a:t>
                </a:r>
                <a:endParaRPr lang="en-US" dirty="0"/>
              </a:p>
              <a:p>
                <a:pPr marL="971550" lvl="1" indent="-514350">
                  <a:buFont typeface="+mj-lt"/>
                  <a:buAutoNum type="arabicPeriod"/>
                </a:pPr>
                <a:r>
                  <a:rPr lang="en-US" u="sng" dirty="0" smtClean="0"/>
                  <a:t>Multiple imputations (MI)</a:t>
                </a:r>
                <a:r>
                  <a:rPr lang="en-US" dirty="0" smtClean="0"/>
                  <a:t>: build a model for </a:t>
                </a:r>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𝑌</m:t>
                        </m:r>
                      </m:e>
                      <m:sub>
                        <m:r>
                          <a:rPr lang="en-US" b="0" i="1" smtClean="0">
                            <a:latin typeface="Cambria Math" panose="02040503050406030204" pitchFamily="18" charset="0"/>
                          </a:rPr>
                          <m:t>𝑖</m:t>
                        </m:r>
                      </m:sub>
                      <m:sup>
                        <m:r>
                          <a:rPr lang="en-US" b="0" i="1" smtClean="0">
                            <a:latin typeface="Cambria Math" panose="02040503050406030204" pitchFamily="18" charset="0"/>
                          </a:rPr>
                          <m:t>𝑀</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b="0" i="1" smtClean="0">
                            <a:latin typeface="Cambria Math" panose="02040503050406030204" pitchFamily="18" charset="0"/>
                          </a:rPr>
                          <m:t>𝑜</m:t>
                        </m:r>
                      </m:sup>
                    </m:sSubSup>
                    <m:r>
                      <a:rPr lang="en-US" b="0" i="1" smtClean="0">
                        <a:latin typeface="Cambria Math" panose="02040503050406030204" pitchFamily="18" charset="0"/>
                      </a:rPr>
                      <m:t>]</m:t>
                    </m:r>
                  </m:oMath>
                </a14:m>
                <a:r>
                  <a:rPr lang="en-US" dirty="0" smtClean="0"/>
                  <a:t> and “impute” the missing data based on observed ones;</a:t>
                </a:r>
              </a:p>
              <a:p>
                <a:pPr marL="971550" lvl="1" indent="-514350">
                  <a:buFont typeface="+mj-lt"/>
                  <a:buAutoNum type="arabicPeriod"/>
                </a:pPr>
                <a:r>
                  <a:rPr lang="en-US" u="sng" dirty="0" smtClean="0"/>
                  <a:t>Inverse probability weighting (IPW)</a:t>
                </a:r>
                <a:r>
                  <a:rPr lang="en-US" dirty="0" smtClean="0"/>
                  <a:t>: build a model for </a:t>
                </a:r>
                <a14:m>
                  <m:oMath xmlns:m="http://schemas.openxmlformats.org/officeDocument/2006/math">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r>
                      <a:rPr lang="en-US" i="1">
                        <a:latin typeface="Cambria Math" panose="02040503050406030204" pitchFamily="18" charset="0"/>
                      </a:rPr>
                      <m:t>]</m:t>
                    </m:r>
                  </m:oMath>
                </a14:m>
                <a:r>
                  <a:rPr lang="en-US" dirty="0" smtClean="0"/>
                  <a:t>, estimate the “selection” probabilities, i.e., probabilities that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oMath>
                </a14:m>
                <a:r>
                  <a:rPr lang="en-US" dirty="0" smtClean="0"/>
                  <a:t> is observed, and adjust the available data for selection bias.</a:t>
                </a:r>
                <a:endParaRPr lang="en-US" dirty="0"/>
              </a:p>
              <a:p>
                <a:endParaRPr lang="en-US" dirty="0" smtClean="0"/>
              </a:p>
              <a:p>
                <a:endParaRPr lang="en-US" dirty="0" smtClean="0"/>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r>
              </a:p>
            </p:txBody>
          </p:sp>
        </mc:Fallback>
      </mc:AlternateContent>
      <p:sp>
        <p:nvSpPr>
          <p:cNvPr id="6"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7"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15 / 33</a:t>
            </a:r>
          </a:p>
        </p:txBody>
      </p:sp>
    </p:spTree>
    <p:extLst>
      <p:ext uri="{BB962C8B-B14F-4D97-AF65-F5344CB8AC3E}">
        <p14:creationId xmlns:p14="http://schemas.microsoft.com/office/powerpoint/2010/main" val="2925877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Methods for Missing Data</a:t>
            </a:r>
            <a:endParaRPr lang="en-US" dirty="0" sz="3400" b="1">
              <a:solidFill>
                <a:srgbClr val="0D5F62"/>
              </a:solidFill>
              <a:latin typeface="Calibri"/>
            </a:endParaRPr>
          </a:p>
        </p:txBody>
      </p:sp>
      <p:sp>
        <p:nvSpPr>
          <p:cNvPr id="7" name="Content Placeholder 6"/>
          <p:cNvSpPr>
            <a:spLocks noGrp="1"/>
          </p:cNvSpPr>
          <p:nvPr>
            <p:ph idx="1"/>
          </p:nvPr>
        </p:nvSpPr>
        <p:spPr/>
        <p:txBody>
          <a:bodyPr/>
          <a:lstStyle/>
          <a:p>
            <a:r>
              <a:rPr lang="en-US" dirty="0" smtClean="0"/>
              <a:t>Default assumption and method by SAS.</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p:txBody>
      </p:sp>
      <p:graphicFrame>
        <p:nvGraphicFramePr>
          <p:cNvPr id="8" name="Content Placeholder 3"/>
          <p:cNvGraphicFramePr>
            <a:graphicFrameLocks/>
          </p:cNvGraphicFramePr>
          <p:nvPr>
            <p:extLst>
              <p:ext uri="{D42A27DB-BD31-4B8C-83A1-F6EECF244321}">
                <p14:modId xmlns:p14="http://schemas.microsoft.com/office/powerpoint/2010/main" val="4130228908"/>
              </p:ext>
            </p:extLst>
          </p:nvPr>
        </p:nvGraphicFramePr>
        <p:xfrm>
          <a:off x="1111431" y="2514599"/>
          <a:ext cx="9969138" cy="1952898"/>
        </p:xfrm>
        <a:graphic>
          <a:graphicData uri="http://schemas.openxmlformats.org/drawingml/2006/table">
            <a:tbl>
              <a:tblPr firstRow="1" bandRow="1">
                <a:tableStyleId>{5C22544A-7EE6-4342-B048-85BDC9FD1C3A}</a:tableStyleId>
              </a:tblPr>
              <a:tblGrid>
                <a:gridCol w="3323046">
                  <a:extLst>
                    <a:ext uri="{9D8B030D-6E8A-4147-A177-3AD203B41FA5}">
                      <a16:colId xmlns:a16="http://schemas.microsoft.com/office/drawing/2014/main" val="828563000"/>
                    </a:ext>
                  </a:extLst>
                </a:gridCol>
                <a:gridCol w="3323046">
                  <a:extLst>
                    <a:ext uri="{9D8B030D-6E8A-4147-A177-3AD203B41FA5}">
                      <a16:colId xmlns:a16="http://schemas.microsoft.com/office/drawing/2014/main" val="1062012405"/>
                    </a:ext>
                  </a:extLst>
                </a:gridCol>
                <a:gridCol w="3323046">
                  <a:extLst>
                    <a:ext uri="{9D8B030D-6E8A-4147-A177-3AD203B41FA5}">
                      <a16:colId xmlns:a16="http://schemas.microsoft.com/office/drawing/2014/main" val="2488009034"/>
                    </a:ext>
                  </a:extLst>
                </a:gridCol>
              </a:tblGrid>
              <a:tr h="650966">
                <a:tc>
                  <a:txBody>
                    <a:bodyPr/>
                    <a:lstStyle/>
                    <a:p>
                      <a:pPr algn="ctr"/>
                      <a:r>
                        <a:rPr lang="en-US" dirty="0" smtClean="0"/>
                        <a:t>Missingness Mechanism</a:t>
                      </a:r>
                      <a:endParaRPr lang="en-US" dirty="0"/>
                    </a:p>
                  </a:txBody>
                  <a:tcPr/>
                </a:tc>
                <a:tc>
                  <a:txBody>
                    <a:bodyPr/>
                    <a:lstStyle/>
                    <a:p>
                      <a:pPr algn="ctr"/>
                      <a:r>
                        <a:rPr lang="en-US" dirty="0" smtClean="0"/>
                        <a:t>Statistical Methods</a:t>
                      </a:r>
                      <a:endParaRPr lang="en-US" dirty="0"/>
                    </a:p>
                  </a:txBody>
                  <a:tcPr/>
                </a:tc>
                <a:tc>
                  <a:txBody>
                    <a:bodyPr/>
                    <a:lstStyle/>
                    <a:p>
                      <a:pPr algn="ctr"/>
                      <a:r>
                        <a:rPr lang="en-US" dirty="0" smtClean="0"/>
                        <a:t>SAS</a:t>
                      </a:r>
                      <a:r>
                        <a:rPr lang="en-US" baseline="0" dirty="0" smtClean="0"/>
                        <a:t/>
                      </a:r>
                      <a:r>
                        <a:rPr lang="en-US" dirty="0" smtClean="0"/>
                        <a:t>Implementation</a:t>
                      </a:r>
                      <a:endParaRPr lang="en-US" dirty="0"/>
                    </a:p>
                  </a:txBody>
                  <a:tcPr/>
                </a:tc>
                <a:extLst>
                  <a:ext uri="{0D108BD9-81ED-4DB2-BD59-A6C34878D82A}">
                    <a16:rowId xmlns:a16="http://schemas.microsoft.com/office/drawing/2014/main" val="385114374"/>
                  </a:ext>
                </a:extLst>
              </a:tr>
              <a:tr h="650966">
                <a:tc>
                  <a:txBody>
                    <a:bodyPr/>
                    <a:lstStyle/>
                    <a:p>
                      <a:pPr algn="ctr"/>
                      <a:r>
                        <a:rPr lang="en-US" dirty="0" smtClean="0"/>
                        <a:t>MCAR</a:t>
                      </a:r>
                      <a:endParaRPr lang="en-US" dirty="0"/>
                    </a:p>
                  </a:txBody>
                  <a:tcPr/>
                </a:tc>
                <a:tc>
                  <a:txBody>
                    <a:bodyPr/>
                    <a:lstStyle/>
                    <a:p>
                      <a:pPr algn="ctr"/>
                      <a:r>
                        <a:rPr lang="en-US" dirty="0" smtClean="0"/>
                        <a:t>Available-</a:t>
                      </a:r>
                      <a:r>
                        <a:rPr lang="en-US" baseline="0" dirty="0" smtClean="0"/>
                        <a:t>Data Analysis</a:t>
                      </a:r>
                      <a:endParaRPr lang="en-US" dirty="0"/>
                    </a:p>
                  </a:txBody>
                  <a:tcPr/>
                </a:tc>
                <a:tc>
                  <a:txBody>
                    <a:bodyPr/>
                    <a:lstStyle/>
                    <a:p>
                      <a:pPr marL="0" indent="0" algn="ctr">
                        <a:buNone/>
                      </a:pPr>
                      <a:r>
                        <a:rPr lang="en-US" baseline="0" dirty="0" smtClean="0"/>
                        <a:t>PROC GENMOD (GEE)</a:t>
                      </a:r>
                      <a:endParaRPr lang="en-US" dirty="0"/>
                    </a:p>
                  </a:txBody>
                  <a:tcPr/>
                </a:tc>
                <a:extLst>
                  <a:ext uri="{0D108BD9-81ED-4DB2-BD59-A6C34878D82A}">
                    <a16:rowId xmlns:a16="http://schemas.microsoft.com/office/drawing/2014/main" val="3924818078"/>
                  </a:ext>
                </a:extLst>
              </a:tr>
              <a:tr h="650966">
                <a:tc>
                  <a:txBody>
                    <a:bodyPr/>
                    <a:lstStyle/>
                    <a:p>
                      <a:pPr algn="ctr"/>
                      <a:r>
                        <a:rPr lang="en-US" dirty="0" smtClean="0"/>
                        <a:t>MAR</a:t>
                      </a:r>
                      <a:endParaRPr lang="en-US" dirty="0"/>
                    </a:p>
                  </a:txBody>
                  <a:tcPr/>
                </a:tc>
                <a:tc>
                  <a:txBody>
                    <a:bodyPr/>
                    <a:lstStyle/>
                    <a:p>
                      <a:pPr algn="ctr"/>
                      <a:r>
                        <a:rPr lang="en-US" dirty="0" smtClean="0"/>
                        <a:t>Maximum</a:t>
                      </a:r>
                      <a:r>
                        <a:rPr lang="en-US" baseline="0" dirty="0" smtClean="0"/>
                        <a:t> Likelihood</a:t>
                      </a:r>
                      <a:endParaRPr lang="en-US" dirty="0"/>
                    </a:p>
                  </a:txBody>
                  <a:tcPr/>
                </a:tc>
                <a:tc>
                  <a:txBody>
                    <a:bodyPr/>
                    <a:lstStyle/>
                    <a:p>
                      <a:pPr algn="ctr"/>
                      <a:r>
                        <a:rPr lang="en-US" dirty="0" smtClean="0"/>
                        <a:t>PROC MIXED/GLIMMIX </a:t>
                      </a:r>
                      <a:r>
                        <a:rPr lang="en-US" baseline="0" dirty="0" smtClean="0"/>
                        <a:t>(Mixed models)</a:t>
                      </a:r>
                      <a:endParaRPr lang="en-US" dirty="0"/>
                    </a:p>
                  </a:txBody>
                  <a:tcPr/>
                </a:tc>
                <a:extLst>
                  <a:ext uri="{0D108BD9-81ED-4DB2-BD59-A6C34878D82A}">
                    <a16:rowId xmlns:a16="http://schemas.microsoft.com/office/drawing/2014/main" val="1009714836"/>
                  </a:ext>
                </a:extLst>
              </a:tr>
            </a:tbl>
          </a:graphicData>
        </a:graphic>
      </p:graphicFrame>
      <p:sp>
        <p:nvSpPr>
          <p:cNvPr id="9"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10"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16 / 33</a:t>
            </a:r>
          </a:p>
        </p:txBody>
      </p:sp>
    </p:spTree>
    <p:extLst>
      <p:ext uri="{BB962C8B-B14F-4D97-AF65-F5344CB8AC3E}">
        <p14:creationId xmlns:p14="http://schemas.microsoft.com/office/powerpoint/2010/main" val="10507170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7" name="Content Placeholder 6"/>
              <p:cNvSpPr>
                <a:spLocks noGrp="1"/>
              </p:cNvSpPr>
              <p:nvPr>
                <p:ph idx="1"/>
              </p:nvPr>
            </p:nvSpPr>
            <p:spPr/>
            <p:txBody>
              <a:bodyPr/>
              <a:lstStyle/>
              <a:p>
                <a:r>
                  <a:rPr lang="en-US" u="sng" dirty="0" smtClean="0"/>
                  <a:t>Idea</a:t>
                </a:r>
                <a:r>
                  <a:rPr lang="en-US" dirty="0" smtClean="0"/>
                  <a:t>: we imputed, or “fill in”, plausible values of missing data based on the observed data, and analyze the “imputed” datasets using standard statistical procedure for complete data.</a:t>
                </a:r>
              </a:p>
              <a:p>
                <a:r>
                  <a:rPr lang="en-US" dirty="0" smtClean="0"/>
                  <a:t> To do this, we need to posit a model for </a:t>
                </a:r>
                <a14:m>
                  <m:oMath xmlns:m="http://schemas.openxmlformats.org/officeDocument/2006/math">
                    <m:d>
                      <m:dPr>
                        <m:begChr m:val="["/>
                        <m:endChr m:val="]"/>
                        <m:sep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e>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e>
                    </m:d>
                    <m:r>
                      <a:rPr lang="en-US" b="0" i="0" smtClean="0">
                        <a:latin typeface="Cambria Math" panose="02040503050406030204" pitchFamily="18" charset="0"/>
                      </a:rPr>
                      <m:t>,</m:t>
                    </m:r>
                  </m:oMath>
                </a14:m>
                <a:r>
                  <a:rPr lang="en-US" dirty="0" smtClean="0"/>
                  <a:t> then draw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oMath>
                </a14:m>
                <a:r>
                  <a:rPr lang="en-US" dirty="0" smtClean="0"/>
                  <a:t> from </a:t>
                </a:r>
                <a14:m>
                  <m:oMath xmlns:m="http://schemas.openxmlformats.org/officeDocument/2006/math">
                    <m:d>
                      <m:dPr>
                        <m:begChr m:val="["/>
                        <m:endChr m:val="]"/>
                        <m:sep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e>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e>
                    </m:d>
                  </m:oMath>
                </a14:m>
                <a:r>
                  <a:rPr lang="en-US" dirty="0" smtClean="0"/>
                  <a:t> to fill in for missing data.</a:t>
                </a:r>
              </a:p>
              <a:p>
                <a:r>
                  <a:rPr lang="en-US" dirty="0" smtClean="0"/>
                  <a:t>However, if we treat the imputed values as if they were observed, we ignore the randomness in the imputation process.</a:t>
                </a:r>
              </a:p>
              <a:p>
                <a:r>
                  <a:rPr lang="en-US" dirty="0" smtClean="0"/>
                  <a:t>To account for the uncertainty contained in the unobserved values, we need to draw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oMath>
                </a14:m>
                <a:r>
                  <a:rPr lang="en-US" dirty="0" smtClean="0"/>
                  <a:t> “multiple” times. </a:t>
                </a:r>
              </a:p>
              <a:p>
                <a:endParaRPr lang="en-US" dirty="0"/>
              </a:p>
              <a:p>
                <a:endParaRPr lang="en-US" dirty="0" smtClean="0"/>
              </a:p>
              <a:p>
                <a:endParaRPr lang="en-US" dirty="0"/>
              </a:p>
              <a:p>
                <a:endParaRPr lang="en-US" dirty="0" smtClean="0"/>
              </a:p>
              <a:p>
                <a:endParaRPr lang="en-US" dirty="0" smtClean="0"/>
              </a:p>
            </p:txBody>
          </p:sp>
        </mc:Choice>
        <mc:Fallback>
          <p:sp>
            <p:nvSpPr>
              <p:cNvPr id="7" name="Content Placeholder 6"/>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n-US">
                    <a:noFill/>
                  </a:rPr>
                  <a:t/>
                </a:r>
              </a:p>
            </p:txBody>
          </p:sp>
        </mc:Fallback>
      </mc:AlternateContent>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17 / 33</a:t>
            </a:r>
          </a:p>
        </p:txBody>
      </p:sp>
    </p:spTree>
    <p:extLst>
      <p:ext uri="{BB962C8B-B14F-4D97-AF65-F5344CB8AC3E}">
        <p14:creationId xmlns:p14="http://schemas.microsoft.com/office/powerpoint/2010/main" val="23703942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7" name="Content Placeholder 6"/>
              <p:cNvSpPr>
                <a:spLocks noGrp="1"/>
              </p:cNvSpPr>
              <p:nvPr>
                <p:ph idx="1"/>
              </p:nvPr>
            </p:nvSpPr>
            <p:spPr/>
            <p:txBody>
              <a:bodyPr>
                <a:normAutofit lnSpcReduction="10000"/>
              </a:bodyPr>
              <a:lstStyle/>
              <a:p>
                <a:r>
                  <a:rPr lang="en-US" dirty="0" smtClean="0"/>
                  <a:t>Specifically, if we have </a:t>
                </a:r>
                <a14:m>
                  <m:oMath xmlns:m="http://schemas.openxmlformats.org/officeDocument/2006/math">
                    <m:r>
                      <a:rPr lang="en-US" b="0" i="1" smtClean="0">
                        <a:latin typeface="Cambria Math" panose="02040503050406030204" pitchFamily="18" charset="0"/>
                      </a:rPr>
                      <m:t>𝑚</m:t>
                    </m:r>
                  </m:oMath>
                </a14:m>
                <a:r>
                  <a:rPr lang="en-US" dirty="0" smtClean="0"/>
                  <a:t> imputed datasets, we then have </a:t>
                </a:r>
                <a14:m>
                  <m:oMath xmlns:m="http://schemas.openxmlformats.org/officeDocument/2006/math">
                    <m:r>
                      <a:rPr lang="en-US" i="1">
                        <a:latin typeface="Cambria Math" panose="02040503050406030204" pitchFamily="18" charset="0"/>
                      </a:rPr>
                      <m:t>𝑚</m:t>
                    </m:r>
                  </m:oMath>
                </a14:m>
                <a:r>
                  <a:rPr lang="en-US" dirty="0" smtClean="0"/>
                  <a:t> different estimates of the regression parameter, say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i="1">
                                <a:latin typeface="Cambria Math" panose="02040503050406030204" pitchFamily="18" charset="0"/>
                              </a:rPr>
                              <m:t>𝛽</m:t>
                            </m:r>
                          </m:e>
                        </m:acc>
                      </m:e>
                      <m:sup>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p>
                    </m:s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 </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dirty="0" smtClean="0"/>
                  <a:t>, with estimated covariance matrices </a:t>
                </a:r>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m:rPr>
                                    <m:sty m:val="p"/>
                                  </m:rPr>
                                  <a:rPr lang="en-US" b="0" i="0" smtClean="0">
                                    <a:latin typeface="Cambria Math" panose="02040503050406030204" pitchFamily="18" charset="0"/>
                                  </a:rPr>
                                  <m:t>Σ</m:t>
                                </m:r>
                              </m:e>
                            </m:acc>
                          </m:e>
                          <m:sup>
                            <m:d>
                              <m:dPr>
                                <m:ctrlPr>
                                  <a:rPr lang="en-US" i="1">
                                    <a:latin typeface="Cambria Math" panose="02040503050406030204" pitchFamily="18" charset="0"/>
                                  </a:rPr>
                                </m:ctrlPr>
                              </m:dPr>
                              <m:e>
                                <m:r>
                                  <a:rPr lang="en-US" i="1">
                                    <a:latin typeface="Cambria Math" panose="02040503050406030204" pitchFamily="18" charset="0"/>
                                  </a:rPr>
                                  <m:t>𝑘</m:t>
                                </m:r>
                              </m:e>
                            </m:d>
                          </m:sup>
                        </m:sSup>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 </m:t>
                        </m:r>
                        <m:r>
                          <a:rPr lang="en-US" i="1">
                            <a:latin typeface="Cambria Math" panose="02040503050406030204" pitchFamily="18" charset="0"/>
                          </a:rPr>
                          <m:t>𝑚</m:t>
                        </m:r>
                      </m:e>
                    </m:d>
                    <m:r>
                      <a:rPr lang="en-US" b="0" i="0" smtClean="0">
                        <a:latin typeface="Cambria Math" panose="02040503050406030204" pitchFamily="18" charset="0"/>
                      </a:rPr>
                      <m:t>.</m:t>
                    </m:r>
                  </m:oMath>
                </a14:m>
                <a:r>
                  <a:rPr lang="en-US" dirty="0"/>
                  <a:t/>
                </a:r>
                <a:endParaRPr lang="en-US" dirty="0" smtClean="0"/>
              </a:p>
              <a:p>
                <a:r>
                  <a:rPr lang="en-US" dirty="0" smtClean="0"/>
                  <a:t>The MI estimate is the average of these estimates:</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𝛽</m:t>
                          </m:r>
                          <m:r>
                            <m:rPr>
                              <m:nor/>
                            </m:rPr>
                            <a:rPr lang="en-US" dirty="0"/>
                            <m:t> </m:t>
                          </m:r>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−1</m:t>
                          </m:r>
                        </m:sup>
                      </m:sSup>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𝛽</m:t>
                                  </m:r>
                                </m:e>
                              </m:acc>
                            </m:e>
                            <m:sup>
                              <m:d>
                                <m:dPr>
                                  <m:ctrlPr>
                                    <a:rPr lang="en-US" i="1">
                                      <a:latin typeface="Cambria Math" panose="02040503050406030204" pitchFamily="18" charset="0"/>
                                    </a:rPr>
                                  </m:ctrlPr>
                                </m:dPr>
                                <m:e>
                                  <m:r>
                                    <a:rPr lang="en-US" i="1">
                                      <a:latin typeface="Cambria Math" panose="02040503050406030204" pitchFamily="18" charset="0"/>
                                    </a:rPr>
                                    <m:t>𝑘</m:t>
                                  </m:r>
                                </m:e>
                              </m:d>
                            </m:sup>
                          </m:sSup>
                        </m:e>
                      </m:nary>
                    </m:oMath>
                  </m:oMathPara>
                </a14:m>
                <a:endParaRPr lang="en-US" dirty="0" smtClean="0"/>
              </a:p>
              <a:p>
                <a:r>
                  <a:rPr lang="en-US" dirty="0" smtClean="0"/>
                  <a:t>The estimate covariance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𝛽</m:t>
                        </m:r>
                        <m:r>
                          <m:rPr>
                            <m:nor/>
                          </m:rPr>
                          <a:rPr lang="en-US" dirty="0"/>
                          <m:t> </m:t>
                        </m:r>
                      </m:e>
                    </m:acc>
                  </m:oMath>
                </a14:m>
                <a:r>
                  <a:rPr lang="en-US" dirty="0" smtClean="0"/>
                  <a:t> is given by </a:t>
                </a:r>
              </a:p>
              <a:p>
                <a:pPr marL="0" indent="0" algn="ctr">
                  <a:buNone/>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m:rPr>
                              <m:sty m:val="p"/>
                            </m:rPr>
                            <a:rPr lang="en-US" i="0" dirty="0" smtClean="0">
                              <a:latin typeface="Cambria Math" panose="02040503050406030204" pitchFamily="18" charset="0"/>
                            </a:rPr>
                            <m:t>Average</m:t>
                          </m:r>
                          <m:r>
                            <a:rPr lang="en-US" i="0" dirty="0" smtClean="0">
                              <a:latin typeface="Cambria Math" panose="02040503050406030204" pitchFamily="18" charset="0"/>
                            </a:rPr>
                            <m:t> </m:t>
                          </m:r>
                          <m:r>
                            <m:rPr>
                              <m:sty m:val="p"/>
                            </m:rPr>
                            <a:rPr lang="en-US" i="0" dirty="0" smtClean="0">
                              <a:latin typeface="Cambria Math" panose="02040503050406030204" pitchFamily="18" charset="0"/>
                            </a:rPr>
                            <m:t>of</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the</m:t>
                          </m:r>
                          <m:sSup>
                            <m:sSupPr>
                              <m:ctrlPr>
                                <a:rPr lang="en-US" i="1">
                                  <a:latin typeface="Cambria Math" panose="02040503050406030204" pitchFamily="18" charset="0"/>
                                </a:rPr>
                              </m:ctrlPr>
                            </m:sSupPr>
                            <m:e>
                              <m:r>
                                <a:rPr lang="en-US" b="0" i="1" smtClean="0">
                                  <a:latin typeface="Cambria Math" panose="02040503050406030204" pitchFamily="18" charset="0"/>
                                </a:rPr>
                                <m:t> </m:t>
                              </m:r>
                              <m:acc>
                                <m:accPr>
                                  <m:chr m:val="̂"/>
                                  <m:ctrlPr>
                                    <a:rPr lang="en-US" i="1">
                                      <a:latin typeface="Cambria Math" panose="02040503050406030204" pitchFamily="18" charset="0"/>
                                    </a:rPr>
                                  </m:ctrlPr>
                                </m:accPr>
                                <m:e>
                                  <m:r>
                                    <m:rPr>
                                      <m:sty m:val="p"/>
                                    </m:rPr>
                                    <a:rPr lang="en-US">
                                      <a:latin typeface="Cambria Math" panose="02040503050406030204" pitchFamily="18" charset="0"/>
                                    </a:rPr>
                                    <m:t>Σ</m:t>
                                  </m:r>
                                </m:e>
                              </m:acc>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𝑚</m:t>
                              </m:r>
                            </m:e>
                            <m:sup>
                              <m:r>
                                <a:rPr lang="en-US" i="1" dirty="0" smtClean="0">
                                  <a:latin typeface="Cambria Math" panose="02040503050406030204" pitchFamily="18" charset="0"/>
                                </a:rPr>
                                <m:t>−1</m:t>
                              </m:r>
                            </m:sup>
                          </m:sSup>
                        </m:e>
                      </m:d>
                      <m:r>
                        <a:rPr lang="en-US" b="0" i="1" dirty="0" smtClean="0">
                          <a:latin typeface="Cambria Math" panose="02040503050406030204" pitchFamily="18" charset="0"/>
                        </a:rPr>
                        <m:t>×</m:t>
                      </m:r>
                      <m:d>
                        <m:dPr>
                          <m:ctrlPr>
                            <a:rPr lang="en-US" i="1" dirty="0">
                              <a:latin typeface="Cambria Math" panose="02040503050406030204" pitchFamily="18" charset="0"/>
                            </a:rPr>
                          </m:ctrlPr>
                        </m:dPr>
                        <m:e>
                          <m:r>
                            <m:rPr>
                              <m:sty m:val="p"/>
                            </m:rPr>
                            <a:rPr lang="en-US" b="0" i="0" dirty="0" smtClean="0">
                              <a:latin typeface="Cambria Math" panose="02040503050406030204" pitchFamily="18" charset="0"/>
                            </a:rPr>
                            <m:t>Sample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variance</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of</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the</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𝛽</m:t>
                                  </m:r>
                                </m:e>
                              </m:acc>
                            </m:e>
                            <m:sup>
                              <m:d>
                                <m:dPr>
                                  <m:ctrlPr>
                                    <a:rPr lang="en-US" i="1">
                                      <a:latin typeface="Cambria Math" panose="02040503050406030204" pitchFamily="18" charset="0"/>
                                    </a:rPr>
                                  </m:ctrlPr>
                                </m:dPr>
                                <m:e>
                                  <m:r>
                                    <a:rPr lang="en-US" i="1">
                                      <a:latin typeface="Cambria Math" panose="02040503050406030204" pitchFamily="18" charset="0"/>
                                    </a:rPr>
                                    <m:t>𝑘</m:t>
                                  </m:r>
                                </m:e>
                              </m:d>
                            </m:sup>
                          </m:sSup>
                        </m:e>
                      </m:d>
                    </m:oMath>
                  </m:oMathPara>
                </a14:m>
                <a:endParaRPr lang="en-US" dirty="0" smtClean="0"/>
              </a:p>
              <a:p>
                <a:r>
                  <a:rPr lang="en-US" dirty="0" smtClean="0"/>
                  <a:t>The second term represents the variability due to missing data.</a:t>
                </a:r>
              </a:p>
              <a:p>
                <a:pPr marL="0" indent="0" algn="ctr">
                  <a:buNone/>
                </a:pPr>
                <a:endParaRPr lang="en-US" dirty="0" smtClean="0"/>
              </a:p>
            </p:txBody>
          </p:sp>
        </mc:Choice>
        <mc:Fallback>
          <p:sp>
            <p:nvSpPr>
              <p:cNvPr id="7" name="Content Placeholder 6"/>
              <p:cNvSpPr>
                <a:spLocks noGrp="1" noRot="1" noChangeAspect="1" noMove="1" noResize="1" noEditPoints="1" noAdjustHandles="1" noChangeArrowheads="1" noChangeShapeType="1" noTextEdit="1"/>
              </p:cNvSpPr>
              <p:nvPr>
                <p:ph idx="1"/>
              </p:nvPr>
            </p:nvSpPr>
            <p:spPr>
              <a:blipFill>
                <a:blip r:embed="rId2"/>
                <a:stretch>
                  <a:fillRect l="-1043" t="-3081" r="-928"/>
                </a:stretch>
              </a:blipFill>
            </p:spPr>
            <p:txBody>
              <a:bodyPr/>
              <a:lstStyle/>
              <a:p>
                <a:r>
                  <a:rPr lang="en-US">
                    <a:noFill/>
                  </a:rPr>
                  <a:t/>
                </a:r>
              </a:p>
            </p:txBody>
          </p:sp>
        </mc:Fallback>
      </mc:AlternateContent>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18 / 33</a:t>
            </a:r>
          </a:p>
        </p:txBody>
      </p:sp>
    </p:spTree>
    <p:extLst>
      <p:ext uri="{BB962C8B-B14F-4D97-AF65-F5344CB8AC3E}">
        <p14:creationId xmlns:p14="http://schemas.microsoft.com/office/powerpoint/2010/main" val="20215287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 </a:t>
            </a:r>
            <a:endParaRPr lang="en-US" dirty="0" sz="3400" b="1">
              <a:solidFill>
                <a:srgbClr val="0D5F62"/>
              </a:solidFill>
              <a:latin typeface="Calibri"/>
            </a:endParaRPr>
          </a:p>
        </p:txBody>
      </p:sp>
      <mc:AlternateContent xmlns:mc="http://schemas.openxmlformats.org/markup-compatibility/2006">
        <mc:Choice xmlns:a14="http://schemas.microsoft.com/office/drawing/2010/main" Requires="a14">
          <p:sp>
            <p:nvSpPr>
              <p:cNvPr id="7" name="Content Placeholder 6"/>
              <p:cNvSpPr>
                <a:spLocks noGrp="1"/>
              </p:cNvSpPr>
              <p:nvPr>
                <p:ph idx="1"/>
              </p:nvPr>
            </p:nvSpPr>
            <p:spPr/>
            <p:txBody>
              <a:bodyPr>
                <a:normAutofit/>
              </a:bodyPr>
              <a:lstStyle/>
              <a:p>
                <a:r>
                  <a:rPr lang="en-US" dirty="0" smtClean="0"/>
                  <a:t>Missing patterns:</a:t>
                </a:r>
              </a:p>
              <a:p>
                <a:pPr marL="914400" lvl="1" indent="-457200">
                  <a:buFont typeface="+mj-lt"/>
                  <a:buAutoNum type="arabicPeriod"/>
                </a:pPr>
                <a:r>
                  <a:rPr lang="en-US" dirty="0" smtClean="0"/>
                  <a:t>Arbitrary: missingness can happen at any measurement occasion</a:t>
                </a:r>
              </a:p>
              <a:p>
                <a:pPr marL="914400" lvl="1" indent="-457200">
                  <a:buFont typeface="+mj-lt"/>
                  <a:buAutoNum type="arabicPeriod"/>
                </a:pPr>
                <a:r>
                  <a:rPr lang="en-US" dirty="0" smtClean="0"/>
                  <a:t>Monotone: subject drops out so that all measurements after a particular occasion are missing</a:t>
                </a:r>
                <a:endParaRPr lang="en-US" dirty="0"/>
              </a:p>
              <a:p>
                <a:r>
                  <a:rPr lang="en-US" dirty="0" smtClean="0"/>
                  <a:t>Imputation model </a:t>
                </a:r>
                <a14:m>
                  <m:oMath xmlns:m="http://schemas.openxmlformats.org/officeDocument/2006/math">
                    <m:d>
                      <m:dPr>
                        <m:begChr m:val="["/>
                        <m:endChr m:val="]"/>
                        <m:sep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𝑀</m:t>
                            </m:r>
                          </m:sup>
                        </m:sSubSup>
                      </m:e>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a:rPr lang="en-US" i="1">
                                <a:latin typeface="Cambria Math" panose="02040503050406030204" pitchFamily="18" charset="0"/>
                              </a:rPr>
                              <m:t>𝑖</m:t>
                            </m:r>
                          </m:sub>
                          <m:sup>
                            <m:r>
                              <a:rPr lang="en-US" i="1">
                                <a:latin typeface="Cambria Math" panose="02040503050406030204" pitchFamily="18" charset="0"/>
                              </a:rPr>
                              <m:t>𝑜</m:t>
                            </m:r>
                          </m:sup>
                        </m:sSubSup>
                      </m:e>
                    </m:d>
                  </m:oMath>
                </a14:m>
                <a:endParaRPr lang="en-US" dirty="0" smtClean="0"/>
              </a:p>
              <a:p>
                <a:pPr marL="971550" lvl="1" indent="-514350">
                  <a:buFont typeface="+mj-lt"/>
                  <a:buAutoNum type="arabicPeriod"/>
                </a:pPr>
                <a:r>
                  <a:rPr lang="en-US" dirty="0" smtClean="0"/>
                  <a:t>For </a:t>
                </a:r>
                <a:r>
                  <a:rPr lang="en-US" u="sng" dirty="0" smtClean="0"/>
                  <a:t>monotone</a:t>
                </a:r>
                <a:r>
                  <a:rPr lang="en-US" dirty="0" smtClean="0"/>
                  <a:t> missing data: can build serial regression models </a:t>
                </a:r>
              </a:p>
              <a:p>
                <a:pPr marL="457200" lvl="1" indent="0">
                  <a:buNone/>
                </a:pPr>
                <a14:m>
                  <m:oMathPara xmlns:m="http://schemas.openxmlformats.org/officeDocument/2006/math">
                    <m:oMathParaPr>
                      <m:jc m:val="centerGroup"/>
                    </m:oMathParaPr>
                    <m:oMath xmlns:m="http://schemas.openxmlformats.org/officeDocument/2006/math">
                      <m:d>
                        <m:dPr>
                          <m:begChr m:val="["/>
                          <m:endChr m:val="]"/>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𝑖𝑗</m:t>
                              </m:r>
                            </m:sub>
                          </m:sSub>
                        </m:e>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oMath>
                  </m:oMathPara>
                </a14:m>
                <a:endParaRPr lang="en-US" dirty="0"/>
              </a:p>
              <a:p>
                <a:pPr marL="971550" lvl="1" indent="-514350">
                  <a:buFont typeface="+mj-lt"/>
                  <a:buAutoNum type="arabicPeriod" startAt="2"/>
                </a:pPr>
                <a:r>
                  <a:rPr lang="en-US" dirty="0"/>
                  <a:t>For </a:t>
                </a:r>
                <a:r>
                  <a:rPr lang="en-US" u="sng" dirty="0" smtClean="0"/>
                  <a:t>arbitrary</a:t>
                </a:r>
                <a:r>
                  <a:rPr lang="en-US" dirty="0" smtClean="0"/>
                  <a:t/>
                </a:r>
                <a:r>
                  <a:rPr lang="en-US" dirty="0"/>
                  <a:t>missing data</a:t>
                </a:r>
                <a:r>
                  <a:rPr lang="en-US" dirty="0" smtClean="0"/>
                  <a:t>: based on multivariate normal distribution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oMath>
                </a14:m>
                <a:endParaRPr lang="en-US" dirty="0" smtClean="0"/>
              </a:p>
              <a:p>
                <a:pPr marL="457200" lvl="1" indent="0" algn="ctr">
                  <a:buNone/>
                </a:pPr>
                <a:endParaRPr lang="en-US" dirty="0" smtClean="0"/>
              </a:p>
            </p:txBody>
          </p:sp>
        </mc:Choice>
        <mc:Fallback>
          <p:sp>
            <p:nvSpPr>
              <p:cNvPr id="7" name="Content Placeholder 6"/>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r>
              </a:p>
            </p:txBody>
          </p:sp>
        </mc:Fallback>
      </mc:AlternateContent>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19 / 33</a:t>
            </a:r>
          </a:p>
        </p:txBody>
      </p:sp>
    </p:spTree>
    <p:extLst>
      <p:ext uri="{BB962C8B-B14F-4D97-AF65-F5344CB8AC3E}">
        <p14:creationId xmlns:p14="http://schemas.microsoft.com/office/powerpoint/2010/main" val="24861011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 by PROC MI</a:t>
            </a:r>
            <a:endParaRPr lang="en-US" dirty="0" sz="3400" b="1">
              <a:solidFill>
                <a:srgbClr val="0D5F62"/>
              </a:solidFill>
              <a:latin typeface="Calibri"/>
            </a:endParaRPr>
          </a:p>
        </p:txBody>
      </p:sp>
      <p:sp>
        <p:nvSpPr>
          <p:cNvPr id="7" name="Content Placeholder 6"/>
          <p:cNvSpPr>
            <a:spLocks noGrp="1"/>
          </p:cNvSpPr>
          <p:nvPr>
            <p:ph idx="1"/>
          </p:nvPr>
        </p:nvSpPr>
        <p:spPr/>
        <p:txBody>
          <a:bodyPr>
            <a:normAutofit fontScale="92500" lnSpcReduction="10000"/>
          </a:bodyPr>
          <a:lstStyle/>
          <a:p>
            <a:r>
              <a:rPr lang="en-US" dirty="0" smtClean="0"/>
              <a:t>First off, to use PROC MI, the data need to be in the “wide” format.</a:t>
            </a:r>
          </a:p>
          <a:p>
            <a:r>
              <a:rPr lang="en-US" dirty="0" smtClean="0"/>
              <a:t>Say, there are missing data in responses y1—y4 with an </a:t>
            </a:r>
            <a:r>
              <a:rPr lang="en-US" u="sng" dirty="0" smtClean="0"/>
              <a:t>arbitrary</a:t>
            </a:r>
            <a:r>
              <a:rPr lang="en-US" dirty="0" smtClean="0"/>
              <a:t> missing pattern.</a:t>
            </a:r>
            <a:endParaRPr lang="en-US" sz="2000" dirty="0" smtClean="0">
              <a:solidFill>
                <a:schemeClr val="accent6">
                  <a:lumMod val="75000"/>
                </a:schemeClr>
              </a:solidFill>
            </a:endParaRPr>
          </a:p>
          <a:p>
            <a:pPr marL="0" indent="0">
              <a:buNone/>
            </a:pPr>
            <a:r>
              <a:rPr lang="en-US" sz="2000" dirty="0" smtClean="0">
                <a:solidFill>
                  <a:schemeClr val="accent6">
                    <a:lumMod val="75000"/>
                  </a:schemeClr>
                </a:solidFill>
              </a:rPr>
              <a:t>/* Impute missing values in y1—y4 based on a multivariate normal distribution for each group level; output NIMPUTE=50 imputed datasets in </a:t>
            </a:r>
            <a:r>
              <a:rPr lang="en-US" sz="2000" dirty="0" err="1" smtClean="0">
                <a:solidFill>
                  <a:schemeClr val="accent6">
                    <a:lumMod val="75000"/>
                  </a:schemeClr>
                </a:solidFill>
              </a:rPr>
              <a:t>sas</a:t>
            </a:r>
            <a:r>
              <a:rPr lang="en-US" sz="2000" dirty="0" smtClean="0">
                <a:solidFill>
                  <a:schemeClr val="accent6">
                    <a:lumMod val="75000"/>
                  </a:schemeClr>
                </a:solidFill>
              </a:rPr>
              <a:t> file “</a:t>
            </a:r>
            <a:r>
              <a:rPr lang="en-US" sz="2000" dirty="0" err="1" smtClean="0">
                <a:solidFill>
                  <a:schemeClr val="accent6">
                    <a:lumMod val="75000"/>
                  </a:schemeClr>
                </a:solidFill>
              </a:rPr>
              <a:t>mifile</a:t>
            </a:r>
            <a:r>
              <a:rPr lang="en-US" sz="2000" dirty="0" smtClean="0">
                <a:solidFill>
                  <a:schemeClr val="accent6">
                    <a:lumMod val="75000"/>
                  </a:schemeClr>
                </a:solidFill>
              </a:rPr>
              <a:t>”.</a:t>
            </a:r>
          </a:p>
          <a:p>
            <a:pPr marL="0" indent="0">
              <a:buNone/>
            </a:pPr>
            <a:r>
              <a:rPr lang="en-US" sz="2000" dirty="0" smtClean="0">
                <a:solidFill>
                  <a:schemeClr val="accent6">
                    <a:lumMod val="75000"/>
                  </a:schemeClr>
                </a:solidFill>
              </a:rPr>
              <a:t>	SEED can be any random integer; specified for reproducibility */</a:t>
            </a:r>
            <a:endParaRPr lang="en-US" sz="2000" dirty="0" smtClean="0"/>
          </a:p>
          <a:p>
            <a:pPr marL="0" indent="0">
              <a:buNone/>
            </a:pPr>
            <a:r>
              <a:rPr lang="en-US" dirty="0" smtClean="0"/>
              <a:t>PROC MI DATA=</a:t>
            </a:r>
            <a:r>
              <a:rPr lang="en-US" dirty="0" err="1" smtClean="0"/>
              <a:t>widefile</a:t>
            </a:r>
            <a:r>
              <a:rPr lang="en-US" dirty="0" smtClean="0"/>
              <a:t> SEED=12345 NIMPUTE=50 OUT=</a:t>
            </a:r>
            <a:r>
              <a:rPr lang="en-US" dirty="0" err="1" smtClean="0"/>
              <a:t>mifile</a:t>
            </a:r>
            <a:r>
              <a:rPr lang="en-US" dirty="0" smtClean="0"/>
              <a:t>;</a:t>
            </a:r>
          </a:p>
          <a:p>
            <a:pPr marL="0" indent="0">
              <a:buNone/>
            </a:pPr>
            <a:r>
              <a:rPr lang="en-US" dirty="0"/>
              <a:t/>
            </a:r>
            <a:r>
              <a:rPr lang="en-US" dirty="0" smtClean="0"/>
              <a:t>VAR group y1 y2 y3 y4;</a:t>
            </a:r>
          </a:p>
          <a:p>
            <a:pPr marL="0" indent="0">
              <a:buNone/>
            </a:pPr>
            <a:r>
              <a:rPr lang="en-US" dirty="0" smtClean="0"/>
              <a:t>	MCMC NBITER=5000 NITER=500; </a:t>
            </a:r>
            <a:r>
              <a:rPr lang="en-US" sz="2000" dirty="0" smtClean="0">
                <a:solidFill>
                  <a:schemeClr val="accent6">
                    <a:lumMod val="75000"/>
                  </a:schemeClr>
                </a:solidFill>
              </a:rPr>
              <a:t>/* use the Markov Chain Monte Carlo with 	5000 burn-in iterations and 500 iterations between imputations */</a:t>
            </a:r>
          </a:p>
          <a:p>
            <a:pPr marL="0" indent="0">
              <a:buNone/>
            </a:pPr>
            <a:r>
              <a:rPr lang="en-US" dirty="0" smtClean="0"/>
              <a:t>RUN;</a:t>
            </a:r>
          </a:p>
          <a:p>
            <a:pPr marL="0" indent="0">
              <a:buNone/>
            </a:pPr>
            <a:endParaRPr lang="en-US" dirty="0" smtClean="0"/>
          </a:p>
        </p:txBody>
      </p:sp>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20 / 33</a:t>
            </a:r>
          </a:p>
        </p:txBody>
      </p:sp>
    </p:spTree>
    <p:extLst>
      <p:ext uri="{BB962C8B-B14F-4D97-AF65-F5344CB8AC3E}">
        <p14:creationId xmlns:p14="http://schemas.microsoft.com/office/powerpoint/2010/main" val="25489006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 by PROC MI</a:t>
            </a:r>
            <a:endParaRPr lang="en-US" dirty="0" sz="3400" b="1">
              <a:solidFill>
                <a:srgbClr val="0D5F62"/>
              </a:solidFill>
              <a:latin typeface="Calibri"/>
            </a:endParaRPr>
          </a:p>
        </p:txBody>
      </p:sp>
      <p:sp>
        <p:nvSpPr>
          <p:cNvPr id="7" name="Content Placeholder 6"/>
          <p:cNvSpPr>
            <a:spLocks noGrp="1"/>
          </p:cNvSpPr>
          <p:nvPr>
            <p:ph idx="1"/>
          </p:nvPr>
        </p:nvSpPr>
        <p:spPr/>
        <p:txBody>
          <a:bodyPr>
            <a:normAutofit/>
          </a:bodyPr>
          <a:lstStyle/>
          <a:p>
            <a:r>
              <a:rPr lang="en-US" dirty="0" smtClean="0"/>
              <a:t>For non-continuous responses, one can round the imputed values accordingly.</a:t>
            </a:r>
          </a:p>
          <a:p>
            <a:r>
              <a:rPr lang="en-US" dirty="0" smtClean="0"/>
              <a:t>A more principle approach to imputing non-continuous response is through regression models, but that only works for monotone missing data.</a:t>
            </a:r>
          </a:p>
          <a:p>
            <a:r>
              <a:rPr lang="en-US" dirty="0" smtClean="0"/>
              <a:t>See Section 18.6 of FLW for regression model-based imputation for monotone missing data in PROC MI.</a:t>
            </a:r>
          </a:p>
        </p:txBody>
      </p:sp>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21 / 33</a:t>
            </a:r>
          </a:p>
        </p:txBody>
      </p:sp>
    </p:spTree>
    <p:extLst>
      <p:ext uri="{BB962C8B-B14F-4D97-AF65-F5344CB8AC3E}">
        <p14:creationId xmlns:p14="http://schemas.microsoft.com/office/powerpoint/2010/main" val="30276729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Multiple Imputations by PROC MI</a:t>
            </a:r>
            <a:endParaRPr lang="en-US" dirty="0" sz="3400" b="1">
              <a:solidFill>
                <a:srgbClr val="0D5F62"/>
              </a:solidFill>
              <a:latin typeface="Calibri"/>
            </a:endParaRPr>
          </a:p>
        </p:txBody>
      </p:sp>
      <p:sp>
        <p:nvSpPr>
          <p:cNvPr id="7" name="Content Placeholder 6"/>
          <p:cNvSpPr>
            <a:spLocks noGrp="1"/>
          </p:cNvSpPr>
          <p:nvPr>
            <p:ph idx="1"/>
          </p:nvPr>
        </p:nvSpPr>
        <p:spPr/>
        <p:txBody>
          <a:bodyPr>
            <a:normAutofit/>
          </a:bodyPr>
          <a:lstStyle/>
          <a:p>
            <a:r>
              <a:rPr lang="en-US" dirty="0" smtClean="0"/>
              <a:t>After the imputed datasets are generated in the SAS file “</a:t>
            </a:r>
            <a:r>
              <a:rPr lang="en-US" dirty="0" err="1"/>
              <a:t>mifile</a:t>
            </a:r>
            <a:r>
              <a:rPr lang="en-US" dirty="0" smtClean="0"/>
              <a:t>”, we use the standard procedure, e.g., PROC GENMOD, to analyze the SAS file by dataset (indicated by variable “</a:t>
            </a:r>
            <a:r>
              <a:rPr lang="en-US" dirty="0"/>
              <a:t>_imputation</a:t>
            </a:r>
            <a:r>
              <a:rPr lang="en-US" dirty="0" smtClean="0"/>
              <a:t>_”).</a:t>
            </a:r>
          </a:p>
          <a:p>
            <a:r>
              <a:rPr lang="en-US" dirty="0" smtClean="0"/>
              <a:t>This usually amounts to adding a “</a:t>
            </a:r>
            <a:r>
              <a:rPr lang="en-US" dirty="0"/>
              <a:t>by _imputation</a:t>
            </a:r>
            <a:r>
              <a:rPr lang="en-US" dirty="0" smtClean="0"/>
              <a:t>_” statement to the standard procedure and output the appropriate parameter estimates table to a SAS file .</a:t>
            </a:r>
          </a:p>
          <a:p>
            <a:r>
              <a:rPr lang="en-US" dirty="0" smtClean="0"/>
              <a:t>Finally, we use PROC  MIANALYZE to combine the parameter estimates to obtain the final results.</a:t>
            </a:r>
          </a:p>
        </p:txBody>
      </p:sp>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22 / 33</a:t>
            </a:r>
          </a:p>
        </p:txBody>
      </p:sp>
    </p:spTree>
    <p:extLst>
      <p:ext uri="{BB962C8B-B14F-4D97-AF65-F5344CB8AC3E}">
        <p14:creationId xmlns:p14="http://schemas.microsoft.com/office/powerpoint/2010/main" val="4186810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7" name="Content Placeholder 6"/>
          <p:cNvSpPr>
            <a:spLocks noGrp="1"/>
          </p:cNvSpPr>
          <p:nvPr>
            <p:ph idx="1"/>
          </p:nvPr>
        </p:nvSpPr>
        <p:spPr/>
        <p:txBody>
          <a:bodyPr>
            <a:normAutofit/>
          </a:bodyPr>
          <a:lstStyle/>
          <a:p>
            <a:r>
              <a:rPr lang="en-US" u="sng" dirty="0"/>
              <a:t>Treatment of Lead-Exposed Children (TLC) Trial </a:t>
            </a:r>
          </a:p>
          <a:p>
            <a:r>
              <a:rPr lang="en-US" dirty="0"/>
              <a:t>100 children exposed to  lead were randomized into </a:t>
            </a:r>
            <a:r>
              <a:rPr lang="en-US" dirty="0" err="1"/>
              <a:t>succimer</a:t>
            </a:r>
            <a:r>
              <a:rPr lang="en-US" dirty="0"/>
              <a:t> and placebo groups, each N=50</a:t>
            </a:r>
          </a:p>
          <a:p>
            <a:r>
              <a:rPr lang="en-US" dirty="0"/>
              <a:t>Data consist of 4 repeated measurements of blood lead levels obtained at baseline (or week 0), weeks 1, 4, and 6.</a:t>
            </a:r>
          </a:p>
          <a:p>
            <a:r>
              <a:rPr lang="en-US" dirty="0" smtClean="0"/>
              <a:t>Missing data are artificially created for illustrative purposes.</a:t>
            </a:r>
          </a:p>
        </p:txBody>
      </p:sp>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23 / 33</a:t>
            </a:r>
          </a:p>
        </p:txBody>
      </p:sp>
    </p:spTree>
    <p:extLst>
      <p:ext uri="{BB962C8B-B14F-4D97-AF65-F5344CB8AC3E}">
        <p14:creationId xmlns:p14="http://schemas.microsoft.com/office/powerpoint/2010/main" val="12406156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pic>
        <p:nvPicPr>
          <p:cNvPr id="3" name="Content Placeholder 2"/>
          <p:cNvPicPr>
            <a:picLocks noGrp="1" noChangeAspect="1"/>
          </p:cNvPicPr>
          <p:nvPr>
            <p:ph idx="1"/>
          </p:nvPr>
        </p:nvPicPr>
        <p:blipFill rotWithShape="1">
          <a:blip r:embed="rId2"/>
          <a:srcRect l="767"/>
          <a:stretch/>
        </p:blipFill>
        <p:spPr>
          <a:xfrm>
            <a:off x="1828800" y="1704272"/>
            <a:ext cx="7837715" cy="4116408"/>
          </a:xfrm>
          <a:prstGeom prst="rect">
            <a:avLst/>
          </a:prstGeom>
        </p:spPr>
      </p:pic>
      <p:sp>
        <p:nvSpPr>
          <p:cNvPr id="4"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5"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24 / 33</a:t>
            </a:r>
          </a:p>
        </p:txBody>
      </p:sp>
    </p:spTree>
    <p:extLst>
      <p:ext uri="{BB962C8B-B14F-4D97-AF65-F5344CB8AC3E}">
        <p14:creationId xmlns:p14="http://schemas.microsoft.com/office/powerpoint/2010/main" val="26876562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pic>
        <p:nvPicPr>
          <p:cNvPr id="5" name="Picture 4"/>
          <p:cNvPicPr>
            <a:picLocks noChangeAspect="1"/>
          </p:cNvPicPr>
          <p:nvPr/>
        </p:nvPicPr>
        <p:blipFill>
          <a:blip r:embed="rId2"/>
          <a:stretch>
            <a:fillRect/>
          </a:stretch>
        </p:blipFill>
        <p:spPr>
          <a:xfrm>
            <a:off x="758461" y="2504891"/>
            <a:ext cx="11102617" cy="2633166"/>
          </a:xfrm>
          <a:prstGeom prst="rect">
            <a:avLst/>
          </a:prstGeom>
        </p:spPr>
      </p:pic>
      <p:sp>
        <p:nvSpPr>
          <p:cNvPr id="6"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7"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25 / 33</a:t>
            </a:r>
          </a:p>
        </p:txBody>
      </p:sp>
    </p:spTree>
    <p:extLst>
      <p:ext uri="{BB962C8B-B14F-4D97-AF65-F5344CB8AC3E}">
        <p14:creationId xmlns:p14="http://schemas.microsoft.com/office/powerpoint/2010/main" val="27469537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4" name="Content Placeholder 3"/>
          <p:cNvSpPr>
            <a:spLocks noGrp="1"/>
          </p:cNvSpPr>
          <p:nvPr>
            <p:ph idx="1"/>
          </p:nvPr>
        </p:nvSpPr>
        <p:spPr>
          <a:xfrm>
            <a:off x="838200" y="1593670"/>
            <a:ext cx="10515600" cy="4351338"/>
          </a:xfrm>
        </p:spPr>
        <p:txBody>
          <a:bodyPr/>
          <a:lstStyle/>
          <a:p>
            <a:r>
              <a:rPr lang="en-US" dirty="0" smtClean="0"/>
              <a:t>The multiply-imputed “</a:t>
            </a:r>
            <a:r>
              <a:rPr lang="en-US" dirty="0" err="1" smtClean="0"/>
              <a:t>miout</a:t>
            </a:r>
            <a:r>
              <a:rPr lang="en-US" dirty="0" smtClean="0"/>
              <a:t>” dataset</a:t>
            </a:r>
            <a:endParaRPr lang="en-US" dirty="0"/>
          </a:p>
        </p:txBody>
      </p:sp>
      <p:pic>
        <p:nvPicPr>
          <p:cNvPr id="3" name="Picture 2"/>
          <p:cNvPicPr>
            <a:picLocks noChangeAspect="1"/>
          </p:cNvPicPr>
          <p:nvPr/>
        </p:nvPicPr>
        <p:blipFill>
          <a:blip r:embed="rId2"/>
          <a:stretch>
            <a:fillRect/>
          </a:stretch>
        </p:blipFill>
        <p:spPr>
          <a:xfrm>
            <a:off x="2037125" y="2063932"/>
            <a:ext cx="6488199" cy="4267199"/>
          </a:xfrm>
          <a:prstGeom prst="rect">
            <a:avLst/>
          </a:prstGeom>
        </p:spPr>
      </p:pic>
      <p:sp>
        <p:nvSpPr>
          <p:cNvPr id="5"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6"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26 / 33</a:t>
            </a:r>
          </a:p>
        </p:txBody>
      </p:sp>
    </p:spTree>
    <p:extLst>
      <p:ext uri="{BB962C8B-B14F-4D97-AF65-F5344CB8AC3E}">
        <p14:creationId xmlns:p14="http://schemas.microsoft.com/office/powerpoint/2010/main" val="13675720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4" name="Content Placeholder 3"/>
          <p:cNvSpPr>
            <a:spLocks noGrp="1"/>
          </p:cNvSpPr>
          <p:nvPr>
            <p:ph idx="1"/>
          </p:nvPr>
        </p:nvSpPr>
        <p:spPr>
          <a:xfrm>
            <a:off x="838200" y="1593670"/>
            <a:ext cx="10515600" cy="4351338"/>
          </a:xfrm>
        </p:spPr>
        <p:txBody>
          <a:bodyPr/>
          <a:lstStyle/>
          <a:p>
            <a:r>
              <a:rPr lang="en-US" dirty="0" smtClean="0"/>
              <a:t>Then, transform the “</a:t>
            </a:r>
            <a:r>
              <a:rPr lang="en-US" dirty="0" err="1" smtClean="0"/>
              <a:t>miout</a:t>
            </a:r>
            <a:r>
              <a:rPr lang="en-US" dirty="0" smtClean="0"/>
              <a:t>” dataset to a “long” dataset “</a:t>
            </a:r>
            <a:r>
              <a:rPr lang="en-US" dirty="0" err="1" smtClean="0"/>
              <a:t>milong</a:t>
            </a:r>
            <a:r>
              <a:rPr lang="en-US" dirty="0" smtClean="0"/>
              <a:t>”.</a:t>
            </a:r>
            <a:endParaRPr lang="en-US" dirty="0"/>
          </a:p>
        </p:txBody>
      </p:sp>
      <p:pic>
        <p:nvPicPr>
          <p:cNvPr id="5" name="Picture 4"/>
          <p:cNvPicPr>
            <a:picLocks noChangeAspect="1"/>
          </p:cNvPicPr>
          <p:nvPr/>
        </p:nvPicPr>
        <p:blipFill>
          <a:blip r:embed="rId2"/>
          <a:stretch>
            <a:fillRect/>
          </a:stretch>
        </p:blipFill>
        <p:spPr>
          <a:xfrm>
            <a:off x="1791380" y="2037804"/>
            <a:ext cx="7970928" cy="4422151"/>
          </a:xfrm>
          <a:prstGeom prst="rect">
            <a:avLst/>
          </a:prstGeom>
        </p:spPr>
      </p:pic>
      <p:sp>
        <p:nvSpPr>
          <p:cNvPr id="6"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7"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27 / 33</a:t>
            </a:r>
          </a:p>
        </p:txBody>
      </p:sp>
    </p:spTree>
    <p:extLst>
      <p:ext uri="{BB962C8B-B14F-4D97-AF65-F5344CB8AC3E}">
        <p14:creationId xmlns:p14="http://schemas.microsoft.com/office/powerpoint/2010/main" val="15072520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6" name="Content Placeholder 5"/>
          <p:cNvSpPr>
            <a:spLocks noGrp="1"/>
          </p:cNvSpPr>
          <p:nvPr>
            <p:ph idx="1"/>
          </p:nvPr>
        </p:nvSpPr>
        <p:spPr/>
        <p:txBody>
          <a:bodyPr/>
          <a:lstStyle/>
          <a:p>
            <a:endParaRPr lang="en-US"/>
          </a:p>
        </p:txBody>
      </p:sp>
      <p:pic>
        <p:nvPicPr>
          <p:cNvPr id="7" name="Picture 6"/>
          <p:cNvPicPr>
            <a:picLocks noChangeAspect="1"/>
          </p:cNvPicPr>
          <p:nvPr/>
        </p:nvPicPr>
        <p:blipFill>
          <a:blip r:embed="rId2"/>
          <a:stretch>
            <a:fillRect/>
          </a:stretch>
        </p:blipFill>
        <p:spPr>
          <a:xfrm>
            <a:off x="1029788" y="2113710"/>
            <a:ext cx="10256886" cy="3189809"/>
          </a:xfrm>
          <a:prstGeom prst="rect">
            <a:avLst/>
          </a:prstGeom>
        </p:spPr>
      </p:pic>
      <p:sp>
        <p:nvSpPr>
          <p:cNvPr id="8"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9"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28 / 33</a:t>
            </a:r>
          </a:p>
        </p:txBody>
      </p:sp>
    </p:spTree>
    <p:extLst>
      <p:ext uri="{BB962C8B-B14F-4D97-AF65-F5344CB8AC3E}">
        <p14:creationId xmlns:p14="http://schemas.microsoft.com/office/powerpoint/2010/main" val="10963823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6" name="Content Placeholder 5"/>
          <p:cNvSpPr>
            <a:spLocks noGrp="1"/>
          </p:cNvSpPr>
          <p:nvPr>
            <p:ph idx="1"/>
          </p:nvPr>
        </p:nvSpPr>
        <p:spPr/>
        <p:txBody>
          <a:bodyPr/>
          <a:lstStyle/>
          <a:p>
            <a:r>
              <a:rPr lang="en-US" dirty="0" smtClean="0"/>
              <a:t>The “beta” dataset</a:t>
            </a:r>
            <a:endParaRPr lang="en-US" dirty="0"/>
          </a:p>
        </p:txBody>
      </p:sp>
      <p:pic>
        <p:nvPicPr>
          <p:cNvPr id="3" name="Picture 2"/>
          <p:cNvPicPr>
            <a:picLocks noChangeAspect="1"/>
          </p:cNvPicPr>
          <p:nvPr/>
        </p:nvPicPr>
        <p:blipFill>
          <a:blip r:embed="rId2"/>
          <a:stretch>
            <a:fillRect/>
          </a:stretch>
        </p:blipFill>
        <p:spPr>
          <a:xfrm>
            <a:off x="2361110" y="2267495"/>
            <a:ext cx="6579349" cy="3909468"/>
          </a:xfrm>
          <a:prstGeom prst="rect">
            <a:avLst/>
          </a:prstGeom>
        </p:spPr>
      </p:pic>
      <p:sp>
        <p:nvSpPr>
          <p:cNvPr id="7"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8"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29 / 33</a:t>
            </a:r>
          </a:p>
        </p:txBody>
      </p:sp>
    </p:spTree>
    <p:extLst>
      <p:ext uri="{BB962C8B-B14F-4D97-AF65-F5344CB8AC3E}">
        <p14:creationId xmlns:p14="http://schemas.microsoft.com/office/powerpoint/2010/main" val="22514728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pic>
        <p:nvPicPr>
          <p:cNvPr id="4" name="Content Placeholder 3"/>
          <p:cNvPicPr>
            <a:picLocks noGrp="1" noChangeAspect="1"/>
          </p:cNvPicPr>
          <p:nvPr>
            <p:ph idx="1"/>
          </p:nvPr>
        </p:nvPicPr>
        <p:blipFill>
          <a:blip r:embed="rId2"/>
          <a:stretch>
            <a:fillRect/>
          </a:stretch>
        </p:blipFill>
        <p:spPr>
          <a:xfrm>
            <a:off x="838200" y="1851092"/>
            <a:ext cx="9768972" cy="2407399"/>
          </a:xfrm>
          <a:prstGeom prst="rect">
            <a:avLst/>
          </a:prstGeom>
        </p:spPr>
      </p:pic>
      <p:sp>
        <p:nvSpPr>
          <p:cNvPr id="5" name="Rectangle 4"/>
          <p:cNvSpPr/>
          <p:nvPr/>
        </p:nvSpPr>
        <p:spPr>
          <a:xfrm>
            <a:off x="3135086" y="3457303"/>
            <a:ext cx="5495108" cy="22642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H="1" flipV="1">
            <a:off x="6017623" y="3683726"/>
            <a:ext cx="975360" cy="853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6374675" y="4578923"/>
            <a:ext cx="3839193" cy="646331"/>
          </a:xfrm>
          <a:prstGeom prst="rect">
            <a:avLst/>
          </a:prstGeom>
          <a:noFill/>
        </p:spPr>
        <p:txBody>
          <a:bodyPr wrap="none" rtlCol="0">
            <a:spAutoFit/>
          </a:bodyPr>
          <a:lstStyle/>
          <a:p>
            <a:r>
              <a:rPr lang="en-US" dirty="0" smtClean="0"/>
              <a:t>Anything contained in the “Parameter”</a:t>
            </a:r>
          </a:p>
          <a:p>
            <a:r>
              <a:rPr lang="en-US" dirty="0" smtClean="0"/>
              <a:t>Column in the “beta” dataset. </a:t>
            </a:r>
            <a:endParaRPr lang="en-US" dirty="0"/>
          </a:p>
        </p:txBody>
      </p:sp>
      <p:sp>
        <p:nvSpPr>
          <p:cNvPr id="10"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11"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30 / 33</a:t>
            </a:r>
          </a:p>
        </p:txBody>
      </p:sp>
    </p:spTree>
    <p:extLst>
      <p:ext uri="{BB962C8B-B14F-4D97-AF65-F5344CB8AC3E}">
        <p14:creationId xmlns:p14="http://schemas.microsoft.com/office/powerpoint/2010/main" val="39087230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pic>
        <p:nvPicPr>
          <p:cNvPr id="6" name="Picture 5"/>
          <p:cNvPicPr>
            <a:picLocks noChangeAspect="1"/>
          </p:cNvPicPr>
          <p:nvPr/>
        </p:nvPicPr>
        <p:blipFill>
          <a:blip r:embed="rId2"/>
          <a:stretch>
            <a:fillRect/>
          </a:stretch>
        </p:blipFill>
        <p:spPr>
          <a:xfrm>
            <a:off x="553484" y="2017394"/>
            <a:ext cx="11085032" cy="3590926"/>
          </a:xfrm>
          <a:prstGeom prst="rect">
            <a:avLst/>
          </a:prstGeom>
        </p:spPr>
      </p:pic>
      <p:sp>
        <p:nvSpPr>
          <p:cNvPr id="7"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8"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31 / 33</a:t>
            </a:r>
          </a:p>
        </p:txBody>
      </p:sp>
    </p:spTree>
    <p:extLst>
      <p:ext uri="{BB962C8B-B14F-4D97-AF65-F5344CB8AC3E}">
        <p14:creationId xmlns:p14="http://schemas.microsoft.com/office/powerpoint/2010/main" val="13739317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Example: TLC Trial</a:t>
            </a:r>
            <a:endParaRPr lang="en-US" dirty="0" sz="3400" b="1">
              <a:solidFill>
                <a:srgbClr val="0D5F62"/>
              </a:solidFill>
              <a:latin typeface="Calibri"/>
            </a:endParaRPr>
          </a:p>
        </p:txBody>
      </p:sp>
      <p:sp>
        <p:nvSpPr>
          <p:cNvPr id="4" name="Content Placeholder 5"/>
          <p:cNvSpPr>
            <a:spLocks noGrp="1"/>
          </p:cNvSpPr>
          <p:nvPr>
            <p:ph idx="1"/>
          </p:nvPr>
        </p:nvSpPr>
        <p:spPr>
          <a:xfrm>
            <a:off x="838200" y="1825625"/>
            <a:ext cx="10515600" cy="4351338"/>
          </a:xfrm>
        </p:spPr>
        <p:txBody>
          <a:bodyPr/>
          <a:lstStyle/>
          <a:p>
            <a:pPr marL="0" indent="0">
              <a:buNone/>
            </a:pPr>
            <a:r>
              <a:rPr lang="en-US" dirty="0" smtClean="0"/>
              <a:t>Available-data analysis by GEE			MLE by PROC MIXED</a:t>
            </a:r>
            <a:endParaRPr lang="en-US" dirty="0"/>
          </a:p>
        </p:txBody>
      </p:sp>
      <p:pic>
        <p:nvPicPr>
          <p:cNvPr id="3" name="Picture 2"/>
          <p:cNvPicPr>
            <a:picLocks noChangeAspect="1"/>
          </p:cNvPicPr>
          <p:nvPr/>
        </p:nvPicPr>
        <p:blipFill>
          <a:blip r:embed="rId2"/>
          <a:stretch>
            <a:fillRect/>
          </a:stretch>
        </p:blipFill>
        <p:spPr>
          <a:xfrm>
            <a:off x="475025" y="2462621"/>
            <a:ext cx="5757418" cy="3624670"/>
          </a:xfrm>
          <a:prstGeom prst="rect">
            <a:avLst/>
          </a:prstGeom>
        </p:spPr>
      </p:pic>
      <p:pic>
        <p:nvPicPr>
          <p:cNvPr id="5" name="Picture 4"/>
          <p:cNvPicPr>
            <a:picLocks noChangeAspect="1"/>
          </p:cNvPicPr>
          <p:nvPr/>
        </p:nvPicPr>
        <p:blipFill>
          <a:blip r:embed="rId3"/>
          <a:stretch>
            <a:fillRect/>
          </a:stretch>
        </p:blipFill>
        <p:spPr>
          <a:xfrm>
            <a:off x="6595618" y="2462621"/>
            <a:ext cx="4550356" cy="3624670"/>
          </a:xfrm>
          <a:prstGeom prst="rect">
            <a:avLst/>
          </a:prstGeom>
        </p:spPr>
      </p:pic>
      <p:sp>
        <p:nvSpPr>
          <p:cNvPr id="6"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7"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32 / 33</a:t>
            </a:r>
          </a:p>
        </p:txBody>
      </p:sp>
    </p:spTree>
    <p:extLst>
      <p:ext uri="{BB962C8B-B14F-4D97-AF65-F5344CB8AC3E}">
        <p14:creationId xmlns:p14="http://schemas.microsoft.com/office/powerpoint/2010/main" val="2707299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8544"/>
          </a:xfrm>
        </p:spPr>
        <p:txBody>
          <a:bodyPr anchor="ctr" tIns="0" bIns="0">
            <a:normAutofit/>
          </a:bodyPr>
          <a:lstStyle/>
          <a:p>
            <a:pPr algn="l" marL="0" indent="0">
              <a:lnSpc>
                <a:spcPct val="100000"/>
              </a:lnSpc>
              <a:spcBef>
                <a:spcPts val="0"/>
              </a:spcBef>
              <a:spcAft>
                <a:spcPts val="0"/>
              </a:spcAft>
              <a:buNone/>
              <a:defRPr sz="3400" b="1">
                <a:solidFill>
                  <a:srgbClr val="0D5F62"/>
                </a:solidFill>
                <a:latin typeface="Calibri"/>
              </a:defRPr>
            </a:pPr>
            <a:r>
              <a:rPr lang="en-US" dirty="0" smtClean="0" sz="3400" b="1">
                <a:solidFill>
                  <a:srgbClr val="0D5F62"/>
                </a:solidFill>
                <a:latin typeface="Calibri"/>
              </a:rPr>
              <a:t>Summary</a:t>
            </a:r>
            <a:endParaRPr lang="en-US" dirty="0" sz="3400" b="1">
              <a:solidFill>
                <a:srgbClr val="0D5F62"/>
              </a:solidFill>
              <a:latin typeface="Calibri"/>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179954127"/>
              </p:ext>
            </p:extLst>
          </p:nvPr>
        </p:nvGraphicFramePr>
        <p:xfrm>
          <a:off x="1709057" y="2173967"/>
          <a:ext cx="7886700" cy="30378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196303562"/>
                    </a:ext>
                  </a:extLst>
                </a:gridCol>
                <a:gridCol w="2628900">
                  <a:extLst>
                    <a:ext uri="{9D8B030D-6E8A-4147-A177-3AD203B41FA5}">
                      <a16:colId xmlns:a16="http://schemas.microsoft.com/office/drawing/2014/main" val="1095876163"/>
                    </a:ext>
                  </a:extLst>
                </a:gridCol>
                <a:gridCol w="2628900">
                  <a:extLst>
                    <a:ext uri="{9D8B030D-6E8A-4147-A177-3AD203B41FA5}">
                      <a16:colId xmlns:a16="http://schemas.microsoft.com/office/drawing/2014/main" val="3666823039"/>
                    </a:ext>
                  </a:extLst>
                </a:gridCol>
              </a:tblGrid>
              <a:tr h="370840">
                <a:tc>
                  <a:txBody>
                    <a:bodyPr/>
                    <a:lstStyle/>
                    <a:p>
                      <a:pPr algn="ctr"/>
                      <a:r>
                        <a:rPr lang="en-US" dirty="0" smtClean="0"/>
                        <a:t>Missing Data Mechanism</a:t>
                      </a:r>
                      <a:endParaRPr lang="en-US" dirty="0"/>
                    </a:p>
                  </a:txBody>
                  <a:tcPr/>
                </a:tc>
                <a:tc>
                  <a:txBody>
                    <a:bodyPr/>
                    <a:lstStyle/>
                    <a:p>
                      <a:pPr algn="ctr"/>
                      <a:r>
                        <a:rPr lang="en-US" dirty="0" smtClean="0"/>
                        <a:t>Method</a:t>
                      </a:r>
                      <a:endParaRPr lang="en-US" dirty="0"/>
                    </a:p>
                  </a:txBody>
                  <a:tcPr/>
                </a:tc>
                <a:tc>
                  <a:txBody>
                    <a:bodyPr/>
                    <a:lstStyle/>
                    <a:p>
                      <a:pPr algn="ctr"/>
                      <a:r>
                        <a:rPr lang="en-US" dirty="0" smtClean="0"/>
                        <a:t>SAS</a:t>
                      </a:r>
                      <a:r>
                        <a:rPr lang="en-US" baseline="0" dirty="0" smtClean="0"/>
                        <a:t> Implementation</a:t>
                      </a:r>
                      <a:endParaRPr lang="en-US" dirty="0"/>
                    </a:p>
                  </a:txBody>
                  <a:tcPr/>
                </a:tc>
                <a:extLst>
                  <a:ext uri="{0D108BD9-81ED-4DB2-BD59-A6C34878D82A}">
                    <a16:rowId xmlns:a16="http://schemas.microsoft.com/office/drawing/2014/main" val="1140890722"/>
                  </a:ext>
                </a:extLst>
              </a:tr>
              <a:tr h="370840">
                <a:tc>
                  <a:txBody>
                    <a:bodyPr/>
                    <a:lstStyle/>
                    <a:p>
                      <a:pPr algn="ctr"/>
                      <a:r>
                        <a:rPr lang="en-US" dirty="0" smtClean="0"/>
                        <a:t>MCAR</a:t>
                      </a:r>
                      <a:endParaRPr lang="en-US" dirty="0"/>
                    </a:p>
                  </a:txBody>
                  <a:tcPr/>
                </a:tc>
                <a:tc>
                  <a:txBody>
                    <a:bodyPr/>
                    <a:lstStyle/>
                    <a:p>
                      <a:pPr algn="ctr"/>
                      <a:r>
                        <a:rPr lang="en-US" dirty="0" smtClean="0"/>
                        <a:t>Complete-case/Available</a:t>
                      </a:r>
                      <a:r>
                        <a:rPr lang="en-US" baseline="0" dirty="0" smtClean="0"/>
                        <a:t> data analysis</a:t>
                      </a:r>
                      <a:endParaRPr lang="en-US" dirty="0"/>
                    </a:p>
                  </a:txBody>
                  <a:tcPr/>
                </a:tc>
                <a:tc>
                  <a:txBody>
                    <a:bodyPr/>
                    <a:lstStyle/>
                    <a:p>
                      <a:pPr algn="ctr"/>
                      <a:r>
                        <a:rPr lang="en-US" dirty="0" smtClean="0"/>
                        <a:t>GEE by</a:t>
                      </a:r>
                      <a:r>
                        <a:rPr lang="en-US" baseline="0" dirty="0" smtClean="0"/>
                        <a:t> PROC GEMOD</a:t>
                      </a:r>
                      <a:endParaRPr lang="en-US" dirty="0"/>
                    </a:p>
                  </a:txBody>
                  <a:tcPr/>
                </a:tc>
                <a:extLst>
                  <a:ext uri="{0D108BD9-81ED-4DB2-BD59-A6C34878D82A}">
                    <a16:rowId xmlns:a16="http://schemas.microsoft.com/office/drawing/2014/main" val="3942197607"/>
                  </a:ext>
                </a:extLst>
              </a:tr>
              <a:tr h="370840">
                <a:tc>
                  <a:txBody>
                    <a:bodyPr/>
                    <a:lstStyle/>
                    <a:p>
                      <a:pPr algn="ctr"/>
                      <a:r>
                        <a:rPr lang="en-US" dirty="0" smtClean="0"/>
                        <a:t>MAR</a:t>
                      </a:r>
                      <a:endParaRPr lang="en-US" dirty="0"/>
                    </a:p>
                  </a:txBody>
                  <a:tcPr/>
                </a:tc>
                <a:tc>
                  <a:txBody>
                    <a:bodyPr/>
                    <a:lstStyle/>
                    <a:p>
                      <a:pPr algn="ctr"/>
                      <a:r>
                        <a:rPr lang="en-US" dirty="0" smtClean="0"/>
                        <a:t>MLE</a:t>
                      </a:r>
                      <a:endParaRPr lang="en-US" dirty="0"/>
                    </a:p>
                  </a:txBody>
                  <a:tcPr/>
                </a:tc>
                <a:tc>
                  <a:txBody>
                    <a:bodyPr/>
                    <a:lstStyle/>
                    <a:p>
                      <a:pPr algn="ctr"/>
                      <a:r>
                        <a:rPr lang="en-US" dirty="0" smtClean="0"/>
                        <a:t>PROC MIXED/GLIMMIX</a:t>
                      </a:r>
                      <a:endParaRPr lang="en-US" dirty="0"/>
                    </a:p>
                  </a:txBody>
                  <a:tcPr/>
                </a:tc>
                <a:extLst>
                  <a:ext uri="{0D108BD9-81ED-4DB2-BD59-A6C34878D82A}">
                    <a16:rowId xmlns:a16="http://schemas.microsoft.com/office/drawing/2014/main" val="2488333545"/>
                  </a:ext>
                </a:extLst>
              </a:tr>
              <a:tr h="370840">
                <a:tc>
                  <a:txBody>
                    <a:bodyPr/>
                    <a:lstStyle/>
                    <a:p>
                      <a:pPr algn="ctr"/>
                      <a:endParaRPr lang="en-US" dirty="0"/>
                    </a:p>
                  </a:txBody>
                  <a:tcPr/>
                </a:tc>
                <a:tc>
                  <a:txBody>
                    <a:bodyPr/>
                    <a:lstStyle/>
                    <a:p>
                      <a:pPr algn="ctr"/>
                      <a:r>
                        <a:rPr lang="en-US" dirty="0" smtClean="0"/>
                        <a:t>MI</a:t>
                      </a:r>
                      <a:endParaRPr lang="en-US" dirty="0"/>
                    </a:p>
                  </a:txBody>
                  <a:tcPr/>
                </a:tc>
                <a:tc>
                  <a:txBody>
                    <a:bodyPr/>
                    <a:lstStyle/>
                    <a:p>
                      <a:pPr algn="ctr"/>
                      <a:r>
                        <a:rPr lang="en-US" dirty="0" smtClean="0"/>
                        <a:t>PROC MI combined with standard procedure (e.g., GENMOD)</a:t>
                      </a:r>
                      <a:endParaRPr lang="en-US" dirty="0"/>
                    </a:p>
                  </a:txBody>
                  <a:tcPr/>
                </a:tc>
                <a:extLst>
                  <a:ext uri="{0D108BD9-81ED-4DB2-BD59-A6C34878D82A}">
                    <a16:rowId xmlns:a16="http://schemas.microsoft.com/office/drawing/2014/main" val="1480796209"/>
                  </a:ext>
                </a:extLst>
              </a:tr>
              <a:tr h="370840">
                <a:tc>
                  <a:txBody>
                    <a:bodyPr/>
                    <a:lstStyle/>
                    <a:p>
                      <a:pPr algn="ctr"/>
                      <a:endParaRPr lang="en-US" dirty="0"/>
                    </a:p>
                  </a:txBody>
                  <a:tcPr/>
                </a:tc>
                <a:tc>
                  <a:txBody>
                    <a:bodyPr/>
                    <a:lstStyle/>
                    <a:p>
                      <a:pPr algn="ctr"/>
                      <a:r>
                        <a:rPr lang="en-US" dirty="0" smtClean="0"/>
                        <a:t>IPW</a:t>
                      </a:r>
                      <a:endParaRPr lang="en-US" dirty="0"/>
                    </a:p>
                  </a:txBody>
                  <a:tcPr/>
                </a:tc>
                <a:tc>
                  <a:txBody>
                    <a:bodyPr/>
                    <a:lstStyle/>
                    <a:p>
                      <a:pPr algn="ctr"/>
                      <a:r>
                        <a:rPr lang="en-US" dirty="0" smtClean="0"/>
                        <a:t>? (Next lecture)</a:t>
                      </a:r>
                      <a:endParaRPr lang="en-US" dirty="0"/>
                    </a:p>
                  </a:txBody>
                  <a:tcPr/>
                </a:tc>
                <a:extLst>
                  <a:ext uri="{0D108BD9-81ED-4DB2-BD59-A6C34878D82A}">
                    <a16:rowId xmlns:a16="http://schemas.microsoft.com/office/drawing/2014/main" val="3350139853"/>
                  </a:ext>
                </a:extLst>
              </a:tr>
              <a:tr h="370840">
                <a:tc>
                  <a:txBody>
                    <a:bodyPr/>
                    <a:lstStyle/>
                    <a:p>
                      <a:pPr algn="ctr"/>
                      <a:r>
                        <a:rPr lang="en-US" dirty="0" smtClean="0"/>
                        <a:t>NMAR</a:t>
                      </a:r>
                      <a:endParaRPr lang="en-US" dirty="0"/>
                    </a:p>
                  </a:txBody>
                  <a:tcPr/>
                </a:tc>
                <a:tc>
                  <a:txBody>
                    <a:bodyPr/>
                    <a:lstStyle/>
                    <a:p>
                      <a:pPr algn="ctr"/>
                      <a:endParaRPr lang="en-US" dirty="0"/>
                    </a:p>
                  </a:txBody>
                  <a:tcPr>
                    <a:solidFill>
                      <a:srgbClr val="00B0F0"/>
                    </a:solidFill>
                  </a:tcPr>
                </a:tc>
                <a:tc>
                  <a:txBody>
                    <a:bodyPr/>
                    <a:lstStyle/>
                    <a:p>
                      <a:pPr algn="ctr"/>
                      <a:endParaRPr lang="en-US" dirty="0"/>
                    </a:p>
                  </a:txBody>
                  <a:tcPr>
                    <a:solidFill>
                      <a:srgbClr val="00B0F0"/>
                    </a:solidFill>
                  </a:tcPr>
                </a:tc>
                <a:extLst>
                  <a:ext uri="{0D108BD9-81ED-4DB2-BD59-A6C34878D82A}">
                    <a16:rowId xmlns:a16="http://schemas.microsoft.com/office/drawing/2014/main" val="3932316320"/>
                  </a:ext>
                </a:extLst>
              </a:tr>
            </a:tbl>
          </a:graphicData>
        </a:graphic>
      </p:graphicFrame>
      <p:sp>
        <p:nvSpPr>
          <p:cNvPr id="7" name="Course footer"/>
          <p:cNvSpPr txBox="1"/>
          <p:nvPr/>
        </p:nvSpPr>
        <p:spPr>
          <a:xfrm>
            <a:off x="914400" y="6553200"/>
            <a:ext cx="8096250" cy="190500"/>
          </a:xfrm>
          <a:prstGeom prst="rect">
            <a:avLst/>
          </a:prstGeom>
          <a:noFill/>
          <a:ln>
            <a:noFill/>
          </a:ln>
        </p:spPr>
        <p:txBody>
          <a:bodyPr lIns="0" rIns="0" tIns="0" bIns="0">
            <a:noAutofit/>
          </a:bodyPr>
          <a:lstStyle/>
          <a:p>
            <a:pPr algn="l">
              <a:buNone/>
            </a:pPr>
            <a:r>
              <a:rPr sz="900" lang="en-US">
                <a:solidFill>
                  <a:srgbClr val="6B7B82"/>
                </a:solidFill>
                <a:latin typeface="Calibri"/>
              </a:rPr>
              <a:t>PHS 651   /   Lecture 19</a:t>
            </a:r>
          </a:p>
        </p:txBody>
      </p:sp>
      <p:sp>
        <p:nvSpPr>
          <p:cNvPr id="8" name="Course footer"/>
          <p:cNvSpPr txBox="1"/>
          <p:nvPr/>
        </p:nvSpPr>
        <p:spPr>
          <a:xfrm>
            <a:off x="10572750" y="6553200"/>
            <a:ext cx="704850" cy="190500"/>
          </a:xfrm>
          <a:prstGeom prst="rect">
            <a:avLst/>
          </a:prstGeom>
          <a:noFill/>
          <a:ln>
            <a:noFill/>
          </a:ln>
        </p:spPr>
        <p:txBody>
          <a:bodyPr lIns="0" rIns="0" tIns="0" bIns="0">
            <a:noAutofit/>
          </a:bodyPr>
          <a:lstStyle/>
          <a:p>
            <a:pPr algn="r">
              <a:buNone/>
            </a:pPr>
            <a:r>
              <a:rPr sz="900" lang="en-US">
                <a:solidFill>
                  <a:srgbClr val="6B7B82"/>
                </a:solidFill>
                <a:latin typeface="Calibri"/>
              </a:rPr>
              <a:t>33 / 33</a:t>
            </a:r>
          </a:p>
        </p:txBody>
      </p:sp>
    </p:spTree>
    <p:extLst>
      <p:ext uri="{BB962C8B-B14F-4D97-AF65-F5344CB8AC3E}">
        <p14:creationId xmlns:p14="http://schemas.microsoft.com/office/powerpoint/2010/main" val="2678215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172D38"/>
      </a:dk1>
      <a:lt1>
        <a:srgbClr val="FFFFFF"/>
      </a:lt1>
      <a:dk2>
        <a:srgbClr val="102A35"/>
      </a:dk2>
      <a:lt2>
        <a:srgbClr val="F2F7F6"/>
      </a:lt2>
      <a:accent1>
        <a:srgbClr val="0D5F62"/>
      </a:accent1>
      <a:accent2>
        <a:srgbClr val="BD781B"/>
      </a:accent2>
      <a:accent3>
        <a:srgbClr val="426B8A"/>
      </a:accent3>
      <a:accent4>
        <a:srgbClr val="795E8B"/>
      </a:accent4>
      <a:accent5>
        <a:srgbClr val="538070"/>
      </a:accent5>
      <a:accent6>
        <a:srgbClr val="8A4E4E"/>
      </a:accent6>
      <a:hlink>
        <a:srgbClr val="0D5F62"/>
      </a:hlink>
      <a:folHlink>
        <a:srgbClr val="795E8B"/>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172D38"/>
      </a:dk1>
      <a:lt1>
        <a:srgbClr val="FFFFFF"/>
      </a:lt1>
      <a:dk2>
        <a:srgbClr val="102A35"/>
      </a:dk2>
      <a:lt2>
        <a:srgbClr val="F2F7F6"/>
      </a:lt2>
      <a:accent1>
        <a:srgbClr val="0D5F62"/>
      </a:accent1>
      <a:accent2>
        <a:srgbClr val="BD781B"/>
      </a:accent2>
      <a:accent3>
        <a:srgbClr val="426B8A"/>
      </a:accent3>
      <a:accent4>
        <a:srgbClr val="795E8B"/>
      </a:accent4>
      <a:accent5>
        <a:srgbClr val="538070"/>
      </a:accent5>
      <a:accent6>
        <a:srgbClr val="8A4E4E"/>
      </a:accent6>
      <a:hlink>
        <a:srgbClr val="0D5F62"/>
      </a:hlink>
      <a:folHlink>
        <a:srgbClr val="795E8B"/>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52714</TotalTime>
  <Words>1352</Words>
  <Application>Microsoft Office PowerPoint</Application>
  <PresentationFormat>Widescreen</PresentationFormat>
  <Paragraphs>179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Cambria Math</vt:lpstr>
      <vt:lpstr>Office Theme</vt:lpstr>
      <vt:lpstr>Advanced Regression Methods for Population Health</vt:lpstr>
      <vt:lpstr>Outline</vt:lpstr>
      <vt:lpstr>Missing Data in Longitudinal Studies</vt:lpstr>
      <vt:lpstr>Missing Data in Longitudinal Studies</vt:lpstr>
      <vt:lpstr>Reason for Missingness</vt:lpstr>
      <vt:lpstr>Reason for Missingness</vt:lpstr>
      <vt:lpstr>Missing Data in Longitudinal Studies</vt:lpstr>
      <vt:lpstr>Missing Data in Longitudinal Studies</vt:lpstr>
      <vt:lpstr>Missing Data Mechanisms</vt:lpstr>
      <vt:lpstr>Missing Data Mechanisms</vt:lpstr>
      <vt:lpstr>Missing Data Mechanisms</vt:lpstr>
      <vt:lpstr>Missing Data Mechanisms</vt:lpstr>
      <vt:lpstr>Missing Data Mechanisms</vt:lpstr>
      <vt:lpstr>Methods for Missing Data</vt:lpstr>
      <vt:lpstr>Methods for Missing Data</vt:lpstr>
      <vt:lpstr>Methods for Missing Data</vt:lpstr>
      <vt:lpstr>Multiple Imputations</vt:lpstr>
      <vt:lpstr>Multiple Imputations</vt:lpstr>
      <vt:lpstr>Multiple Imputations </vt:lpstr>
      <vt:lpstr>Multiple Imputations by PROC MI</vt:lpstr>
      <vt:lpstr>Multiple Imputations by PROC MI</vt:lpstr>
      <vt:lpstr>Multiple Imputations by PROC MI</vt:lpstr>
      <vt:lpstr>Example: TLC Trial</vt:lpstr>
      <vt:lpstr>Example: TLC Trial</vt:lpstr>
      <vt:lpstr>Example: TLC Trial</vt:lpstr>
      <vt:lpstr>Example: TLC Trial</vt:lpstr>
      <vt:lpstr>Example: TLC Trial</vt:lpstr>
      <vt:lpstr>Example: TLC Trial</vt:lpstr>
      <vt:lpstr>Example: TLC Trial</vt:lpstr>
      <vt:lpstr>Example: TLC Trial</vt:lpstr>
      <vt:lpstr>Example: TLC Trial</vt:lpstr>
      <vt:lpstr>Example: TLC Trial</vt:lpstr>
      <vt:lpstr>Summary</vt:lpstr>
    </vt:vector>
  </TitlesOfParts>
  <Company>University of Wisconsin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Regression Methods for Population Health</dc:title>
  <dc:creator>Lu Mao</dc:creator>
  <cp:lastModifiedBy>LU MAO</cp:lastModifiedBy>
  <cp:revision>1464</cp:revision>
  <dcterms:created xsi:type="dcterms:W3CDTF">2019-01-16T21:45:55Z</dcterms:created>
  <dcterms:modified xsi:type="dcterms:W3CDTF">2019-04-15T18:51:03Z</dcterms:modified>
</cp:coreProperties>
</file>