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69" r:id="rId14"/>
    <p:sldId id="271" r:id="rId15"/>
    <p:sldId id="272" r:id="rId16"/>
    <p:sldId id="270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461BF-3A0B-4741-BBEC-C28942B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8764D-D557-44A6-87C9-67175E76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Linear Mixed Effects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97083-E7B5-4255-9209-779F81B6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08D58-ED17-4447-A332-60E4F2EC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2C4BC-6C74-4BF0-B5A6-0E519DF7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CCE0F-7366-49C1-8E6B-1E29C6B9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135974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Features of mixed effects models</a:t>
            </a: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Random intercept and random slope models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An Example with </a:t>
            </a:r>
            <a:r>
              <a:rPr lang="en-US" sz="2800" dirty="0"/>
              <a:t>Exercise Therapy Trial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32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Effects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i="1" u="sng" dirty="0"/>
                  <a:t>Basic idea</a:t>
                </a:r>
                <a:r>
                  <a:rPr lang="en-US" dirty="0"/>
                  <a:t>: Individuals in population are assumed to have their own </a:t>
                </a:r>
                <a:r>
                  <a:rPr lang="en-US" u="sng" dirty="0" smtClean="0"/>
                  <a:t>subject-specific</a:t>
                </a:r>
                <a:r>
                  <a:rPr lang="en-US" dirty="0" smtClean="0"/>
                  <a:t/>
                </a:r>
                <a:r>
                  <a:rPr lang="en-US" dirty="0"/>
                  <a:t>mean response trajectories over </a:t>
                </a:r>
                <a:r>
                  <a:rPr lang="en-US" dirty="0" smtClean="0"/>
                  <a:t>time.</a:t>
                </a:r>
              </a:p>
              <a:p>
                <a:r>
                  <a:rPr lang="en-US" dirty="0" smtClean="0"/>
                  <a:t>Allow some </a:t>
                </a:r>
                <a:r>
                  <a:rPr lang="en-US" dirty="0"/>
                  <a:t>of the regression parameters to vary </a:t>
                </a:r>
                <a:r>
                  <a:rPr lang="en-US" dirty="0" smtClean="0"/>
                  <a:t>randomly (but not freely!) from one </a:t>
                </a:r>
                <a:r>
                  <a:rPr lang="en-US" dirty="0"/>
                  <a:t>individual to another, thereby accounting </a:t>
                </a:r>
                <a:r>
                  <a:rPr lang="en-US" dirty="0" smtClean="0"/>
                  <a:t>for</a:t>
                </a:r>
                <a:r>
                  <a:rPr lang="en-US" dirty="0"/>
                  <a:t/>
                </a:r>
                <a:r>
                  <a:rPr lang="en-US" dirty="0" smtClean="0"/>
                  <a:t>heterogeneity </a:t>
                </a:r>
                <a:r>
                  <a:rPr lang="en-US" dirty="0"/>
                  <a:t>in the </a:t>
                </a:r>
                <a:r>
                  <a:rPr lang="en-US" dirty="0" smtClean="0"/>
                  <a:t>population.</a:t>
                </a:r>
              </a:p>
              <a:p>
                <a:r>
                  <a:rPr lang="en-US" dirty="0" smtClean="0"/>
                  <a:t>Two sides of the same coin:</a:t>
                </a:r>
              </a:p>
              <a:p>
                <a:pPr marL="0" indent="0">
                  <a:buNone/>
                </a:pPr>
                <a:r>
                  <a:rPr lang="en-US" dirty="0" smtClean="0"/>
                  <a:t>	Between-subject variation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 smtClean="0"/>
                  <a:t> Within-subject correlation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32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Mixed Effects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u="sng" dirty="0" smtClean="0"/>
              <a:t>Distinctive </a:t>
            </a:r>
            <a:r>
              <a:rPr lang="en-US" i="1" u="sng" dirty="0"/>
              <a:t>feature</a:t>
            </a:r>
            <a:r>
              <a:rPr lang="en-US" dirty="0"/>
              <a:t>: mean response modelled as a combination of </a:t>
            </a:r>
            <a:r>
              <a:rPr lang="en-US" dirty="0" smtClean="0"/>
              <a:t>population characteristics </a:t>
            </a:r>
            <a:r>
              <a:rPr lang="en-US" dirty="0"/>
              <a:t>(</a:t>
            </a:r>
            <a:r>
              <a:rPr lang="en-US" i="1" u="sng" dirty="0"/>
              <a:t>fixed effects</a:t>
            </a:r>
            <a:r>
              <a:rPr lang="en-US" dirty="0"/>
              <a:t>) assumed to be shared by all individuals, </a:t>
            </a:r>
            <a:r>
              <a:rPr lang="en-US" dirty="0" smtClean="0"/>
              <a:t>and subject-specific </a:t>
            </a:r>
            <a:r>
              <a:rPr lang="en-US" dirty="0"/>
              <a:t>effects (</a:t>
            </a:r>
            <a:r>
              <a:rPr lang="en-US" i="1" u="sng" dirty="0"/>
              <a:t>random effects</a:t>
            </a:r>
            <a:r>
              <a:rPr lang="en-US" dirty="0"/>
              <a:t>) that are unique to a </a:t>
            </a:r>
            <a:r>
              <a:rPr lang="en-US" dirty="0" smtClean="0"/>
              <a:t>particular individual.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Fixed effects: target of </a:t>
            </a:r>
            <a:r>
              <a:rPr lang="en-US" sz="2800" dirty="0" smtClean="0"/>
              <a:t>inference;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 smtClean="0"/>
              <a:t>Random effects: a construct to account for between-subject heterogeneity.</a:t>
            </a:r>
            <a:endParaRPr lang="en-US" sz="2800" dirty="0"/>
          </a:p>
          <a:p>
            <a:r>
              <a:rPr lang="en-US" dirty="0" smtClean="0"/>
              <a:t>The </a:t>
            </a:r>
            <a:r>
              <a:rPr lang="en-US" dirty="0"/>
              <a:t>term </a:t>
            </a:r>
            <a:r>
              <a:rPr lang="en-US" i="1" u="sng" dirty="0"/>
              <a:t>mixed</a:t>
            </a:r>
            <a:r>
              <a:rPr lang="en-US" i="1" dirty="0"/>
              <a:t/>
            </a:r>
            <a:r>
              <a:rPr lang="en-US" dirty="0"/>
              <a:t>denotes that model contains both </a:t>
            </a:r>
            <a:r>
              <a:rPr lang="en-US" u="sng" dirty="0"/>
              <a:t>fixed</a:t>
            </a:r>
            <a:r>
              <a:rPr lang="en-US" dirty="0"/>
              <a:t> and </a:t>
            </a:r>
            <a:r>
              <a:rPr lang="en-US" u="sng" dirty="0"/>
              <a:t>random</a:t>
            </a:r>
            <a:r>
              <a:rPr lang="en-US" dirty="0"/>
              <a:t> effects.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32</a:t>
            </a:r>
          </a:p>
        </p:txBody>
      </p:sp>
    </p:spTree>
    <p:extLst>
      <p:ext uri="{BB962C8B-B14F-4D97-AF65-F5344CB8AC3E}">
        <p14:creationId xmlns:p14="http://schemas.microsoft.com/office/powerpoint/2010/main" val="155838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 intercept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mean response can be modelled by a familiar regression </a:t>
            </a:r>
            <a:r>
              <a:rPr lang="en-US" dirty="0" smtClean="0"/>
              <a:t>model. For </a:t>
            </a:r>
            <a:r>
              <a:rPr lang="en-US" dirty="0"/>
              <a:t>example, with a linear trend over time, we may have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With additional covariates, this can be written more generally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609" y="2664414"/>
            <a:ext cx="3686175" cy="466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14" y="3882389"/>
            <a:ext cx="10144125" cy="2019300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32</a:t>
            </a:r>
          </a:p>
        </p:txBody>
      </p:sp>
    </p:spTree>
    <p:extLst>
      <p:ext uri="{BB962C8B-B14F-4D97-AF65-F5344CB8AC3E}">
        <p14:creationId xmlns:p14="http://schemas.microsoft.com/office/powerpoint/2010/main" val="4125115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 intercept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One traditional approach for handling the covariance among repeated</a:t>
            </a:r>
            <a:br>
              <a:rPr lang="en-US" dirty="0" smtClean="0"/>
            </a:br>
            <a:r>
              <a:rPr lang="en-US" dirty="0" smtClean="0"/>
              <a:t>measures is to assume that it arises from a </a:t>
            </a:r>
            <a:r>
              <a:rPr lang="en-US" u="sng" dirty="0" smtClean="0"/>
              <a:t>random subject effect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That is, each subject is assumed to have an (unobserved) underlying level of response which </a:t>
            </a:r>
            <a:r>
              <a:rPr lang="en-US" u="sng" dirty="0" smtClean="0"/>
              <a:t>persists</a:t>
            </a:r>
            <a:r>
              <a:rPr lang="en-US" dirty="0" smtClean="0"/>
              <a:t> across all of his/her repeated measurements.</a:t>
            </a:r>
          </a:p>
          <a:p>
            <a:r>
              <a:rPr lang="en-US" dirty="0" smtClean="0"/>
              <a:t>This subject effect is treated as random and the model becomes 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916" y="4554446"/>
            <a:ext cx="6848475" cy="866775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32</a:t>
            </a:r>
          </a:p>
        </p:txBody>
      </p:sp>
    </p:spTree>
    <p:extLst>
      <p:ext uri="{BB962C8B-B14F-4D97-AF65-F5344CB8AC3E}">
        <p14:creationId xmlns:p14="http://schemas.microsoft.com/office/powerpoint/2010/main" val="70208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 intercept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Equivalently,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a </a:t>
                </a:r>
                <a:r>
                  <a:rPr lang="en-US" u="sng" dirty="0" smtClean="0"/>
                  <a:t>mean-zero random intercept</a:t>
                </a:r>
                <a:r>
                  <a:rPr lang="en-US" dirty="0" smtClean="0"/>
                  <a:t> for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subject and  	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’s are </a:t>
                </a:r>
                <a:r>
                  <a:rPr lang="en-US" u="sng" dirty="0" smtClean="0"/>
                  <a:t>within-subject random errors</a:t>
                </a:r>
                <a:r>
                  <a:rPr lang="en-US" dirty="0" smtClean="0"/>
                  <a:t> (e.g., those due to 	imprecise measurement).</a:t>
                </a:r>
              </a:p>
              <a:p>
                <a:r>
                  <a:rPr lang="en-US" dirty="0" smtClean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’s are not allowed to vary freely but are assumed to be drawn from a certain distribution: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Because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’s vary across subjects,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 represents </a:t>
                </a:r>
                <a:r>
                  <a:rPr lang="en-US" u="sng" dirty="0" smtClean="0"/>
                  <a:t>between-subjects variability</a:t>
                </a:r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2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688" y="2304097"/>
            <a:ext cx="6105525" cy="54292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32</a:t>
            </a:r>
          </a:p>
        </p:txBody>
      </p:sp>
    </p:spTree>
    <p:extLst>
      <p:ext uri="{BB962C8B-B14F-4D97-AF65-F5344CB8AC3E}">
        <p14:creationId xmlns:p14="http://schemas.microsoft.com/office/powerpoint/2010/main" val="624267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 intercept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</a:t>
                </a:r>
                <a:r>
                  <a:rPr lang="en-US" u="sng" dirty="0" smtClean="0"/>
                  <a:t>within-subject</a:t>
                </a:r>
                <a:r>
                  <a:rPr lang="en-US" dirty="0" smtClean="0"/>
                  <a:t/>
                </a:r>
                <a:r>
                  <a:rPr lang="en-US" dirty="0"/>
                  <a:t>random </a:t>
                </a:r>
                <a:r>
                  <a:rPr lang="en-US" dirty="0" smtClean="0"/>
                  <a:t>errors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are assumed to be </a:t>
                </a:r>
                <a:r>
                  <a:rPr lang="en-US" u="sng" dirty="0" smtClean="0"/>
                  <a:t>independent </a:t>
                </a:r>
                <a:r>
                  <a:rPr lang="en-US" dirty="0" smtClean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 </a:t>
                </a:r>
              </a:p>
              <a:p>
                <a:r>
                  <a:rPr lang="en-US" dirty="0" smtClean="0"/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represents the within-subject variability (to accommodate heterogeneous variances, we can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(0, 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)</a:t>
                </a:r>
                <a:r>
                  <a:rPr lang="en-US" dirty="0"/>
                  <a:t>.</a:t>
                </a:r>
                <a:endParaRPr lang="en-US" dirty="0" smtClean="0"/>
              </a:p>
              <a:p>
                <a:r>
                  <a:rPr lang="en-US" dirty="0" smtClean="0"/>
                  <a:t>In addition, we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and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are mutually independent.</a:t>
                </a:r>
              </a:p>
              <a:p>
                <a:r>
                  <a:rPr lang="en-US" dirty="0" smtClean="0"/>
                  <a:t>Overall, we have that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78787"/>
          <a:stretch/>
        </p:blipFill>
        <p:spPr>
          <a:xfrm>
            <a:off x="1023937" y="4857750"/>
            <a:ext cx="10144125" cy="428354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32</a:t>
            </a:r>
          </a:p>
        </p:txBody>
      </p:sp>
    </p:spTree>
    <p:extLst>
      <p:ext uri="{BB962C8B-B14F-4D97-AF65-F5344CB8AC3E}">
        <p14:creationId xmlns:p14="http://schemas.microsoft.com/office/powerpoint/2010/main" val="421889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 intercept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For the linear trend model, the random intercept model becomes</a:t>
                </a:r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The baseline response for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subject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(apart from random measurement errors)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The </a:t>
                </a:r>
                <a:r>
                  <a:rPr lang="en-US" u="sng" dirty="0" smtClean="0"/>
                  <a:t>average</a:t>
                </a:r>
                <a:r>
                  <a:rPr lang="en-US" dirty="0" smtClean="0"/>
                  <a:t> baseline response </a:t>
                </a:r>
                <a:r>
                  <a:rPr lang="en-US" smtClean="0"/>
                  <a:t>across subjects </a:t>
                </a:r>
                <a:r>
                  <a:rPr lang="en-US" dirty="0" smtClean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The rate of change in mean response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/>
                </a:r>
                <a:r>
                  <a:rPr lang="en-US" u="sng" dirty="0" smtClean="0"/>
                  <a:t>for all subjects</a:t>
                </a:r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705" y="2252661"/>
            <a:ext cx="3933825" cy="52387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32</a:t>
            </a:r>
          </a:p>
        </p:txBody>
      </p:sp>
    </p:spTree>
    <p:extLst>
      <p:ext uri="{BB962C8B-B14F-4D97-AF65-F5344CB8AC3E}">
        <p14:creationId xmlns:p14="http://schemas.microsoft.com/office/powerpoint/2010/main" val="2351739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 intercept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06" y="2138837"/>
            <a:ext cx="5003351" cy="42833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21874" y="1591597"/>
            <a:ext cx="4397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u="sng" dirty="0" smtClean="0"/>
              <a:t>true</a:t>
            </a:r>
            <a:r>
              <a:rPr lang="en-US" dirty="0" smtClean="0"/>
              <a:t> response curves for two randomly selected subjects </a:t>
            </a:r>
            <a:r>
              <a:rPr lang="en-US" dirty="0"/>
              <a:t>A and B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32</a:t>
            </a:r>
          </a:p>
        </p:txBody>
      </p:sp>
    </p:spTree>
    <p:extLst>
      <p:ext uri="{BB962C8B-B14F-4D97-AF65-F5344CB8AC3E}">
        <p14:creationId xmlns:p14="http://schemas.microsoft.com/office/powerpoint/2010/main" val="1780847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 intercept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22469" y="1424818"/>
            <a:ext cx="4101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u="sng" dirty="0" smtClean="0"/>
              <a:t>observed</a:t>
            </a:r>
            <a:r>
              <a:rPr lang="en-US" dirty="0" smtClean="0"/>
              <a:t> responses for two randomly selected subjects </a:t>
            </a:r>
            <a:r>
              <a:rPr lang="en-US" dirty="0"/>
              <a:t>A and </a:t>
            </a:r>
            <a:r>
              <a:rPr lang="en-US" dirty="0" smtClean="0"/>
              <a:t>B, incorporating measurement errors.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129" y="2426526"/>
            <a:ext cx="4641941" cy="409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71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 intercept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introduction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induces correlation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Clearly,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ar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For the </a:t>
                </a:r>
                <a:r>
                  <a:rPr lang="en-US" dirty="0" err="1" smtClean="0"/>
                  <a:t>covariances</a:t>
                </a:r>
                <a:r>
                  <a:rPr lang="en-US" dirty="0" smtClean="0"/>
                  <a:t>,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ov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ov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ov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ov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0+0+0=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32</a:t>
            </a:r>
          </a:p>
        </p:txBody>
      </p:sp>
    </p:spTree>
    <p:extLst>
      <p:ext uri="{BB962C8B-B14F-4D97-AF65-F5344CB8AC3E}">
        <p14:creationId xmlns:p14="http://schemas.microsoft.com/office/powerpoint/2010/main" val="4005679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 intercept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70672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The </a:t>
                </a:r>
                <a:r>
                  <a:rPr lang="en-US" dirty="0"/>
                  <a:t>covariance matrix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has </a:t>
                </a:r>
                <a:r>
                  <a:rPr lang="en-US" dirty="0"/>
                  <a:t>the </a:t>
                </a:r>
                <a:r>
                  <a:rPr lang="en-US" u="sng" dirty="0"/>
                  <a:t>compound symmetry </a:t>
                </a:r>
                <a:r>
                  <a:rPr lang="en-US" dirty="0"/>
                  <a:t>form: </a:t>
                </a:r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70672"/>
              </a:xfrm>
              <a:blipFill>
                <a:blip r:embed="rId2"/>
                <a:stretch>
                  <a:fillRect l="-1043" t="-2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631" y="2586444"/>
            <a:ext cx="6281916" cy="3103787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32</a:t>
            </a:r>
          </a:p>
        </p:txBody>
      </p:sp>
    </p:spTree>
    <p:extLst>
      <p:ext uri="{BB962C8B-B14F-4D97-AF65-F5344CB8AC3E}">
        <p14:creationId xmlns:p14="http://schemas.microsoft.com/office/powerpoint/2010/main" val="3778234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 intercept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(constant) correlation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Corr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u="sng" dirty="0" smtClean="0"/>
                  <a:t>Potential </a:t>
                </a:r>
                <a:r>
                  <a:rPr lang="en-US" u="sng" dirty="0"/>
                  <a:t>Drawback</a:t>
                </a:r>
                <a:r>
                  <a:rPr lang="en-US" dirty="0"/>
                  <a:t>: Variances and correlations are assumed to be </a:t>
                </a:r>
                <a:r>
                  <a:rPr lang="en-US" dirty="0" smtClean="0"/>
                  <a:t>constant.</a:t>
                </a:r>
              </a:p>
              <a:p>
                <a:r>
                  <a:rPr lang="en-US" u="sng" dirty="0" smtClean="0"/>
                  <a:t>Solution</a:t>
                </a:r>
                <a:r>
                  <a:rPr lang="en-US" dirty="0"/>
                  <a:t>: Allow for heterogeneity is trends over </a:t>
                </a:r>
                <a:r>
                  <a:rPr lang="en-US" dirty="0" smtClean="0"/>
                  <a:t>time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random intercepts and </a:t>
                </a:r>
                <a:r>
                  <a:rPr lang="en-US" dirty="0"/>
                  <a:t>slopes.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32</a:t>
            </a:r>
          </a:p>
        </p:txBody>
      </p:sp>
    </p:spTree>
    <p:extLst>
      <p:ext uri="{BB962C8B-B14F-4D97-AF65-F5344CB8AC3E}">
        <p14:creationId xmlns:p14="http://schemas.microsoft.com/office/powerpoint/2010/main" val="4197425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a model with intercepts and slopes that vary randomly </a:t>
            </a:r>
            <a:r>
              <a:rPr lang="en-US" dirty="0" smtClean="0"/>
              <a:t>among individuals:</a:t>
            </a:r>
          </a:p>
          <a:p>
            <a:endParaRPr lang="en-US" dirty="0"/>
          </a:p>
          <a:p>
            <a:r>
              <a:rPr lang="en-US" dirty="0"/>
              <a:t>This model posits that individuals vary not only in their baseline level </a:t>
            </a:r>
            <a:r>
              <a:rPr lang="en-US" dirty="0" smtClean="0"/>
              <a:t>of response but </a:t>
            </a:r>
            <a:r>
              <a:rPr lang="en-US" dirty="0"/>
              <a:t>also in terms of their </a:t>
            </a:r>
            <a:r>
              <a:rPr lang="en-US" u="sng" dirty="0"/>
              <a:t>changes</a:t>
            </a:r>
            <a:r>
              <a:rPr lang="en-US" dirty="0"/>
              <a:t> in the </a:t>
            </a:r>
            <a:r>
              <a:rPr lang="en-US" dirty="0" smtClean="0"/>
              <a:t>response over time.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effects of covariates (e.g., </a:t>
            </a:r>
            <a:r>
              <a:rPr lang="en-US" dirty="0" smtClean="0"/>
              <a:t>treatments</a:t>
            </a:r>
            <a:r>
              <a:rPr lang="en-US" dirty="0"/>
              <a:t>, exposures) can be</a:t>
            </a:r>
            <a:br>
              <a:rPr lang="en-US" dirty="0"/>
            </a:br>
            <a:r>
              <a:rPr lang="en-US" dirty="0"/>
              <a:t>incorporated by allowing mean of intercepts and slopes to depend on</a:t>
            </a:r>
            <a:br>
              <a:rPr lang="en-US" dirty="0"/>
            </a:br>
            <a:r>
              <a:rPr lang="en-US" dirty="0"/>
              <a:t>covariates.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-1" r="2395" b="1429"/>
          <a:stretch/>
        </p:blipFill>
        <p:spPr>
          <a:xfrm>
            <a:off x="2452688" y="2750820"/>
            <a:ext cx="6517142" cy="375557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</a:t>
            </a:r>
            <a:r>
              <a:rPr lang="en-US" sz="3400" dirty="0" b="1">
                <a:solidFill>
                  <a:srgbClr val="0D5F62"/>
                </a:solidFill>
                <a:latin typeface="Calibri"/>
              </a:rPr>
              <a:t/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intercept and slopes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32</a:t>
            </a:r>
          </a:p>
        </p:txBody>
      </p:sp>
    </p:spTree>
    <p:extLst>
      <p:ext uri="{BB962C8B-B14F-4D97-AF65-F5344CB8AC3E}">
        <p14:creationId xmlns:p14="http://schemas.microsoft.com/office/powerpoint/2010/main" val="2726678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</a:t>
            </a:r>
            <a:r>
              <a:rPr lang="en-US" sz="3400" dirty="0" b="1">
                <a:solidFill>
                  <a:srgbClr val="0D5F62"/>
                </a:solidFill>
                <a:latin typeface="Calibri"/>
              </a:rPr>
              <a:t/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intercept and slopes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856" y="1815783"/>
            <a:ext cx="5114964" cy="4361180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32</a:t>
            </a:r>
          </a:p>
        </p:txBody>
      </p:sp>
    </p:spTree>
    <p:extLst>
      <p:ext uri="{BB962C8B-B14F-4D97-AF65-F5344CB8AC3E}">
        <p14:creationId xmlns:p14="http://schemas.microsoft.com/office/powerpoint/2010/main" val="918733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</a:t>
            </a:r>
            <a:r>
              <a:rPr lang="en-US" sz="3400" dirty="0" b="1">
                <a:solidFill>
                  <a:srgbClr val="0D5F62"/>
                </a:solidFill>
                <a:latin typeface="Calibri"/>
              </a:rPr>
              <a:t/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intercept and slopes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For example, consider two-group study:</a:t>
                </a:r>
              </a:p>
              <a:p>
                <a:endParaRPr lang="en-US" dirty="0"/>
              </a:p>
              <a:p>
                <a:r>
                  <a:rPr lang="en-US" dirty="0"/>
                  <a:t>The model can be re-expressed as follows for the </a:t>
                </a:r>
                <a:r>
                  <a:rPr lang="en-US" i="1" dirty="0"/>
                  <a:t>control </a:t>
                </a:r>
                <a:r>
                  <a:rPr lang="en-US" dirty="0" smtClean="0"/>
                  <a:t>group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) </a:t>
                </a:r>
                <a:r>
                  <a:rPr lang="en-US" dirty="0"/>
                  <a:t>and </a:t>
                </a:r>
                <a:r>
                  <a:rPr lang="en-US" i="1" dirty="0" smtClean="0"/>
                  <a:t>treatment </a:t>
                </a:r>
                <a:r>
                  <a:rPr lang="en-US" dirty="0" smtClean="0"/>
                  <a:t>group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𝑡𝑟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) </a:t>
                </a:r>
                <a:r>
                  <a:rPr lang="en-US" dirty="0"/>
                  <a:t>respectively: </a:t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828" y="2372270"/>
            <a:ext cx="7905750" cy="476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100" y="4001294"/>
            <a:ext cx="7562850" cy="1162050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32</a:t>
            </a:r>
          </a:p>
        </p:txBody>
      </p:sp>
    </p:spTree>
    <p:extLst>
      <p:ext uri="{BB962C8B-B14F-4D97-AF65-F5344CB8AC3E}">
        <p14:creationId xmlns:p14="http://schemas.microsoft.com/office/powerpoint/2010/main" val="2455349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</a:t>
            </a:r>
            <a:r>
              <a:rPr lang="en-US" sz="3400" dirty="0" b="1">
                <a:solidFill>
                  <a:srgbClr val="0D5F62"/>
                </a:solidFill>
                <a:latin typeface="Calibri"/>
              </a:rPr>
              <a:t/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intercept and slopes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Finally, consider the covariance structure induced </a:t>
                </a:r>
                <a:r>
                  <a:rPr lang="en-US" dirty="0"/>
                  <a:t>by </a:t>
                </a:r>
                <a:r>
                  <a:rPr lang="en-US" dirty="0" smtClean="0"/>
                  <a:t>random intercepts </a:t>
                </a:r>
                <a:r>
                  <a:rPr lang="en-US" dirty="0"/>
                  <a:t>and slopes. </a:t>
                </a:r>
                <a:endParaRPr lang="en-US" dirty="0" smtClean="0"/>
              </a:p>
              <a:p>
                <a:r>
                  <a:rPr lang="en-US" dirty="0" smtClean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 smtClean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 Then,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For example,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 smtClean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314" y="3676061"/>
            <a:ext cx="8848725" cy="1257300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32</a:t>
            </a:r>
          </a:p>
        </p:txBody>
      </p:sp>
    </p:spTree>
    <p:extLst>
      <p:ext uri="{BB962C8B-B14F-4D97-AF65-F5344CB8AC3E}">
        <p14:creationId xmlns:p14="http://schemas.microsoft.com/office/powerpoint/2010/main" val="92719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Random</a:t>
            </a:r>
            <a:r>
              <a:rPr lang="en-US" sz="3400" dirty="0" b="1">
                <a:solidFill>
                  <a:srgbClr val="0D5F62"/>
                </a:solidFill>
                <a:latin typeface="Calibri"/>
              </a:rPr>
              <a:t/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intercept and slopes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Similarly, it can be shown that</a:t>
            </a:r>
          </a:p>
          <a:p>
            <a:endParaRPr lang="en-US" dirty="0"/>
          </a:p>
          <a:p>
            <a:r>
              <a:rPr lang="en-US" dirty="0" smtClean="0"/>
              <a:t>Thus, the </a:t>
            </a:r>
            <a:r>
              <a:rPr lang="en-US" dirty="0"/>
              <a:t>variances </a:t>
            </a:r>
            <a:r>
              <a:rPr lang="en-US" dirty="0" smtClean="0"/>
              <a:t>and correlations </a:t>
            </a:r>
            <a:r>
              <a:rPr lang="en-US" dirty="0"/>
              <a:t>(</a:t>
            </a:r>
            <a:r>
              <a:rPr lang="en-US" dirty="0" err="1" smtClean="0"/>
              <a:t>covariances</a:t>
            </a:r>
            <a:r>
              <a:rPr lang="en-US" dirty="0" smtClean="0"/>
              <a:t>) </a:t>
            </a:r>
            <a:r>
              <a:rPr lang="en-US" dirty="0"/>
              <a:t>are expressed </a:t>
            </a:r>
            <a:r>
              <a:rPr lang="en-US" dirty="0" smtClean="0"/>
              <a:t>as explicit functions </a:t>
            </a:r>
            <a:r>
              <a:rPr lang="en-US" dirty="0"/>
              <a:t>of </a:t>
            </a:r>
            <a:r>
              <a:rPr lang="en-US" dirty="0" smtClean="0"/>
              <a:t>time.</a:t>
            </a:r>
          </a:p>
          <a:p>
            <a:r>
              <a:rPr lang="en-US" dirty="0" smtClean="0"/>
              <a:t>Random effects can be applied to </a:t>
            </a:r>
            <a:r>
              <a:rPr lang="en-US" u="sng" dirty="0" smtClean="0"/>
              <a:t>any </a:t>
            </a:r>
            <a:r>
              <a:rPr lang="en-US" u="sng" dirty="0"/>
              <a:t>subset of</a:t>
            </a:r>
            <a:r>
              <a:rPr lang="en-US" dirty="0"/>
              <a:t> the regression </a:t>
            </a:r>
            <a:r>
              <a:rPr lang="en-US" dirty="0" smtClean="0"/>
              <a:t>parameters. But typically include only </a:t>
            </a:r>
            <a:r>
              <a:rPr lang="en-US" u="sng" dirty="0" smtClean="0"/>
              <a:t>time-varying variables</a:t>
            </a:r>
            <a:r>
              <a:rPr lang="en-US" dirty="0" smtClean="0"/>
              <a:t> (terms related to time trend).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288" y="2233611"/>
            <a:ext cx="6762750" cy="56197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32</a:t>
            </a:r>
          </a:p>
        </p:txBody>
      </p:sp>
    </p:spTree>
    <p:extLst>
      <p:ext uri="{BB962C8B-B14F-4D97-AF65-F5344CB8AC3E}">
        <p14:creationId xmlns:p14="http://schemas.microsoft.com/office/powerpoint/2010/main" val="2998616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Using vector notation, the linear mixed effects model can be expressed as</a:t>
                </a:r>
                <a:r>
                  <a:rPr lang="en-US" dirty="0"/>
                  <a:t/>
                </a:r>
              </a:p>
              <a:p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Note: Components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are </a:t>
                </a:r>
                <a:r>
                  <a:rPr lang="en-US" u="sng" dirty="0"/>
                  <a:t>a subset of</a:t>
                </a:r>
                <a:r>
                  <a:rPr lang="en-US" dirty="0"/>
                  <a:t> the covariate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For </a:t>
                </a:r>
                <a:r>
                  <a:rPr lang="en-US" dirty="0" smtClean="0"/>
                  <a:t>the model considered earlier: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239" y="2445701"/>
            <a:ext cx="3333750" cy="457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2937194"/>
            <a:ext cx="10248900" cy="781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6010" y="4749026"/>
            <a:ext cx="7581900" cy="476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500" y="5356219"/>
            <a:ext cx="8239125" cy="447675"/>
          </a:xfrm>
          <a:prstGeom prst="rect">
            <a:avLst/>
          </a:prstGeom>
        </p:spPr>
      </p:pic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32</a:t>
            </a:r>
          </a:p>
        </p:txBody>
      </p:sp>
    </p:spTree>
    <p:extLst>
      <p:ext uri="{BB962C8B-B14F-4D97-AF65-F5344CB8AC3E}">
        <p14:creationId xmlns:p14="http://schemas.microsoft.com/office/powerpoint/2010/main" val="3151753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 general, any component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can be allowed to vary randomly by </a:t>
                </a:r>
                <a:r>
                  <a:rPr lang="en-US" dirty="0" smtClean="0"/>
                  <a:t>simply including </a:t>
                </a:r>
                <a:r>
                  <a:rPr lang="en-US" dirty="0"/>
                  <a:t>corresponding covariate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The vector of random </a:t>
                </a:r>
                <a:r>
                  <a:rPr lang="en-US" dirty="0"/>
                  <a:t>effects,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are assumed to have a multivariate </a:t>
                </a:r>
                <a:r>
                  <a:rPr lang="en-US" dirty="0" smtClean="0"/>
                  <a:t>normal distribution </a:t>
                </a:r>
                <a:r>
                  <a:rPr lang="en-US" dirty="0"/>
                  <a:t>with </a:t>
                </a:r>
                <a:r>
                  <a:rPr lang="en-US" u="sng" dirty="0"/>
                  <a:t>mean zero </a:t>
                </a:r>
                <a:r>
                  <a:rPr lang="en-US" dirty="0"/>
                  <a:t>and covariance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𝑀𝑉𝑁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For example, in the random intercepts and slopes model </a:t>
                </a:r>
                <a:r>
                  <a:rPr lang="en-US" dirty="0" smtClean="0"/>
                  <a:t>considered earlier,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dirty="0"/>
                            <m:t> 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32</a:t>
            </a:r>
          </a:p>
        </p:txBody>
      </p:sp>
    </p:spTree>
    <p:extLst>
      <p:ext uri="{BB962C8B-B14F-4D97-AF65-F5344CB8AC3E}">
        <p14:creationId xmlns:p14="http://schemas.microsoft.com/office/powerpoint/2010/main" val="309941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The within-subject errors,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)′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are assumed to have a multivariate </a:t>
                </a:r>
                <a:r>
                  <a:rPr lang="en-US" dirty="0" smtClean="0"/>
                  <a:t>normal distribution </a:t>
                </a:r>
                <a:r>
                  <a:rPr lang="en-US" dirty="0"/>
                  <a:t>with mean zero and covariance </a:t>
                </a:r>
                <a:r>
                  <a:rPr lang="en-US" dirty="0" smtClean="0"/>
                  <a:t>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: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𝑀𝑉𝑁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Usually, it is assumed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 smtClean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i="1" dirty="0" smtClean="0"/>
                  <a:t/>
                </a:r>
                <a:r>
                  <a:rPr lang="en-US" dirty="0" smtClean="0"/>
                  <a:t>is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identity</a:t>
                </a:r>
                <a:br>
                  <a:rPr lang="en-US" dirty="0" smtClean="0"/>
                </a:br>
                <a:r>
                  <a:rPr lang="en-US" dirty="0" smtClean="0"/>
                  <a:t>matrix. That is, the within-subject (measurement) errors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 smtClean="0"/>
                  <a:t> are uncorrelated, with </a:t>
                </a:r>
                <a:r>
                  <a:rPr lang="en-US" dirty="0"/>
                  <a:t>homogeneous </a:t>
                </a:r>
                <a:r>
                  <a:rPr lang="en-US" dirty="0" smtClean="0"/>
                  <a:t>variance (</a:t>
                </a:r>
                <a:r>
                  <a:rPr lang="en-US" u="sng" dirty="0" smtClean="0"/>
                  <a:t>conditional </a:t>
                </a:r>
                <a:r>
                  <a:rPr lang="en-US" u="sng" dirty="0"/>
                  <a:t>independence</a:t>
                </a:r>
                <a:r>
                  <a:rPr lang="en-US" dirty="0"/>
                  <a:t/>
                </a:r>
                <a:r>
                  <a:rPr lang="en-US" dirty="0" smtClean="0"/>
                  <a:t>assumption).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32</a:t>
            </a:r>
          </a:p>
        </p:txBody>
      </p:sp>
    </p:spTree>
    <p:extLst>
      <p:ext uri="{BB962C8B-B14F-4D97-AF65-F5344CB8AC3E}">
        <p14:creationId xmlns:p14="http://schemas.microsoft.com/office/powerpoint/2010/main" val="2450375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Conditional and marginal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linear mixed effects model, </a:t>
            </a:r>
            <a:br>
              <a:rPr lang="en-US" dirty="0"/>
            </a:b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r>
              <a:rPr lang="en-US" dirty="0" smtClean="0"/>
              <a:t>  there </a:t>
            </a:r>
            <a:r>
              <a:rPr lang="en-US" dirty="0"/>
              <a:t>is an important distinction between the </a:t>
            </a:r>
            <a:r>
              <a:rPr lang="en-US" u="sng" dirty="0"/>
              <a:t>conditional</a:t>
            </a:r>
            <a:r>
              <a:rPr lang="en-US" dirty="0"/>
              <a:t> mean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r>
              <a:rPr lang="en-US" dirty="0" smtClean="0"/>
              <a:t>  and the </a:t>
            </a:r>
            <a:r>
              <a:rPr lang="en-US" u="sng" dirty="0" smtClean="0"/>
              <a:t>marginal</a:t>
            </a:r>
            <a:r>
              <a:rPr lang="en-US" dirty="0" smtClean="0"/>
              <a:t> mean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former describes the mean response for </a:t>
            </a:r>
            <a:r>
              <a:rPr lang="en-US" u="sng" dirty="0"/>
              <a:t>an individual</a:t>
            </a:r>
            <a:r>
              <a:rPr lang="en-US" dirty="0"/>
              <a:t>, the latter</a:t>
            </a:r>
            <a:br>
              <a:rPr lang="en-US" dirty="0"/>
            </a:br>
            <a:r>
              <a:rPr lang="en-US" dirty="0"/>
              <a:t>describes the mean response </a:t>
            </a:r>
            <a:r>
              <a:rPr lang="en-US" u="sng" dirty="0"/>
              <a:t>averaged over individuals</a:t>
            </a:r>
            <a:r>
              <a:rPr lang="en-US" dirty="0"/>
              <a:t>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7307" t="17437" b="72857"/>
          <a:stretch/>
        </p:blipFill>
        <p:spPr>
          <a:xfrm>
            <a:off x="3535816" y="2264228"/>
            <a:ext cx="5505722" cy="4354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816" y="3186453"/>
            <a:ext cx="4067175" cy="485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140" y="4214472"/>
            <a:ext cx="2667000" cy="44767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32</a:t>
            </a:r>
          </a:p>
        </p:txBody>
      </p:sp>
    </p:spTree>
    <p:extLst>
      <p:ext uri="{BB962C8B-B14F-4D97-AF65-F5344CB8AC3E}">
        <p14:creationId xmlns:p14="http://schemas.microsoft.com/office/powerpoint/2010/main" val="2659910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 – </a:t>
            </a:r>
            <a:r>
              <a:rPr lang="en-US" sz="3400" dirty="0" b="1">
                <a:solidFill>
                  <a:srgbClr val="0D5F62"/>
                </a:solidFill>
                <a:latin typeface="Calibri"/>
              </a:rPr>
              <a:t>Conditional and marginal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/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373" y="1825625"/>
            <a:ext cx="5033010" cy="4377194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32</a:t>
            </a:r>
          </a:p>
        </p:txBody>
      </p:sp>
    </p:spTree>
    <p:extLst>
      <p:ext uri="{BB962C8B-B14F-4D97-AF65-F5344CB8AC3E}">
        <p14:creationId xmlns:p14="http://schemas.microsoft.com/office/powerpoint/2010/main" val="3213399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–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/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Conditional </a:t>
            </a:r>
            <a:r>
              <a:rPr lang="en-US" sz="3400" dirty="0" b="1">
                <a:solidFill>
                  <a:srgbClr val="0D5F62"/>
                </a:solidFill>
                <a:latin typeface="Calibri"/>
              </a:rPr>
              <a:t>and marginal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/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Variance and covariance also have conditional and marginal versions. </a:t>
                </a:r>
              </a:p>
              <a:p>
                <a:r>
                  <a:rPr lang="en-US" dirty="0" smtClean="0"/>
                  <a:t>The conditional, i.e., </a:t>
                </a:r>
                <a:r>
                  <a:rPr lang="en-US" u="sng" dirty="0" smtClean="0"/>
                  <a:t>within-subject</a:t>
                </a:r>
                <a:r>
                  <a:rPr lang="en-US" dirty="0" smtClean="0"/>
                  <a:t>, covariance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The marginal, i.e., </a:t>
                </a:r>
                <a:r>
                  <a:rPr lang="en-US" u="sng" dirty="0" smtClean="0"/>
                  <a:t>population-wise</a:t>
                </a:r>
                <a:r>
                  <a:rPr lang="en-US" dirty="0" smtClean="0"/>
                  <a:t>, covariance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buNone/>
                </a:pPr>
                <a:endParaRPr lang="en-US" sz="12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r>
                  <a:rPr lang="en-US" dirty="0"/>
                  <a:t/>
                </a:r>
                <a:br>
                  <a:rPr lang="en-US" dirty="0"/>
                </a:br>
                <a:endParaRPr lang="en-US" u="sng" dirty="0" smtClean="0"/>
              </a:p>
              <a:p>
                <a:r>
                  <a:rPr lang="en-US" u="sng" dirty="0" smtClean="0"/>
                  <a:t>Note</a:t>
                </a:r>
                <a:r>
                  <a:rPr lang="en-US" dirty="0" smtClean="0"/>
                  <a:t>: The marginal covariance </a:t>
                </a:r>
                <a:r>
                  <a:rPr lang="en-US" dirty="0"/>
                  <a:t>matrix has non-zero off-diagonal elements (i.e., introduction </a:t>
                </a:r>
                <a:r>
                  <a:rPr lang="en-US" dirty="0" smtClean="0"/>
                  <a:t>of random </a:t>
                </a:r>
                <a:r>
                  <a:rPr lang="en-US" dirty="0"/>
                  <a:t>effects,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induces correlation </a:t>
                </a:r>
                <a:r>
                  <a:rPr lang="en-US" dirty="0" smtClean="0"/>
                  <a:t>among </a:t>
                </a:r>
                <a:r>
                  <a:rPr lang="en-US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32</a:t>
            </a:r>
          </a:p>
        </p:txBody>
      </p:sp>
    </p:spTree>
    <p:extLst>
      <p:ext uri="{BB962C8B-B14F-4D97-AF65-F5344CB8AC3E}">
        <p14:creationId xmlns:p14="http://schemas.microsoft.com/office/powerpoint/2010/main" val="2995333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0791"/>
            <a:ext cx="10515600" cy="4351338"/>
          </a:xfrm>
        </p:spPr>
        <p:txBody>
          <a:bodyPr>
            <a:normAutofit/>
          </a:bodyPr>
          <a:lstStyle/>
          <a:p>
            <a:r>
              <a:rPr lang="en-US" u="sng" dirty="0" smtClean="0"/>
              <a:t>Linear Mixed Effects Models</a:t>
            </a:r>
            <a:r>
              <a:rPr lang="en-US" dirty="0" smtClean="0"/>
              <a:t> vs </a:t>
            </a:r>
            <a:r>
              <a:rPr lang="en-US" u="sng" dirty="0" smtClean="0"/>
              <a:t>General Linear Model</a:t>
            </a:r>
            <a:endParaRPr lang="en-US" dirty="0" smtClean="0"/>
          </a:p>
          <a:p>
            <a:r>
              <a:rPr lang="en-US" dirty="0" smtClean="0"/>
              <a:t>In matrix form,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880450" y="3013555"/>
            <a:ext cx="8431100" cy="2547906"/>
            <a:chOff x="1996738" y="3475109"/>
            <a:chExt cx="8431100" cy="254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4611242" y="4098432"/>
                  <a:ext cx="367060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1242" y="4098432"/>
                  <a:ext cx="3670609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/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4611242" y="3475109"/>
                  <a:ext cx="2647352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1242" y="3475109"/>
                  <a:ext cx="264735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/>
                  </a:r>
                </a:p>
              </p:txBody>
            </p:sp>
          </mc:Fallback>
        </mc:AlternateContent>
        <p:sp>
          <p:nvSpPr>
            <p:cNvPr id="6" name="Rectangle 5"/>
            <p:cNvSpPr/>
            <p:nvPr/>
          </p:nvSpPr>
          <p:spPr>
            <a:xfrm>
              <a:off x="1996738" y="4070793"/>
              <a:ext cx="277550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smtClean="0"/>
                <a:t>Linear Mixed Effects:</a:t>
              </a:r>
              <a:endParaRPr lang="en-US" sz="24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96738" y="3519934"/>
              <a:ext cx="208916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General </a:t>
              </a:r>
              <a:r>
                <a:rPr lang="en-US" sz="2400" dirty="0" smtClean="0"/>
                <a:t>Linear:</a:t>
              </a:r>
              <a:endParaRPr lang="en-US" sz="24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643154" y="3475109"/>
              <a:ext cx="645523" cy="114654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984970" y="5192018"/>
              <a:ext cx="1961890" cy="83099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dirty="0" smtClean="0"/>
                <a:t>Mean (fixed effects) model</a:t>
              </a:r>
              <a:endParaRPr lang="en-US" sz="2400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6618514" y="3519934"/>
              <a:ext cx="429122" cy="46166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6618514" y="4081702"/>
              <a:ext cx="1393372" cy="62332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>
              <a:stCxn id="8" idx="2"/>
              <a:endCxn id="9" idx="0"/>
            </p:cNvCxnSpPr>
            <p:nvPr/>
          </p:nvCxnSpPr>
          <p:spPr>
            <a:xfrm flipH="1">
              <a:off x="5965915" y="4621652"/>
              <a:ext cx="1" cy="57036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0" idx="6"/>
            </p:cNvCxnSpPr>
            <p:nvPr/>
          </p:nvCxnSpPr>
          <p:spPr>
            <a:xfrm flipV="1">
              <a:off x="7047636" y="3750766"/>
              <a:ext cx="235762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8011886" y="3792453"/>
              <a:ext cx="1393371" cy="5979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9318358" y="3519933"/>
                  <a:ext cx="1109480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≔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Cov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8358" y="3519933"/>
                  <a:ext cx="110948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648" r="-73626" b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/>
                  </a:r>
                </a:p>
              </p:txBody>
            </p:sp>
          </mc:Fallback>
        </mc:AlternateContent>
      </p:grpSp>
      <p:sp>
        <p:nvSpPr>
          <p:cNvPr id="2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2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32</a:t>
            </a:r>
          </a:p>
        </p:txBody>
      </p:sp>
    </p:spTree>
    <p:extLst>
      <p:ext uri="{BB962C8B-B14F-4D97-AF65-F5344CB8AC3E}">
        <p14:creationId xmlns:p14="http://schemas.microsoft.com/office/powerpoint/2010/main" val="3955245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Models –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Estimation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/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079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ML estimator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the </a:t>
                </a:r>
                <a:r>
                  <a:rPr lang="en-US" i="1" u="sng" dirty="0"/>
                  <a:t>generalized least squares</a:t>
                </a:r>
                <a:r>
                  <a:rPr lang="en-US" i="1" dirty="0"/>
                  <a:t/>
                </a:r>
                <a:r>
                  <a:rPr lang="en-US" dirty="0"/>
                  <a:t>(GLS) </a:t>
                </a:r>
                <a:r>
                  <a:rPr lang="en-US" dirty="0" smtClean="0"/>
                  <a:t>estimator and </a:t>
                </a:r>
                <a:r>
                  <a:rPr lang="en-US" dirty="0"/>
                  <a:t>depends on marginal covariance among the repeated measures (</a:t>
                </a:r>
                <a:r>
                  <a:rPr lang="en-US" dirty="0" smtClean="0"/>
                  <a:t>see Lecture 5).</a:t>
                </a:r>
                <a:endParaRPr lang="en-US" dirty="0"/>
              </a:p>
              <a:p>
                <a:r>
                  <a:rPr lang="en-US" dirty="0" smtClean="0"/>
                  <a:t>In </a:t>
                </a:r>
                <a:r>
                  <a:rPr lang="en-US" dirty="0"/>
                  <a:t>general, there is no simple expression for ML estimator of the </a:t>
                </a:r>
                <a:r>
                  <a:rPr lang="en-US" dirty="0" smtClean="0"/>
                  <a:t>covariance components, i.e.,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(requires </a:t>
                </a:r>
                <a:r>
                  <a:rPr lang="en-US" u="sng" dirty="0" smtClean="0"/>
                  <a:t>iterative techniques</a:t>
                </a:r>
                <a:r>
                  <a:rPr lang="en-US" dirty="0" smtClean="0"/>
                  <a:t>).</a:t>
                </a:r>
                <a:endParaRPr lang="en-US" dirty="0"/>
              </a:p>
              <a:p>
                <a:r>
                  <a:rPr lang="en-US" dirty="0" smtClean="0"/>
                  <a:t>Because </a:t>
                </a:r>
                <a:r>
                  <a:rPr lang="en-US" dirty="0"/>
                  <a:t>ML estimation of covariance is known to be biased in small </a:t>
                </a:r>
                <a:r>
                  <a:rPr lang="en-US" dirty="0" smtClean="0"/>
                  <a:t>samples, use </a:t>
                </a:r>
                <a:r>
                  <a:rPr lang="en-US" i="1" dirty="0"/>
                  <a:t>restricted </a:t>
                </a:r>
                <a:r>
                  <a:rPr lang="en-US" dirty="0"/>
                  <a:t>ML (</a:t>
                </a:r>
                <a:r>
                  <a:rPr lang="en-US" u="sng" dirty="0"/>
                  <a:t>REML</a:t>
                </a:r>
                <a:r>
                  <a:rPr lang="en-US" dirty="0"/>
                  <a:t>) estimation instead. 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0791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27 / 32</a:t>
            </a:r>
          </a:p>
        </p:txBody>
      </p:sp>
    </p:spTree>
    <p:extLst>
      <p:ext uri="{BB962C8B-B14F-4D97-AF65-F5344CB8AC3E}">
        <p14:creationId xmlns:p14="http://schemas.microsoft.com/office/powerpoint/2010/main" val="4294793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079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Subjects were assigned to one of two weightlifting programs to increase muscle strength.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treatment 1: number of repetitions of the exercises was increased as</a:t>
            </a:r>
            <a:br>
              <a:rPr lang="en-US" dirty="0"/>
            </a:br>
            <a:r>
              <a:rPr lang="en-US" dirty="0"/>
              <a:t>subjects became stronger.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treatment 2: number of repetitions was held constant but amount of weight was increased as subjects became stronger.</a:t>
            </a:r>
            <a:endParaRPr lang="en-US" i="1" dirty="0"/>
          </a:p>
          <a:p>
            <a:r>
              <a:rPr lang="en-US" dirty="0"/>
              <a:t>Measurements of body strength were taken at baseline and on days 2, 4, 6, 8, 10, and 12.</a:t>
            </a:r>
          </a:p>
          <a:p>
            <a:r>
              <a:rPr lang="en-US" dirty="0"/>
              <a:t>We focus only on measures of strength obtained at baseline (or day 0)</a:t>
            </a:r>
            <a:br>
              <a:rPr lang="en-US" dirty="0"/>
            </a:br>
            <a:r>
              <a:rPr lang="en-US" dirty="0"/>
              <a:t>and on days 4, 6, 8, and 12.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28 / 32</a:t>
            </a:r>
          </a:p>
        </p:txBody>
      </p:sp>
    </p:spTree>
    <p:extLst>
      <p:ext uri="{BB962C8B-B14F-4D97-AF65-F5344CB8AC3E}">
        <p14:creationId xmlns:p14="http://schemas.microsoft.com/office/powerpoint/2010/main" val="610222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079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Consider a </a:t>
            </a:r>
            <a:r>
              <a:rPr lang="en-US" dirty="0" smtClean="0"/>
              <a:t>linear trend model </a:t>
            </a:r>
            <a:r>
              <a:rPr lang="en-US" dirty="0"/>
              <a:t>with intercepts and slopes that vary randomly </a:t>
            </a:r>
            <a:r>
              <a:rPr lang="en-US" dirty="0" smtClean="0"/>
              <a:t>among subjects.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246" y="2650944"/>
            <a:ext cx="7905750" cy="476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088" y="3127194"/>
            <a:ext cx="8254908" cy="2479801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29 / 32</a:t>
            </a:r>
          </a:p>
        </p:txBody>
      </p:sp>
    </p:spTree>
    <p:extLst>
      <p:ext uri="{BB962C8B-B14F-4D97-AF65-F5344CB8AC3E}">
        <p14:creationId xmlns:p14="http://schemas.microsoft.com/office/powerpoint/2010/main" val="9698122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166" y="1775618"/>
            <a:ext cx="3766594" cy="41823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109" y="1775617"/>
            <a:ext cx="6161451" cy="3388171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30 / 32</a:t>
            </a:r>
          </a:p>
        </p:txBody>
      </p:sp>
    </p:spTree>
    <p:extLst>
      <p:ext uri="{BB962C8B-B14F-4D97-AF65-F5344CB8AC3E}">
        <p14:creationId xmlns:p14="http://schemas.microsoft.com/office/powerpoint/2010/main" val="2351716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105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Based on the estimates of the fixed </a:t>
            </a:r>
            <a:r>
              <a:rPr lang="en-US" dirty="0" smtClean="0"/>
              <a:t>effects: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constant rate of increase in strength in group 1 is 0.173 per </a:t>
            </a:r>
            <a:r>
              <a:rPr lang="en-US" dirty="0" smtClean="0"/>
              <a:t>day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constant rate of increase in strength in group 2 is </a:t>
            </a:r>
            <a:r>
              <a:rPr lang="en-US" dirty="0" smtClean="0"/>
              <a:t>0.135 (0</a:t>
            </a:r>
            <a:r>
              <a:rPr lang="en-US" i="1" dirty="0" smtClean="0"/>
              <a:t>.</a:t>
            </a:r>
            <a:r>
              <a:rPr lang="en-US" dirty="0" smtClean="0"/>
              <a:t>173 </a:t>
            </a:r>
            <a:r>
              <a:rPr lang="en-US" i="1" dirty="0" smtClean="0"/>
              <a:t>– </a:t>
            </a:r>
            <a:r>
              <a:rPr lang="en-US" dirty="0" smtClean="0"/>
              <a:t>0</a:t>
            </a:r>
            <a:r>
              <a:rPr lang="en-US" i="1" dirty="0" smtClean="0"/>
              <a:t>.</a:t>
            </a:r>
            <a:r>
              <a:rPr lang="en-US" dirty="0" smtClean="0"/>
              <a:t>038</a:t>
            </a:r>
            <a:r>
              <a:rPr lang="en-US" dirty="0"/>
              <a:t>) per </a:t>
            </a:r>
            <a:r>
              <a:rPr lang="en-US" dirty="0" smtClean="0"/>
              <a:t>day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difference between these two rates, </a:t>
            </a:r>
            <a:r>
              <a:rPr lang="en-US" i="1" dirty="0"/>
              <a:t>– </a:t>
            </a:r>
            <a:r>
              <a:rPr lang="en-US" dirty="0" smtClean="0"/>
              <a:t>0.038 </a:t>
            </a:r>
            <a:r>
              <a:rPr lang="en-US" dirty="0"/>
              <a:t>(SE = 0.064) is </a:t>
            </a:r>
            <a:r>
              <a:rPr lang="en-US" dirty="0" smtClean="0"/>
              <a:t>not statistically significant</a:t>
            </a:r>
          </a:p>
          <a:p>
            <a:r>
              <a:rPr lang="en-US" dirty="0" smtClean="0"/>
              <a:t>There </a:t>
            </a:r>
            <a:r>
              <a:rPr lang="en-US" dirty="0"/>
              <a:t>does </a:t>
            </a:r>
            <a:r>
              <a:rPr lang="en-US" u="sng" dirty="0"/>
              <a:t>not</a:t>
            </a:r>
            <a:r>
              <a:rPr lang="en-US" dirty="0"/>
              <a:t> appear to be differences between the two groups in </a:t>
            </a:r>
            <a:r>
              <a:rPr lang="en-US" dirty="0" smtClean="0"/>
              <a:t>their pattern </a:t>
            </a:r>
            <a:r>
              <a:rPr lang="en-US" dirty="0"/>
              <a:t>of increase in strength.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31 / 32</a:t>
            </a:r>
          </a:p>
        </p:txBody>
      </p:sp>
    </p:spTree>
    <p:extLst>
      <p:ext uri="{BB962C8B-B14F-4D97-AF65-F5344CB8AC3E}">
        <p14:creationId xmlns:p14="http://schemas.microsoft.com/office/powerpoint/2010/main" val="16716392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95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105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Based on the estimates of the fixed </a:t>
            </a:r>
            <a:r>
              <a:rPr lang="en-US" dirty="0" smtClean="0"/>
              <a:t>effects: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constant rate of increase in strength in group 1 is 0.173 per </a:t>
            </a:r>
            <a:r>
              <a:rPr lang="en-US" dirty="0" smtClean="0"/>
              <a:t>day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constant rate of increase in strength in group 2 is </a:t>
            </a:r>
            <a:r>
              <a:rPr lang="en-US" dirty="0" smtClean="0"/>
              <a:t>0.135 (0</a:t>
            </a:r>
            <a:r>
              <a:rPr lang="en-US" i="1" dirty="0" smtClean="0"/>
              <a:t>.</a:t>
            </a:r>
            <a:r>
              <a:rPr lang="en-US" dirty="0" smtClean="0"/>
              <a:t>173 </a:t>
            </a:r>
            <a:r>
              <a:rPr lang="en-US" i="1" dirty="0" smtClean="0"/>
              <a:t>– </a:t>
            </a:r>
            <a:r>
              <a:rPr lang="en-US" dirty="0" smtClean="0"/>
              <a:t>0</a:t>
            </a:r>
            <a:r>
              <a:rPr lang="en-US" i="1" dirty="0" smtClean="0"/>
              <a:t>.</a:t>
            </a:r>
            <a:r>
              <a:rPr lang="en-US" dirty="0" smtClean="0"/>
              <a:t>038</a:t>
            </a:r>
            <a:r>
              <a:rPr lang="en-US" dirty="0"/>
              <a:t>) per </a:t>
            </a:r>
            <a:r>
              <a:rPr lang="en-US" dirty="0" smtClean="0"/>
              <a:t>day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difference between these two rates, </a:t>
            </a:r>
            <a:r>
              <a:rPr lang="en-US" i="1" dirty="0"/>
              <a:t>– </a:t>
            </a:r>
            <a:r>
              <a:rPr lang="en-US" dirty="0" smtClean="0"/>
              <a:t>0.038 </a:t>
            </a:r>
            <a:r>
              <a:rPr lang="en-US" dirty="0"/>
              <a:t>(SE = 0.064) is </a:t>
            </a:r>
            <a:r>
              <a:rPr lang="en-US" dirty="0" smtClean="0"/>
              <a:t>not statistically significant</a:t>
            </a:r>
          </a:p>
          <a:p>
            <a:r>
              <a:rPr lang="en-US" dirty="0" smtClean="0"/>
              <a:t>There </a:t>
            </a:r>
            <a:r>
              <a:rPr lang="en-US" dirty="0"/>
              <a:t>does </a:t>
            </a:r>
            <a:r>
              <a:rPr lang="en-US" u="sng" dirty="0"/>
              <a:t>not</a:t>
            </a:r>
            <a:r>
              <a:rPr lang="en-US" dirty="0"/>
              <a:t> appear to be differences between the two groups in </a:t>
            </a:r>
            <a:r>
              <a:rPr lang="en-US" dirty="0" smtClean="0"/>
              <a:t>their pattern </a:t>
            </a:r>
            <a:r>
              <a:rPr lang="en-US" dirty="0"/>
              <a:t>of increase in strength.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32 / 32</a:t>
            </a:r>
          </a:p>
        </p:txBody>
      </p:sp>
    </p:spTree>
    <p:extLst>
      <p:ext uri="{BB962C8B-B14F-4D97-AF65-F5344CB8AC3E}">
        <p14:creationId xmlns:p14="http://schemas.microsoft.com/office/powerpoint/2010/main" val="3452744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52662</TotalTime>
  <Words>925</Words>
  <Application>Microsoft Office PowerPoint</Application>
  <PresentationFormat>Widescreen</PresentationFormat>
  <Paragraphs>161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Mixed Effects Models</vt:lpstr>
      <vt:lpstr>Mixed Effects Models</vt:lpstr>
      <vt:lpstr>Mixed Effects Models – Random intercept</vt:lpstr>
      <vt:lpstr>Mixed Effects Models – Random intercept</vt:lpstr>
      <vt:lpstr>Mixed Effects Models – Random intercept</vt:lpstr>
      <vt:lpstr>Mixed Effects Models – Random intercept</vt:lpstr>
      <vt:lpstr>Mixed Effects Models – Random intercept</vt:lpstr>
      <vt:lpstr>Mixed Effects Models – Random intercept</vt:lpstr>
      <vt:lpstr>Mixed Effects Models – Random intercept</vt:lpstr>
      <vt:lpstr>Mixed Effects Models – Random intercept</vt:lpstr>
      <vt:lpstr>Mixed Effects Models – Random intercept</vt:lpstr>
      <vt:lpstr>Mixed Effects Models – Random intercept</vt:lpstr>
      <vt:lpstr>Mixed Effects Models – Random intercept and slopes</vt:lpstr>
      <vt:lpstr>Mixed Effects Models – Random intercept and slopes</vt:lpstr>
      <vt:lpstr>Mixed Effects Models – Random intercept and slopes</vt:lpstr>
      <vt:lpstr>Mixed Effects Models – Random intercept and slopes</vt:lpstr>
      <vt:lpstr>Mixed Effects Models – Random intercept and slopes</vt:lpstr>
      <vt:lpstr>Mixed Effects Models </vt:lpstr>
      <vt:lpstr>Mixed Effects Models </vt:lpstr>
      <vt:lpstr>Mixed Effects Models </vt:lpstr>
      <vt:lpstr>Mixed Effects Models – Conditional and marginal </vt:lpstr>
      <vt:lpstr>Mixed Effects Models – Conditional and marginal </vt:lpstr>
      <vt:lpstr>Mixed Effects Models – Conditional and marginal  </vt:lpstr>
      <vt:lpstr>Mixed Effects Models</vt:lpstr>
      <vt:lpstr>Mixed Effects Models – Estimation </vt:lpstr>
      <vt:lpstr>Example: Exercise Therapy Trial </vt:lpstr>
      <vt:lpstr>Example: Exercise Therapy Trial </vt:lpstr>
      <vt:lpstr>Example: Exercise Therapy Trial </vt:lpstr>
      <vt:lpstr>Example: Exercise Therapy Trial </vt:lpstr>
      <vt:lpstr>Example: Exercise Therapy Trial 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873</cp:revision>
  <dcterms:created xsi:type="dcterms:W3CDTF">2019-01-16T21:45:55Z</dcterms:created>
  <dcterms:modified xsi:type="dcterms:W3CDTF">2019-03-26T21:22:20Z</dcterms:modified>
</cp:coreProperties>
</file>