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7" r:id="rId20"/>
    <p:sldId id="275" r:id="rId21"/>
    <p:sldId id="276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FDA3A-CD22-4026-84C1-034A7EF76A98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7C35D-060E-435E-9BFC-11636728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0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0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1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7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1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6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7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2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9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1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67D58-E64F-42FB-A354-3FB5C93E4E6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5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 xmlns:a="http://schemas.openxmlformats.org/drawingml/2006/main">
          <a:srgbClr val="10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685E0-A3A6-468A-8232-A58BC282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PHS 651     /     LECTURE 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C9D0D-0FB7-4974-9734-38A22779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1019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Case Studies of Marginal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4D85C-D159-4107-9A87-3BA3A8A0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Advanced Regression Methods for Population 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643AE-E5F6-45D8-9489-D604A4DC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 Mao, PhD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42704-7F09-4A05-AEB4-12932319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Department of Biostatistics and Medical Informatics</a:t>
            </a:r>
          </a:p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University of Wisconsin-Madison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7E9C8-57DC-4B1F-9715-D570E099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721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SPRING 2019</a:t>
            </a:r>
          </a:p>
        </p:txBody>
      </p:sp>
    </p:spTree>
    <p:extLst>
      <p:ext uri="{BB962C8B-B14F-4D97-AF65-F5344CB8AC3E}">
        <p14:creationId xmlns:p14="http://schemas.microsoft.com/office/powerpoint/2010/main" val="697804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Outline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800" u="sng" dirty="0" smtClean="0"/>
              <a:t>Multinomial </a:t>
            </a:r>
            <a:r>
              <a:rPr lang="en-US" sz="2800" u="sng" dirty="0" smtClean="0"/>
              <a:t>regression</a:t>
            </a:r>
            <a:endParaRPr lang="en-US" sz="2800" u="sng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800" u="sng" dirty="0" smtClean="0"/>
              <a:t>Proportional odds model</a:t>
            </a:r>
            <a:r>
              <a:rPr lang="en-US" sz="2800" dirty="0" smtClean="0"/>
              <a:t/>
            </a:r>
            <a:r>
              <a:rPr lang="en-US" sz="2800" dirty="0"/>
              <a:t>and </a:t>
            </a:r>
            <a:r>
              <a:rPr lang="en-US" sz="2800" dirty="0" smtClean="0"/>
              <a:t>application to an arthritis trial</a:t>
            </a:r>
            <a:endParaRPr lang="en-US" sz="2800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800" u="sng" dirty="0" smtClean="0"/>
              <a:t>Log-linear model</a:t>
            </a:r>
            <a:r>
              <a:rPr lang="en-US" sz="2800" dirty="0" smtClean="0"/>
              <a:t> and application to a leprosy trial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US" sz="2600" dirty="0" smtClean="0"/>
          </a:p>
          <a:p>
            <a:pPr marL="457200" lvl="1" indent="0">
              <a:buNone/>
            </a:pPr>
            <a:endParaRPr lang="en-US" sz="2600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16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 / 23</a:t>
            </a:r>
          </a:p>
        </p:txBody>
      </p:sp>
    </p:spTree>
    <p:extLst>
      <p:ext uri="{BB962C8B-B14F-4D97-AF65-F5344CB8AC3E}">
        <p14:creationId xmlns:p14="http://schemas.microsoft.com/office/powerpoint/2010/main" val="45436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Categorical Response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biomedical investigations, the response variable is frequently categorical (with more than two levels)</a:t>
            </a:r>
          </a:p>
          <a:p>
            <a:r>
              <a:rPr lang="en-US" dirty="0" smtClean="0"/>
              <a:t>These responses may be </a:t>
            </a:r>
            <a:r>
              <a:rPr lang="en-US" u="sng" dirty="0" smtClean="0"/>
              <a:t>ordinal</a:t>
            </a:r>
            <a:r>
              <a:rPr lang="en-US" dirty="0" smtClean="0"/>
              <a:t> (i.e., </a:t>
            </a:r>
            <a:r>
              <a:rPr lang="en-US" dirty="0" smtClean="0"/>
              <a:t>ordered) </a:t>
            </a:r>
            <a:r>
              <a:rPr lang="en-US" dirty="0" smtClean="0"/>
              <a:t>or </a:t>
            </a:r>
            <a:r>
              <a:rPr lang="en-US" u="sng" dirty="0" smtClean="0"/>
              <a:t>nominal</a:t>
            </a:r>
            <a:r>
              <a:rPr lang="en-US" dirty="0" smtClean="0"/>
              <a:t> (i.e., without an inherent order)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Different sub-types of disease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Tumor </a:t>
            </a:r>
            <a:r>
              <a:rPr lang="en-US" dirty="0" smtClean="0"/>
              <a:t>grade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Arthritis </a:t>
            </a:r>
            <a:r>
              <a:rPr lang="en-US" dirty="0"/>
              <a:t>Categorical </a:t>
            </a:r>
            <a:r>
              <a:rPr lang="en-US" dirty="0" smtClean="0"/>
              <a:t>Scale</a:t>
            </a:r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16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 / 23</a:t>
            </a:r>
          </a:p>
        </p:txBody>
      </p:sp>
    </p:spTree>
    <p:extLst>
      <p:ext uri="{BB962C8B-B14F-4D97-AF65-F5344CB8AC3E}">
        <p14:creationId xmlns:p14="http://schemas.microsoft.com/office/powerpoint/2010/main" val="4123196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Example: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An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Arthritis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randomized</a:t>
            </a:r>
            <a:r>
              <a:rPr lang="en-US" dirty="0"/>
              <a:t>, double-blind </a:t>
            </a:r>
            <a:r>
              <a:rPr lang="en-US" dirty="0" smtClean="0"/>
              <a:t>trial </a:t>
            </a:r>
            <a:r>
              <a:rPr lang="en-US" dirty="0"/>
              <a:t>comparing auranofin therapy (3 mg of oral gold, twice daily) and placebo for the treatment of </a:t>
            </a:r>
            <a:r>
              <a:rPr lang="en-US" u="sng" dirty="0"/>
              <a:t>rheumatoid </a:t>
            </a:r>
            <a:r>
              <a:rPr lang="en-US" u="sng" dirty="0" smtClean="0"/>
              <a:t>arthritis</a:t>
            </a:r>
            <a:r>
              <a:rPr lang="en-US" dirty="0" smtClean="0"/>
              <a:t> on </a:t>
            </a:r>
            <a:r>
              <a:rPr lang="en-US" dirty="0"/>
              <a:t>303 </a:t>
            </a:r>
            <a:r>
              <a:rPr lang="en-US" dirty="0" smtClean="0"/>
              <a:t>patients. </a:t>
            </a:r>
          </a:p>
          <a:p>
            <a:r>
              <a:rPr lang="en-US" dirty="0" smtClean="0"/>
              <a:t>The </a:t>
            </a:r>
            <a:r>
              <a:rPr lang="en-US" dirty="0"/>
              <a:t>outcome variable is a global impression scale (</a:t>
            </a:r>
            <a:r>
              <a:rPr lang="en-US" u="sng" dirty="0"/>
              <a:t>Arthritis Categorical Scale</a:t>
            </a:r>
            <a:r>
              <a:rPr lang="en-US" dirty="0"/>
              <a:t>) </a:t>
            </a:r>
            <a:r>
              <a:rPr lang="en-US" dirty="0" smtClean="0"/>
              <a:t>measured </a:t>
            </a:r>
            <a:r>
              <a:rPr lang="en-US" dirty="0"/>
              <a:t>at baseline (month 0), month 2, month 4, and month 6.</a:t>
            </a:r>
          </a:p>
          <a:p>
            <a:r>
              <a:rPr lang="en-US" dirty="0"/>
              <a:t>This is a self-assessment of a patient's current arthritis, measured on a 5-level ordinal scale: (1) very good, (2) good, (3) fair, (4) poor, and (5) very poor.</a:t>
            </a:r>
            <a:endParaRPr lang="en-US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16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4 / 23</a:t>
            </a:r>
          </a:p>
        </p:txBody>
      </p:sp>
    </p:spTree>
    <p:extLst>
      <p:ext uri="{BB962C8B-B14F-4D97-AF65-F5344CB8AC3E}">
        <p14:creationId xmlns:p14="http://schemas.microsoft.com/office/powerpoint/2010/main" val="1520839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An Arthritis Trial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068" y="1734184"/>
            <a:ext cx="7249562" cy="4609978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16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5 / 23</a:t>
            </a:r>
          </a:p>
        </p:txBody>
      </p:sp>
    </p:spTree>
    <p:extLst>
      <p:ext uri="{BB962C8B-B14F-4D97-AF65-F5344CB8AC3E}">
        <p14:creationId xmlns:p14="http://schemas.microsoft.com/office/powerpoint/2010/main" val="1984353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The Multinomial Distribution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 smtClean="0"/>
                  <a:t> be a random variable that may take one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 smtClean="0"/>
                  <a:t> values in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 smtClean="0"/>
                  <a:t> indicating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 smtClean="0"/>
                  <a:t/>
                </a:r>
                <a:r>
                  <a:rPr lang="en-US" u="sng" dirty="0" smtClean="0"/>
                  <a:t>mutually exclusive</a:t>
                </a:r>
                <a:r>
                  <a:rPr lang="en-US" dirty="0" smtClean="0"/>
                  <a:t> events.</a:t>
                </a:r>
              </a:p>
              <a:p>
                <a:r>
                  <a:rPr lang="en-US" dirty="0" smtClean="0"/>
                  <a:t>Assume that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=1,…,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 smtClean="0"/>
                  <a:t>, with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 err="1" smtClean="0"/>
                  <a:t>th</a:t>
                </a:r>
                <a:r>
                  <a:rPr lang="en-US" dirty="0" smtClean="0"/>
                  <a:t> level as the reference, we have a total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 smtClean="0"/>
                  <a:t> free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b="0" dirty="0" smtClean="0"/>
                  <a:t>.</a:t>
                </a:r>
              </a:p>
              <a:p>
                <a:r>
                  <a:rPr lang="en-US" dirty="0" smtClean="0"/>
                  <a:t>We say that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Multinomial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,…,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 smtClean="0"/>
              </a:p>
              <a:p>
                <a:endParaRPr lang="en-US" b="0" dirty="0" smtClean="0"/>
              </a:p>
              <a:p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16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6 / 23</a:t>
            </a:r>
          </a:p>
        </p:txBody>
      </p:sp>
    </p:spTree>
    <p:extLst>
      <p:ext uri="{BB962C8B-B14F-4D97-AF65-F5344CB8AC3E}">
        <p14:creationId xmlns:p14="http://schemas.microsoft.com/office/powerpoint/2010/main" val="3306735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Multinomial Logistic Regression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 be the response and covariates, respectively,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err="1" smtClean="0"/>
                  <a:t>th</a:t>
                </a:r>
                <a:r>
                  <a:rPr lang="en-US" dirty="0" smtClean="0"/>
                  <a:t> subject on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 err="1" smtClean="0"/>
                  <a:t>th</a:t>
                </a:r>
                <a:r>
                  <a:rPr lang="en-US" dirty="0" smtClean="0"/>
                  <a:t> occasion.</a:t>
                </a:r>
              </a:p>
              <a:p>
                <a:r>
                  <a:rPr lang="en-US" dirty="0" smtClean="0"/>
                  <a:t>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Multinomial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. We want to relate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 smtClean="0"/>
                  <a:t>’s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u="sng" dirty="0" smtClean="0"/>
                  <a:t>Multinomial (nominal) logistic regression</a:t>
                </a:r>
                <a:r>
                  <a:rPr lang="en-US" dirty="0" smtClean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𝑖𝑗𝐾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𝑝𝑘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u="sng" dirty="0" smtClean="0"/>
                  <a:t>Interpretation</a:t>
                </a:r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 smtClean="0"/>
                  <a:t>=log odds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 err="1" smtClean="0"/>
                  <a:t>th</a:t>
                </a:r>
                <a:r>
                  <a:rPr lang="en-US" dirty="0" smtClean="0"/>
                  <a:t> event against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/>
                </a:r>
                <a:r>
                  <a:rPr lang="en-US" dirty="0" smtClean="0"/>
                  <a:t>associated with one unit increase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Unfortunately, GEE with nominal logistic regression has not been implemented in SAS yet.</a:t>
                </a:r>
              </a:p>
              <a:p>
                <a:endParaRPr lang="en-US" dirty="0"/>
              </a:p>
              <a:p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16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7 / 23</a:t>
            </a:r>
          </a:p>
        </p:txBody>
      </p:sp>
    </p:spTree>
    <p:extLst>
      <p:ext uri="{BB962C8B-B14F-4D97-AF65-F5344CB8AC3E}">
        <p14:creationId xmlns:p14="http://schemas.microsoft.com/office/powerpoint/2010/main" val="1861416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Ordinal Logistic Regression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If the values of Y have an inherent order, 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&lt;⋯&lt;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 smtClean="0"/>
                  <a:t> they may be better suited for a </a:t>
                </a:r>
                <a:r>
                  <a:rPr lang="en-US" u="sng" dirty="0" smtClean="0"/>
                  <a:t>proportional odds model</a:t>
                </a:r>
                <a:r>
                  <a:rPr lang="en-US" dirty="0"/>
                  <a:t/>
                </a:r>
                <a:r>
                  <a:rPr lang="en-US" dirty="0" smtClean="0"/>
                  <a:t>with </a:t>
                </a:r>
                <a:r>
                  <a:rPr lang="en-US" u="sng" dirty="0" smtClean="0"/>
                  <a:t>cumulative logit link</a:t>
                </a:r>
                <a:r>
                  <a:rPr lang="en-US" dirty="0" smtClean="0"/>
                  <a:t> function.</a:t>
                </a:r>
              </a:p>
              <a:p>
                <a:r>
                  <a:rPr lang="en-US" dirty="0" smtClean="0"/>
                  <a:t>Without loss of generality, assume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=1,…,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 smtClean="0"/>
                  <a:t> Then,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≤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e>
                              </m:func>
                            </m:num>
                            <m:den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&gt;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e>
                              </m:func>
                            </m:den>
                          </m:f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𝑝𝑖𝑗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That is, we are modeling the odds of a smaller value for the response cut off 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Notice the difference with the nominal regression model: only the intercept changes with the cut-off value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  <a:p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16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8 / 23</a:t>
            </a:r>
          </a:p>
        </p:txBody>
      </p:sp>
    </p:spTree>
    <p:extLst>
      <p:ext uri="{BB962C8B-B14F-4D97-AF65-F5344CB8AC3E}">
        <p14:creationId xmlns:p14="http://schemas.microsoft.com/office/powerpoint/2010/main" val="650645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Ordinal Logistic Regression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u="sng" dirty="0" smtClean="0"/>
                  <a:t>Interpretation</a:t>
                </a:r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=log odds ratio of having a smaller response (against having a larger response, regardless of the cut-off point) associated with one unit </a:t>
                </a:r>
                <a:r>
                  <a:rPr lang="en-US" dirty="0" smtClean="0"/>
                  <a:t>increase </a:t>
                </a:r>
                <a:r>
                  <a:rPr lang="en-US" dirty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Why is it OK to set </a:t>
                </a:r>
                <a:r>
                  <a:rPr lang="en-US" u="sng" dirty="0" smtClean="0"/>
                  <a:t>regression coefficients</a:t>
                </a:r>
                <a:r>
                  <a:rPr lang="en-US" dirty="0" smtClean="0"/>
                  <a:t> invariant to the cut-off point while the </a:t>
                </a:r>
                <a:r>
                  <a:rPr lang="en-US" u="sng" dirty="0" smtClean="0"/>
                  <a:t>intercept</a:t>
                </a:r>
                <a:r>
                  <a:rPr lang="en-US" dirty="0" smtClean="0"/>
                  <a:t> must depend on it?</a:t>
                </a:r>
              </a:p>
              <a:p>
                <a:r>
                  <a:rPr lang="en-US" dirty="0" smtClean="0"/>
                  <a:t>Consider a simple example of univariate response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with a binary 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≤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e>
                              </m:func>
                            </m:num>
                            <m:den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&gt;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e>
                              </m:func>
                            </m:den>
                          </m:f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16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9 / 23</a:t>
            </a:r>
          </a:p>
        </p:txBody>
      </p:sp>
    </p:spTree>
    <p:extLst>
      <p:ext uri="{BB962C8B-B14F-4D97-AF65-F5344CB8AC3E}">
        <p14:creationId xmlns:p14="http://schemas.microsoft.com/office/powerpoint/2010/main" val="426950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Ordinal Logistic Regression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4031673"/>
                <a:ext cx="10515600" cy="2145290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In each group, the log odds of having a smaller response increases with the cut-off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 smtClean="0"/>
                  <a:t>;</a:t>
                </a:r>
              </a:p>
              <a:p>
                <a:r>
                  <a:rPr lang="en-US" dirty="0" smtClean="0"/>
                  <a:t>But the difference in the log odds between the two groups remains the same, which means that the odds in the two groups are </a:t>
                </a:r>
                <a:r>
                  <a:rPr lang="en-US" u="sng" dirty="0" smtClean="0"/>
                  <a:t>proportional</a:t>
                </a:r>
                <a:r>
                  <a:rPr lang="en-US" dirty="0" smtClean="0"/>
                  <a:t>, or the odds ratio is constant, i.e.,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031673"/>
                <a:ext cx="10515600" cy="2145290"/>
              </a:xfrm>
              <a:blipFill>
                <a:blip r:embed="rId2"/>
                <a:stretch>
                  <a:fillRect l="-1043" t="-4545" b="-7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0741154"/>
                  </p:ext>
                </p:extLst>
              </p:nvPr>
            </p:nvGraphicFramePr>
            <p:xfrm>
              <a:off x="1441796" y="1884615"/>
              <a:ext cx="8425411" cy="17966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189857541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45379253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71035769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488432149"/>
                        </a:ext>
                      </a:extLst>
                    </a:gridCol>
                    <a:gridCol w="1923011">
                      <a:extLst>
                        <a:ext uri="{9D8B030D-6E8A-4147-A177-3AD203B41FA5}">
                          <a16:colId xmlns:a16="http://schemas.microsoft.com/office/drawing/2014/main" val="37921469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Cut-off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89300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Log odds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func>
                                          <m:func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>
                                                <a:latin typeface="Cambria Math" panose="02040503050406030204" pitchFamily="18" charset="0"/>
                                              </a:rPr>
                                              <m:t>Pr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𝑌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=1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</m:num>
                                      <m:den>
                                        <m:func>
                                          <m:func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>
                                                <a:latin typeface="Cambria Math" panose="02040503050406030204" pitchFamily="18" charset="0"/>
                                              </a:rPr>
                                              <m:t>Pr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𝑌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&gt;</m:t>
                                                </m:r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</m:den>
                                    </m:f>
                                  </m:e>
                                </m:fun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func>
                                          <m:func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>
                                                <a:latin typeface="Cambria Math" panose="02040503050406030204" pitchFamily="18" charset="0"/>
                                              </a:rPr>
                                              <m:t>Pr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𝑌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≤</m:t>
                                                </m:r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</m:num>
                                      <m:den>
                                        <m:func>
                                          <m:func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>
                                                <a:latin typeface="Cambria Math" panose="02040503050406030204" pitchFamily="18" charset="0"/>
                                              </a:rPr>
                                              <m:t>Pr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𝑌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&gt;</m:t>
                                                </m:r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</m:den>
                                    </m:f>
                                  </m:e>
                                </m:func>
                              </m:oMath>
                            </m:oMathPara>
                          </a14:m>
                          <a:endParaRPr lang="en-US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func>
                                          <m:func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>
                                                <a:latin typeface="Cambria Math" panose="02040503050406030204" pitchFamily="18" charset="0"/>
                                              </a:rPr>
                                              <m:t>Pr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𝑌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≤</m:t>
                                                </m:r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</m:num>
                                      <m:den>
                                        <m:func>
                                          <m:func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>
                                                <a:latin typeface="Cambria Math" panose="02040503050406030204" pitchFamily="18" charset="0"/>
                                              </a:rPr>
                                              <m:t>Pr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𝑌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&gt;</m:t>
                                                </m:r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</m:den>
                                    </m:f>
                                  </m:e>
                                </m:fun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func>
                                          <m:func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>
                                                <a:latin typeface="Cambria Math" panose="02040503050406030204" pitchFamily="18" charset="0"/>
                                              </a:rPr>
                                              <m:t>Pr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𝑌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≤</m:t>
                                                </m:r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𝐾</m:t>
                                                </m:r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</m:num>
                                      <m:den>
                                        <m:func>
                                          <m:func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>
                                                <a:latin typeface="Cambria Math" panose="02040503050406030204" pitchFamily="18" charset="0"/>
                                              </a:rPr>
                                              <m:t>Pr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𝑌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=</m:t>
                                                </m:r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𝐾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</m:den>
                                    </m:f>
                                  </m:e>
                                </m:fun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43943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265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17990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0741154"/>
                  </p:ext>
                </p:extLst>
              </p:nvPr>
            </p:nvGraphicFramePr>
            <p:xfrm>
              <a:off x="1441796" y="1884615"/>
              <a:ext cx="8425411" cy="17966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189857541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45379253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71035769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488432149"/>
                        </a:ext>
                      </a:extLst>
                    </a:gridCol>
                    <a:gridCol w="1923011">
                      <a:extLst>
                        <a:ext uri="{9D8B030D-6E8A-4147-A177-3AD203B41FA5}">
                          <a16:colId xmlns:a16="http://schemas.microsoft.com/office/drawing/2014/main" val="37921469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Cut-off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75" t="-8197" r="-319476" b="-3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375" t="-8197" r="-219476" b="-3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1504" t="-8197" r="-120301" b="-3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37975" t="-8197" r="-1266" b="-395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8930057"/>
                      </a:ext>
                    </a:extLst>
                  </a:tr>
                  <a:tr h="6701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Log odds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75" t="-60000" r="-319476" b="-11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375" t="-60000" r="-219476" b="-11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1504" t="-60000" r="-120301" b="-11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37975" t="-60000" r="-1266" b="-11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4394316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5" t="-283871" r="-419476" b="-1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75" t="-283871" r="-319476" b="-1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375" t="-283871" r="-219476" b="-1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1504" t="-283871" r="-120301" b="-1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37975" t="-283871" r="-1266" b="-1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265510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5" t="-383871" r="-419476" b="-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75" t="-383871" r="-319476" b="-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375" t="-383871" r="-219476" b="-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1504" t="-383871" r="-120301" b="-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37975" t="-383871" r="-1266" b="-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17990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16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10 / 23</a:t>
            </a:r>
          </a:p>
        </p:txBody>
      </p:sp>
    </p:spTree>
    <p:extLst>
      <p:ext uri="{BB962C8B-B14F-4D97-AF65-F5344CB8AC3E}">
        <p14:creationId xmlns:p14="http://schemas.microsoft.com/office/powerpoint/2010/main" val="1904879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An Arthritis Trial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367" y="1593670"/>
            <a:ext cx="6074488" cy="4555866"/>
          </a:xfr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16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11 / 23</a:t>
            </a:r>
          </a:p>
        </p:txBody>
      </p:sp>
    </p:spTree>
    <p:extLst>
      <p:ext uri="{BB962C8B-B14F-4D97-AF65-F5344CB8AC3E}">
        <p14:creationId xmlns:p14="http://schemas.microsoft.com/office/powerpoint/2010/main" val="3954739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An Arthritis Trial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To test and quantify treatment effect, we use the following proportional odds model</a:t>
                </a:r>
              </a:p>
              <a:p>
                <a:pPr marL="0" indent="0" algn="ctr">
                  <a:buNone/>
                </a:pPr>
                <a:r>
                  <a:rPr lang="en-US" dirty="0" smtClean="0"/>
                  <a:t/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Pr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≤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Pr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&gt;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e>
                            </m:func>
                          </m:den>
                        </m:f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𝑀𝑜𝑛𝑡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𝑡𝑟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𝑀𝑜𝑛𝑡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𝐴𝑔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where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𝑡𝑟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is a indicator variable for the therapy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𝐴𝑔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is the patient’s baseline age in years.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16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12 / 23</a:t>
            </a:r>
          </a:p>
        </p:txBody>
      </p:sp>
    </p:spTree>
    <p:extLst>
      <p:ext uri="{BB962C8B-B14F-4D97-AF65-F5344CB8AC3E}">
        <p14:creationId xmlns:p14="http://schemas.microsoft.com/office/powerpoint/2010/main" val="2863221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An Arthritis Trial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PROC </a:t>
            </a:r>
            <a:r>
              <a:rPr lang="en-US" dirty="0"/>
              <a:t>GENMOD is modeling the probabilities of levels of y having </a:t>
            </a:r>
            <a:r>
              <a:rPr lang="en-US" u="sng" dirty="0"/>
              <a:t>LOWER Ordered Values</a:t>
            </a:r>
            <a:r>
              <a:rPr lang="en-US" dirty="0"/>
              <a:t> in the response profile table.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86" y="1680756"/>
            <a:ext cx="10659502" cy="3155678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16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13 / 23</a:t>
            </a:r>
          </a:p>
        </p:txBody>
      </p:sp>
    </p:spTree>
    <p:extLst>
      <p:ext uri="{BB962C8B-B14F-4D97-AF65-F5344CB8AC3E}">
        <p14:creationId xmlns:p14="http://schemas.microsoft.com/office/powerpoint/2010/main" val="2116010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An Arthritis Trial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395" y="1825625"/>
            <a:ext cx="7176360" cy="450550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178629" y="3309257"/>
            <a:ext cx="940525" cy="139337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178628" y="5111930"/>
            <a:ext cx="940525" cy="78456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16</a:t>
            </a:r>
          </a:p>
        </p:txBody>
      </p:sp>
      <p:sp>
        <p:nvSpPr>
          <p:cNvPr id="10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14 / 23</a:t>
            </a:r>
          </a:p>
        </p:txBody>
      </p:sp>
    </p:spTree>
    <p:extLst>
      <p:ext uri="{BB962C8B-B14F-4D97-AF65-F5344CB8AC3E}">
        <p14:creationId xmlns:p14="http://schemas.microsoft.com/office/powerpoint/2010/main" val="1741549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An Arthritis Trial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Interpretations: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 smtClean="0"/>
                  <a:t>In the placebo group, with one month increase, patients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⁡(0.097)=1.101</m:t>
                    </m:r>
                  </m:oMath>
                </a14:m>
                <a:r>
                  <a:rPr lang="en-US" dirty="0" smtClean="0"/>
                  <a:t> as likely to have a </a:t>
                </a:r>
                <a:r>
                  <a:rPr lang="en-US" u="sng" dirty="0" smtClean="0"/>
                  <a:t>better</a:t>
                </a:r>
                <a:r>
                  <a:rPr lang="en-US" dirty="0" smtClean="0"/>
                  <a:t> outcome.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 smtClean="0"/>
                  <a:t>In the therapy group, </a:t>
                </a:r>
                <a:r>
                  <a:rPr lang="en-US" dirty="0"/>
                  <a:t>with one month increase, patients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⁡(0.097+0.098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)=1.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lang="en-US" dirty="0"/>
                  <a:t> as </a:t>
                </a:r>
                <a:r>
                  <a:rPr lang="en-US" dirty="0" smtClean="0"/>
                  <a:t>likely </a:t>
                </a:r>
                <a:r>
                  <a:rPr lang="en-US" dirty="0"/>
                  <a:t>to have a </a:t>
                </a:r>
                <a:r>
                  <a:rPr lang="en-US" u="sng" dirty="0"/>
                  <a:t>better</a:t>
                </a:r>
                <a:r>
                  <a:rPr lang="en-US" dirty="0"/>
                  <a:t> outcome</a:t>
                </a:r>
                <a:r>
                  <a:rPr lang="en-US" dirty="0" smtClean="0"/>
                  <a:t>.</a:t>
                </a:r>
              </a:p>
              <a:p>
                <a:pPr marL="457200" lvl="1" indent="0">
                  <a:buNone/>
                </a:pPr>
                <a:r>
                  <a:rPr lang="en-US" dirty="0" smtClean="0"/>
                  <a:t>At the 0.05 level, this difference between the two groups is significant (</a:t>
                </a:r>
                <a:r>
                  <a:rPr lang="en-US" u="sng" dirty="0" smtClean="0"/>
                  <a:t>relative odds ratio</a:t>
                </a:r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0.098</m:t>
                            </m:r>
                          </m:e>
                        </m:d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1.103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=0.0078</m:t>
                    </m:r>
                  </m:oMath>
                </a14:m>
                <a:r>
                  <a:rPr lang="en-US" dirty="0" smtClean="0"/>
                  <a:t>)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16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15 / 23</a:t>
            </a:r>
          </a:p>
        </p:txBody>
      </p:sp>
    </p:spTree>
    <p:extLst>
      <p:ext uri="{BB962C8B-B14F-4D97-AF65-F5344CB8AC3E}">
        <p14:creationId xmlns:p14="http://schemas.microsoft.com/office/powerpoint/2010/main" val="1325393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Log-Linear Models for Count Response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 counts the number of certain events.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Assume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𝑝𝑖𝑗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 is associated with a length of follow-up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, 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638800" y="2973977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16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16 / 23</a:t>
            </a:r>
          </a:p>
        </p:txBody>
      </p:sp>
    </p:spTree>
    <p:extLst>
      <p:ext uri="{BB962C8B-B14F-4D97-AF65-F5344CB8AC3E}">
        <p14:creationId xmlns:p14="http://schemas.microsoft.com/office/powerpoint/2010/main" val="3460665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Clinical Trial of Antibiotics for Leprosy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Placebo-controlled clinical trial of 30 patients with leprosy at the </a:t>
            </a:r>
            <a:r>
              <a:rPr lang="en-US" dirty="0" err="1" smtClean="0"/>
              <a:t>Eversley</a:t>
            </a:r>
            <a:r>
              <a:rPr lang="en-US" dirty="0" smtClean="0"/>
              <a:t> Childs </a:t>
            </a:r>
            <a:r>
              <a:rPr lang="en-US" dirty="0" err="1"/>
              <a:t>Sanitorium</a:t>
            </a:r>
            <a:r>
              <a:rPr lang="en-US" dirty="0"/>
              <a:t> in the Philippines.</a:t>
            </a:r>
          </a:p>
          <a:p>
            <a:r>
              <a:rPr lang="en-US" dirty="0"/>
              <a:t>Participants were randomized to either of two antibiotics (</a:t>
            </a:r>
            <a:r>
              <a:rPr lang="en-US" dirty="0" smtClean="0"/>
              <a:t>denoted treatment </a:t>
            </a:r>
            <a:r>
              <a:rPr lang="en-US" dirty="0"/>
              <a:t>drug A and B) or to a placebo (denoted treatment drug C).</a:t>
            </a:r>
          </a:p>
          <a:p>
            <a:r>
              <a:rPr lang="en-US" dirty="0"/>
              <a:t>Baseline data on number of leprosy bacilli at 6 sites of body were recorded.</a:t>
            </a:r>
          </a:p>
          <a:p>
            <a:r>
              <a:rPr lang="en-US" dirty="0"/>
              <a:t>After several months of treatment, number of bacilli were recorded a </a:t>
            </a:r>
            <a:r>
              <a:rPr lang="en-US" dirty="0" smtClean="0"/>
              <a:t>second time</a:t>
            </a:r>
            <a:r>
              <a:rPr lang="en-US" dirty="0"/>
              <a:t>.</a:t>
            </a:r>
          </a:p>
          <a:p>
            <a:r>
              <a:rPr lang="en-US" dirty="0"/>
              <a:t>Outcome: </a:t>
            </a:r>
            <a:r>
              <a:rPr lang="en-US" u="sng" dirty="0"/>
              <a:t>Total count of number of leprosy bacilli</a:t>
            </a:r>
            <a:r>
              <a:rPr lang="en-US" dirty="0"/>
              <a:t> at 6 sites.</a:t>
            </a: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16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17 / 23</a:t>
            </a:r>
          </a:p>
        </p:txBody>
      </p:sp>
    </p:spTree>
    <p:extLst>
      <p:ext uri="{BB962C8B-B14F-4D97-AF65-F5344CB8AC3E}">
        <p14:creationId xmlns:p14="http://schemas.microsoft.com/office/powerpoint/2010/main" val="4264481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Clinical Trial of Antibiotics for Leprosy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236" y="1825625"/>
            <a:ext cx="9108758" cy="4411793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16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18 / 23</a:t>
            </a:r>
          </a:p>
        </p:txBody>
      </p:sp>
    </p:spTree>
    <p:extLst>
      <p:ext uri="{BB962C8B-B14F-4D97-AF65-F5344CB8AC3E}">
        <p14:creationId xmlns:p14="http://schemas.microsoft.com/office/powerpoint/2010/main" val="3731288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Clinical Trial of Antibiotics for Leprosy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1999" y="1445623"/>
            <a:ext cx="6671703" cy="5003777"/>
          </a:xfr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16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19 / 23</a:t>
            </a:r>
          </a:p>
        </p:txBody>
      </p:sp>
    </p:spTree>
    <p:extLst>
      <p:ext uri="{BB962C8B-B14F-4D97-AF65-F5344CB8AC3E}">
        <p14:creationId xmlns:p14="http://schemas.microsoft.com/office/powerpoint/2010/main" val="1025777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Clinical Trial of Antibiotics for Leprosy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2330"/>
          <a:stretch/>
        </p:blipFill>
        <p:spPr>
          <a:xfrm>
            <a:off x="838200" y="1825625"/>
            <a:ext cx="10961863" cy="2554786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16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20 / 23</a:t>
            </a:r>
          </a:p>
        </p:txBody>
      </p:sp>
    </p:spTree>
    <p:extLst>
      <p:ext uri="{BB962C8B-B14F-4D97-AF65-F5344CB8AC3E}">
        <p14:creationId xmlns:p14="http://schemas.microsoft.com/office/powerpoint/2010/main" val="1181297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Clinical Trial of Antibiotics for Leprosy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7431" y="1297578"/>
            <a:ext cx="7221038" cy="515432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75017" y="3927566"/>
            <a:ext cx="888274" cy="100148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16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21 / 23</a:t>
            </a:r>
          </a:p>
        </p:txBody>
      </p:sp>
    </p:spTree>
    <p:extLst>
      <p:ext uri="{BB962C8B-B14F-4D97-AF65-F5344CB8AC3E}">
        <p14:creationId xmlns:p14="http://schemas.microsoft.com/office/powerpoint/2010/main" val="3491162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Clinical Trial of Antibiotics for Leprosy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Interpretation: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 smtClean="0"/>
                  <a:t>In placebo group (C), the post- vs pre-treatment rate ratio of </a:t>
                </a:r>
                <a:r>
                  <a:rPr lang="en-US" dirty="0"/>
                  <a:t>leprosy bacilli</a:t>
                </a:r>
                <a:r>
                  <a:rPr lang="en-US" dirty="0"/>
                  <a:t/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−0.0476</m:t>
                            </m:r>
                          </m:e>
                        </m:d>
                      </m:e>
                    </m:fun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=0.954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 smtClean="0"/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 smtClean="0"/>
                  <a:t>In treatment A, </a:t>
                </a:r>
                <a:r>
                  <a:rPr lang="en-US" dirty="0"/>
                  <a:t>the post- vs pre-treatment rate ratio of leprosy bacilli </a:t>
                </a:r>
                <a:r>
                  <a:rPr lang="en-US" dirty="0" smtClean="0"/>
                  <a:t>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−0.0476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−0.5147</m:t>
                            </m:r>
                          </m:e>
                        </m:d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570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 smtClean="0"/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/>
                  <a:t>In treatment </a:t>
                </a:r>
                <a:r>
                  <a:rPr lang="en-US" dirty="0" smtClean="0"/>
                  <a:t>B, </a:t>
                </a:r>
                <a:r>
                  <a:rPr lang="en-US" dirty="0"/>
                  <a:t>the post- vs pre-treatment rate </a:t>
                </a:r>
                <a:r>
                  <a:rPr lang="en-US" dirty="0" smtClean="0"/>
                  <a:t>ratio </a:t>
                </a:r>
                <a:r>
                  <a:rPr lang="en-US" dirty="0"/>
                  <a:t>of leprosy bacilli</a:t>
                </a:r>
                <a:r>
                  <a:rPr lang="en-US" dirty="0" smtClean="0"/>
                  <a:t/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−0.0476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−0.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4467</m:t>
                            </m:r>
                          </m:e>
                        </m:d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610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 smtClean="0"/>
              </a:p>
              <a:p>
                <a:pPr marL="457200" lvl="1" indent="0">
                  <a:buNone/>
                </a:pPr>
                <a:r>
                  <a:rPr lang="en-US" dirty="0" smtClean="0"/>
                  <a:t>The difference between the three treatment arms in reducing the rate </a:t>
                </a:r>
                <a:r>
                  <a:rPr lang="en-US" dirty="0"/>
                  <a:t>of leprosy bacilli </a:t>
                </a:r>
                <a:r>
                  <a:rPr lang="en-US" dirty="0" smtClean="0"/>
                  <a:t> is significant at the 0.05 level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=0.0287</m:t>
                    </m:r>
                  </m:oMath>
                </a14:m>
                <a:r>
                  <a:rPr lang="en-US" dirty="0" smtClean="0"/>
                  <a:t>).</a:t>
                </a:r>
                <a:endParaRPr lang="en-US" dirty="0"/>
              </a:p>
              <a:p>
                <a:pPr marL="971550" lvl="1" indent="-514350">
                  <a:buFont typeface="+mj-lt"/>
                  <a:buAutoNum type="arabicPeriod"/>
                </a:pPr>
                <a:endParaRPr lang="en-US" dirty="0" smtClean="0"/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16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22 / 23</a:t>
            </a:r>
          </a:p>
        </p:txBody>
      </p:sp>
    </p:spTree>
    <p:extLst>
      <p:ext uri="{BB962C8B-B14F-4D97-AF65-F5344CB8AC3E}">
        <p14:creationId xmlns:p14="http://schemas.microsoft.com/office/powerpoint/2010/main" val="116198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Summary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6575626"/>
              </p:ext>
            </p:extLst>
          </p:nvPr>
        </p:nvGraphicFramePr>
        <p:xfrm>
          <a:off x="838200" y="231330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19677813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6068208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132816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Response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Model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PROC</a:t>
                      </a:r>
                      <a:r>
                        <a:rPr lang="en-US" baseline="0" dirty="0" smtClean="0"/>
                        <a:t> GENMOD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339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Nominal multinomial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Mutinomial</a:t>
                      </a:r>
                      <a:r>
                        <a:rPr lang="en-US" baseline="0" dirty="0" smtClean="0"/>
                        <a:t> logistic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NA*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143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Ordinal multinomial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Proportional odds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Dist=multinomial link=</a:t>
                      </a:r>
                      <a:r>
                        <a:rPr lang="en-US" dirty="0" err="1" smtClean="0"/>
                        <a:t>cumlogit</a:t>
                      </a:r>
                      <a:endParaRPr 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352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Log-linear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Dist=Poisson</a:t>
                      </a:r>
                      <a:r>
                        <a:rPr lang="en-US" baseline="0" dirty="0" smtClean="0"/>
                        <a:t> link=log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3675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" y="3953691"/>
            <a:ext cx="6375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* A new procedure PROC GEE may implement it in the near future.</a:t>
            </a:r>
            <a:endParaRPr lang="en-US" dirty="0"/>
          </a:p>
        </p:txBody>
      </p:sp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16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23 / 23</a:t>
            </a:r>
          </a:p>
        </p:txBody>
      </p:sp>
    </p:spTree>
    <p:extLst>
      <p:ext uri="{BB962C8B-B14F-4D97-AF65-F5344CB8AC3E}">
        <p14:creationId xmlns:p14="http://schemas.microsoft.com/office/powerpoint/2010/main" val="1764253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43738</TotalTime>
  <Words>638</Words>
  <Application>Microsoft Office PowerPoint</Application>
  <PresentationFormat>Widescreen</PresentationFormat>
  <Paragraphs>128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Office Theme</vt:lpstr>
      <vt:lpstr>Advanced Regression Methods for Population Health</vt:lpstr>
      <vt:lpstr>Outline</vt:lpstr>
      <vt:lpstr>Categorical Response</vt:lpstr>
      <vt:lpstr>Example: An Arthritis Trial</vt:lpstr>
      <vt:lpstr>Example: An Arthritis Trial</vt:lpstr>
      <vt:lpstr>The Multinomial Distribution</vt:lpstr>
      <vt:lpstr>Multinomial Logistic Regression</vt:lpstr>
      <vt:lpstr>Ordinal Logistic Regression</vt:lpstr>
      <vt:lpstr>Ordinal Logistic Regression</vt:lpstr>
      <vt:lpstr>Ordinal Logistic Regression</vt:lpstr>
      <vt:lpstr>Example: An Arthritis Trial</vt:lpstr>
      <vt:lpstr>Example: An Arthritis Trial</vt:lpstr>
      <vt:lpstr>Example: An Arthritis Trial</vt:lpstr>
      <vt:lpstr>Example: An Arthritis Trial</vt:lpstr>
      <vt:lpstr>Example: An Arthritis Trial</vt:lpstr>
      <vt:lpstr>Log-Linear Models for Count Response</vt:lpstr>
      <vt:lpstr>Clinical Trial of Antibiotics for Leprosy </vt:lpstr>
      <vt:lpstr>Clinical Trial of Antibiotics for Leprosy </vt:lpstr>
      <vt:lpstr>Clinical Trial of Antibiotics for Leprosy </vt:lpstr>
      <vt:lpstr>Clinical Trial of Antibiotics for Leprosy </vt:lpstr>
      <vt:lpstr>Clinical Trial of Antibiotics for Leprosy </vt:lpstr>
      <vt:lpstr>Clinical Trial of Antibiotics for Leprosy </vt:lpstr>
      <vt:lpstr>Summary</vt:lpstr>
    </vt:vector>
  </TitlesOfParts>
  <Company>University of Wisconsin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Regression Methods for Population Health</dc:title>
  <dc:creator>Lu Mao</dc:creator>
  <cp:lastModifiedBy>LU MAO</cp:lastModifiedBy>
  <cp:revision>1223</cp:revision>
  <dcterms:created xsi:type="dcterms:W3CDTF">2019-01-16T21:45:55Z</dcterms:created>
  <dcterms:modified xsi:type="dcterms:W3CDTF">2019-04-04T02:49:59Z</dcterms:modified>
</cp:coreProperties>
</file>