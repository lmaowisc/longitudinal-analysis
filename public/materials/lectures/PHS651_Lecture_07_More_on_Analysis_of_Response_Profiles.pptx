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0" r:id="rId4"/>
    <p:sldId id="281" r:id="rId5"/>
    <p:sldId id="283" r:id="rId6"/>
    <p:sldId id="284" r:id="rId7"/>
    <p:sldId id="282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05B76-4EB2-49C3-9090-432E3258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E10EC-6F34-4136-9E67-D404CCD8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More on Analysis of Response Profiles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35222-E7BB-45D4-BF5F-C69264CC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A67D0-293E-4B3B-91B2-52CC729B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0BE4A-F17D-49A7-9ADC-F1CEABD4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61475-D8F0-4BCD-81BE-2877FCAA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20923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Single degree-of-freedom contrasts</a:t>
            </a:r>
            <a:endParaRPr lang="en-US" sz="26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Alternative ways to adjust for baseline response</a:t>
            </a:r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24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Single DF Contrasts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The “omnibus” (overall) test for </a:t>
                </a:r>
                <a:r>
                  <a:rPr lang="en-US" dirty="0"/>
                  <a:t>group </a:t>
                </a:r>
                <a:r>
                  <a:rPr lang="en-US" i="1" dirty="0"/>
                  <a:t>× </a:t>
                </a:r>
                <a:r>
                  <a:rPr lang="en-US" dirty="0"/>
                  <a:t>time interaction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− 1) ×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− 1)</m:t>
                    </m:r>
                  </m:oMath>
                </a14:m>
                <a:r>
                  <a:rPr lang="en-US" dirty="0" smtClean="0"/>
                  <a:t> degrees </a:t>
                </a:r>
                <a:r>
                  <a:rPr lang="en-US" dirty="0"/>
                  <a:t>of </a:t>
                </a:r>
                <a:r>
                  <a:rPr lang="en-US" dirty="0" smtClean="0"/>
                  <a:t>freedom.</a:t>
                </a:r>
              </a:p>
              <a:p>
                <a:r>
                  <a:rPr lang="en-US" dirty="0"/>
                  <a:t>A more powerful test of group </a:t>
                </a:r>
                <a:r>
                  <a:rPr lang="en-US" i="1" dirty="0"/>
                  <a:t>× </a:t>
                </a:r>
                <a:r>
                  <a:rPr lang="en-US" dirty="0"/>
                  <a:t>time</a:t>
                </a:r>
                <a:r>
                  <a:rPr lang="en-US" dirty="0" smtClean="0"/>
                  <a:t/>
                </a:r>
                <a:r>
                  <a:rPr lang="en-US" dirty="0"/>
                  <a:t>interaction is obtained by </a:t>
                </a:r>
                <a:r>
                  <a:rPr lang="en-US" dirty="0" smtClean="0"/>
                  <a:t>specifying a </a:t>
                </a:r>
                <a:r>
                  <a:rPr lang="en-US" dirty="0"/>
                  <a:t>single contrast that best represents direction in which patterns of </a:t>
                </a:r>
                <a:r>
                  <a:rPr lang="en-US" dirty="0" smtClean="0"/>
                  <a:t>response differ </a:t>
                </a:r>
                <a:r>
                  <a:rPr lang="en-US" dirty="0"/>
                  <a:t>most </a:t>
                </a:r>
                <a:r>
                  <a:rPr lang="en-US" dirty="0" smtClean="0"/>
                  <a:t>markedly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Suppose the parameters are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(2))′</m:t>
                      </m:r>
                    </m:oMath>
                  </m:oMathPara>
                </a14:m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24</a:t>
            </a:r>
          </a:p>
        </p:txBody>
      </p:sp>
    </p:spTree>
    <p:extLst>
      <p:ext uri="{BB962C8B-B14F-4D97-AF65-F5344CB8AC3E}">
        <p14:creationId xmlns:p14="http://schemas.microsoft.com/office/powerpoint/2010/main" val="402502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Single DF Contrasts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u="sng" dirty="0" smtClean="0"/>
                  <a:t>Example 1 </a:t>
                </a:r>
                <a:r>
                  <a:rPr lang="en-US" dirty="0" smtClean="0"/>
                  <a:t>(</a:t>
                </a:r>
                <a:r>
                  <a:rPr lang="en-US" u="sng" dirty="0" smtClean="0"/>
                  <a:t>Difference </a:t>
                </a:r>
                <a:r>
                  <a:rPr lang="en-US" u="sng" dirty="0"/>
                  <a:t>in pre- vs post-treatment differences</a:t>
                </a:r>
                <a:r>
                  <a:rPr lang="en-US" dirty="0" smtClean="0"/>
                  <a:t>): </a:t>
                </a:r>
                <a:r>
                  <a:rPr lang="en-US" dirty="0"/>
                  <a:t>Test for equality of the difference between the average </a:t>
                </a:r>
                <a:r>
                  <a:rPr lang="en-US" dirty="0" smtClean="0"/>
                  <a:t>response at </a:t>
                </a:r>
                <a:r>
                  <a:rPr lang="en-US" dirty="0"/>
                  <a:t>occasions 2 through </a:t>
                </a:r>
                <a:r>
                  <a:rPr lang="en-US" i="1" dirty="0"/>
                  <a:t>n </a:t>
                </a:r>
                <a:r>
                  <a:rPr lang="en-US" dirty="0"/>
                  <a:t>and the baseline value in the two </a:t>
                </a:r>
                <a:r>
                  <a:rPr lang="en-US" dirty="0" smtClean="0"/>
                  <a:t>groups: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(2)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</m:oMath>
                  </m:oMathPara>
                </a14:m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 smtClean="0"/>
                  <a:t>    Use the following contrast: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770" y="4301002"/>
            <a:ext cx="5946845" cy="2000652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24</a:t>
            </a:r>
          </a:p>
        </p:txBody>
      </p:sp>
    </p:spTree>
    <p:extLst>
      <p:ext uri="{BB962C8B-B14F-4D97-AF65-F5344CB8AC3E}">
        <p14:creationId xmlns:p14="http://schemas.microsoft.com/office/powerpoint/2010/main" val="150256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Single DF Contrasts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u="sng" dirty="0" smtClean="0"/>
                  <a:t>Example 1</a:t>
                </a:r>
                <a:r>
                  <a:rPr lang="en-US" dirty="0" smtClean="0"/>
                  <a:t>: in the TLC example, this 1-</a:t>
                </a:r>
                <a:r>
                  <a:rPr lang="en-US" i="1" dirty="0" smtClean="0"/>
                  <a:t>df </a:t>
                </a:r>
                <a:r>
                  <a:rPr lang="en-US" dirty="0" smtClean="0"/>
                  <a:t>contrast can be equivalently expressed (in terms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) as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)/3</m:t>
                    </m:r>
                  </m:oMath>
                </a14:m>
                <a:r>
                  <a:rPr lang="en-US" dirty="0" smtClean="0"/>
                  <a:t>.</a:t>
                </a:r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14" y="2979159"/>
            <a:ext cx="10662470" cy="2274485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24</a:t>
            </a:r>
          </a:p>
        </p:txBody>
      </p:sp>
    </p:spTree>
    <p:extLst>
      <p:ext uri="{BB962C8B-B14F-4D97-AF65-F5344CB8AC3E}">
        <p14:creationId xmlns:p14="http://schemas.microsoft.com/office/powerpoint/2010/main" val="2834328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Single DF Contrasts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 smtClean="0"/>
              <a:t>Example 1</a:t>
            </a:r>
            <a:r>
              <a:rPr lang="en-US" dirty="0" smtClean="0"/>
              <a:t>: Output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165" y="2879667"/>
            <a:ext cx="7190382" cy="2764674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24</a:t>
            </a:r>
          </a:p>
        </p:txBody>
      </p:sp>
    </p:spTree>
    <p:extLst>
      <p:ext uri="{BB962C8B-B14F-4D97-AF65-F5344CB8AC3E}">
        <p14:creationId xmlns:p14="http://schemas.microsoft.com/office/powerpoint/2010/main" val="67875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Single DF Contrasts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u="sng" dirty="0" smtClean="0"/>
                  <a:t>Example 2</a:t>
                </a:r>
                <a:r>
                  <a:rPr lang="en-US" dirty="0"/>
                  <a:t>: A variant of this approach, known as </a:t>
                </a:r>
                <a:r>
                  <a:rPr lang="en-US" i="1" u="sng" dirty="0"/>
                  <a:t>Area Under the Curve</a:t>
                </a:r>
                <a:br>
                  <a:rPr lang="en-US" i="1" u="sng" dirty="0"/>
                </a:br>
                <a:r>
                  <a:rPr lang="en-US" i="1" u="sng" dirty="0"/>
                  <a:t>Minus Baseline</a:t>
                </a:r>
                <a:r>
                  <a:rPr lang="en-US" dirty="0"/>
                  <a:t>, or sometimes simply </a:t>
                </a:r>
                <a:r>
                  <a:rPr lang="en-US" u="sng" dirty="0" smtClean="0"/>
                  <a:t>AUC.</a:t>
                </a:r>
              </a:p>
              <a:p>
                <a:r>
                  <a:rPr lang="en-US" dirty="0" smtClean="0"/>
                  <a:t>AUC </a:t>
                </a:r>
                <a:r>
                  <a:rPr lang="en-US" dirty="0"/>
                  <a:t>is the area under the trapezoidal curve created by connecting </a:t>
                </a:r>
                <a:r>
                  <a:rPr lang="en-US" dirty="0" smtClean="0"/>
                  <a:t>the mean </a:t>
                </a:r>
                <a:r>
                  <a:rPr lang="en-US" dirty="0"/>
                  <a:t>responses at each </a:t>
                </a:r>
                <a:r>
                  <a:rPr lang="en-US" dirty="0" smtClean="0"/>
                  <a:t>occasion, subtracted by </a:t>
                </a:r>
                <a:r>
                  <a:rPr lang="en-US" dirty="0"/>
                  <a:t>baseline mean: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µ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× 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If time is standardized in the sense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, then AUC can be interpreted as the </a:t>
                </a:r>
                <a:r>
                  <a:rPr lang="en-US" u="sng" dirty="0" smtClean="0"/>
                  <a:t>average change in mean response from baseline</a:t>
                </a:r>
                <a:r>
                  <a:rPr lang="en-US" dirty="0" smtClean="0"/>
                  <a:t> over time</a:t>
                </a:r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24</a:t>
            </a:r>
          </a:p>
        </p:txBody>
      </p:sp>
    </p:spTree>
    <p:extLst>
      <p:ext uri="{BB962C8B-B14F-4D97-AF65-F5344CB8AC3E}">
        <p14:creationId xmlns:p14="http://schemas.microsoft.com/office/powerpoint/2010/main" val="25363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Single DF Contrasts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049" y="1932029"/>
            <a:ext cx="4341409" cy="4244933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24</a:t>
            </a:r>
          </a:p>
        </p:txBody>
      </p:sp>
    </p:spTree>
    <p:extLst>
      <p:ext uri="{BB962C8B-B14F-4D97-AF65-F5344CB8AC3E}">
        <p14:creationId xmlns:p14="http://schemas.microsoft.com/office/powerpoint/2010/main" val="8057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Single DF Contrasts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990600" y="19780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u="sng" dirty="0" smtClean="0"/>
                  <a:t>Example 2</a:t>
                </a:r>
                <a:r>
                  <a:rPr lang="en-US" dirty="0" smtClean="0"/>
                  <a:t>: In the TLC example, the AUC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So the difference in AUC between </a:t>
                </a:r>
                <a:r>
                  <a:rPr lang="en-US" dirty="0" err="1" smtClean="0"/>
                  <a:t>succimer</a:t>
                </a:r>
                <a:r>
                  <a:rPr lang="en-US" dirty="0" smtClean="0"/>
                  <a:t> and placebo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978025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24</a:t>
            </a:r>
          </a:p>
        </p:txBody>
      </p:sp>
    </p:spTree>
    <p:extLst>
      <p:ext uri="{BB962C8B-B14F-4D97-AF65-F5344CB8AC3E}">
        <p14:creationId xmlns:p14="http://schemas.microsoft.com/office/powerpoint/2010/main" val="286561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Single DF Contrasts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990600" y="19780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u="sng" dirty="0" smtClean="0"/>
                  <a:t>Example 2</a:t>
                </a:r>
                <a:r>
                  <a:rPr lang="en-US" dirty="0" smtClean="0"/>
                  <a:t>: Use the fact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/>
                  <a:t>The difference in AUC is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dirty="0" smtClean="0"/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978025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24</a:t>
            </a:r>
          </a:p>
        </p:txBody>
      </p:sp>
    </p:spTree>
    <p:extLst>
      <p:ext uri="{BB962C8B-B14F-4D97-AF65-F5344CB8AC3E}">
        <p14:creationId xmlns:p14="http://schemas.microsoft.com/office/powerpoint/2010/main" val="329531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Single DF Contrasts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 smtClean="0"/>
              <a:t>Example 2</a:t>
            </a:r>
            <a:r>
              <a:rPr lang="en-US" dirty="0" smtClean="0"/>
              <a:t>: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74" y="2335877"/>
            <a:ext cx="9792652" cy="2290121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V="1">
            <a:off x="1596043" y="4389120"/>
            <a:ext cx="7215448" cy="1662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761" y="4420277"/>
            <a:ext cx="4552950" cy="161925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V="1">
            <a:off x="3483119" y="5835534"/>
            <a:ext cx="4087091" cy="277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12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24</a:t>
            </a:r>
          </a:p>
        </p:txBody>
      </p:sp>
    </p:spTree>
    <p:extLst>
      <p:ext uri="{BB962C8B-B14F-4D97-AF65-F5344CB8AC3E}">
        <p14:creationId xmlns:p14="http://schemas.microsoft.com/office/powerpoint/2010/main" val="67922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Adjustment for Baseline Response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previous analysis, we treat baseline response </a:t>
            </a:r>
            <a:r>
              <a:rPr lang="en-US" u="sng" dirty="0" smtClean="0"/>
              <a:t>as a component of the response profile</a:t>
            </a:r>
            <a:r>
              <a:rPr lang="en-US" dirty="0" smtClean="0"/>
              <a:t>, and consider the difference in the change pattern between groups</a:t>
            </a:r>
          </a:p>
          <a:p>
            <a:r>
              <a:rPr lang="en-US" dirty="0" smtClean="0"/>
              <a:t>This is a natural paradigm to adjust for baseline response, and works for both </a:t>
            </a:r>
            <a:r>
              <a:rPr lang="en-US" u="sng" dirty="0" smtClean="0"/>
              <a:t>randomized</a:t>
            </a:r>
            <a:r>
              <a:rPr lang="en-US" dirty="0" smtClean="0"/>
              <a:t> and </a:t>
            </a:r>
            <a:r>
              <a:rPr lang="en-US" u="sng" dirty="0" smtClean="0"/>
              <a:t>observational</a:t>
            </a:r>
            <a:r>
              <a:rPr lang="en-US" dirty="0" smtClean="0"/>
              <a:t> studies.</a:t>
            </a:r>
            <a:r>
              <a:rPr lang="en-US" dirty="0" smtClean="0"/>
              <a:t/>
            </a:r>
          </a:p>
          <a:p>
            <a:r>
              <a:rPr lang="en-US" dirty="0" smtClean="0"/>
              <a:t>Here we consider two alternative ways to adjust for baseline response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Subtraction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As covariate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24</a:t>
            </a:r>
          </a:p>
        </p:txBody>
      </p:sp>
    </p:spTree>
    <p:extLst>
      <p:ext uri="{BB962C8B-B14F-4D97-AF65-F5344CB8AC3E}">
        <p14:creationId xmlns:p14="http://schemas.microsoft.com/office/powerpoint/2010/main" val="415224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Adjustment for Baseline Response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If each post-treatment response is </a:t>
                </a:r>
                <a:r>
                  <a:rPr lang="en-US" u="sng" dirty="0" smtClean="0"/>
                  <a:t>subtracted</a:t>
                </a:r>
                <a:r>
                  <a:rPr lang="en-US" dirty="0" smtClean="0"/>
                  <a:t> by the baseline response, we are dealing with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 smtClean="0"/>
                  <a:t> vector of changes in response.</a:t>
                </a:r>
              </a:p>
              <a:p>
                <a:r>
                  <a:rPr lang="en-US" dirty="0" smtClean="0"/>
                  <a:t>To study the treatment effect, we need to directly assess the </a:t>
                </a:r>
                <a:r>
                  <a:rPr lang="en-US" u="sng" dirty="0" smtClean="0"/>
                  <a:t>equality </a:t>
                </a:r>
                <a:r>
                  <a:rPr lang="en-US" dirty="0" smtClean="0"/>
                  <a:t>of  mean changes between groups, </a:t>
                </a:r>
                <a:r>
                  <a:rPr lang="en-US" u="sng" dirty="0" smtClean="0"/>
                  <a:t>not parallelism</a:t>
                </a:r>
                <a:r>
                  <a:rPr lang="en-US" dirty="0" smtClean="0"/>
                  <a:t>.</a:t>
                </a: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26" y="3718986"/>
            <a:ext cx="3014230" cy="26303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942" y="3835751"/>
            <a:ext cx="3028950" cy="268605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921135" y="4879571"/>
            <a:ext cx="1014152" cy="29920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6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Adjustment for Baseline Response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In other words, the null hypothesis is that the mean change curves across groups coincide.</a:t>
                </a:r>
              </a:p>
              <a:p>
                <a:r>
                  <a:rPr lang="en-US" dirty="0" smtClean="0"/>
                  <a:t>This means that we need to test on the </a:t>
                </a:r>
                <a:r>
                  <a:rPr lang="en-US" u="sng" dirty="0" smtClean="0"/>
                  <a:t>main effects of treatment + treatment </a:t>
                </a:r>
                <a14:m>
                  <m:oMath xmlns:m="http://schemas.openxmlformats.org/officeDocument/2006/math">
                    <m:r>
                      <a:rPr lang="en-US" b="0" i="1" u="sng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u="sng" dirty="0" smtClean="0"/>
                  <a:t> time interactions.</a:t>
                </a:r>
              </a:p>
              <a:p>
                <a:r>
                  <a:rPr lang="en-US" dirty="0" smtClean="0"/>
                  <a:t>Suppose we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treatment groups, then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 smtClean="0"/>
                  <a:t/>
                </a:r>
                <a:r>
                  <a:rPr lang="en-US" dirty="0" err="1" smtClean="0"/>
                  <a:t>df</a:t>
                </a:r>
                <a:r>
                  <a:rPr lang="en-US" dirty="0" smtClean="0"/>
                  <a:t> for group main effects,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−1−1)</m:t>
                    </m:r>
                  </m:oMath>
                </a14:m>
                <a:r>
                  <a:rPr lang="en-US" dirty="0" smtClean="0"/>
                  <a:t/>
                </a:r>
                <a:r>
                  <a:rPr lang="en-US" dirty="0" err="1" smtClean="0"/>
                  <a:t>df</a:t>
                </a:r>
                <a:r>
                  <a:rPr lang="en-US" dirty="0" smtClean="0"/>
                  <a:t> for group x time interactions. </a:t>
                </a:r>
              </a:p>
              <a:p>
                <a:r>
                  <a:rPr lang="en-US" dirty="0" smtClean="0"/>
                  <a:t>So the overall test of treatment effect will have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 smtClean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−1−1)</m:t>
                    </m:r>
                  </m:oMath>
                </a14:m>
                <a:r>
                  <a:rPr lang="en-US" dirty="0"/>
                  <a:t/>
                </a:r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/>
                </a:r>
                <a:r>
                  <a:rPr lang="en-US" dirty="0" smtClean="0"/>
                  <a:t>df (familiar?).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24</a:t>
            </a:r>
          </a:p>
        </p:txBody>
      </p:sp>
    </p:spTree>
    <p:extLst>
      <p:ext uri="{BB962C8B-B14F-4D97-AF65-F5344CB8AC3E}">
        <p14:creationId xmlns:p14="http://schemas.microsoft.com/office/powerpoint/2010/main" val="76120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Case Study: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Suppressing the subscript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𝑖𝑗</m:t>
                    </m:r>
                  </m:oMath>
                </a14:m>
                <a:r>
                  <a:rPr lang="en-US" dirty="0"/>
                  <a:t/>
                </a:r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/>
                </a:r>
                <a:r>
                  <a:rPr lang="en-US" i="1" dirty="0" smtClean="0"/>
                  <a:t>Time</a:t>
                </a:r>
                <a:r>
                  <a:rPr lang="en-US" dirty="0" smtClean="0"/>
                  <a:t>: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 for week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 otherwise.</a:t>
                </a:r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for week </a:t>
                </a:r>
                <a:r>
                  <a:rPr lang="en-US" dirty="0" smtClean="0"/>
                  <a:t>6,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otherwise.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>So the reference level is week 1.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0688" b="35400"/>
          <a:stretch/>
        </p:blipFill>
        <p:spPr>
          <a:xfrm>
            <a:off x="1103785" y="2269594"/>
            <a:ext cx="8879385" cy="2186028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24</a:t>
            </a:r>
          </a:p>
        </p:txBody>
      </p:sp>
    </p:spTree>
    <p:extLst>
      <p:ext uri="{BB962C8B-B14F-4D97-AF65-F5344CB8AC3E}">
        <p14:creationId xmlns:p14="http://schemas.microsoft.com/office/powerpoint/2010/main" val="3775902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Case Study: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model can be expressed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 smtClean="0"/>
                  <a:t> is the change in response from baseline.</a:t>
                </a:r>
              </a:p>
              <a:p>
                <a:r>
                  <a:rPr lang="en-US" dirty="0"/>
                  <a:t>Test of </a:t>
                </a:r>
                <a:r>
                  <a:rPr lang="en-US" dirty="0"/>
                  <a:t>treatment effect</a:t>
                </a:r>
                <a:r>
                  <a:rPr lang="en-US" dirty="0" smtClean="0"/>
                  <a:t>: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 smtClean="0"/>
                  <a:t>In this parameterization,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. So, this is essentially a re-parameterized version of the </a:t>
                </a:r>
                <a:r>
                  <a:rPr lang="en-US" u="sng" dirty="0" err="1" smtClean="0"/>
                  <a:t>equi</a:t>
                </a:r>
                <a:r>
                  <a:rPr lang="en-US" u="sng" dirty="0" smtClean="0"/>
                  <a:t>-distance null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24</a:t>
            </a:r>
          </a:p>
        </p:txBody>
      </p:sp>
    </p:spTree>
    <p:extLst>
      <p:ext uri="{BB962C8B-B14F-4D97-AF65-F5344CB8AC3E}">
        <p14:creationId xmlns:p14="http://schemas.microsoft.com/office/powerpoint/2010/main" val="238362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Case Study: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12" y="3635433"/>
            <a:ext cx="6724650" cy="1066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231" y="2168496"/>
            <a:ext cx="8677275" cy="1323975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79023" y="4971011"/>
            <a:ext cx="9910155" cy="100921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Without covariates in addition to time and group, the </a:t>
            </a:r>
            <a:r>
              <a:rPr lang="en-US" u="sng" dirty="0" smtClean="0"/>
              <a:t>analysis of response change profiles</a:t>
            </a:r>
            <a:r>
              <a:rPr lang="en-US" dirty="0" smtClean="0"/>
              <a:t> is </a:t>
            </a:r>
            <a:r>
              <a:rPr lang="en-US" u="sng" dirty="0" smtClean="0"/>
              <a:t>equivalent</a:t>
            </a:r>
            <a:r>
              <a:rPr lang="en-US" dirty="0" smtClean="0"/>
              <a:t> to the </a:t>
            </a:r>
            <a:r>
              <a:rPr lang="en-US" u="sng" dirty="0" smtClean="0"/>
              <a:t>analysis of response profiles</a:t>
            </a:r>
            <a:r>
              <a:rPr lang="en-US" dirty="0" smtClean="0"/>
              <a:t>.</a:t>
            </a:r>
          </a:p>
        </p:txBody>
      </p:sp>
      <p:sp>
        <p:nvSpPr>
          <p:cNvPr id="10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11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24</a:t>
            </a:r>
          </a:p>
        </p:txBody>
      </p:sp>
    </p:spTree>
    <p:extLst>
      <p:ext uri="{BB962C8B-B14F-4D97-AF65-F5344CB8AC3E}">
        <p14:creationId xmlns:p14="http://schemas.microsoft.com/office/powerpoint/2010/main" val="384788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Case Study: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924" y="2042073"/>
            <a:ext cx="4759125" cy="33445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052834" y="3050771"/>
                <a:ext cx="4643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834" y="3050771"/>
                <a:ext cx="464358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052834" y="3420103"/>
                <a:ext cx="4696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834" y="3420103"/>
                <a:ext cx="46968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2834" y="3789435"/>
                <a:ext cx="4696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834" y="3789435"/>
                <a:ext cx="469680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052834" y="4158767"/>
                <a:ext cx="4643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834" y="4158767"/>
                <a:ext cx="464358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052834" y="4528099"/>
                <a:ext cx="4696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834" y="4528099"/>
                <a:ext cx="46968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52834" y="4843269"/>
                <a:ext cx="4696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834" y="4843269"/>
                <a:ext cx="469680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1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24</a:t>
            </a:r>
          </a:p>
        </p:txBody>
      </p:sp>
    </p:spTree>
    <p:extLst>
      <p:ext uri="{BB962C8B-B14F-4D97-AF65-F5344CB8AC3E}">
        <p14:creationId xmlns:p14="http://schemas.microsoft.com/office/powerpoint/2010/main" val="351999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Adjustment for Baseline Response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Now, consider the other alternative: inclusion of baseline response as a covariate.</a:t>
            </a:r>
          </a:p>
          <a:p>
            <a:r>
              <a:rPr lang="en-US" dirty="0" smtClean="0"/>
              <a:t>In a baseline-response-adjusted regression model, inference is made on subjects having the </a:t>
            </a:r>
            <a:r>
              <a:rPr lang="en-US" u="sng" dirty="0" smtClean="0"/>
              <a:t>same</a:t>
            </a:r>
            <a:r>
              <a:rPr lang="en-US" dirty="0" smtClean="0"/>
              <a:t> baseline response.</a:t>
            </a:r>
          </a:p>
          <a:p>
            <a:r>
              <a:rPr lang="en-US" dirty="0" smtClean="0"/>
              <a:t>Therefore, the null hypothesis is, again, the </a:t>
            </a:r>
            <a:r>
              <a:rPr lang="en-US" u="sng" dirty="0" smtClean="0"/>
              <a:t>equality</a:t>
            </a:r>
            <a:r>
              <a:rPr lang="en-US" dirty="0" smtClean="0"/>
              <a:t> of responses between groups, </a:t>
            </a:r>
            <a:r>
              <a:rPr lang="en-US" u="sng" dirty="0" smtClean="0"/>
              <a:t>not parallelism</a:t>
            </a:r>
          </a:p>
          <a:p>
            <a:r>
              <a:rPr lang="en-US" dirty="0" smtClean="0"/>
              <a:t>So, hypothesis testing of treatment effect will also be based on the </a:t>
            </a:r>
            <a:r>
              <a:rPr lang="en-US" u="sng" dirty="0" smtClean="0"/>
              <a:t>main effects and interactions</a:t>
            </a:r>
            <a:r>
              <a:rPr lang="en-US" dirty="0" smtClean="0"/>
              <a:t> jointly.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24</a:t>
            </a:r>
          </a:p>
        </p:txBody>
      </p:sp>
    </p:spTree>
    <p:extLst>
      <p:ext uri="{BB962C8B-B14F-4D97-AF65-F5344CB8AC3E}">
        <p14:creationId xmlns:p14="http://schemas.microsoft.com/office/powerpoint/2010/main" val="256807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Case Study: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Suppressing the subscript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𝑖𝑗</m:t>
                    </m:r>
                  </m:oMath>
                </a14:m>
                <a:r>
                  <a:rPr lang="en-US" dirty="0"/>
                  <a:t/>
                </a:r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/>
                </a:r>
                <a:r>
                  <a:rPr lang="en-US" i="1" dirty="0" smtClean="0"/>
                  <a:t>Time</a:t>
                </a:r>
                <a:r>
                  <a:rPr lang="en-US" dirty="0" smtClean="0"/>
                  <a:t>: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 for week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 otherwise.</a:t>
                </a:r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for week </a:t>
                </a:r>
                <a:r>
                  <a:rPr lang="en-US" dirty="0" smtClean="0"/>
                  <a:t>6,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otherwise.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  Baseline response: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Baseline response	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0688" b="35400"/>
          <a:stretch/>
        </p:blipFill>
        <p:spPr>
          <a:xfrm>
            <a:off x="1103785" y="2269594"/>
            <a:ext cx="8879385" cy="2186028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24</a:t>
            </a:r>
          </a:p>
        </p:txBody>
      </p:sp>
    </p:spTree>
    <p:extLst>
      <p:ext uri="{BB962C8B-B14F-4D97-AF65-F5344CB8AC3E}">
        <p14:creationId xmlns:p14="http://schemas.microsoft.com/office/powerpoint/2010/main" val="52884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Case Study: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model can be expressed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Test </a:t>
                </a:r>
                <a:r>
                  <a:rPr lang="en-US" dirty="0"/>
                  <a:t>of treatment effect</a:t>
                </a:r>
                <a:r>
                  <a:rPr lang="en-US" dirty="0" smtClean="0"/>
                  <a:t>: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 smtClean="0"/>
                  <a:t>Note that this yields a different model from the previous two approaches. There is no simple correspondence between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’s and the regression parameters here.</a:t>
                </a:r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24</a:t>
            </a:r>
          </a:p>
        </p:txBody>
      </p:sp>
    </p:spTree>
    <p:extLst>
      <p:ext uri="{BB962C8B-B14F-4D97-AF65-F5344CB8AC3E}">
        <p14:creationId xmlns:p14="http://schemas.microsoft.com/office/powerpoint/2010/main" val="252755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Case Study: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9444" y="1971515"/>
            <a:ext cx="10193668" cy="13286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815" y="3542621"/>
            <a:ext cx="9450606" cy="1436703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5221791"/>
            <a:ext cx="10515600" cy="955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The test statistic is not numerically identical to that from the previous two approaches, but is comparable (111.13 vs 107.79).</a:t>
            </a:r>
            <a:endParaRPr lang="en-US" dirty="0" smtClean="0"/>
          </a:p>
        </p:txBody>
      </p:sp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24</a:t>
            </a:r>
          </a:p>
        </p:txBody>
      </p:sp>
    </p:spTree>
    <p:extLst>
      <p:ext uri="{BB962C8B-B14F-4D97-AF65-F5344CB8AC3E}">
        <p14:creationId xmlns:p14="http://schemas.microsoft.com/office/powerpoint/2010/main" val="36689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Adjustment for Baseline Response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5221791"/>
            <a:ext cx="10515600" cy="955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approach can be extended to incorporate other baseline characteristics such as age, race, gender, etc.</a:t>
            </a:r>
          </a:p>
          <a:p>
            <a:r>
              <a:rPr lang="en-US" dirty="0" smtClean="0"/>
              <a:t>Compared with the first two approaches, it is the least robust because it involves extra assumptions on the relationship between post-treatment and baseline responses.</a:t>
            </a:r>
          </a:p>
          <a:p>
            <a:r>
              <a:rPr lang="en-US" dirty="0" smtClean="0"/>
              <a:t>Therefore, the first two approaches are recommended.</a:t>
            </a:r>
            <a:endParaRPr lang="en-US" dirty="0"/>
          </a:p>
        </p:txBody>
      </p:sp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24</a:t>
            </a:r>
          </a:p>
        </p:txBody>
      </p:sp>
    </p:spTree>
    <p:extLst>
      <p:ext uri="{BB962C8B-B14F-4D97-AF65-F5344CB8AC3E}">
        <p14:creationId xmlns:p14="http://schemas.microsoft.com/office/powerpoint/2010/main" val="64243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Adjustment for Baseline Response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5221791"/>
            <a:ext cx="10515600" cy="955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61131991"/>
                  </p:ext>
                </p:extLst>
              </p:nvPr>
            </p:nvGraphicFramePr>
            <p:xfrm>
              <a:off x="838200" y="2178711"/>
              <a:ext cx="10704968" cy="202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7471">
                      <a:extLst>
                        <a:ext uri="{9D8B030D-6E8A-4147-A177-3AD203B41FA5}">
                          <a16:colId xmlns:a16="http://schemas.microsoft.com/office/drawing/2014/main" val="1894538904"/>
                        </a:ext>
                      </a:extLst>
                    </a:gridCol>
                    <a:gridCol w="3195874">
                      <a:extLst>
                        <a:ext uri="{9D8B030D-6E8A-4147-A177-3AD203B41FA5}">
                          <a16:colId xmlns:a16="http://schemas.microsoft.com/office/drawing/2014/main" val="3809229216"/>
                        </a:ext>
                      </a:extLst>
                    </a:gridCol>
                    <a:gridCol w="2788467">
                      <a:extLst>
                        <a:ext uri="{9D8B030D-6E8A-4147-A177-3AD203B41FA5}">
                          <a16:colId xmlns:a16="http://schemas.microsoft.com/office/drawing/2014/main" val="2584670149"/>
                        </a:ext>
                      </a:extLst>
                    </a:gridCol>
                    <a:gridCol w="3413156">
                      <a:extLst>
                        <a:ext uri="{9D8B030D-6E8A-4147-A177-3AD203B41FA5}">
                          <a16:colId xmlns:a16="http://schemas.microsoft.com/office/drawing/2014/main" val="5953853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Approach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Modelling</a:t>
                          </a:r>
                          <a:r>
                            <a:rPr lang="en-US" baseline="0" dirty="0" smtClean="0"/>
                            <a:t> object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Null hypothesis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Regression</a:t>
                          </a:r>
                          <a:r>
                            <a:rPr lang="en-US" baseline="0" dirty="0" smtClean="0"/>
                            <a:t> terms of interest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7468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Response profile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Parallelism between groups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Group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dirty="0" smtClean="0"/>
                            <a:t>Time interactions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675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Post-treatment response change profile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Equality between </a:t>
                          </a:r>
                          <a:r>
                            <a:rPr lang="en-US" dirty="0" smtClean="0"/>
                            <a:t>groups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Group main effects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US" dirty="0" smtClean="0"/>
                            <a:t>Group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dirty="0" smtClean="0"/>
                            <a:t>Time </a:t>
                          </a:r>
                          <a:r>
                            <a:rPr lang="en-US" dirty="0" smtClean="0"/>
                            <a:t>interactions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42682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Post-treatment response profile given baseline response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Equality between groups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Group main effects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US" dirty="0" smtClean="0"/>
                            <a:t>Group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dirty="0" smtClean="0"/>
                            <a:t>Time </a:t>
                          </a:r>
                          <a:r>
                            <a:rPr lang="en-US" dirty="0" smtClean="0"/>
                            <a:t>interactions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66180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61131991"/>
                  </p:ext>
                </p:extLst>
              </p:nvPr>
            </p:nvGraphicFramePr>
            <p:xfrm>
              <a:off x="838200" y="2178711"/>
              <a:ext cx="10704968" cy="202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7471">
                      <a:extLst>
                        <a:ext uri="{9D8B030D-6E8A-4147-A177-3AD203B41FA5}">
                          <a16:colId xmlns:a16="http://schemas.microsoft.com/office/drawing/2014/main" val="1894538904"/>
                        </a:ext>
                      </a:extLst>
                    </a:gridCol>
                    <a:gridCol w="3195874">
                      <a:extLst>
                        <a:ext uri="{9D8B030D-6E8A-4147-A177-3AD203B41FA5}">
                          <a16:colId xmlns:a16="http://schemas.microsoft.com/office/drawing/2014/main" val="3809229216"/>
                        </a:ext>
                      </a:extLst>
                    </a:gridCol>
                    <a:gridCol w="2788467">
                      <a:extLst>
                        <a:ext uri="{9D8B030D-6E8A-4147-A177-3AD203B41FA5}">
                          <a16:colId xmlns:a16="http://schemas.microsoft.com/office/drawing/2014/main" val="2584670149"/>
                        </a:ext>
                      </a:extLst>
                    </a:gridCol>
                    <a:gridCol w="3413156">
                      <a:extLst>
                        <a:ext uri="{9D8B030D-6E8A-4147-A177-3AD203B41FA5}">
                          <a16:colId xmlns:a16="http://schemas.microsoft.com/office/drawing/2014/main" val="5953853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Approach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Modelling</a:t>
                          </a:r>
                          <a:r>
                            <a:rPr lang="en-US" baseline="0" dirty="0" smtClean="0"/>
                            <a:t> object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Null hypothesis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Regression</a:t>
                          </a:r>
                          <a:r>
                            <a:rPr lang="en-US" baseline="0" dirty="0" smtClean="0"/>
                            <a:t> terms of interest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7468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Response profile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Parallelism between groups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929" t="-108197" r="-714" b="-3704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667537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Post-treatment response change profile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Equality between </a:t>
                          </a:r>
                          <a:r>
                            <a:rPr lang="en-US" dirty="0" smtClean="0"/>
                            <a:t>groups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929" t="-119811" r="-714" b="-113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426826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Post-treatment response profile given baseline response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Equality between groups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929" t="-221905" r="-714" b="-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6180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07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24</a:t>
            </a:r>
          </a:p>
        </p:txBody>
      </p:sp>
    </p:spTree>
    <p:extLst>
      <p:ext uri="{BB962C8B-B14F-4D97-AF65-F5344CB8AC3E}">
        <p14:creationId xmlns:p14="http://schemas.microsoft.com/office/powerpoint/2010/main" val="344132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22539</TotalTime>
  <Words>705</Words>
  <Application>Microsoft Office PowerPoint</Application>
  <PresentationFormat>Widescreen</PresentationFormat>
  <Paragraphs>137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Single DF Contrasts</vt:lpstr>
      <vt:lpstr>Single DF Contrasts</vt:lpstr>
      <vt:lpstr>Single DF Contrasts</vt:lpstr>
      <vt:lpstr>Single DF Contrasts</vt:lpstr>
      <vt:lpstr>Single DF Contrasts</vt:lpstr>
      <vt:lpstr>Single DF Contrasts</vt:lpstr>
      <vt:lpstr>Single DF Contrasts</vt:lpstr>
      <vt:lpstr>Single DF Contrasts</vt:lpstr>
      <vt:lpstr>Single DF Contrasts</vt:lpstr>
      <vt:lpstr>Adjustment for Baseline Response </vt:lpstr>
      <vt:lpstr>Adjustment for Baseline Response </vt:lpstr>
      <vt:lpstr>Adjustment for Baseline Response </vt:lpstr>
      <vt:lpstr>Case Study: the TLC Trial</vt:lpstr>
      <vt:lpstr>Case Study: the TLC Trial</vt:lpstr>
      <vt:lpstr>Case Study: the TLC Trial</vt:lpstr>
      <vt:lpstr>Case Study: the TLC Trial</vt:lpstr>
      <vt:lpstr>Adjustment for Baseline Response </vt:lpstr>
      <vt:lpstr>Case Study: the TLC Trial</vt:lpstr>
      <vt:lpstr>Case Study: the TLC Trial</vt:lpstr>
      <vt:lpstr>Case Study: the TLC Trial</vt:lpstr>
      <vt:lpstr>Adjustment for Baseline Response </vt:lpstr>
      <vt:lpstr>Adjustment for Baseline Response 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533</cp:revision>
  <dcterms:created xsi:type="dcterms:W3CDTF">2019-01-16T21:45:55Z</dcterms:created>
  <dcterms:modified xsi:type="dcterms:W3CDTF">2019-02-19T07:12:16Z</dcterms:modified>
</cp:coreProperties>
</file>