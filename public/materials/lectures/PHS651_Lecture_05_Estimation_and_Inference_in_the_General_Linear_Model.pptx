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80" r:id="rId4"/>
    <p:sldId id="281" r:id="rId5"/>
    <p:sldId id="282" r:id="rId6"/>
    <p:sldId id="290" r:id="rId7"/>
    <p:sldId id="283" r:id="rId8"/>
    <p:sldId id="284" r:id="rId9"/>
    <p:sldId id="287" r:id="rId10"/>
    <p:sldId id="286" r:id="rId11"/>
    <p:sldId id="289" r:id="rId12"/>
    <p:sldId id="285" r:id="rId13"/>
    <p:sldId id="291" r:id="rId14"/>
    <p:sldId id="292" r:id="rId15"/>
    <p:sldId id="293" r:id="rId16"/>
    <p:sldId id="295" r:id="rId17"/>
    <p:sldId id="294" r:id="rId18"/>
    <p:sldId id="296" r:id="rId19"/>
    <p:sldId id="298" r:id="rId20"/>
    <p:sldId id="299" r:id="rId21"/>
    <p:sldId id="300" r:id="rId22"/>
    <p:sldId id="302" r:id="rId23"/>
    <p:sldId id="301" r:id="rId24"/>
    <p:sldId id="303" r:id="rId25"/>
    <p:sldId id="304" r:id="rId26"/>
    <p:sldId id="310" r:id="rId27"/>
    <p:sldId id="307" r:id="rId28"/>
    <p:sldId id="308" r:id="rId29"/>
    <p:sldId id="309" r:id="rId30"/>
    <p:sldId id="311" r:id="rId31"/>
    <p:sldId id="312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2/3/2019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307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2/3/2019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919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2/3/2019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672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2/3/2019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711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2/3/2019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460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2/3/2019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83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2/3/2019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401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2/3/2019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577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2/3/2019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020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2/3/2019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398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2/3/2019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712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67D58-E64F-42FB-A354-3FB5C93E4E64}" type="datetimeFigureOut">
              <a:rPr lang="en-US" smtClean="0"/>
              <a:t>2/3/2019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952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 xmlns:a="http://schemas.openxmlformats.org/drawingml/2006/main">
          <a:srgbClr val="102A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37C640-81D1-4089-8CE1-5B3BAF993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AD1C8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7AD1C8"/>
                </a:solidFill>
                <a:latin typeface="Calibri"/>
                <a:ea typeface="Calibri"/>
                <a:cs typeface="Calibri"/>
              </a:rPr>
              <a:t>PHS 651     /     LECTURE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34B4D7-B15C-42B2-A174-FC4CDFA4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71625"/>
            <a:ext cx="10191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46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Estimation and Inference in the General Linear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846B22-1A7C-48BC-9672-97C9CF924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0025"/>
            <a:ext cx="1051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7CBCE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B7CBCE"/>
                </a:solidFill>
                <a:latin typeface="Calibri"/>
                <a:ea typeface="Calibri"/>
                <a:cs typeface="Calibri"/>
              </a:rPr>
              <a:t>Advanced Regression Methods for Population Health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4C123B-EABF-49CC-837A-534F4F9D2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714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Lu Mao, PhD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17BBD6-AA2D-44FE-9F43-E05C423FB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8858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7CBCE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B7CBCE"/>
                </a:solidFill>
                <a:latin typeface="Calibri"/>
                <a:ea typeface="Calibri"/>
                <a:cs typeface="Calibri"/>
              </a:rPr>
              <a:t>Department of Biostatistics and Medical Informatics</a:t>
            </a:r>
          </a:p>
          <a:p xmlns:a="http://schemas.openxmlformats.org/drawingml/2006/main">
            <a:pPr>
              <a:defRPr sz="1575" b="0">
                <a:solidFill>
                  <a:srgbClr val="B7CBCE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B7CBCE"/>
                </a:solidFill>
                <a:latin typeface="Calibri"/>
                <a:ea typeface="Calibri"/>
                <a:cs typeface="Calibri"/>
              </a:rPr>
              <a:t>University of Wisconsin-Madison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4AA7F9-A1CC-4B8B-831A-00D800D5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972175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AD1C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7AD1C8"/>
                </a:solidFill>
                <a:latin typeface="Calibri"/>
                <a:ea typeface="Calibri"/>
                <a:cs typeface="Calibri"/>
              </a:rPr>
              <a:t>SPRING 2019</a:t>
            </a:r>
          </a:p>
        </p:txBody>
      </p:sp>
    </p:spTree>
    <p:extLst>
      <p:ext uri="{BB962C8B-B14F-4D97-AF65-F5344CB8AC3E}">
        <p14:creationId xmlns:p14="http://schemas.microsoft.com/office/powerpoint/2010/main" val="915983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Outline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53986"/>
            <a:ext cx="10515600" cy="4015047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 smtClean="0"/>
          </a:p>
          <a:p>
            <a:pPr marL="971550" lvl="1" indent="-514350">
              <a:buFont typeface="+mj-lt"/>
              <a:buAutoNum type="arabicPeriod"/>
            </a:pPr>
            <a:r>
              <a:rPr lang="en-US" sz="2600" dirty="0" smtClean="0"/>
              <a:t>Assumptions of the General </a:t>
            </a:r>
            <a:r>
              <a:rPr lang="en-US" sz="2600" dirty="0"/>
              <a:t>L</a:t>
            </a:r>
            <a:r>
              <a:rPr lang="en-US" sz="2600" dirty="0" smtClean="0"/>
              <a:t>inear </a:t>
            </a:r>
            <a:r>
              <a:rPr lang="en-US" sz="2600" dirty="0"/>
              <a:t>M</a:t>
            </a:r>
            <a:r>
              <a:rPr lang="en-US" sz="2600" dirty="0" smtClean="0"/>
              <a:t>odel</a:t>
            </a:r>
            <a:endParaRPr lang="en-US" sz="2600" dirty="0" smtClean="0"/>
          </a:p>
          <a:p>
            <a:pPr marL="971550" lvl="1" indent="-514350">
              <a:buFont typeface="+mj-lt"/>
              <a:buAutoNum type="arabicPeriod"/>
            </a:pPr>
            <a:r>
              <a:rPr lang="en-US" sz="2600" dirty="0" smtClean="0"/>
              <a:t>Generalized Least Squares</a:t>
            </a:r>
            <a:endParaRPr lang="en-US" sz="2600" dirty="0" smtClean="0"/>
          </a:p>
          <a:p>
            <a:pPr marL="971550" lvl="1" indent="-514350">
              <a:buFont typeface="+mj-lt"/>
              <a:buAutoNum type="arabicPeriod"/>
            </a:pPr>
            <a:r>
              <a:rPr lang="en-US" sz="2600" dirty="0" smtClean="0"/>
              <a:t>Wald test and Likelihood Ratio test</a:t>
            </a:r>
          </a:p>
          <a:p>
            <a:pPr marL="971550" lvl="1" indent="-514350">
              <a:buFont typeface="+mj-lt"/>
              <a:buAutoNum type="arabicPeriod"/>
            </a:pPr>
            <a:endParaRPr lang="en-US" sz="2600" dirty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05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 / 31</a:t>
            </a:r>
          </a:p>
        </p:txBody>
      </p:sp>
    </p:spTree>
    <p:extLst>
      <p:ext uri="{BB962C8B-B14F-4D97-AF65-F5344CB8AC3E}">
        <p14:creationId xmlns:p14="http://schemas.microsoft.com/office/powerpoint/2010/main" val="454367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General Linear Model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53986"/>
                <a:ext cx="10515600" cy="4430683"/>
              </a:xfrm>
            </p:spPr>
            <p:txBody>
              <a:bodyPr>
                <a:normAutofit/>
              </a:bodyPr>
              <a:lstStyle/>
              <a:p>
                <a:r>
                  <a:rPr lang="en-US" dirty="0" smtClean="0"/>
                  <a:t>We have assumed </a:t>
                </a:r>
                <a:r>
                  <a:rPr lang="en-US" dirty="0"/>
                  <a:t>a </a:t>
                </a:r>
                <a:r>
                  <a:rPr lang="en-US" u="sng" dirty="0"/>
                  <a:t>general linear regression model</a:t>
                </a:r>
                <a:r>
                  <a:rPr lang="en-US" dirty="0"/>
                  <a:t>,</a:t>
                </a:r>
                <a:br>
                  <a:rPr lang="en-US" dirty="0"/>
                </a:br>
                <a:endParaRPr lang="en-US" dirty="0" smtClean="0"/>
              </a:p>
              <a:p>
                <a:pPr marL="0" indent="0">
                  <a:buNone/>
                </a:pPr>
                <a:r>
                  <a:rPr lang="en-US" dirty="0"/>
                  <a:t/>
                </a:r>
                <a:br>
                  <a:rPr lang="en-US" dirty="0"/>
                </a:br>
                <a:r>
                  <a:rPr lang="en-US" dirty="0" smtClean="0"/>
                  <a:t>This differs from the </a:t>
                </a:r>
                <a:r>
                  <a:rPr lang="en-US" u="sng" dirty="0" smtClean="0"/>
                  <a:t>standard linear model</a:t>
                </a:r>
                <a:r>
                  <a:rPr lang="en-US" dirty="0" smtClean="0"/>
                  <a:t> in that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 smtClean="0"/>
                  <a:t>’s are </a:t>
                </a:r>
                <a:r>
                  <a:rPr lang="en-US" dirty="0"/>
                  <a:t>expected to </a:t>
                </a:r>
                <a:r>
                  <a:rPr lang="en-US" dirty="0" smtClean="0"/>
                  <a:t>be correlated </a:t>
                </a:r>
                <a:r>
                  <a:rPr lang="en-US" dirty="0"/>
                  <a:t>within </a:t>
                </a:r>
                <a:r>
                  <a:rPr lang="en-US" dirty="0" smtClean="0"/>
                  <a:t>individuals. That </a:t>
                </a:r>
                <a:r>
                  <a:rPr lang="en-US" dirty="0"/>
                  <a:t>is</a:t>
                </a:r>
                <a:r>
                  <a:rPr lang="en-US" dirty="0" smtClean="0"/>
                  <a:t>,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 smtClean="0"/>
                  <a:t/>
                </a:r>
                <a:r>
                  <a:rPr lang="en-US" u="sng" dirty="0" smtClean="0"/>
                  <a:t>General linear model</a:t>
                </a:r>
                <a:r>
                  <a:rPr lang="en-US" dirty="0" smtClean="0"/>
                  <a:t> = linear model in </a:t>
                </a:r>
                <a:r>
                  <a:rPr lang="en-US" u="sng" dirty="0" smtClean="0"/>
                  <a:t>repeated measures</a:t>
                </a:r>
                <a:r>
                  <a:rPr lang="en-US" dirty="0" smtClean="0"/>
                  <a:t> setting</a:t>
                </a:r>
              </a:p>
              <a:p>
                <a:r>
                  <a:rPr lang="en-US" dirty="0" smtClean="0"/>
                  <a:t>To </a:t>
                </a:r>
                <a:r>
                  <a:rPr lang="en-US" dirty="0"/>
                  <a:t>simplify notation, in the following we assume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.</a:t>
                </a:r>
                <a:r>
                  <a:rPr lang="en-US" dirty="0"/>
                  <a:t/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53986"/>
                <a:ext cx="10515600" cy="4430683"/>
              </a:xfrm>
              <a:blipFill>
                <a:blip r:embed="rId2"/>
                <a:stretch>
                  <a:fillRect l="-1217" t="-23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4920" y="2413615"/>
            <a:ext cx="8584796" cy="58307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1889" y="3913391"/>
            <a:ext cx="4063885" cy="550828"/>
          </a:xfrm>
          <a:prstGeom prst="rect">
            <a:avLst/>
          </a:prstGeom>
        </p:spPr>
      </p:pic>
      <p:sp>
        <p:nvSpPr>
          <p:cNvPr id="8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05</a:t>
            </a:r>
          </a:p>
        </p:txBody>
      </p:sp>
      <p:sp>
        <p:nvSpPr>
          <p:cNvPr id="9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3 / 31</a:t>
            </a:r>
          </a:p>
        </p:txBody>
      </p:sp>
    </p:spTree>
    <p:extLst>
      <p:ext uri="{BB962C8B-B14F-4D97-AF65-F5344CB8AC3E}">
        <p14:creationId xmlns:p14="http://schemas.microsoft.com/office/powerpoint/2010/main" val="736633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General Linear Model - Assumptions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53986"/>
                <a:ext cx="10515600" cy="4555374"/>
              </a:xfrm>
            </p:spPr>
            <p:txBody>
              <a:bodyPr>
                <a:normAutofit fontScale="92500" lnSpcReduction="10000"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dirty="0" smtClean="0"/>
                  <a:t>The </a:t>
                </a:r>
                <a:r>
                  <a:rPr lang="en-US" dirty="0"/>
                  <a:t>individuals represent a </a:t>
                </a:r>
                <a:r>
                  <a:rPr lang="en-US" u="sng" dirty="0"/>
                  <a:t>random sample</a:t>
                </a:r>
                <a:r>
                  <a:rPr lang="en-US" dirty="0"/>
                  <a:t> from the population of</a:t>
                </a:r>
                <a:br>
                  <a:rPr lang="en-US" dirty="0"/>
                </a:br>
                <a:r>
                  <a:rPr lang="en-US" dirty="0" smtClean="0"/>
                  <a:t>interest.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 smtClean="0"/>
                  <a:t>The </a:t>
                </a:r>
                <a:r>
                  <a:rPr lang="en-US" dirty="0"/>
                  <a:t>elements of the vector of repeated </a:t>
                </a:r>
                <a:r>
                  <a:rPr lang="en-US" dirty="0" smtClean="0"/>
                  <a:t>measures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)′</m:t>
                    </m:r>
                  </m:oMath>
                </a14:m>
                <a:r>
                  <a:rPr lang="en-US" dirty="0" smtClean="0"/>
                  <a:t>, </a:t>
                </a:r>
                <a:r>
                  <a:rPr lang="en-US" dirty="0"/>
                  <a:t>have </a:t>
                </a:r>
                <a:r>
                  <a:rPr lang="en-US" dirty="0" smtClean="0"/>
                  <a:t>a </a:t>
                </a:r>
                <a:r>
                  <a:rPr lang="en-US" u="sng" dirty="0" smtClean="0"/>
                  <a:t>Multivariate </a:t>
                </a:r>
                <a:r>
                  <a:rPr lang="en-US" u="sng" dirty="0"/>
                  <a:t>Normal</a:t>
                </a:r>
                <a:r>
                  <a:rPr lang="en-US" dirty="0"/>
                  <a:t> (MVN) distribution, with means</a:t>
                </a:r>
                <a:br>
                  <a:rPr lang="en-US" dirty="0"/>
                </a:br>
                <a:endParaRPr lang="en-US" dirty="0" smtClean="0"/>
              </a:p>
              <a:p>
                <a:pPr marL="514350" indent="-514350">
                  <a:buFont typeface="+mj-lt"/>
                  <a:buAutoNum type="arabicPeriod"/>
                </a:pPr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 smtClean="0"/>
                  <a:t>Observations </a:t>
                </a:r>
                <a:r>
                  <a:rPr lang="en-US" dirty="0"/>
                  <a:t>from </a:t>
                </a:r>
                <a:r>
                  <a:rPr lang="en-US" u="sng" dirty="0"/>
                  <a:t>different individuals</a:t>
                </a:r>
                <a:r>
                  <a:rPr lang="en-US" dirty="0"/>
                  <a:t> are </a:t>
                </a:r>
                <a:r>
                  <a:rPr lang="en-US" u="sng" dirty="0"/>
                  <a:t>independent</a:t>
                </a:r>
                <a:r>
                  <a:rPr lang="en-US" dirty="0"/>
                  <a:t>, while repeated</a:t>
                </a:r>
                <a:br>
                  <a:rPr lang="en-US" dirty="0"/>
                </a:br>
                <a:r>
                  <a:rPr lang="en-US" dirty="0"/>
                  <a:t>measurements of the </a:t>
                </a:r>
                <a:r>
                  <a:rPr lang="en-US" u="sng" dirty="0"/>
                  <a:t>same individual</a:t>
                </a:r>
                <a:r>
                  <a:rPr lang="en-US" dirty="0"/>
                  <a:t> are </a:t>
                </a:r>
                <a:r>
                  <a:rPr lang="en-US" u="sng" dirty="0"/>
                  <a:t>not assumed to be independent</a:t>
                </a:r>
                <a:r>
                  <a:rPr lang="en-US" dirty="0"/>
                  <a:t>.</a:t>
                </a:r>
                <a:br>
                  <a:rPr lang="en-US" dirty="0"/>
                </a:br>
                <a:endParaRPr lang="en-US" dirty="0"/>
              </a:p>
              <a:p>
                <a:r>
                  <a:rPr lang="en-US" u="sng" dirty="0" smtClean="0"/>
                  <a:t>Notation</a:t>
                </a:r>
                <a:r>
                  <a:rPr lang="en-US" dirty="0" smtClean="0"/>
                  <a:t>: the </a:t>
                </a:r>
                <a:r>
                  <a:rPr lang="en-US" dirty="0"/>
                  <a:t>covariance matrix of the 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> is denoted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dirty="0" smtClean="0"/>
                  <a:t/>
                </a:r>
                <a:r>
                  <a:rPr lang="en-US" dirty="0"/>
                  <a:t>and its elements are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𝑗𝑗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b>
                      <m:sup/>
                    </m:sSubSup>
                  </m:oMath>
                </a14:m>
                <a:r>
                  <a:rPr lang="en-US" i="1" dirty="0" smtClean="0"/>
                  <a:t/>
                </a:r>
                <a:r>
                  <a:rPr lang="en-US" dirty="0"/>
                  <a:t>(typically, we denote variances,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𝑗𝑗</m:t>
                        </m:r>
                      </m:sub>
                    </m:sSub>
                  </m:oMath>
                </a14:m>
                <a:r>
                  <a:rPr lang="en-US" dirty="0"/>
                  <a:t>, by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/>
                  <a:t>).</a:t>
                </a:r>
                <a:r>
                  <a:rPr lang="en-US" dirty="0"/>
                  <a:t/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53986"/>
                <a:ext cx="10515600" cy="4555374"/>
              </a:xfrm>
              <a:blipFill>
                <a:blip r:embed="rId2"/>
                <a:stretch>
                  <a:fillRect l="-1101" t="-2945" b="-16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3332" y="3491344"/>
            <a:ext cx="7103378" cy="403601"/>
          </a:xfrm>
          <a:prstGeom prst="rect">
            <a:avLst/>
          </a:prstGeom>
        </p:spPr>
      </p:pic>
      <p:sp>
        <p:nvSpPr>
          <p:cNvPr id="6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05</a:t>
            </a:r>
          </a:p>
        </p:txBody>
      </p:sp>
      <p:sp>
        <p:nvSpPr>
          <p:cNvPr id="7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4 / 31</a:t>
            </a:r>
          </a:p>
        </p:txBody>
      </p:sp>
    </p:spTree>
    <p:extLst>
      <p:ext uri="{BB962C8B-B14F-4D97-AF65-F5344CB8AC3E}">
        <p14:creationId xmlns:p14="http://schemas.microsoft.com/office/powerpoint/2010/main" val="3991696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Probability Models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53986"/>
                <a:ext cx="10515600" cy="4015047"/>
              </a:xfrm>
            </p:spPr>
            <p:txBody>
              <a:bodyPr>
                <a:normAutofit/>
              </a:bodyPr>
              <a:lstStyle/>
              <a:p>
                <a:r>
                  <a:rPr lang="en-US" dirty="0" smtClean="0"/>
                  <a:t>The foundation of most statistical procedures is a </a:t>
                </a:r>
                <a:r>
                  <a:rPr lang="en-US" u="sng" dirty="0"/>
                  <a:t>probability model</a:t>
                </a:r>
                <a:r>
                  <a:rPr lang="en-US" dirty="0"/>
                  <a:t>, i.e</a:t>
                </a:r>
                <a:r>
                  <a:rPr lang="en-US" dirty="0" smtClean="0"/>
                  <a:t>., probability </a:t>
                </a:r>
                <a:r>
                  <a:rPr lang="en-US" dirty="0"/>
                  <a:t>distributions are used as models for the </a:t>
                </a:r>
                <a:r>
                  <a:rPr lang="en-US" dirty="0" smtClean="0"/>
                  <a:t>data.</a:t>
                </a:r>
              </a:p>
              <a:p>
                <a:r>
                  <a:rPr lang="en-US" dirty="0" smtClean="0"/>
                  <a:t>A </a:t>
                </a:r>
                <a:r>
                  <a:rPr lang="en-US" u="sng" dirty="0"/>
                  <a:t>probability distribution</a:t>
                </a:r>
                <a:r>
                  <a:rPr lang="en-US" dirty="0"/>
                  <a:t> describes the likelihood or relative frequency </a:t>
                </a:r>
                <a:r>
                  <a:rPr lang="en-US" dirty="0" smtClean="0"/>
                  <a:t>of occurrence </a:t>
                </a:r>
                <a:r>
                  <a:rPr lang="en-US" dirty="0"/>
                  <a:t>of particular values of the response </a:t>
                </a:r>
                <a:r>
                  <a:rPr lang="en-US" dirty="0" smtClean="0"/>
                  <a:t>variable.</a:t>
                </a:r>
              </a:p>
              <a:p>
                <a:r>
                  <a:rPr lang="en-US" dirty="0" smtClean="0"/>
                  <a:t>Recall from Lecture 2: </a:t>
                </a:r>
                <a:r>
                  <a:rPr lang="en-US" dirty="0"/>
                  <a:t>The normal probability density for a single response variable, </a:t>
                </a:r>
                <a:r>
                  <a:rPr lang="en-US" dirty="0" smtClean="0"/>
                  <a:t>say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, in the standard linear regression model is:</a:t>
                </a:r>
                <a:r>
                  <a:rPr lang="en-US" dirty="0"/>
                  <a:t/>
                </a:r>
                <a:br>
                  <a:rPr lang="en-US" dirty="0"/>
                </a:b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53986"/>
                <a:ext cx="10515600" cy="4015047"/>
              </a:xfrm>
              <a:blipFill>
                <a:blip r:embed="rId2"/>
                <a:stretch>
                  <a:fillRect l="-1043" t="-2584" r="-2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836" y="4513812"/>
            <a:ext cx="8565971" cy="1064029"/>
          </a:xfrm>
          <a:prstGeom prst="rect">
            <a:avLst/>
          </a:prstGeom>
        </p:spPr>
      </p:pic>
      <p:sp>
        <p:nvSpPr>
          <p:cNvPr id="8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05</a:t>
            </a:r>
          </a:p>
        </p:txBody>
      </p:sp>
      <p:sp>
        <p:nvSpPr>
          <p:cNvPr id="9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5 / 31</a:t>
            </a:r>
          </a:p>
        </p:txBody>
      </p:sp>
    </p:spTree>
    <p:extLst>
      <p:ext uri="{BB962C8B-B14F-4D97-AF65-F5344CB8AC3E}">
        <p14:creationId xmlns:p14="http://schemas.microsoft.com/office/powerpoint/2010/main" val="2592314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Probability Models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53986"/>
                <a:ext cx="10515600" cy="4015047"/>
              </a:xfrm>
            </p:spPr>
            <p:txBody>
              <a:bodyPr>
                <a:normAutofit/>
              </a:bodyPr>
              <a:lstStyle/>
              <a:p>
                <a:r>
                  <a:rPr lang="en-US" dirty="0" smtClean="0"/>
                  <a:t>Equivalently,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(0, 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/>
                </a:r>
                <a:br>
                  <a:rPr lang="en-US" dirty="0"/>
                </a:b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53986"/>
                <a:ext cx="10515600" cy="4015047"/>
              </a:xfrm>
              <a:blipFill>
                <a:blip r:embed="rId2"/>
                <a:stretch>
                  <a:fillRect l="-1043" t="-25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t="5106"/>
          <a:stretch/>
        </p:blipFill>
        <p:spPr>
          <a:xfrm>
            <a:off x="3350287" y="2310937"/>
            <a:ext cx="4538491" cy="3955905"/>
          </a:xfrm>
          <a:prstGeom prst="rect">
            <a:avLst/>
          </a:prstGeom>
        </p:spPr>
      </p:pic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05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6 / 31</a:t>
            </a:r>
          </a:p>
        </p:txBody>
      </p:sp>
    </p:spTree>
    <p:extLst>
      <p:ext uri="{BB962C8B-B14F-4D97-AF65-F5344CB8AC3E}">
        <p14:creationId xmlns:p14="http://schemas.microsoft.com/office/powerpoint/2010/main" val="803127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General Linear Model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53986"/>
            <a:ext cx="10515600" cy="4015047"/>
          </a:xfrm>
        </p:spPr>
        <p:txBody>
          <a:bodyPr>
            <a:normAutofit/>
          </a:bodyPr>
          <a:lstStyle/>
          <a:p>
            <a:r>
              <a:rPr lang="en-US" dirty="0"/>
              <a:t>With repeated measures we have a vector of response variables and </a:t>
            </a:r>
            <a:r>
              <a:rPr lang="en-US" dirty="0" smtClean="0"/>
              <a:t>must consider </a:t>
            </a:r>
            <a:r>
              <a:rPr lang="en-US" dirty="0"/>
              <a:t>joint probability models for the </a:t>
            </a:r>
            <a:r>
              <a:rPr lang="en-US" u="sng" dirty="0"/>
              <a:t>entire vector of </a:t>
            </a:r>
            <a:r>
              <a:rPr lang="en-US" u="sng" dirty="0" smtClean="0"/>
              <a:t>responses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A </a:t>
            </a:r>
            <a:r>
              <a:rPr lang="en-US" dirty="0"/>
              <a:t>joint probability distribution describes the probability or relative</a:t>
            </a:r>
            <a:br>
              <a:rPr lang="en-US" dirty="0"/>
            </a:br>
            <a:r>
              <a:rPr lang="en-US" dirty="0"/>
              <a:t>frequency with which the vector of responses takes on a particular set </a:t>
            </a:r>
            <a:r>
              <a:rPr lang="en-US" dirty="0" smtClean="0"/>
              <a:t>of values.</a:t>
            </a:r>
          </a:p>
          <a:p>
            <a:r>
              <a:rPr lang="en-US" dirty="0" smtClean="0"/>
              <a:t>The </a:t>
            </a:r>
            <a:r>
              <a:rPr lang="en-US" u="sng" dirty="0"/>
              <a:t>Multivariate Normal Distribution</a:t>
            </a:r>
            <a:r>
              <a:rPr lang="en-US" dirty="0"/>
              <a:t> is an extension of the Normal</a:t>
            </a:r>
            <a:br>
              <a:rPr lang="en-US" dirty="0"/>
            </a:br>
            <a:r>
              <a:rPr lang="en-US" dirty="0"/>
              <a:t>distribution for a single response to a vector of responses.</a:t>
            </a:r>
            <a:r>
              <a:rPr lang="en-US" dirty="0"/>
              <a:t/>
            </a:r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05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7 / 31</a:t>
            </a:r>
          </a:p>
        </p:txBody>
      </p:sp>
    </p:spTree>
    <p:extLst>
      <p:ext uri="{BB962C8B-B14F-4D97-AF65-F5344CB8AC3E}">
        <p14:creationId xmlns:p14="http://schemas.microsoft.com/office/powerpoint/2010/main" val="3433328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General Linear Model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53986"/>
                <a:ext cx="10515600" cy="4015047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dirty="0" smtClean="0"/>
                  <a:t>The multivariate normal probability density function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,…, 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𝑖𝑛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dirty="0"/>
                  <a:t>has the following representation:</a:t>
                </a:r>
                <a:br>
                  <a:rPr lang="en-US" dirty="0"/>
                </a:br>
                <a:endParaRPr lang="en-US" dirty="0" smtClean="0"/>
              </a:p>
              <a:p>
                <a:endParaRPr lang="en-US" dirty="0"/>
              </a:p>
              <a:p>
                <a:endParaRPr lang="en-US" dirty="0" smtClean="0"/>
              </a:p>
              <a:p>
                <a:pPr marL="0" indent="0">
                  <a:buNone/>
                </a:pPr>
                <a:r>
                  <a:rPr lang="en-US" dirty="0" smtClean="0"/>
                  <a:t/>
                </a:r>
              </a:p>
              <a:p>
                <a:pPr marL="0" indent="0">
                  <a:buNone/>
                </a:pPr>
                <a:r>
                  <a:rPr lang="en-US" dirty="0" smtClean="0"/>
                  <a:t>where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</m:d>
                  </m:oMath>
                </a14:m>
                <a:r>
                  <a:rPr lang="en-US" dirty="0"/>
                  <a:t>is the </a:t>
                </a:r>
                <a:r>
                  <a:rPr lang="en-US" i="1" u="sng" dirty="0"/>
                  <a:t>determinant</a:t>
                </a:r>
                <a:r>
                  <a:rPr lang="en-US" i="1" dirty="0"/>
                  <a:t/>
                </a:r>
                <a:r>
                  <a:rPr lang="en-US" dirty="0"/>
                  <a:t>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l-GR" dirty="0"/>
                  <a:t> (</a:t>
                </a:r>
                <a:r>
                  <a:rPr lang="en-US" dirty="0"/>
                  <a:t>also known as the </a:t>
                </a:r>
                <a:r>
                  <a:rPr lang="en-US" i="1" dirty="0"/>
                  <a:t>generalized variance</a:t>
                </a:r>
                <a:r>
                  <a:rPr lang="en-US" dirty="0" smtClean="0"/>
                  <a:t>).</a:t>
                </a:r>
              </a:p>
              <a:p>
                <a:r>
                  <a:rPr lang="en-US" dirty="0" smtClean="0"/>
                  <a:t>Note </a:t>
                </a:r>
                <a:r>
                  <a:rPr lang="en-US" dirty="0"/>
                  <a:t>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/>
                  <a:t> describes </a:t>
                </a:r>
                <a:r>
                  <a:rPr lang="en-US" dirty="0"/>
                  <a:t>the probability or </a:t>
                </a:r>
                <a:r>
                  <a:rPr lang="en-US" dirty="0" smtClean="0"/>
                  <a:t>likelihood of</a:t>
                </a:r>
                <a:r>
                  <a:rPr lang="en-US" dirty="0"/>
                  <a:t/>
                </a:r>
                <a:r>
                  <a:rPr lang="en-US" dirty="0" smtClean="0"/>
                  <a:t>occurrence </a:t>
                </a:r>
                <a:r>
                  <a:rPr lang="en-US" dirty="0"/>
                  <a:t>of a particular set of values of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,…,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 smtClean="0"/>
                  <a:t>’.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53986"/>
                <a:ext cx="10515600" cy="4015047"/>
              </a:xfrm>
              <a:blipFill>
                <a:blip r:embed="rId2"/>
                <a:stretch>
                  <a:fillRect l="-1043" t="-2432" r="-1217" b="-2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4838" y="2685011"/>
            <a:ext cx="7362245" cy="1448665"/>
          </a:xfrm>
          <a:prstGeom prst="rect">
            <a:avLst/>
          </a:prstGeom>
        </p:spPr>
      </p:pic>
      <p:sp>
        <p:nvSpPr>
          <p:cNvPr id="6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05</a:t>
            </a:r>
          </a:p>
        </p:txBody>
      </p:sp>
      <p:sp>
        <p:nvSpPr>
          <p:cNvPr id="7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8 / 31</a:t>
            </a:r>
          </a:p>
        </p:txBody>
      </p:sp>
    </p:spTree>
    <p:extLst>
      <p:ext uri="{BB962C8B-B14F-4D97-AF65-F5344CB8AC3E}">
        <p14:creationId xmlns:p14="http://schemas.microsoft.com/office/powerpoint/2010/main" val="1889392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Example: the TLC trial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53986"/>
                <a:ext cx="10515600" cy="4015047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Notable features</a:t>
                </a:r>
              </a:p>
              <a:p>
                <a:pPr marL="971550" lvl="1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is completely determined by the vector of means,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 smtClean="0"/>
                  <a:t>, and </a:t>
                </a:r>
                <a:r>
                  <a:rPr lang="en-US" dirty="0"/>
                  <a:t>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endParaRPr lang="en-US" dirty="0" smtClean="0"/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n-US" i="1" dirty="0" smtClean="0"/>
                  <a:t/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depends to a very large extent on</a:t>
                </a:r>
                <a:br>
                  <a:rPr lang="en-US" dirty="0"/>
                </a:br>
                <a:endParaRPr lang="en-US" dirty="0" smtClean="0"/>
              </a:p>
              <a:p>
                <a:pPr marL="971550" lvl="1" indent="-514350">
                  <a:buFont typeface="+mj-lt"/>
                  <a:buAutoNum type="arabicPeriod"/>
                </a:pPr>
                <a:endParaRPr lang="en-US" dirty="0"/>
              </a:p>
              <a:p>
                <a:pPr marL="971550" lvl="1" indent="-514350">
                  <a:buFont typeface="+mj-lt"/>
                  <a:buAutoNum type="arabicPeriod"/>
                </a:pPr>
                <a:endParaRPr lang="en-US" dirty="0" smtClean="0"/>
              </a:p>
              <a:p>
                <a:pPr marL="457200" lvl="1" indent="0">
                  <a:buNone/>
                </a:pPr>
                <a:r>
                  <a:rPr lang="en-US" dirty="0" smtClean="0"/>
                  <a:t>This is a </a:t>
                </a:r>
                <a:r>
                  <a:rPr lang="en-US" u="sng" dirty="0" smtClean="0"/>
                  <a:t>generalized squared distance</a:t>
                </a:r>
                <a:r>
                  <a:rPr lang="en-US" dirty="0" smtClean="0"/>
                  <a:t> between the observed response (vector) and the model-based mean response (vector)</a:t>
                </a:r>
                <a:r>
                  <a:rPr lang="en-US" dirty="0"/>
                  <a:t/>
                </a:r>
                <a:br>
                  <a:rPr lang="en-US" dirty="0"/>
                </a:br>
                <a:r>
                  <a:rPr lang="en-US" dirty="0"/>
                  <a:t/>
                </a:r>
                <a:br>
                  <a:rPr lang="en-US" dirty="0"/>
                </a:br>
                <a:r>
                  <a:rPr lang="en-US" dirty="0"/>
                  <a:t/>
                </a:r>
                <a:br>
                  <a:rPr lang="en-US" dirty="0"/>
                </a:b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53986"/>
                <a:ext cx="10515600" cy="4015047"/>
              </a:xfrm>
              <a:blipFill>
                <a:blip r:embed="rId2"/>
                <a:stretch>
                  <a:fillRect l="-1043" t="-3495" r="-1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6179" y="3421041"/>
            <a:ext cx="3908280" cy="498930"/>
          </a:xfrm>
          <a:prstGeom prst="rect">
            <a:avLst/>
          </a:prstGeom>
        </p:spPr>
      </p:pic>
      <p:sp>
        <p:nvSpPr>
          <p:cNvPr id="6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05</a:t>
            </a:r>
          </a:p>
        </p:txBody>
      </p:sp>
      <p:sp>
        <p:nvSpPr>
          <p:cNvPr id="7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9 / 31</a:t>
            </a:r>
          </a:p>
        </p:txBody>
      </p:sp>
    </p:spTree>
    <p:extLst>
      <p:ext uri="{BB962C8B-B14F-4D97-AF65-F5344CB8AC3E}">
        <p14:creationId xmlns:p14="http://schemas.microsoft.com/office/powerpoint/2010/main" val="2617043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General Linear Model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53986"/>
            <a:ext cx="10515600" cy="452212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 the </a:t>
            </a:r>
            <a:r>
              <a:rPr lang="en-US" i="1" u="sng" dirty="0"/>
              <a:t>bivariate</a:t>
            </a:r>
            <a:r>
              <a:rPr lang="en-US" i="1" dirty="0"/>
              <a:t/>
            </a:r>
            <a:r>
              <a:rPr lang="en-US" dirty="0"/>
              <a:t>case, it can be shown that</a:t>
            </a:r>
            <a:br>
              <a:rPr lang="en-US" dirty="0"/>
            </a:br>
            <a:r>
              <a:rPr lang="en-US" i="1" dirty="0"/>
              <a:t/>
            </a:r>
            <a:br>
              <a:rPr lang="en-US" i="1" dirty="0"/>
            </a:br>
            <a:endParaRPr lang="en-US" i="1" dirty="0" smtClean="0"/>
          </a:p>
          <a:p>
            <a:endParaRPr lang="en-US" i="1" dirty="0"/>
          </a:p>
          <a:p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This </a:t>
            </a:r>
            <a:r>
              <a:rPr lang="en-US" u="sng" dirty="0" smtClean="0"/>
              <a:t>measure </a:t>
            </a:r>
            <a:r>
              <a:rPr lang="en-US" u="sng" dirty="0"/>
              <a:t>of </a:t>
            </a:r>
            <a:r>
              <a:rPr lang="en-US" i="1" u="sng" dirty="0" smtClean="0"/>
              <a:t>distance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down-weights </a:t>
            </a:r>
            <a:r>
              <a:rPr lang="en-US" dirty="0"/>
              <a:t>deviations from the mean when the variance is large; this</a:t>
            </a:r>
            <a:br>
              <a:rPr lang="en-US" dirty="0"/>
            </a:br>
            <a:r>
              <a:rPr lang="en-US" dirty="0"/>
              <a:t>make intuitive sense because when the </a:t>
            </a:r>
            <a:r>
              <a:rPr lang="en-US" u="sng" dirty="0"/>
              <a:t>variance is </a:t>
            </a:r>
            <a:r>
              <a:rPr lang="en-US" u="sng" dirty="0" smtClean="0"/>
              <a:t>larger </a:t>
            </a:r>
            <a:r>
              <a:rPr lang="en-US" u="sng" dirty="0"/>
              <a:t>the </a:t>
            </a:r>
            <a:r>
              <a:rPr lang="en-US" u="sng" dirty="0" smtClean="0"/>
              <a:t>information</a:t>
            </a:r>
            <a:r>
              <a:rPr lang="en-US" u="sng" dirty="0"/>
              <a:t/>
            </a:r>
            <a:br>
              <a:rPr lang="en-US" u="sng" dirty="0"/>
            </a:br>
            <a:r>
              <a:rPr lang="en-US" u="sng" dirty="0"/>
              <a:t>is </a:t>
            </a:r>
            <a:r>
              <a:rPr lang="en-US" u="sng" dirty="0" smtClean="0"/>
              <a:t>poorer</a:t>
            </a:r>
            <a:r>
              <a:rPr lang="en-US" dirty="0"/>
              <a:t>; </a:t>
            </a:r>
            <a:endParaRPr lang="en-US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modifies </a:t>
            </a:r>
            <a:r>
              <a:rPr lang="en-US" dirty="0"/>
              <a:t>the distance depending on the magnitude of the </a:t>
            </a:r>
            <a:r>
              <a:rPr lang="en-US" u="sng" dirty="0" smtClean="0"/>
              <a:t>correlation</a:t>
            </a:r>
            <a:r>
              <a:rPr lang="en-US" dirty="0"/>
              <a:t>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2662" y="2272665"/>
            <a:ext cx="7686675" cy="1933575"/>
          </a:xfrm>
          <a:prstGeom prst="rect">
            <a:avLst/>
          </a:prstGeom>
        </p:spPr>
      </p:pic>
      <p:sp>
        <p:nvSpPr>
          <p:cNvPr id="8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05</a:t>
            </a:r>
          </a:p>
        </p:txBody>
      </p:sp>
      <p:sp>
        <p:nvSpPr>
          <p:cNvPr id="9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10 / 31</a:t>
            </a:r>
          </a:p>
        </p:txBody>
      </p:sp>
    </p:spTree>
    <p:extLst>
      <p:ext uri="{BB962C8B-B14F-4D97-AF65-F5344CB8AC3E}">
        <p14:creationId xmlns:p14="http://schemas.microsoft.com/office/powerpoint/2010/main" val="829166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MLE in General Linear Model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53986"/>
                <a:ext cx="10515600" cy="4015047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 smtClean="0"/>
                  <a:t>Consider estimation </a:t>
                </a:r>
                <a:r>
                  <a:rPr lang="en-US" dirty="0"/>
                  <a:t>of the unknown </a:t>
                </a:r>
                <a:r>
                  <a:rPr lang="en-US" dirty="0" smtClean="0"/>
                  <a:t>parameters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i="1" dirty="0" smtClean="0"/>
                  <a:t/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dirty="0" smtClean="0"/>
                  <a:t>.</a:t>
                </a:r>
              </a:p>
              <a:p>
                <a:r>
                  <a:rPr lang="en-US" dirty="0" smtClean="0"/>
                  <a:t>When </a:t>
                </a:r>
                <a:r>
                  <a:rPr lang="en-US" dirty="0"/>
                  <a:t>full distributional assumptions have been made for vector of </a:t>
                </a:r>
                <a:r>
                  <a:rPr lang="en-US" dirty="0" smtClean="0"/>
                  <a:t>responses, a </a:t>
                </a:r>
                <a:r>
                  <a:rPr lang="en-US" dirty="0"/>
                  <a:t>standard approach is to use the method of </a:t>
                </a:r>
                <a:r>
                  <a:rPr lang="en-US" i="1" u="sng" dirty="0"/>
                  <a:t>maximum likelihood</a:t>
                </a:r>
                <a:r>
                  <a:rPr lang="en-US" i="1" dirty="0"/>
                  <a:t/>
                </a:r>
                <a:r>
                  <a:rPr lang="en-US" dirty="0"/>
                  <a:t>(ML</a:t>
                </a:r>
                <a:r>
                  <a:rPr lang="en-US" dirty="0" smtClean="0"/>
                  <a:t>).</a:t>
                </a:r>
              </a:p>
              <a:p>
                <a:r>
                  <a:rPr lang="en-US" dirty="0" smtClean="0"/>
                  <a:t>Recall </a:t>
                </a:r>
                <a:r>
                  <a:rPr lang="en-US" dirty="0"/>
                  <a:t>main idea behind ML: use as estimates of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i="1" dirty="0"/>
                  <a:t/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dirty="0"/>
                  <a:t> the values that</a:t>
                </a:r>
                <a:br>
                  <a:rPr lang="en-US" dirty="0"/>
                </a:br>
                <a:r>
                  <a:rPr lang="en-US" dirty="0"/>
                  <a:t>are most probable (or </a:t>
                </a:r>
                <a:r>
                  <a:rPr lang="en-US" dirty="0" smtClean="0"/>
                  <a:t>“likely”) </a:t>
                </a:r>
                <a:r>
                  <a:rPr lang="en-US" dirty="0"/>
                  <a:t>for the data that we have observed</a:t>
                </a:r>
                <a:r>
                  <a:rPr lang="en-US" dirty="0" smtClean="0"/>
                  <a:t>.</a:t>
                </a:r>
              </a:p>
              <a:p>
                <a:r>
                  <a:rPr lang="en-US" dirty="0" smtClean="0"/>
                  <a:t>That </a:t>
                </a:r>
                <a:r>
                  <a:rPr lang="en-US" dirty="0"/>
                  <a:t>is, choose values </a:t>
                </a:r>
                <a:r>
                  <a:rPr lang="en-US" dirty="0" smtClean="0"/>
                  <a:t>that </a:t>
                </a:r>
                <a:r>
                  <a:rPr lang="en-US" dirty="0"/>
                  <a:t>maximize the probability of the</a:t>
                </a:r>
                <a:br>
                  <a:rPr lang="en-US" dirty="0"/>
                </a:br>
                <a:r>
                  <a:rPr lang="en-US" dirty="0"/>
                  <a:t>response variables evaluated at their observed values.</a:t>
                </a:r>
                <a:r>
                  <a:rPr lang="en-US" dirty="0"/>
                  <a:t/>
                </a:r>
                <a:br>
                  <a:rPr lang="en-US" dirty="0"/>
                </a:br>
                <a:r>
                  <a:rPr lang="en-US" dirty="0"/>
                  <a:t/>
                </a:r>
                <a:br>
                  <a:rPr lang="en-US" dirty="0"/>
                </a:b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53986"/>
                <a:ext cx="10515600" cy="4015047"/>
              </a:xfrm>
              <a:blipFill>
                <a:blip r:embed="rId2"/>
                <a:stretch>
                  <a:fillRect l="-928" t="-31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05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11 / 31</a:t>
            </a:r>
          </a:p>
        </p:txBody>
      </p:sp>
    </p:spTree>
    <p:extLst>
      <p:ext uri="{BB962C8B-B14F-4D97-AF65-F5344CB8AC3E}">
        <p14:creationId xmlns:p14="http://schemas.microsoft.com/office/powerpoint/2010/main" val="2318520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MLE in </a:t>
            </a: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General Linear Model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53986"/>
            <a:ext cx="10515600" cy="4015047"/>
          </a:xfrm>
        </p:spPr>
        <p:txBody>
          <a:bodyPr>
            <a:normAutofit/>
          </a:bodyPr>
          <a:lstStyle/>
          <a:p>
            <a:r>
              <a:rPr lang="en-US" dirty="0"/>
              <a:t>For </a:t>
            </a:r>
            <a:r>
              <a:rPr lang="en-US" u="sng" dirty="0"/>
              <a:t>standard linear regression</a:t>
            </a:r>
            <a:r>
              <a:rPr lang="en-US" dirty="0"/>
              <a:t>, with independent observations, the </a:t>
            </a:r>
            <a:r>
              <a:rPr lang="en-US" dirty="0" smtClean="0"/>
              <a:t>likelihood is </a:t>
            </a:r>
            <a:r>
              <a:rPr lang="en-US" dirty="0"/>
              <a:t>the product of the individual univariate normal densities.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3752" y="2621366"/>
            <a:ext cx="7315200" cy="3743325"/>
          </a:xfrm>
          <a:prstGeom prst="rect">
            <a:avLst/>
          </a:prstGeom>
        </p:spPr>
      </p:pic>
      <p:sp>
        <p:nvSpPr>
          <p:cNvPr id="8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05</a:t>
            </a:r>
          </a:p>
        </p:txBody>
      </p:sp>
      <p:sp>
        <p:nvSpPr>
          <p:cNvPr id="9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12 / 31</a:t>
            </a:r>
          </a:p>
        </p:txBody>
      </p:sp>
    </p:spTree>
    <p:extLst>
      <p:ext uri="{BB962C8B-B14F-4D97-AF65-F5344CB8AC3E}">
        <p14:creationId xmlns:p14="http://schemas.microsoft.com/office/powerpoint/2010/main" val="1077890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MLE in </a:t>
            </a: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General Linear Model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53986"/>
                <a:ext cx="10515600" cy="4015047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For </a:t>
                </a:r>
                <a:r>
                  <a:rPr lang="en-US" u="sng" dirty="0"/>
                  <a:t>standard linear regression</a:t>
                </a:r>
                <a:r>
                  <a:rPr lang="en-US" dirty="0"/>
                  <a:t>, with independent observations, the </a:t>
                </a:r>
                <a:r>
                  <a:rPr lang="en-US" dirty="0" smtClean="0"/>
                  <a:t>likelihood is </a:t>
                </a:r>
                <a:r>
                  <a:rPr lang="en-US" dirty="0"/>
                  <a:t>the product of the individual univariate normal densities</a:t>
                </a:r>
                <a:r>
                  <a:rPr lang="en-US" dirty="0" smtClean="0"/>
                  <a:t>.</a:t>
                </a:r>
              </a:p>
              <a:p>
                <a:r>
                  <a:rPr lang="en-US" dirty="0"/>
                  <a:t>Given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,…, 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𝑖𝑛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dirty="0"/>
                  <a:t>are assumed to have a </a:t>
                </a:r>
                <a:r>
                  <a:rPr lang="en-US" u="sng" dirty="0"/>
                  <a:t>multivariate</a:t>
                </a:r>
                <a:br>
                  <a:rPr lang="en-US" u="sng" dirty="0"/>
                </a:br>
                <a:r>
                  <a:rPr lang="en-US" u="sng" dirty="0"/>
                  <a:t>normal distribution</a:t>
                </a:r>
                <a:r>
                  <a:rPr lang="en-US" dirty="0"/>
                  <a:t>, we must maximize the following </a:t>
                </a:r>
                <a:r>
                  <a:rPr lang="en-US" u="sng" dirty="0"/>
                  <a:t>log-likelihood</a:t>
                </a:r>
                <a:r>
                  <a:rPr lang="en-US" dirty="0"/>
                  <a:t/>
                </a:r>
                <a:endParaRPr lang="en-US" dirty="0" smtClean="0"/>
              </a:p>
              <a:p>
                <a:pPr marL="0" indent="0">
                  <a:buNone/>
                </a:pPr>
                <a:r>
                  <a:rPr lang="en-US" dirty="0"/>
                  <a:t/>
                </a:r>
                <a:br>
                  <a:rPr lang="en-US" dirty="0"/>
                </a:br>
                <a:r>
                  <a:rPr lang="en-US" dirty="0"/>
                  <a:t/>
                </a:r>
                <a:br>
                  <a:rPr lang="en-US" dirty="0"/>
                </a:br>
                <a:endParaRPr lang="en-US" dirty="0"/>
              </a:p>
              <a:p>
                <a:endParaRPr lang="en-US" dirty="0" smtClean="0"/>
              </a:p>
              <a:p>
                <a:endParaRPr lang="en-US" dirty="0"/>
              </a:p>
              <a:p>
                <a:endParaRPr lang="en-US" dirty="0" smtClean="0"/>
              </a:p>
              <a:p>
                <a:pPr marL="0" indent="0">
                  <a:buNone/>
                </a:pPr>
                <a:r>
                  <a:rPr lang="en-US" dirty="0"/>
                  <a:t/>
                </a:r>
                <a:br>
                  <a:rPr lang="en-US" dirty="0"/>
                </a:b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53986"/>
                <a:ext cx="10515600" cy="4015047"/>
              </a:xfrm>
              <a:blipFill>
                <a:blip r:embed="rId2"/>
                <a:stretch>
                  <a:fillRect l="-812" t="-34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8800" y="2964700"/>
            <a:ext cx="6953250" cy="363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406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MLE in </a:t>
            </a: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General Linear Model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53986"/>
                <a:ext cx="10515600" cy="4015047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The estimate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i="1" dirty="0"/>
                  <a:t/>
                </a:r>
                <a:r>
                  <a:rPr lang="en-US" dirty="0"/>
                  <a:t>that minimizes this expression is known as the</a:t>
                </a:r>
                <a:br>
                  <a:rPr lang="en-US" dirty="0"/>
                </a:br>
                <a:r>
                  <a:rPr lang="en-US" u="sng" dirty="0"/>
                  <a:t>generalized least squares</a:t>
                </a:r>
                <a:r>
                  <a:rPr lang="en-US" dirty="0"/>
                  <a:t> (GLS) estimate and can be written as</a:t>
                </a:r>
                <a:r>
                  <a:rPr lang="en-US" dirty="0"/>
                  <a:t/>
                </a:r>
                <a:br>
                  <a:rPr lang="en-US" dirty="0"/>
                </a:br>
                <a:r>
                  <a:rPr lang="en-US" dirty="0"/>
                  <a:t/>
                </a:r>
                <a:br>
                  <a:rPr lang="en-US" dirty="0"/>
                </a:br>
                <a:endParaRPr lang="en-US" dirty="0"/>
              </a:p>
              <a:p>
                <a:endParaRPr lang="en-US" dirty="0" smtClean="0"/>
              </a:p>
              <a:p>
                <a:endParaRPr lang="en-US" dirty="0"/>
              </a:p>
              <a:p>
                <a:r>
                  <a:rPr lang="en-US" dirty="0"/>
                  <a:t>This is the estimate that PROC MIXED in SAS provides.</a:t>
                </a:r>
                <a:r>
                  <a:rPr lang="en-US" dirty="0"/>
                  <a:t/>
                </a:r>
                <a:br>
                  <a:rPr lang="en-US" dirty="0"/>
                </a:br>
                <a:endParaRPr lang="en-US" dirty="0" smtClean="0"/>
              </a:p>
              <a:p>
                <a:pPr marL="0" indent="0">
                  <a:buNone/>
                </a:pPr>
                <a:r>
                  <a:rPr lang="en-US" dirty="0"/>
                  <a:t/>
                </a:r>
                <a:br>
                  <a:rPr lang="en-US" dirty="0"/>
                </a:b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53986"/>
                <a:ext cx="10515600" cy="4015047"/>
              </a:xfrm>
              <a:blipFill>
                <a:blip r:embed="rId2"/>
                <a:stretch>
                  <a:fillRect l="-1043" t="-34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0282" y="2788747"/>
            <a:ext cx="5162550" cy="1047750"/>
          </a:xfrm>
          <a:prstGeom prst="rect">
            <a:avLst/>
          </a:prstGeom>
        </p:spPr>
      </p:pic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05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14 / 31</a:t>
            </a:r>
          </a:p>
        </p:txBody>
      </p:sp>
    </p:spTree>
    <p:extLst>
      <p:ext uri="{BB962C8B-B14F-4D97-AF65-F5344CB8AC3E}">
        <p14:creationId xmlns:p14="http://schemas.microsoft.com/office/powerpoint/2010/main" val="2950214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MLE in </a:t>
            </a: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General Linear Model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53986"/>
            <a:ext cx="10515600" cy="40150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004" y="1470966"/>
            <a:ext cx="9083647" cy="429806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094807" y="1470966"/>
            <a:ext cx="1870364" cy="40771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05</a:t>
            </a:r>
          </a:p>
        </p:txBody>
      </p:sp>
      <p:sp>
        <p:nvSpPr>
          <p:cNvPr id="7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15 / 31</a:t>
            </a:r>
          </a:p>
        </p:txBody>
      </p:sp>
    </p:spTree>
    <p:extLst>
      <p:ext uri="{BB962C8B-B14F-4D97-AF65-F5344CB8AC3E}">
        <p14:creationId xmlns:p14="http://schemas.microsoft.com/office/powerpoint/2010/main" val="4060326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A Word on Ordinary Least Squares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53986"/>
                <a:ext cx="10515600" cy="4015047"/>
              </a:xfrm>
            </p:spPr>
            <p:txBody>
              <a:bodyPr>
                <a:normAutofit/>
              </a:bodyPr>
              <a:lstStyle/>
              <a:p>
                <a:r>
                  <a:rPr lang="en-US" dirty="0" smtClean="0"/>
                  <a:t>Note that the above results hold for any choice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𝛴</m:t>
                    </m:r>
                  </m:oMath>
                </a14:m>
                <a:endParaRPr lang="en-US" i="1" dirty="0" smtClean="0"/>
              </a:p>
              <a:p>
                <a:r>
                  <a:rPr lang="en-US" dirty="0" smtClean="0"/>
                  <a:t>Let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dirty="0" smtClean="0"/>
                  <a:t> and we obtain the </a:t>
                </a:r>
                <a:r>
                  <a:rPr lang="en-US" u="sng" dirty="0" smtClean="0"/>
                  <a:t>ordinary least squares (OLS)</a:t>
                </a:r>
                <a:r>
                  <a:rPr lang="en-US" dirty="0" smtClean="0"/>
                  <a:t> estimate</a:t>
                </a:r>
              </a:p>
              <a:p>
                <a:r>
                  <a:rPr lang="en-US" dirty="0" smtClean="0"/>
                  <a:t>The OLS estimate is unbiased but is statistically inefficient (i.e., has large standard errors); moreover, the </a:t>
                </a:r>
                <a:r>
                  <a:rPr lang="en-US" u="sng" dirty="0" smtClean="0"/>
                  <a:t>standard errors</a:t>
                </a:r>
                <a:r>
                  <a:rPr lang="en-US" dirty="0" smtClean="0"/>
                  <a:t> obtained from the OLS method is </a:t>
                </a:r>
                <a:r>
                  <a:rPr lang="en-US" u="sng" dirty="0" smtClean="0"/>
                  <a:t>incorrect</a:t>
                </a:r>
              </a:p>
              <a:p>
                <a:r>
                  <a:rPr lang="en-US" dirty="0"/>
                  <a:t>The optimal choice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𝛴</m:t>
                    </m:r>
                  </m:oMath>
                </a14:m>
                <a:r>
                  <a:rPr lang="en-US" dirty="0" smtClean="0"/>
                  <a:t> is the true covariance matrix of the errors.</a:t>
                </a:r>
                <a:endParaRPr lang="en-US" dirty="0"/>
              </a:p>
              <a:p>
                <a:endParaRPr lang="en-US" u="sng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53986"/>
                <a:ext cx="10515600" cy="4015047"/>
              </a:xfrm>
              <a:blipFill>
                <a:blip r:embed="rId2"/>
                <a:stretch>
                  <a:fillRect l="-1043" t="-25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05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16 / 31</a:t>
            </a:r>
          </a:p>
        </p:txBody>
      </p:sp>
    </p:spTree>
    <p:extLst>
      <p:ext uri="{BB962C8B-B14F-4D97-AF65-F5344CB8AC3E}">
        <p14:creationId xmlns:p14="http://schemas.microsoft.com/office/powerpoint/2010/main" val="4199242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MLE in </a:t>
            </a: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General Linear Model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53986"/>
                <a:ext cx="10515600" cy="4015047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Since we usually do not know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𝛴</m:t>
                    </m:r>
                  </m:oMath>
                </a14:m>
                <a:r>
                  <a:rPr lang="en-US" dirty="0"/>
                  <a:t>, we typically estimate it from the </a:t>
                </a:r>
                <a:r>
                  <a:rPr lang="en-US" dirty="0" smtClean="0"/>
                  <a:t>data.</a:t>
                </a:r>
              </a:p>
              <a:p>
                <a:r>
                  <a:rPr lang="en-US" dirty="0" smtClean="0"/>
                  <a:t>In </a:t>
                </a:r>
                <a:r>
                  <a:rPr lang="en-US" dirty="0"/>
                  <a:t>general, no simple expression for ML estimate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𝛴</m:t>
                    </m:r>
                  </m:oMath>
                </a14:m>
                <a:r>
                  <a:rPr lang="en-US" dirty="0" smtClean="0"/>
                  <a:t>.</a:t>
                </a:r>
                <a:endParaRPr lang="en-US" dirty="0"/>
              </a:p>
              <a:p>
                <a:r>
                  <a:rPr lang="en-US" dirty="0" smtClean="0"/>
                  <a:t>It </a:t>
                </a:r>
                <a:r>
                  <a:rPr lang="en-US" dirty="0"/>
                  <a:t>has to be found using </a:t>
                </a:r>
                <a:r>
                  <a:rPr lang="en-US" u="sng" dirty="0"/>
                  <a:t>numerical algorithms</a:t>
                </a:r>
                <a:r>
                  <a:rPr lang="en-US" dirty="0"/>
                  <a:t> that maximize the likelihood.</a:t>
                </a:r>
                <a:br>
                  <a:rPr lang="en-US" dirty="0"/>
                </a:br>
                <a:r>
                  <a:rPr lang="en-US" dirty="0"/>
                  <a:t>Once ML estimate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𝛴</m:t>
                    </m:r>
                  </m:oMath>
                </a14:m>
                <a:r>
                  <a:rPr lang="en-US" dirty="0"/>
                  <a:t>, say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𝛴</m:t>
                        </m:r>
                      </m:e>
                    </m:acc>
                  </m:oMath>
                </a14:m>
                <a:r>
                  <a:rPr lang="en-US" dirty="0" smtClean="0"/>
                  <a:t>, </a:t>
                </a:r>
                <a:r>
                  <a:rPr lang="en-US" dirty="0"/>
                  <a:t>has been obtained, we substitute it in </a:t>
                </a:r>
                <a:r>
                  <a:rPr lang="en-US" dirty="0" smtClean="0"/>
                  <a:t>the</a:t>
                </a:r>
                <a:r>
                  <a:rPr lang="en-US" dirty="0"/>
                  <a:t/>
                </a:r>
                <a:br>
                  <a:rPr lang="en-US" dirty="0"/>
                </a:br>
                <a:r>
                  <a:rPr lang="en-US" dirty="0"/>
                  <a:t>GLS estimator to obtain ML estimate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,</a:t>
                </a:r>
                <a:br>
                  <a:rPr lang="en-US" dirty="0"/>
                </a:br>
                <a:r>
                  <a:rPr lang="en-US" dirty="0"/>
                  <a:t/>
                </a:r>
                <a:br>
                  <a:rPr lang="en-US" dirty="0"/>
                </a:br>
                <a:endParaRPr lang="en-US" dirty="0" smtClean="0"/>
              </a:p>
              <a:p>
                <a:endParaRPr lang="en-US" dirty="0" smtClean="0"/>
              </a:p>
              <a:p>
                <a:r>
                  <a:rPr lang="en-US" dirty="0" smtClean="0"/>
                  <a:t>In </a:t>
                </a:r>
                <a:r>
                  <a:rPr lang="en-US" dirty="0"/>
                  <a:t>large samples, resulting estimator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i="1" dirty="0"/>
                  <a:t/>
                </a:r>
                <a:r>
                  <a:rPr lang="en-US" dirty="0"/>
                  <a:t>has all the same properties as</a:t>
                </a:r>
                <a:br>
                  <a:rPr lang="en-US" dirty="0"/>
                </a:br>
                <a:r>
                  <a:rPr lang="en-US" dirty="0"/>
                  <a:t>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dirty="0"/>
                  <a:t> is known.</a:t>
                </a:r>
                <a:r>
                  <a:rPr lang="en-US" dirty="0"/>
                  <a:t/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53986"/>
                <a:ext cx="10515600" cy="4015047"/>
              </a:xfrm>
              <a:blipFill>
                <a:blip r:embed="rId2"/>
                <a:stretch>
                  <a:fillRect l="-928" t="-31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8604" y="3660456"/>
            <a:ext cx="4819650" cy="1000125"/>
          </a:xfrm>
          <a:prstGeom prst="rect">
            <a:avLst/>
          </a:prstGeom>
        </p:spPr>
      </p:pic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05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17 / 31</a:t>
            </a:r>
          </a:p>
        </p:txBody>
      </p:sp>
    </p:spTree>
    <p:extLst>
      <p:ext uri="{BB962C8B-B14F-4D97-AF65-F5344CB8AC3E}">
        <p14:creationId xmlns:p14="http://schemas.microsoft.com/office/powerpoint/2010/main" val="3324206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Inference </a:t>
            </a:r>
            <a:r>
              <a:rPr lang="en-US" dirty="0" sz="3400" b="1">
                <a:solidFill>
                  <a:srgbClr val="0D5F62"/>
                </a:solidFill>
                <a:latin typeface="Calibri"/>
              </a:rPr>
              <a:t>in </a:t>
            </a: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General Linear Model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53986"/>
                <a:ext cx="10515600" cy="4015047"/>
              </a:xfrm>
            </p:spPr>
            <p:txBody>
              <a:bodyPr>
                <a:normAutofit/>
              </a:bodyPr>
              <a:lstStyle/>
              <a:p>
                <a:r>
                  <a:rPr lang="en-US" dirty="0" smtClean="0"/>
                  <a:t>To test hypotheses about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i="1" dirty="0"/>
                  <a:t/>
                </a:r>
                <a:r>
                  <a:rPr lang="en-US" dirty="0"/>
                  <a:t>we can make direct use of the ML estimate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 smtClean="0"/>
                  <a:t>and </a:t>
                </a:r>
                <a:r>
                  <a:rPr lang="en-US" dirty="0"/>
                  <a:t>its estimated covariance matrix,</a:t>
                </a:r>
                <a:br>
                  <a:rPr lang="en-US" dirty="0"/>
                </a:br>
                <a:r>
                  <a:rPr lang="en-US" i="1" dirty="0"/>
                  <a:t/>
                </a:r>
                <a:br>
                  <a:rPr lang="en-US" i="1" dirty="0"/>
                </a:br>
                <a:endParaRPr lang="en-US" i="1" dirty="0" smtClean="0"/>
              </a:p>
              <a:p>
                <a:endParaRPr lang="en-US" i="1" dirty="0" smtClean="0"/>
              </a:p>
              <a:p>
                <a:r>
                  <a:rPr lang="en-US" dirty="0" smtClean="0"/>
                  <a:t>Let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i="1" dirty="0"/>
                  <a:t/>
                </a:r>
                <a:r>
                  <a:rPr lang="en-US" dirty="0"/>
                  <a:t>denote a matrix or vector of known weights (often representing</a:t>
                </a:r>
                <a:br>
                  <a:rPr lang="en-US" dirty="0"/>
                </a:br>
                <a:r>
                  <a:rPr lang="en-US" dirty="0"/>
                  <a:t>contrasts of interest) and suppose that it is of interest to test </a:t>
                </a:r>
                <a:endParaRPr lang="en-US" dirty="0" smtClean="0"/>
              </a:p>
              <a:p>
                <a:pPr marL="0" indent="0" algn="ctr">
                  <a:buNone/>
                </a:pPr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= 0</m:t>
                      </m:r>
                    </m:oMath>
                  </m:oMathPara>
                </a14:m>
                <a:r>
                  <a:rPr lang="en-US" i="1" dirty="0"/>
                  <a:t/>
                </a:r>
                <a:br>
                  <a:rPr lang="en-US" i="1" dirty="0"/>
                </a:b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53986"/>
                <a:ext cx="10515600" cy="4015047"/>
              </a:xfrm>
              <a:blipFill>
                <a:blip r:embed="rId2"/>
                <a:stretch>
                  <a:fillRect l="-1043" t="-2584" b="-9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9433" y="2742334"/>
            <a:ext cx="3667125" cy="1019175"/>
          </a:xfrm>
          <a:prstGeom prst="rect">
            <a:avLst/>
          </a:prstGeom>
        </p:spPr>
      </p:pic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05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18 / 31</a:t>
            </a:r>
          </a:p>
        </p:txBody>
      </p:sp>
    </p:spTree>
    <p:extLst>
      <p:ext uri="{BB962C8B-B14F-4D97-AF65-F5344CB8AC3E}">
        <p14:creationId xmlns:p14="http://schemas.microsoft.com/office/powerpoint/2010/main" val="875509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Inference </a:t>
            </a:r>
            <a:r>
              <a:rPr lang="en-US" dirty="0" sz="3400" b="1">
                <a:solidFill>
                  <a:srgbClr val="0D5F62"/>
                </a:solidFill>
                <a:latin typeface="Calibri"/>
              </a:rPr>
              <a:t>in </a:t>
            </a: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General Linear Model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53986"/>
                <a:ext cx="10515600" cy="4015047"/>
              </a:xfrm>
            </p:spPr>
            <p:txBody>
              <a:bodyPr>
                <a:normAutofit/>
              </a:bodyPr>
              <a:lstStyle/>
              <a:p>
                <a:r>
                  <a:rPr lang="en-US" dirty="0" smtClean="0"/>
                  <a:t>To test hypotheses about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i="1" dirty="0"/>
                  <a:t/>
                </a:r>
                <a:r>
                  <a:rPr lang="en-US" dirty="0"/>
                  <a:t>we can make direct use of the ML estimate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 smtClean="0"/>
                  <a:t>and </a:t>
                </a:r>
                <a:r>
                  <a:rPr lang="en-US" dirty="0"/>
                  <a:t>its estimated covariance matrix,</a:t>
                </a:r>
                <a:br>
                  <a:rPr lang="en-US" dirty="0"/>
                </a:br>
                <a:r>
                  <a:rPr lang="en-US" i="1" dirty="0"/>
                  <a:t/>
                </a:r>
                <a:br>
                  <a:rPr lang="en-US" i="1" dirty="0"/>
                </a:br>
                <a:endParaRPr lang="en-US" i="1" dirty="0" smtClean="0"/>
              </a:p>
              <a:p>
                <a:endParaRPr lang="en-US" i="1" dirty="0" smtClean="0"/>
              </a:p>
              <a:p>
                <a:r>
                  <a:rPr lang="en-US" dirty="0" smtClean="0"/>
                  <a:t>Let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i="1" dirty="0"/>
                  <a:t/>
                </a:r>
                <a:r>
                  <a:rPr lang="en-US" dirty="0"/>
                  <a:t>denote a matrix or vector of known weights (often representing</a:t>
                </a:r>
                <a:br>
                  <a:rPr lang="en-US" dirty="0"/>
                </a:br>
                <a:r>
                  <a:rPr lang="en-US" dirty="0"/>
                  <a:t>contrasts of interest) and suppose that it is of interest to test </a:t>
                </a:r>
                <a:endParaRPr lang="en-US" dirty="0" smtClean="0"/>
              </a:p>
              <a:p>
                <a:pPr marL="0" indent="0" algn="ctr">
                  <a:buNone/>
                </a:pPr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= 0</m:t>
                      </m:r>
                    </m:oMath>
                  </m:oMathPara>
                </a14:m>
                <a:r>
                  <a:rPr lang="en-US" i="1" dirty="0"/>
                  <a:t/>
                </a:r>
                <a:br>
                  <a:rPr lang="en-US" i="1" dirty="0"/>
                </a:b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53986"/>
                <a:ext cx="10515600" cy="4015047"/>
              </a:xfrm>
              <a:blipFill>
                <a:blip r:embed="rId2"/>
                <a:stretch>
                  <a:fillRect l="-1043" t="-2584" b="-9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9433" y="2742334"/>
            <a:ext cx="3667125" cy="1019175"/>
          </a:xfrm>
          <a:prstGeom prst="rect">
            <a:avLst/>
          </a:prstGeom>
        </p:spPr>
      </p:pic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05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19 / 31</a:t>
            </a:r>
          </a:p>
        </p:txBody>
      </p:sp>
    </p:spTree>
    <p:extLst>
      <p:ext uri="{BB962C8B-B14F-4D97-AF65-F5344CB8AC3E}">
        <p14:creationId xmlns:p14="http://schemas.microsoft.com/office/powerpoint/2010/main" val="431143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Inference </a:t>
            </a:r>
            <a:r>
              <a:rPr lang="en-US" dirty="0" sz="3400" b="1">
                <a:solidFill>
                  <a:srgbClr val="0D5F62"/>
                </a:solidFill>
                <a:latin typeface="Calibri"/>
              </a:rPr>
              <a:t>in </a:t>
            </a: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General Linear Model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53986"/>
                <a:ext cx="10515600" cy="4015047"/>
              </a:xfrm>
            </p:spPr>
            <p:txBody>
              <a:bodyPr>
                <a:normAutofit/>
              </a:bodyPr>
              <a:lstStyle/>
              <a:p>
                <a:r>
                  <a:rPr lang="en-US" dirty="0" smtClean="0"/>
                  <a:t>To test hypotheses about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i="1" dirty="0"/>
                  <a:t/>
                </a:r>
                <a:r>
                  <a:rPr lang="en-US" dirty="0"/>
                  <a:t>we can make direct use of the ML estimate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 smtClean="0"/>
                  <a:t>and </a:t>
                </a:r>
                <a:r>
                  <a:rPr lang="en-US" dirty="0"/>
                  <a:t>its estimated covariance matrix,</a:t>
                </a:r>
                <a:br>
                  <a:rPr lang="en-US" dirty="0"/>
                </a:br>
                <a:r>
                  <a:rPr lang="en-US" i="1" dirty="0"/>
                  <a:t/>
                </a:r>
                <a:br>
                  <a:rPr lang="en-US" i="1" dirty="0"/>
                </a:br>
                <a:endParaRPr lang="en-US" i="1" dirty="0" smtClean="0"/>
              </a:p>
              <a:p>
                <a:endParaRPr lang="en-US" i="1" dirty="0" smtClean="0"/>
              </a:p>
              <a:p>
                <a:r>
                  <a:rPr lang="en-US" dirty="0" smtClean="0"/>
                  <a:t>Let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i="1" dirty="0"/>
                  <a:t/>
                </a:r>
                <a:r>
                  <a:rPr lang="en-US" dirty="0"/>
                  <a:t>denote a matrix or vector of known weights (often representing</a:t>
                </a:r>
                <a:br>
                  <a:rPr lang="en-US" dirty="0"/>
                </a:br>
                <a:r>
                  <a:rPr lang="en-US" dirty="0"/>
                  <a:t>contrasts of interest) and suppose that it is of interest to test </a:t>
                </a:r>
                <a:endParaRPr lang="en-US" dirty="0" smtClean="0"/>
              </a:p>
              <a:p>
                <a:pPr marL="0" indent="0" algn="ctr">
                  <a:buNone/>
                </a:pPr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= 0</m:t>
                      </m:r>
                    </m:oMath>
                  </m:oMathPara>
                </a14:m>
                <a:r>
                  <a:rPr lang="en-US" i="1" dirty="0"/>
                  <a:t/>
                </a:r>
                <a:br>
                  <a:rPr lang="en-US" i="1" dirty="0"/>
                </a:b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53986"/>
                <a:ext cx="10515600" cy="4015047"/>
              </a:xfrm>
              <a:blipFill>
                <a:blip r:embed="rId2"/>
                <a:stretch>
                  <a:fillRect l="-1043" t="-2584" b="-9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9433" y="2742334"/>
            <a:ext cx="3667125" cy="1019175"/>
          </a:xfrm>
          <a:prstGeom prst="rect">
            <a:avLst/>
          </a:prstGeom>
        </p:spPr>
      </p:pic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05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20 / 31</a:t>
            </a:r>
          </a:p>
        </p:txBody>
      </p:sp>
    </p:spTree>
    <p:extLst>
      <p:ext uri="{BB962C8B-B14F-4D97-AF65-F5344CB8AC3E}">
        <p14:creationId xmlns:p14="http://schemas.microsoft.com/office/powerpoint/2010/main" val="3245696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Inference </a:t>
            </a:r>
            <a:r>
              <a:rPr lang="en-US" dirty="0" sz="3400" b="1">
                <a:solidFill>
                  <a:srgbClr val="0D5F62"/>
                </a:solidFill>
                <a:latin typeface="Calibri"/>
              </a:rPr>
              <a:t>in </a:t>
            </a: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General Linear Model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53986"/>
                <a:ext cx="10515600" cy="4015047"/>
              </a:xfrm>
            </p:spPr>
            <p:txBody>
              <a:bodyPr>
                <a:normAutofit/>
              </a:bodyPr>
              <a:lstStyle/>
              <a:p>
                <a:r>
                  <a:rPr lang="en-US" u="sng" dirty="0" smtClean="0"/>
                  <a:t>Example</a:t>
                </a:r>
                <a:r>
                  <a:rPr lang="en-US" dirty="0"/>
                  <a:t>: Suppose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(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let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(0, 0,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1), </m:t>
                    </m:r>
                  </m:oMath>
                </a14:m>
                <a:r>
                  <a:rPr lang="en-US" dirty="0"/>
                  <a:t>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= 0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equivalent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i="1" dirty="0"/>
                  <a:t/>
                </a:r>
                <a:br>
                  <a:rPr lang="en-US" i="1" dirty="0"/>
                </a:br>
                <a:endParaRPr lang="en-US" i="1" dirty="0" smtClean="0"/>
              </a:p>
              <a:p>
                <a:r>
                  <a:rPr lang="en-US" dirty="0" smtClean="0"/>
                  <a:t>Note</a:t>
                </a:r>
                <a:r>
                  <a:rPr lang="en-US" dirty="0"/>
                  <a:t>: A natural estimate of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i="1" dirty="0"/>
                  <a:t/>
                </a:r>
                <a:r>
                  <a:rPr lang="en-US" dirty="0"/>
                  <a:t>is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𝐿</m:t>
                    </m:r>
                    <m:acc>
                      <m:accPr>
                        <m:chr m:val="̂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n-US" dirty="0" smtClean="0"/>
                  <a:t> and </a:t>
                </a:r>
                <a:r>
                  <a:rPr lang="en-US" dirty="0"/>
                  <a:t>the covariance matrix of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𝐿</m:t>
                    </m:r>
                    <m:acc>
                      <m:accPr>
                        <m:chr m:val="̂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n-US" dirty="0"/>
                  <a:t> is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cov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/>
                </a:r>
                <a:br>
                  <a:rPr lang="en-US" dirty="0"/>
                </a:br>
                <a:r>
                  <a:rPr lang="en-US" dirty="0"/>
                  <a:t>Thus, the sampling distribution of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𝐿</m:t>
                    </m:r>
                    <m:acc>
                      <m:accPr>
                        <m:chr m:val="̂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n-US" dirty="0"/>
                  <a:t> is:</a:t>
                </a:r>
                <a:r>
                  <a:rPr lang="en-US" dirty="0"/>
                  <a:t/>
                </a:r>
                <a:br>
                  <a:rPr lang="en-US" dirty="0"/>
                </a:br>
                <a:r>
                  <a:rPr lang="en-US" i="1" dirty="0"/>
                  <a:t/>
                </a:r>
                <a:br>
                  <a:rPr lang="en-US" i="1" dirty="0"/>
                </a:b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53986"/>
                <a:ext cx="10515600" cy="4015047"/>
              </a:xfrm>
              <a:blipFill>
                <a:blip r:embed="rId2"/>
                <a:stretch>
                  <a:fillRect l="-1043" t="-25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9415" y="4869419"/>
            <a:ext cx="3533170" cy="808174"/>
          </a:xfrm>
          <a:prstGeom prst="rect">
            <a:avLst/>
          </a:prstGeom>
        </p:spPr>
      </p:pic>
      <p:sp>
        <p:nvSpPr>
          <p:cNvPr id="6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05</a:t>
            </a:r>
          </a:p>
        </p:txBody>
      </p:sp>
      <p:sp>
        <p:nvSpPr>
          <p:cNvPr id="7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21 / 31</a:t>
            </a:r>
          </a:p>
        </p:txBody>
      </p:sp>
    </p:spTree>
    <p:extLst>
      <p:ext uri="{BB962C8B-B14F-4D97-AF65-F5344CB8AC3E}">
        <p14:creationId xmlns:p14="http://schemas.microsoft.com/office/powerpoint/2010/main" val="2727128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Wald Test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u="sng" dirty="0" smtClean="0"/>
                  <a:t>Case 1</a:t>
                </a:r>
                <a:r>
                  <a:rPr lang="en-US" dirty="0" smtClean="0"/>
                  <a:t>: </a:t>
                </a:r>
                <a:r>
                  <a:rPr lang="en-US" dirty="0"/>
                  <a:t>Suppose that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i="1" dirty="0"/>
                  <a:t/>
                </a:r>
                <a:r>
                  <a:rPr lang="en-US" dirty="0"/>
                  <a:t>is a single row vector.</a:t>
                </a:r>
                <a:r>
                  <a:rPr lang="en-US" dirty="0"/>
                  <a:t/>
                </a:r>
                <a:br>
                  <a:rPr lang="en-US" dirty="0"/>
                </a:br>
                <a:endParaRPr lang="en-US" dirty="0"/>
              </a:p>
            </p:txBody>
          </p:sp>
        </mc:Choice>
        <mc:Fallback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6261" y="2651760"/>
            <a:ext cx="9209356" cy="2170487"/>
          </a:xfrm>
          <a:prstGeom prst="rect">
            <a:avLst/>
          </a:prstGeom>
        </p:spPr>
      </p:pic>
      <p:sp>
        <p:nvSpPr>
          <p:cNvPr id="8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05</a:t>
            </a:r>
          </a:p>
        </p:txBody>
      </p:sp>
      <p:sp>
        <p:nvSpPr>
          <p:cNvPr id="9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22 / 31</a:t>
            </a:r>
          </a:p>
        </p:txBody>
      </p:sp>
    </p:spTree>
    <p:extLst>
      <p:ext uri="{BB962C8B-B14F-4D97-AF65-F5344CB8AC3E}">
        <p14:creationId xmlns:p14="http://schemas.microsoft.com/office/powerpoint/2010/main" val="4266013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Wald Test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53986"/>
            <a:ext cx="10515600" cy="4015047"/>
          </a:xfrm>
        </p:spPr>
        <p:txBody>
          <a:bodyPr>
            <a:normAutofit/>
          </a:bodyPr>
          <a:lstStyle/>
          <a:p>
            <a:r>
              <a:rPr lang="en-US" dirty="0"/>
              <a:t/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/>
              <a:t/>
            </a:r>
            <a:br>
              <a:rPr lang="en-US" dirty="0"/>
            </a:br>
            <a:r>
              <a:rPr lang="en-US" i="1" dirty="0"/>
              <a:t/>
            </a:r>
            <a:br>
              <a:rPr lang="en-US" i="1" dirty="0"/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608" y="1753987"/>
            <a:ext cx="8569208" cy="238814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608" y="4330930"/>
            <a:ext cx="8639175" cy="2047875"/>
          </a:xfrm>
          <a:prstGeom prst="rect">
            <a:avLst/>
          </a:prstGeom>
        </p:spPr>
      </p:pic>
      <p:sp>
        <p:nvSpPr>
          <p:cNvPr id="7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05</a:t>
            </a:r>
          </a:p>
        </p:txBody>
      </p:sp>
      <p:sp>
        <p:nvSpPr>
          <p:cNvPr id="8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23 / 31</a:t>
            </a:r>
          </a:p>
        </p:txBody>
      </p:sp>
    </p:spTree>
    <p:extLst>
      <p:ext uri="{BB962C8B-B14F-4D97-AF65-F5344CB8AC3E}">
        <p14:creationId xmlns:p14="http://schemas.microsoft.com/office/powerpoint/2010/main" val="675732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Wald Test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53986"/>
                <a:ext cx="10515600" cy="4015047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u="sng" dirty="0" smtClean="0"/>
                  <a:t>Example</a:t>
                </a:r>
                <a:r>
                  <a:rPr lang="en-US" dirty="0" smtClean="0"/>
                  <a:t>: </a:t>
                </a:r>
                <a:r>
                  <a:rPr lang="en-US" dirty="0"/>
                  <a:t>Suppose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= (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)′ </m:t>
                    </m:r>
                  </m:oMath>
                </a14:m>
                <a:r>
                  <a:rPr lang="en-US" dirty="0" smtClean="0"/>
                  <a:t>and we want to test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: 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 smtClean="0"/>
              </a:p>
              <a:p>
                <a:r>
                  <a:rPr lang="en-US" dirty="0" smtClean="0"/>
                  <a:t>Then we can let</a:t>
                </a:r>
              </a:p>
              <a:p>
                <a:endParaRPr lang="en-US" dirty="0"/>
              </a:p>
              <a:p>
                <a:endParaRPr lang="en-US" dirty="0" smtClean="0"/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 smtClean="0"/>
                  <a:t>	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 smtClean="0"/>
                  <a:t> is </a:t>
                </a:r>
                <a:r>
                  <a:rPr lang="en-US" u="sng" dirty="0" smtClean="0"/>
                  <a:t>equivalent to</a:t>
                </a:r>
                <a:r>
                  <a:rPr lang="en-US" dirty="0" smtClean="0"/>
                  <a:t/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= 0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:r>
                  <a:rPr lang="en-US" dirty="0"/>
                  <a:t/>
                </a:r>
                <a:br>
                  <a:rPr lang="en-US" dirty="0"/>
                </a:br>
                <a:r>
                  <a:rPr lang="en-US" i="1" dirty="0"/>
                  <a:t/>
                </a:r>
                <a:br>
                  <a:rPr lang="en-US" i="1" dirty="0"/>
                </a:b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53986"/>
                <a:ext cx="10515600" cy="4015047"/>
              </a:xfrm>
              <a:blipFill>
                <a:blip r:embed="rId2"/>
                <a:stretch>
                  <a:fillRect l="-928" t="-3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0221" y="2967645"/>
            <a:ext cx="3206386" cy="1004020"/>
          </a:xfrm>
          <a:prstGeom prst="rect">
            <a:avLst/>
          </a:prstGeom>
        </p:spPr>
      </p:pic>
      <p:sp>
        <p:nvSpPr>
          <p:cNvPr id="8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05</a:t>
            </a:r>
          </a:p>
        </p:txBody>
      </p:sp>
      <p:sp>
        <p:nvSpPr>
          <p:cNvPr id="9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24 / 31</a:t>
            </a:r>
          </a:p>
        </p:txBody>
      </p:sp>
    </p:spTree>
    <p:extLst>
      <p:ext uri="{BB962C8B-B14F-4D97-AF65-F5344CB8AC3E}">
        <p14:creationId xmlns:p14="http://schemas.microsoft.com/office/powerpoint/2010/main" val="4214220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Wald Test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53986"/>
                <a:ext cx="10515600" cy="4015047"/>
              </a:xfrm>
            </p:spPr>
            <p:txBody>
              <a:bodyPr>
                <a:normAutofit/>
              </a:bodyPr>
              <a:lstStyle/>
              <a:p>
                <a:r>
                  <a:rPr lang="en-US" dirty="0" smtClean="0"/>
                  <a:t/>
                </a:r>
                <a:r>
                  <a:rPr lang="en-US" dirty="0"/>
                  <a:t>A simultaneous test of the </a:t>
                </a:r>
                <a:r>
                  <a:rPr lang="en-US" i="1" dirty="0"/>
                  <a:t>r </a:t>
                </a:r>
                <a:r>
                  <a:rPr lang="en-US" dirty="0"/>
                  <a:t>contrasts is given by</a:t>
                </a:r>
                <a:br>
                  <a:rPr lang="en-US" dirty="0"/>
                </a:br>
                <a:endParaRPr lang="en-US" dirty="0" smtClean="0"/>
              </a:p>
              <a:p>
                <a:pPr marL="0" indent="0">
                  <a:buNone/>
                </a:pPr>
                <a:r>
                  <a:rPr lang="en-US" dirty="0"/>
                  <a:t/>
                </a:r>
                <a:br>
                  <a:rPr lang="en-US" dirty="0"/>
                </a:br>
                <a:r>
                  <a:rPr lang="en-US" dirty="0"/>
                  <a:t>which has 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distribution with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i="1" dirty="0"/>
                  <a:t/>
                </a:r>
                <a:r>
                  <a:rPr lang="en-US" dirty="0" err="1"/>
                  <a:t>df</a:t>
                </a:r>
                <a:r>
                  <a:rPr lang="en-US" dirty="0"/>
                  <a:t>.</a:t>
                </a:r>
                <a:br>
                  <a:rPr lang="en-US" dirty="0"/>
                </a:br>
                <a:endParaRPr lang="en-US" dirty="0" smtClean="0"/>
              </a:p>
              <a:p>
                <a:r>
                  <a:rPr lang="en-US" dirty="0" smtClean="0"/>
                  <a:t>This </a:t>
                </a:r>
                <a:r>
                  <a:rPr lang="en-US" dirty="0"/>
                  <a:t>is how the </a:t>
                </a:r>
                <a:r>
                  <a:rPr lang="en-US" dirty="0" smtClean="0"/>
                  <a:t>“Tests </a:t>
                </a:r>
                <a:r>
                  <a:rPr lang="en-US" dirty="0"/>
                  <a:t>of Fixed </a:t>
                </a:r>
                <a:r>
                  <a:rPr lang="en-US" dirty="0" smtClean="0"/>
                  <a:t>Effects“ tables </a:t>
                </a:r>
                <a:r>
                  <a:rPr lang="en-US" dirty="0"/>
                  <a:t>are constructed in PROC MIXED.</a:t>
                </a:r>
                <a:r>
                  <a:rPr lang="en-US" dirty="0"/>
                  <a:t/>
                </a:r>
                <a:br>
                  <a:rPr lang="en-US" dirty="0"/>
                </a:br>
                <a:endParaRPr lang="en-US" dirty="0" smtClean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53986"/>
                <a:ext cx="10515600" cy="4015047"/>
              </a:xfrm>
              <a:blipFill>
                <a:blip r:embed="rId2"/>
                <a:stretch>
                  <a:fillRect l="-1217" t="-2584" r="-11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2521" y="2261062"/>
            <a:ext cx="4447129" cy="811443"/>
          </a:xfrm>
          <a:prstGeom prst="rect">
            <a:avLst/>
          </a:prstGeom>
        </p:spPr>
      </p:pic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05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25 / 31</a:t>
            </a:r>
          </a:p>
        </p:txBody>
      </p:sp>
    </p:spTree>
    <p:extLst>
      <p:ext uri="{BB962C8B-B14F-4D97-AF65-F5344CB8AC3E}">
        <p14:creationId xmlns:p14="http://schemas.microsoft.com/office/powerpoint/2010/main" val="1940809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Likelihood Ratio Test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53986"/>
            <a:ext cx="10515600" cy="4015047"/>
          </a:xfrm>
        </p:spPr>
        <p:txBody>
          <a:bodyPr>
            <a:normAutofit/>
          </a:bodyPr>
          <a:lstStyle/>
          <a:p>
            <a:r>
              <a:rPr lang="en-US" dirty="0" smtClean="0"/>
              <a:t>Suppose that we are interested in comparing two </a:t>
            </a:r>
            <a:r>
              <a:rPr lang="en-US" i="1" dirty="0"/>
              <a:t>nested </a:t>
            </a:r>
            <a:r>
              <a:rPr lang="en-US" dirty="0"/>
              <a:t>models, a </a:t>
            </a:r>
            <a:r>
              <a:rPr lang="en-US" dirty="0" smtClean="0"/>
              <a:t>“full” model </a:t>
            </a:r>
            <a:r>
              <a:rPr lang="en-US" dirty="0"/>
              <a:t>and a </a:t>
            </a:r>
            <a:r>
              <a:rPr lang="en-US" dirty="0" smtClean="0"/>
              <a:t>“reduced” </a:t>
            </a:r>
            <a:r>
              <a:rPr lang="en-US" dirty="0"/>
              <a:t>model</a:t>
            </a:r>
            <a:r>
              <a:rPr lang="en-US" dirty="0" smtClean="0"/>
              <a:t>.</a:t>
            </a:r>
          </a:p>
          <a:p>
            <a:r>
              <a:rPr lang="en-US" u="sng" dirty="0" smtClean="0"/>
              <a:t>Nested Models:</a:t>
            </a:r>
            <a:r>
              <a:rPr lang="en-US" dirty="0" smtClean="0"/>
              <a:t> When </a:t>
            </a:r>
            <a:r>
              <a:rPr lang="en-US" dirty="0"/>
              <a:t>one model (the </a:t>
            </a:r>
            <a:r>
              <a:rPr lang="en-US" dirty="0" smtClean="0"/>
              <a:t>“reduced</a:t>
            </a:r>
            <a:r>
              <a:rPr lang="en-US" dirty="0"/>
              <a:t>" model) is a special case of the other (</a:t>
            </a:r>
            <a:r>
              <a:rPr lang="en-US" dirty="0" smtClean="0"/>
              <a:t>the</a:t>
            </a:r>
            <a:r>
              <a:rPr lang="en-US" dirty="0"/>
              <a:t/>
            </a:r>
            <a:r>
              <a:rPr lang="en-US" dirty="0" smtClean="0"/>
              <a:t>“full</a:t>
            </a:r>
            <a:r>
              <a:rPr lang="en-US" dirty="0"/>
              <a:t>" model), the reduced model is said to be </a:t>
            </a:r>
            <a:r>
              <a:rPr lang="en-US" i="1" dirty="0"/>
              <a:t>nested </a:t>
            </a:r>
            <a:r>
              <a:rPr lang="en-US" dirty="0"/>
              <a:t>within the full model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“reduced” model typically arises by constraining the parameters in the “full” model</a:t>
            </a:r>
            <a:endParaRPr lang="en-US" dirty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05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26 / 31</a:t>
            </a:r>
          </a:p>
        </p:txBody>
      </p:sp>
    </p:spTree>
    <p:extLst>
      <p:ext uri="{BB962C8B-B14F-4D97-AF65-F5344CB8AC3E}">
        <p14:creationId xmlns:p14="http://schemas.microsoft.com/office/powerpoint/2010/main" val="720634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Likelihood Ratio Test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53986"/>
                <a:ext cx="10515600" cy="4015047"/>
              </a:xfrm>
            </p:spPr>
            <p:txBody>
              <a:bodyPr>
                <a:normAutofit/>
              </a:bodyPr>
              <a:lstStyle/>
              <a:p>
                <a:r>
                  <a:rPr lang="en-US" u="sng" dirty="0" smtClean="0"/>
                  <a:t>Example</a:t>
                </a:r>
                <a:r>
                  <a:rPr lang="en-US" dirty="0"/>
                  <a:t>: The linear time model for the TLC study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This is the “full” </a:t>
                </a:r>
                <a:r>
                  <a:rPr lang="en-US" dirty="0" smtClean="0"/>
                  <a:t>model</a:t>
                </a:r>
              </a:p>
              <a:p>
                <a:r>
                  <a:rPr lang="en-US" dirty="0" smtClean="0"/>
                  <a:t>Consider a “reduced” model without the treatment*time interaction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r>
                  <a:rPr lang="en-US" dirty="0" smtClean="0"/>
                  <a:t>Clearly, the second model is </a:t>
                </a:r>
                <a:r>
                  <a:rPr lang="en-US" u="sng" dirty="0" smtClean="0"/>
                  <a:t>nested</a:t>
                </a:r>
                <a:r>
                  <a:rPr lang="en-US" dirty="0" smtClean="0"/>
                  <a:t> within the first one. Comparing “reduced” vs “full” is equivalent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 :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 = 0</m:t>
                    </m:r>
                  </m:oMath>
                </a14:m>
                <a:r>
                  <a:rPr lang="en-US" i="1" dirty="0"/>
                  <a:t/>
                </a:r>
                <a:br>
                  <a:rPr lang="en-US" i="1" dirty="0"/>
                </a:br>
                <a:endParaRPr lang="en-US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53986"/>
                <a:ext cx="10515600" cy="4015047"/>
              </a:xfrm>
              <a:blipFill>
                <a:blip r:embed="rId2"/>
                <a:stretch>
                  <a:fillRect l="-1043" t="-25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05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27 / 31</a:t>
            </a:r>
          </a:p>
        </p:txBody>
      </p:sp>
    </p:spTree>
    <p:extLst>
      <p:ext uri="{BB962C8B-B14F-4D97-AF65-F5344CB8AC3E}">
        <p14:creationId xmlns:p14="http://schemas.microsoft.com/office/powerpoint/2010/main" val="629153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Likelihood Ratio Test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53986"/>
                <a:ext cx="10515600" cy="4015047"/>
              </a:xfrm>
            </p:spPr>
            <p:txBody>
              <a:bodyPr>
                <a:normAutofit/>
              </a:bodyPr>
              <a:lstStyle/>
              <a:p>
                <a:r>
                  <a:rPr lang="en-US" dirty="0" smtClean="0"/>
                  <a:t/>
                </a:r>
                <a:r>
                  <a:rPr lang="en-US" dirty="0"/>
                  <a:t>We can compare two nested models by comparing their maximized </a:t>
                </a:r>
                <a:r>
                  <a:rPr lang="en-US" dirty="0" smtClean="0"/>
                  <a:t>log-likelihoods</a:t>
                </a:r>
                <a:r>
                  <a:rPr lang="en-US" dirty="0"/>
                  <a:t>, say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𝑓𝑢𝑙𝑙</m:t>
                        </m:r>
                      </m:sub>
                    </m:sSub>
                  </m:oMath>
                </a14:m>
                <a:r>
                  <a:rPr lang="en-US" dirty="0" smtClean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𝑟𝑒𝑑</m:t>
                        </m:r>
                      </m:sub>
                    </m:sSub>
                  </m:oMath>
                </a14:m>
                <a:r>
                  <a:rPr lang="en-US" dirty="0" smtClean="0"/>
                  <a:t>; </a:t>
                </a:r>
                <a:r>
                  <a:rPr lang="en-US" dirty="0"/>
                  <a:t>the former is </a:t>
                </a:r>
                <a:r>
                  <a:rPr lang="en-US" u="sng" dirty="0"/>
                  <a:t>at least as large </a:t>
                </a:r>
                <a:r>
                  <a:rPr lang="en-US" dirty="0"/>
                  <a:t>as the </a:t>
                </a:r>
                <a:r>
                  <a:rPr lang="en-US" dirty="0" smtClean="0"/>
                  <a:t>latter.</a:t>
                </a:r>
              </a:p>
              <a:p>
                <a:r>
                  <a:rPr lang="en-US" dirty="0" smtClean="0"/>
                  <a:t>The </a:t>
                </a:r>
                <a:r>
                  <a:rPr lang="en-US" dirty="0"/>
                  <a:t>larger the difference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𝑓𝑢𝑙𝑙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𝑟𝑒𝑑</m:t>
                        </m:r>
                      </m:sub>
                    </m:sSub>
                  </m:oMath>
                </a14:m>
                <a:r>
                  <a:rPr lang="en-US" dirty="0" smtClean="0"/>
                  <a:t>, the </a:t>
                </a:r>
                <a:r>
                  <a:rPr lang="en-US" dirty="0"/>
                  <a:t>stronger the evidence that</a:t>
                </a:r>
                <a:br>
                  <a:rPr lang="en-US" dirty="0"/>
                </a:br>
                <a:r>
                  <a:rPr lang="en-US" dirty="0"/>
                  <a:t>the reduced model is inadequate.</a:t>
                </a:r>
                <a:r>
                  <a:rPr lang="en-US" dirty="0"/>
                  <a:t/>
                </a:r>
                <a:endParaRPr lang="en-US" dirty="0" smtClean="0"/>
              </a:p>
              <a:p>
                <a:r>
                  <a:rPr lang="en-US" dirty="0" smtClean="0"/>
                  <a:t>In the previous example, inadequacy of the reduced model lends evidence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 :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0</m:t>
                    </m:r>
                  </m:oMath>
                </a14:m>
                <a:r>
                  <a:rPr lang="en-US" i="1" dirty="0"/>
                  <a:t/>
                </a:r>
                <a:br>
                  <a:rPr lang="en-US" i="1" dirty="0"/>
                </a:br>
                <a:endParaRPr lang="en-US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53986"/>
                <a:ext cx="10515600" cy="4015047"/>
              </a:xfrm>
              <a:blipFill>
                <a:blip r:embed="rId2"/>
                <a:stretch>
                  <a:fillRect l="-1043" t="-2584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05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28 / 31</a:t>
            </a:r>
          </a:p>
        </p:txBody>
      </p:sp>
    </p:spTree>
    <p:extLst>
      <p:ext uri="{BB962C8B-B14F-4D97-AF65-F5344CB8AC3E}">
        <p14:creationId xmlns:p14="http://schemas.microsoft.com/office/powerpoint/2010/main" val="1962621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Likelihood Ratio Test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53986"/>
                <a:ext cx="10515600" cy="4015047"/>
              </a:xfrm>
            </p:spPr>
            <p:txBody>
              <a:bodyPr>
                <a:normAutofit/>
              </a:bodyPr>
              <a:lstStyle/>
              <a:p>
                <a:r>
                  <a:rPr lang="en-US" dirty="0" smtClean="0"/>
                  <a:t>A formal test is obtained by taking</a:t>
                </a:r>
                <a:br>
                  <a:rPr lang="en-US" dirty="0" smtClean="0"/>
                </a:b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2(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𝑓𝑢𝑙𝑙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𝑟𝑒𝑑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/>
                </a:r>
                <a:br>
                  <a:rPr lang="en-US" dirty="0"/>
                </a:br>
                <a:r>
                  <a:rPr lang="en-US" dirty="0"/>
                  <a:t>and comparing the statistic to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 smtClean="0"/>
                  <a:t> where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 smtClean="0"/>
                  <a:t> is equal </a:t>
                </a:r>
                <a:r>
                  <a:rPr lang="en-US" dirty="0"/>
                  <a:t>to the difference between the number of parameters in </a:t>
                </a:r>
                <a:r>
                  <a:rPr lang="en-US" dirty="0" smtClean="0"/>
                  <a:t>the full </a:t>
                </a:r>
                <a:r>
                  <a:rPr lang="en-US" dirty="0"/>
                  <a:t>and reduced models</a:t>
                </a:r>
                <a:r>
                  <a:rPr lang="en-US" dirty="0" smtClean="0"/>
                  <a:t>.</a:t>
                </a:r>
              </a:p>
              <a:p>
                <a:r>
                  <a:rPr lang="en-US" dirty="0" smtClean="0"/>
                  <a:t>Formally</a:t>
                </a:r>
                <a:r>
                  <a:rPr lang="en-US" dirty="0"/>
                  <a:t>, this test is called the </a:t>
                </a:r>
                <a:r>
                  <a:rPr lang="en-US" i="1" u="sng" dirty="0"/>
                  <a:t>likelihood ratio test</a:t>
                </a:r>
                <a:r>
                  <a:rPr lang="en-US" i="1" dirty="0"/>
                  <a:t/>
                </a:r>
                <a:r>
                  <a:rPr lang="en-US" dirty="0"/>
                  <a:t>(LRT).</a:t>
                </a:r>
                <a:br>
                  <a:rPr lang="en-US" dirty="0"/>
                </a:br>
                <a:r>
                  <a:rPr lang="en-US" dirty="0"/>
                  <a:t>We can use LRTs for hypotheses about models for the </a:t>
                </a:r>
                <a:r>
                  <a:rPr lang="en-US" u="sng" dirty="0"/>
                  <a:t>mean</a:t>
                </a:r>
                <a:r>
                  <a:rPr lang="en-US" dirty="0"/>
                  <a:t> and the</a:t>
                </a:r>
                <a:br>
                  <a:rPr lang="en-US" dirty="0"/>
                </a:br>
                <a:r>
                  <a:rPr lang="en-US" u="sng" dirty="0" smtClean="0"/>
                  <a:t>covariance</a:t>
                </a:r>
                <a:r>
                  <a:rPr lang="en-US" dirty="0" smtClean="0"/>
                  <a:t>. </a:t>
                </a:r>
              </a:p>
              <a:p>
                <a:r>
                  <a:rPr lang="en-US" dirty="0" smtClean="0"/>
                  <a:t>Under equivalent formulations, the LRT and Wald test are equivalent in large samples.</a:t>
                </a:r>
              </a:p>
              <a:p>
                <a:endParaRPr lang="en-US" dirty="0"/>
              </a:p>
              <a:p>
                <a:endParaRPr lang="en-US" dirty="0" smtClean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53986"/>
                <a:ext cx="10515600" cy="4015047"/>
              </a:xfrm>
              <a:blipFill>
                <a:blip r:embed="rId2"/>
                <a:stretch>
                  <a:fillRect l="-1043" t="-2584" b="-10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05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29 / 31</a:t>
            </a:r>
          </a:p>
        </p:txBody>
      </p:sp>
    </p:spTree>
    <p:extLst>
      <p:ext uri="{BB962C8B-B14F-4D97-AF65-F5344CB8AC3E}">
        <p14:creationId xmlns:p14="http://schemas.microsoft.com/office/powerpoint/2010/main" val="4181266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A Word on REML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53986"/>
                <a:ext cx="10515600" cy="4015047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 smtClean="0"/>
                  <a:t>The ML estimate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dirty="0" smtClean="0"/>
                  <a:t> is slightly biased (downward) in small samples because it does not take </a:t>
                </a:r>
                <a:r>
                  <a:rPr lang="en-US" dirty="0"/>
                  <a:t>into </a:t>
                </a:r>
                <a:r>
                  <a:rPr lang="en-US" dirty="0" smtClean="0"/>
                  <a:t>account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 smtClean="0"/>
                  <a:t> also needs to be estimated.</a:t>
                </a:r>
              </a:p>
              <a:p>
                <a:r>
                  <a:rPr lang="en-US" dirty="0"/>
                  <a:t>The theory of residual or restricted maximum </a:t>
                </a:r>
                <a:r>
                  <a:rPr lang="en-US" dirty="0" smtClean="0"/>
                  <a:t>likelihood (REML) </a:t>
                </a:r>
                <a:r>
                  <a:rPr lang="en-US" dirty="0"/>
                  <a:t>estimation </a:t>
                </a:r>
                <a:r>
                  <a:rPr lang="en-US" dirty="0" smtClean="0"/>
                  <a:t>was developed </a:t>
                </a:r>
                <a:r>
                  <a:rPr lang="en-US" dirty="0"/>
                  <a:t>to address this </a:t>
                </a:r>
                <a:r>
                  <a:rPr lang="en-US" dirty="0" smtClean="0"/>
                  <a:t>problem.</a:t>
                </a:r>
              </a:p>
              <a:p>
                <a:r>
                  <a:rPr lang="en-US" dirty="0" smtClean="0"/>
                  <a:t>The REML estimate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dirty="0" smtClean="0"/>
                  <a:t> can be considered as a </a:t>
                </a:r>
                <a:r>
                  <a:rPr lang="en-US" u="sng" dirty="0" smtClean="0"/>
                  <a:t>de-biased</a:t>
                </a:r>
                <a:r>
                  <a:rPr lang="en-US" dirty="0" smtClean="0"/>
                  <a:t> version of the ML estimate.</a:t>
                </a:r>
              </a:p>
              <a:p>
                <a:r>
                  <a:rPr lang="en-US" dirty="0"/>
                  <a:t>In PROC MIXED, </a:t>
                </a:r>
                <a:r>
                  <a:rPr lang="en-US" u="sng" dirty="0"/>
                  <a:t>REML is the default </a:t>
                </a:r>
                <a:r>
                  <a:rPr lang="en-US" dirty="0"/>
                  <a:t>maximization criterion.</a:t>
                </a:r>
                <a:br>
                  <a:rPr lang="en-US" dirty="0"/>
                </a:br>
                <a:r>
                  <a:rPr lang="en-US" dirty="0"/>
                  <a:t>ML estimates are obtained by specifying:</a:t>
                </a:r>
                <a:br>
                  <a:rPr lang="en-US" dirty="0"/>
                </a:br>
                <a:r>
                  <a:rPr lang="en-US" b="1" dirty="0"/>
                  <a:t>PROC MIXED METHOD = </a:t>
                </a:r>
                <a:r>
                  <a:rPr lang="en-US" b="1" dirty="0" smtClean="0"/>
                  <a:t>ML</a:t>
                </a:r>
                <a:r>
                  <a:rPr lang="en-US" b="1" dirty="0"/>
                  <a:t>;</a:t>
                </a:r>
                <a:endParaRPr lang="en-US" dirty="0" smtClean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53986"/>
                <a:ext cx="10515600" cy="4015047"/>
              </a:xfrm>
              <a:blipFill>
                <a:blip r:embed="rId2"/>
                <a:stretch>
                  <a:fillRect l="-1043" t="-3495" b="-15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05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30 / 31</a:t>
            </a:r>
          </a:p>
        </p:txBody>
      </p:sp>
    </p:spTree>
    <p:extLst>
      <p:ext uri="{BB962C8B-B14F-4D97-AF65-F5344CB8AC3E}">
        <p14:creationId xmlns:p14="http://schemas.microsoft.com/office/powerpoint/2010/main" val="1026298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A Word on REML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53986"/>
            <a:ext cx="10515600" cy="4015047"/>
          </a:xfrm>
        </p:spPr>
        <p:txBody>
          <a:bodyPr>
            <a:normAutofit/>
          </a:bodyPr>
          <a:lstStyle/>
          <a:p>
            <a:r>
              <a:rPr lang="en-US" dirty="0"/>
              <a:t>Note: The residual maximum likelihood (REML) can be used to </a:t>
            </a:r>
            <a:r>
              <a:rPr lang="en-US" dirty="0" smtClean="0"/>
              <a:t>compare different </a:t>
            </a:r>
            <a:r>
              <a:rPr lang="en-US" dirty="0"/>
              <a:t>models for the </a:t>
            </a:r>
            <a:r>
              <a:rPr lang="en-US" u="sng" dirty="0"/>
              <a:t>covariance </a:t>
            </a:r>
            <a:r>
              <a:rPr lang="en-US" u="sng" dirty="0" smtClean="0"/>
              <a:t>structure</a:t>
            </a:r>
            <a:r>
              <a:rPr lang="en-US" dirty="0" smtClean="0"/>
              <a:t>.</a:t>
            </a:r>
          </a:p>
          <a:p>
            <a:r>
              <a:rPr lang="en-US" dirty="0" smtClean="0"/>
              <a:t>However</a:t>
            </a:r>
            <a:r>
              <a:rPr lang="en-US" dirty="0"/>
              <a:t>, it should </a:t>
            </a:r>
            <a:r>
              <a:rPr lang="en-US" u="sng" dirty="0"/>
              <a:t>not</a:t>
            </a:r>
            <a:r>
              <a:rPr lang="en-US" dirty="0"/>
              <a:t> be used to compare different </a:t>
            </a:r>
            <a:r>
              <a:rPr lang="en-US" u="sng" dirty="0" smtClean="0"/>
              <a:t>mean models</a:t>
            </a:r>
          </a:p>
          <a:p>
            <a:r>
              <a:rPr lang="en-US" dirty="0" smtClean="0"/>
              <a:t>To test hypotheses in the mean model (on regression coefficients), one must use the ML approach (by specifying the method=ML in PROC MIXED).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dirty="0" smtClean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05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31 / 31</a:t>
            </a:r>
          </a:p>
        </p:txBody>
      </p:sp>
    </p:spTree>
    <p:extLst>
      <p:ext uri="{BB962C8B-B14F-4D97-AF65-F5344CB8AC3E}">
        <p14:creationId xmlns:p14="http://schemas.microsoft.com/office/powerpoint/2010/main" val="1103312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172D38"/>
      </a:dk1>
      <a:lt1>
        <a:srgbClr val="FFFFFF"/>
      </a:lt1>
      <a:dk2>
        <a:srgbClr val="102A35"/>
      </a:dk2>
      <a:lt2>
        <a:srgbClr val="F2F7F6"/>
      </a:lt2>
      <a:accent1>
        <a:srgbClr val="0D5F62"/>
      </a:accent1>
      <a:accent2>
        <a:srgbClr val="BD781B"/>
      </a:accent2>
      <a:accent3>
        <a:srgbClr val="426B8A"/>
      </a:accent3>
      <a:accent4>
        <a:srgbClr val="795E8B"/>
      </a:accent4>
      <a:accent5>
        <a:srgbClr val="538070"/>
      </a:accent5>
      <a:accent6>
        <a:srgbClr val="8A4E4E"/>
      </a:accent6>
      <a:hlink>
        <a:srgbClr val="0D5F62"/>
      </a:hlink>
      <a:folHlink>
        <a:srgbClr val="795E8B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21774</TotalTime>
  <Words>837</Words>
  <Application>Microsoft Office PowerPoint</Application>
  <PresentationFormat>Widescreen</PresentationFormat>
  <Paragraphs>170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Calibri</vt:lpstr>
      <vt:lpstr>Calibri Light</vt:lpstr>
      <vt:lpstr>Cambria Math</vt:lpstr>
      <vt:lpstr>Office Theme</vt:lpstr>
      <vt:lpstr>Advanced Regression Methods for Population Health</vt:lpstr>
      <vt:lpstr>Outline</vt:lpstr>
      <vt:lpstr>General Linear Model</vt:lpstr>
      <vt:lpstr>General Linear Model - Assumptions</vt:lpstr>
      <vt:lpstr>Probability Models</vt:lpstr>
      <vt:lpstr>Probability Models</vt:lpstr>
      <vt:lpstr>General Linear Model</vt:lpstr>
      <vt:lpstr>General Linear Model</vt:lpstr>
      <vt:lpstr>Example: the TLC trial</vt:lpstr>
      <vt:lpstr>General Linear Model</vt:lpstr>
      <vt:lpstr>MLE in General Linear Model</vt:lpstr>
      <vt:lpstr>MLE in General Linear Model</vt:lpstr>
      <vt:lpstr>MLE in General Linear Model</vt:lpstr>
      <vt:lpstr>MLE in General Linear Model</vt:lpstr>
      <vt:lpstr>MLE in General Linear Model</vt:lpstr>
      <vt:lpstr>A Word on Ordinary Least Squares</vt:lpstr>
      <vt:lpstr>MLE in General Linear Model</vt:lpstr>
      <vt:lpstr>Inference in General Linear Model</vt:lpstr>
      <vt:lpstr>Inference in General Linear Model</vt:lpstr>
      <vt:lpstr>Inference in General Linear Model</vt:lpstr>
      <vt:lpstr>Inference in General Linear Model</vt:lpstr>
      <vt:lpstr>Wald Test</vt:lpstr>
      <vt:lpstr>Wald Test</vt:lpstr>
      <vt:lpstr>Wald Test</vt:lpstr>
      <vt:lpstr>Wald Test</vt:lpstr>
      <vt:lpstr>Likelihood Ratio Test</vt:lpstr>
      <vt:lpstr>Likelihood Ratio Test</vt:lpstr>
      <vt:lpstr>Likelihood Ratio Test</vt:lpstr>
      <vt:lpstr>Likelihood Ratio Test</vt:lpstr>
      <vt:lpstr>A Word on REML</vt:lpstr>
      <vt:lpstr>A Word on REML</vt:lpstr>
    </vt:vector>
  </TitlesOfParts>
  <Company>University of Wisconsin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Regression Methods for Population Health</dc:title>
  <dc:creator>Lu Mao</dc:creator>
  <cp:lastModifiedBy>Lu Mao</cp:lastModifiedBy>
  <cp:revision>436</cp:revision>
  <dcterms:created xsi:type="dcterms:W3CDTF">2019-01-16T21:45:55Z</dcterms:created>
  <dcterms:modified xsi:type="dcterms:W3CDTF">2019-02-13T07:04:45Z</dcterms:modified>
</cp:coreProperties>
</file>